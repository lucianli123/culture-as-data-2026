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DATA · WEEK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Counting, Compared: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D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Difference Real?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paper on trial, live · the statistics of counts · what k-means finds in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Reddit comments and 20 paintings · and the one test the course requires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332720" y="566928"/>
            <a:ext cx="201168" cy="20116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7" name="Shape 5"/>
          <p:cNvSpPr/>
          <p:nvPr/>
        </p:nvSpPr>
        <p:spPr>
          <a:xfrm>
            <a:off x="10716768" y="566928"/>
            <a:ext cx="201168" cy="20116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Shape 6"/>
          <p:cNvSpPr/>
          <p:nvPr/>
        </p:nvSpPr>
        <p:spPr>
          <a:xfrm>
            <a:off x="11100816" y="566928"/>
            <a:ext cx="201168" cy="201168"/>
          </a:xfrm>
          <a:prstGeom prst="ellipse">
            <a:avLst/>
          </a:prstGeom>
          <a:solidFill>
            <a:srgbClr val="E8DCD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skill, six escalations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67712"/>
            <a:ext cx="566928" cy="56692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Bollen v. Schmidt, with the paper's own data pulled live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67712"/>
            <a:ext cx="566928" cy="56692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67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11226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514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stop lists, stems: counting requires deciding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685032"/>
            <a:ext cx="566928" cy="566928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529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rates, z-scores: four habits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3685032"/>
            <a:ext cx="566928" cy="566928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352958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marks a comment, a community, out from the pile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5102352"/>
            <a:ext cx="566928" cy="566928"/>
          </a:xfrm>
          <a:prstGeom prst="ellipse">
            <a:avLst/>
          </a:prstGeom>
          <a:solidFill>
            <a:srgbClr val="7A3B2E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0020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separate, in comments and in paintings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09360" y="480060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4EEE8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5102352"/>
            <a:ext cx="566928" cy="566928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5102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49469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shuffle test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5349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gap real, or dealt by chance?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 · EXHIBIT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claim: a hockey stick of distress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Bollen et al. (PNAS 2021): phrases of distorted thinking (“I am a failure,” “everyone hates me”) surge in Google Books after 2000.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an n-gram count over ~500 billion words: the biggest counting study you will see this term.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is not from the paper. The notebook pulled it from the Ngram Viewer's JSON endpoint minutes ago. The evidence is one request away, always.</a:t>
            </a:r>
            <a:endParaRPr lang="en-US" sz="1500" dirty="0"/>
          </a:p>
        </p:txBody>
      </p:sp>
      <p:pic>
        <p:nvPicPr>
          <p:cNvPr id="5" name="Image 0" descr="/tmp/figs/bollen_clai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920240"/>
            <a:ext cx="566928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books.google.com/ngrams · smoothing 3 · en-2019 corpus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 · EXHIBIT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objection: the corpus changed under the count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et al.: Google scanned more fiction in recent years. Maybe the surge is novels, not national despair.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phrases that mark fiction and nothing else. “She whispered.” “He grinned.” No one's mental state changed.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hockey-stick the same way. Composition can manufacture a trend all by itself.</a:t>
            </a:r>
            <a:endParaRPr lang="en-US" sz="1500" dirty="0"/>
          </a:p>
        </p:txBody>
      </p:sp>
      <p:pic>
        <p:nvPicPr>
          <p:cNvPr id="5" name="Image 0" descr="/tmp/figs/bollen_fi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920240"/>
            <a:ext cx="56692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TRIAL · CROSS-EXAMINATION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phrase, inside fiction vs. all books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fiction only, “I am a failure” is roughly level for a century. The rise lives in the mixed corpus.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you would see if composition did the work.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the authors deleted the entire fiction corpus, re-ran it, and reported the pattern largely held. The trial is not over.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what further count would change your verdict?</a:t>
            </a:r>
            <a:endParaRPr lang="en-US" sz="1500" dirty="0"/>
          </a:p>
        </p:txBody>
      </p:sp>
      <p:pic>
        <p:nvPicPr>
          <p:cNvPr id="5" name="Image 0" descr="/tmp/figs/bollen_che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920240"/>
            <a:ext cx="566928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probe, not a replication: the paper counts 241 phrases, we pulled two.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REQUIRES DEFINING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stop list must fit the corpus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never see words. They see tokens, and the split is a design decision: don't → one chip, two, or three.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run and running are one word or two is your call, and it changes every chart downstream.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ships a professional 198-word stop list. Reddit defeats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201168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22860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Reddit's own function words,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from NLTK's list: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31089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· like · really · actually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basically · lol · im · dont · thats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4572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stop list is neutral, and none is finished.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STANDARDIZATION, PART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Stems and lemmas: standardizing word forms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variation you consider irrelevant, so counts compare fairly.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(as noun)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 (as verb)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0040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77840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95360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3419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00400" y="341985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577840" y="34198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95360" y="34198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3986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200400" y="3986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77840" y="3986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95360" y="3986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4553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00400" y="4553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577840" y="4553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95360" y="45537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200400" y="5120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77840" y="5120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95360" y="5120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stemmer is rules without a dictionary. The lemmatizer knows, but must be told the part of speech. Both are choices about sameness, and both are standardization.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EVERY CORPUS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Zipf's law: three communities, one curve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words by frequency, plot count against rank, log scales: a straight line, in any corpus, in any language.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 of the curve IS the stop list: a handful of words does most of the work.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 is the other warning: most words are too rare to count reliably.</a:t>
            </a:r>
            <a:endParaRPr lang="en-US" sz="1500" dirty="0"/>
          </a:p>
        </p:txBody>
      </p:sp>
      <p:pic>
        <p:nvPicPr>
          <p:cNvPr id="5" name="Image 0" descr="/tmp/figs/zip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82880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PHRASES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N-grams: a sliver of order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bigram is two words in a row. “Power supply” and “long distance” are things, not word pairs.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community's top bigrams are already a fingerprint.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cost: the top word appears hundreds of times, the top pair dozens, the top triple six. Context is bought with sparsity.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0" y="201168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r/buildapc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supply · usb ports · air 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r/gardening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year · full sun · raised beds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r/relationship_advice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5029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distance · red flag · break 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Books is this method at civilizational scale; Bollen et al. is an n-gram study.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 OF COUNTS · HABITS 1 &amp;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the distribution. Divide by a denominator.</a:t>
            </a:r>
            <a:endParaRPr lang="en-US" sz="3400" dirty="0"/>
          </a:p>
        </p:txBody>
      </p:sp>
      <p:pic>
        <p:nvPicPr>
          <p:cNvPr id="4" name="Image 0" descr="/tmp/figs/plant_h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65960"/>
            <a:ext cx="512064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864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data is skewed: most comments mention plants once or never, a few mention many. Mean and median disagree; a lone mean hides it.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126480" y="1965960"/>
            <a:ext cx="5394960" cy="3383280"/>
          </a:xfrm>
          <a:prstGeom prst="roundRect">
            <a:avLst>
              <a:gd name="adj" fmla="val 2703"/>
            </a:avLst>
          </a:prstGeom>
          <a:solidFill>
            <a:srgbClr val="F4EEE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1,000 words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“water”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0" y="257860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961120" y="26151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r/gardening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elsewhere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3520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“feel”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0" y="34472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961120" y="348386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r/relationship_advice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elsewhere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4389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“money”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0" y="43159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961120" y="435254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r/buildapc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in advice, 0 in gardening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5486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differ in how much they write; raw totals always vote for the talkative one.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STATISTICS OF COUNTS · HABIT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Standardize: is 5 a lot?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(value − mean) / standard deviation — “how many spreads from typical?”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+4.7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comment's plant mentions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wildly unusual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4EEE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+1.2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comment's length in words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notable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scales become comparable: each number is now “how unusual, for this corpus.”</a:t>
            </a:r>
            <a:endParaRPr lang="en-US" sz="14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met this twice without the name: lemmatization standardizes word forms; the shuffle test standardizes a gap against the spread of chance gaps.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HERE, RARE OVERALL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tf-idf: twelve communities, sight-read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r/Cooking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salt, veggies, protein, salmon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5877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r/personalfinance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587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roth, account, rate, car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300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r/buildapc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300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cpu, fans, card, cooler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0142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r/gardening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40142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plant, sun, leaves, garden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7274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r/cats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727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cat, kitten, food, feed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5440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r/travel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flights, hotel, norway, minute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r/wallstreetbets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puts, bulls, premium, tomorrow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25877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r/movies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25877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movie, trailer, films, predator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33009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r/Parenting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0" y="330098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kids, naps, teach, school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40142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r/nba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40142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player, shots, games, rules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09360" y="47274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r/relationship_advice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47274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adult, attractive, deserve, ex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5440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r/askscience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math, animals, wildlife, submission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per community. Two quiet choices did real work: max_df drops shared filler; links were stripped. Cleaning is part of the method.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NO LABELS SHOWN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vs. pile: did the machine's groups match?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= the subreddit a comment came from · pile = the group k-means invented (0/1/2 mean nothing until you look)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\ pile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buildapc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8529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8529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8529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4198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4198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4198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34198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9867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relationship_advice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3986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3986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3986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in 5 comments land with their community.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194560"/>
            <a:ext cx="4572000" cy="3108960"/>
          </a:xfrm>
          <a:prstGeom prst="roundRect">
            <a:avLst>
              <a:gd name="adj" fmla="val 2941"/>
            </a:avLst>
          </a:prstGeom>
          <a:solidFill>
            <a:srgbClr val="F4EEE8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pile by its words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cpu, ram, gpu, card, build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2376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plant, garden, water, seeds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4343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pile 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12480" y="4343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like, know, want, relationship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counts give one blob; tf-idf + 60 dimensions gives this. The representation, not the algorithm, does the work.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RESULT, AS A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communities, placed by their counts</a:t>
            </a:r>
            <a:endParaRPr lang="en-US" sz="3400" dirty="0"/>
          </a:p>
        </p:txBody>
      </p:sp>
      <p:pic>
        <p:nvPicPr>
          <p:cNvPr id="4" name="Image 0" descr="/tmp/figs/reddit_p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4864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43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communities, three regions. The stragglers are worth reading: a gardening comment about a partner sorts with the advice pile.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0" y="182880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4EEE8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version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0" y="2606040"/>
            <a:ext cx="45720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r/sandiego vs. r/SanDiegan: one city, two communities. The same map collapses to a single cloud, and clustering barely beats a coin flip.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Week 3's supervised classifier reaches only ~60%.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is easy. Community-within-topic is hard.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MOVE FOR PICTURES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 paintings, placed by color counts alone</a:t>
            </a:r>
            <a:endParaRPr lang="en-US" sz="3400" dirty="0"/>
          </a:p>
        </p:txBody>
      </p:sp>
      <p:pic>
        <p:nvPicPr>
          <p:cNvPr id="4" name="Image 0" descr="/tmp/figs/paintings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30936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920240"/>
            <a:ext cx="4206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every pixel into 27 color buckets and a painting becomes a row of 27 numbers, exactly like a document's word counts.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k-means, no labels: portraits sort from landscapes about 3 in 4.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stragglers are the discussion: a brown winter landscape counts like a portrait.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carry real signal, and the machine never knows which signal it found.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DISTINCTIVE, DONE PROPERLY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Keyness, then standardized keyness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smoothed log-odds: how much likelier is this word here than there?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4EEE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log-odds → topic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garden, plant, soil, seeds, water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cpu, gpu, ram, motherboard, build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2402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4EEE8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(Fightin' Words) → register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6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i, we, them, they  — a stories room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you, your, if  — an advice room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each word's log-odds by its variance (habit 3, again) and the lists change character: topic sinks, register surfaces.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gap in a very common word can be stronger evidence than a big gap in a rare one. Both lists are true; they answer different questions.</a:t>
            </a:r>
            <a:endParaRPr lang="en-US" sz="1400" dirty="0"/>
          </a:p>
          <a:p>
            <a:pPr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Giggles, He Gallops is exactly this method: verbs after “she” vs. “he” across 2,000 screenplays.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TEST THE COURSE REQUIRES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shuffle test: could chance deal this gap?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“seeds” is the most distinctively-gardening word. Its rate gap vs. r/buildapc is real arithmetic. But could randomly dealt labels produce a gap that big?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 labels, recount, 1,000 times. Mark where the real gap lands.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matched it 0 times in 1,000. This one is a finding.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matches often → a coincidence. A difference can be real and still small; say which you have.</a:t>
            </a:r>
            <a:endParaRPr lang="en-US" sz="1500" dirty="0"/>
          </a:p>
        </p:txBody>
      </p:sp>
      <p:pic>
        <p:nvPicPr>
          <p:cNvPr id="5" name="Image 0" descr="/tmp/figs/shuff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920240"/>
            <a:ext cx="56692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E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WEEK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9456" cy="219456"/>
          </a:xfrm>
          <a:prstGeom prst="ellipse">
            <a:avLst/>
          </a:prstGeom>
          <a:solidFill>
            <a:srgbClr val="B9852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Underwood, “The Historical Significance of Textual Distances” (2018, free on arXiv). You placed 900 comments in a space where near means similar vocabulary; Underwood asks whether textual distance means cultural distance. His answer opens Week 3, and he wrote Week 3’s featured study.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219456" cy="219456"/>
          </a:xfrm>
          <a:prstGeom prst="ellipse">
            <a:avLst/>
          </a:prstGeom>
          <a:solidFill>
            <a:srgbClr val="3F6F5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154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6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something in a text you care about; one chart; one sentence naming a choice you made. If the count compares two things, shuffle-test the gap.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219456" cy="219456"/>
          </a:xfrm>
          <a:prstGeom prst="ellipse">
            <a:avLst/>
          </a:prstGeom>
          <a:solidFill>
            <a:srgbClr val="E8DCD6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(AI closed)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7548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D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Explain: why two tokenizers split a sentence differently, and what your stemming choice changed.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98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the classifier. r/sandiego vs. r/SanDiegan, and the words that give a comment away.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2026-07-12T23:17:21Z</dcterms:created>
  <dcterms:modified xsi:type="dcterms:W3CDTF">2026-07-12T23:17:21Z</dcterms:modified>
</cp:coreProperties>
</file>