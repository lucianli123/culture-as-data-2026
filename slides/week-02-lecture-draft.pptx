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· WEEK 2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92024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Counting, Compared: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640080" y="278892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E8DC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 the Difference Real?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640080" y="4206240"/>
            <a:ext cx="9601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7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famous paper on trial, live · the statistics of counts · what k-means finds in</a:t>
            </a:r>
            <a:endParaRPr lang="en-US" sz="17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7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Reddit comments and 20 paintings · and the one test the course requires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10332720" y="566928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7" name="Shape 5"/>
          <p:cNvSpPr/>
          <p:nvPr/>
        </p:nvSpPr>
        <p:spPr>
          <a:xfrm>
            <a:off x="10716768" y="566928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Shape 6"/>
          <p:cNvSpPr/>
          <p:nvPr/>
        </p:nvSpPr>
        <p:spPr>
          <a:xfrm>
            <a:off x="11100816" y="566928"/>
            <a:ext cx="201168" cy="201168"/>
          </a:xfrm>
          <a:prstGeom prst="ellipse">
            <a:avLst/>
          </a:prstGeom>
          <a:solidFill>
            <a:srgbClr val="E8DCD6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skill, six escalations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5394960" cy="1188720"/>
          </a:xfrm>
          <a:prstGeom prst="roundRect">
            <a:avLst>
              <a:gd name="adj" fmla="val 7692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2267712"/>
            <a:ext cx="566928" cy="56692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2267712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600200" y="2112264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trial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600200" y="251460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Bollen v. Schmidt, with the paper's own data pulled live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309360" y="1965960"/>
            <a:ext cx="5394960" cy="1188720"/>
          </a:xfrm>
          <a:prstGeom prst="roundRect">
            <a:avLst>
              <a:gd name="adj" fmla="val 7692"/>
            </a:avLst>
          </a:prstGeom>
          <a:solidFill>
            <a:srgbClr val="F4EEE8"/>
          </a:solidFill>
          <a:ln/>
        </p:spPr>
      </p:sp>
      <p:sp>
        <p:nvSpPr>
          <p:cNvPr id="10" name="Shape 8"/>
          <p:cNvSpPr/>
          <p:nvPr/>
        </p:nvSpPr>
        <p:spPr>
          <a:xfrm>
            <a:off x="6537960" y="2267712"/>
            <a:ext cx="566928" cy="56692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1" name="Text 9"/>
          <p:cNvSpPr/>
          <p:nvPr/>
        </p:nvSpPr>
        <p:spPr>
          <a:xfrm>
            <a:off x="6537960" y="2267712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7269480" y="2112264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Defining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7269480" y="251460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Tokens, stop lists, stems: counting requires deciding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" y="3383280"/>
            <a:ext cx="5394960" cy="1188720"/>
          </a:xfrm>
          <a:prstGeom prst="roundRect">
            <a:avLst>
              <a:gd name="adj" fmla="val 7692"/>
            </a:avLst>
          </a:prstGeom>
          <a:solidFill>
            <a:srgbClr val="F4EEE8"/>
          </a:solidFill>
          <a:ln/>
        </p:spPr>
      </p:sp>
      <p:sp>
        <p:nvSpPr>
          <p:cNvPr id="15" name="Shape 13"/>
          <p:cNvSpPr/>
          <p:nvPr/>
        </p:nvSpPr>
        <p:spPr>
          <a:xfrm>
            <a:off x="868680" y="3685032"/>
            <a:ext cx="566928" cy="56692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Text 14"/>
          <p:cNvSpPr/>
          <p:nvPr/>
        </p:nvSpPr>
        <p:spPr>
          <a:xfrm>
            <a:off x="868680" y="3685032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600200" y="3529584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Statistics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600200" y="393192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Distributions, rates, z-scores: four habits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309360" y="3383280"/>
            <a:ext cx="5394960" cy="1188720"/>
          </a:xfrm>
          <a:prstGeom prst="roundRect">
            <a:avLst>
              <a:gd name="adj" fmla="val 7692"/>
            </a:avLst>
          </a:prstGeom>
          <a:solidFill>
            <a:srgbClr val="F4EEE8"/>
          </a:solidFill>
          <a:ln/>
        </p:spPr>
      </p:sp>
      <p:sp>
        <p:nvSpPr>
          <p:cNvPr id="20" name="Shape 18"/>
          <p:cNvSpPr/>
          <p:nvPr/>
        </p:nvSpPr>
        <p:spPr>
          <a:xfrm>
            <a:off x="6537960" y="3685032"/>
            <a:ext cx="566928" cy="566928"/>
          </a:xfrm>
          <a:prstGeom prst="ellipse">
            <a:avLst/>
          </a:prstGeom>
          <a:solidFill>
            <a:srgbClr val="2E5F8A"/>
          </a:solidFill>
          <a:ln/>
        </p:spPr>
      </p:sp>
      <p:sp>
        <p:nvSpPr>
          <p:cNvPr id="21" name="Text 19"/>
          <p:cNvSpPr/>
          <p:nvPr/>
        </p:nvSpPr>
        <p:spPr>
          <a:xfrm>
            <a:off x="6537960" y="3685032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7269480" y="3529584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7269480" y="393192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marks a comment, a community, out from the pile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40080" y="4800600"/>
            <a:ext cx="5394960" cy="1188720"/>
          </a:xfrm>
          <a:prstGeom prst="roundRect">
            <a:avLst>
              <a:gd name="adj" fmla="val 7692"/>
            </a:avLst>
          </a:prstGeom>
          <a:solidFill>
            <a:srgbClr val="F4EEE8"/>
          </a:solidFill>
          <a:ln/>
        </p:spPr>
      </p:sp>
      <p:sp>
        <p:nvSpPr>
          <p:cNvPr id="25" name="Shape 23"/>
          <p:cNvSpPr/>
          <p:nvPr/>
        </p:nvSpPr>
        <p:spPr>
          <a:xfrm>
            <a:off x="868680" y="5102352"/>
            <a:ext cx="566928" cy="56692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6" name="Text 24"/>
          <p:cNvSpPr/>
          <p:nvPr/>
        </p:nvSpPr>
        <p:spPr>
          <a:xfrm>
            <a:off x="868680" y="5102352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1600200" y="4946904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Clustering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1600200" y="534924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counts separate, in comments and in paintings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6309360" y="4800600"/>
            <a:ext cx="5394960" cy="1188720"/>
          </a:xfrm>
          <a:prstGeom prst="roundRect">
            <a:avLst>
              <a:gd name="adj" fmla="val 7692"/>
            </a:avLst>
          </a:prstGeom>
          <a:solidFill>
            <a:srgbClr val="F4EEE8"/>
          </a:solidFill>
          <a:ln/>
        </p:spPr>
      </p:sp>
      <p:sp>
        <p:nvSpPr>
          <p:cNvPr id="30" name="Shape 28"/>
          <p:cNvSpPr/>
          <p:nvPr/>
        </p:nvSpPr>
        <p:spPr>
          <a:xfrm>
            <a:off x="6537960" y="5102352"/>
            <a:ext cx="566928" cy="56692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31" name="Text 29"/>
          <p:cNvSpPr/>
          <p:nvPr/>
        </p:nvSpPr>
        <p:spPr>
          <a:xfrm>
            <a:off x="6537960" y="5102352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000" dirty="0"/>
          </a:p>
        </p:txBody>
      </p:sp>
      <p:sp>
        <p:nvSpPr>
          <p:cNvPr id="32" name="Text 30"/>
          <p:cNvSpPr/>
          <p:nvPr/>
        </p:nvSpPr>
        <p:spPr>
          <a:xfrm>
            <a:off x="7269480" y="4946904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shuffle test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7269480" y="534924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gap real, or dealt by chance?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TRIAL · EXHIBIT 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claim: a hockey stick of distress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493776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Bollen et al. (PNAS 2021): phrases of distorted thinking (“I am a failure,” “everyone hates me”) surge in Google Books after 2000.</a:t>
            </a:r>
            <a:endParaRPr lang="en-US" sz="1500" dirty="0"/>
          </a:p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method is an n-gram count over ~500 billion words: the biggest counting study you will see this term.</a:t>
            </a:r>
            <a:endParaRPr lang="en-US" sz="1500" dirty="0"/>
          </a:p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chart is not from the paper. The notebook pulled it from the Ngram Viewer's JSON endpoint minutes ago. The evidence is one request away, always.</a:t>
            </a:r>
            <a:endParaRPr lang="en-US" sz="1500" dirty="0"/>
          </a:p>
        </p:txBody>
      </p:sp>
      <p:pic>
        <p:nvPicPr>
          <p:cNvPr id="5" name="Image 0" descr="/tmp/figs/bollen_claim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852160" y="1920240"/>
            <a:ext cx="5669280" cy="39319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0080" y="626364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books.google.com/ngrams · smoothing 3 · en-2019 corpus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TRIAL · EXHIBIT B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objection: the corpus changed under the count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493776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Schmidt et al.: Google scanned more fiction in recent years. Maybe the surge is novels, not national despair.</a:t>
            </a:r>
            <a:endParaRPr lang="en-US" sz="1500" dirty="0"/>
          </a:p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test: phrases that mark fiction and nothing else. “She whispered.” “He grinned.” No one's mental state changed.</a:t>
            </a:r>
            <a:endParaRPr lang="en-US" sz="1500" dirty="0"/>
          </a:p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hockey-stick the same way. Composition can manufacture a trend all by itself.</a:t>
            </a:r>
            <a:endParaRPr lang="en-US" sz="1500" dirty="0"/>
          </a:p>
        </p:txBody>
      </p:sp>
      <p:pic>
        <p:nvPicPr>
          <p:cNvPr id="5" name="Image 0" descr="/tmp/figs/bollen_fictio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852160" y="1920240"/>
            <a:ext cx="5669280" cy="393192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TRIAL · CROSS-EXAMINATION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same phrase, inside fiction vs. all books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493776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 fiction only, “I am a failure” is roughly level for a century. The rise lives in the mixed corpus.</a:t>
            </a:r>
            <a:endParaRPr lang="en-US" sz="1500" dirty="0"/>
          </a:p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is what you would see if composition did the work.</a:t>
            </a:r>
            <a:endParaRPr lang="en-US" sz="1500" dirty="0"/>
          </a:p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But: the authors deleted the entire fiction corpus, re-ran it, and reported the pattern largely held. The trial is not over.</a:t>
            </a:r>
            <a:endParaRPr lang="en-US" sz="1500" dirty="0"/>
          </a:p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Discussion: what further count would change your verdict?</a:t>
            </a:r>
            <a:endParaRPr lang="en-US" sz="1500" dirty="0"/>
          </a:p>
        </p:txBody>
      </p:sp>
      <p:pic>
        <p:nvPicPr>
          <p:cNvPr id="5" name="Image 0" descr="/tmp/figs/bollen_chec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852160" y="1920240"/>
            <a:ext cx="5669280" cy="39319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0080" y="626364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probe, not a replication: the paper counts 241 phrases, we pulled two.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COUNTING REQUIRES DEFINING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stop list must fit the corpus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521208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 never see words. They see tokens, and the split is a design decision: don't → one chip, two, or three.</a:t>
            </a:r>
            <a:endParaRPr lang="en-US" sz="1500" dirty="0"/>
          </a:p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Whether run and running are one word or two is your call, and it changes every chart downstream.</a:t>
            </a:r>
            <a:endParaRPr lang="en-US" sz="1500" dirty="0"/>
          </a:p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NLTK ships a professional 198-word stop list. Reddit defeats it.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126480" y="2011680"/>
            <a:ext cx="5394960" cy="3200400"/>
          </a:xfrm>
          <a:prstGeom prst="roundRect">
            <a:avLst>
              <a:gd name="adj" fmla="val 2857"/>
            </a:avLst>
          </a:prstGeom>
          <a:solidFill>
            <a:srgbClr val="F4EEE8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0" y="2286000"/>
            <a:ext cx="4846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Reddit's own function words,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from NLTK's list: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0" y="3108960"/>
            <a:ext cx="48463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200" i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just · like · really · actually</a:t>
            </a:r>
            <a:endParaRPr lang="en-US" sz="2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2200" i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basically · lol · im · dont · thats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6400800" y="457200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stop list is neutral, and none is finished.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STANDARDIZATION, PART 1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Stems and lemmas: standardizing word forms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16916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Collapse variation you consider irrelevant, so counts compare fairly.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22860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200400" y="22860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stem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577840" y="228600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lemma (as noun)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595360" y="228600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lemma (as verb)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22960" y="2852928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running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3200400" y="2852928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5577840" y="2852928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running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8595360" y="2852928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822960" y="3419856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ran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3200400" y="3419856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ran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5577840" y="3419856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ran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8595360" y="3419856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822960" y="3986784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batteries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3200400" y="3986784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batteri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5577840" y="3986784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battery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8595360" y="3986784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batteries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822960" y="4553712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cities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3200400" y="4553712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citi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5577840" y="455371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city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8595360" y="455371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cities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822960" y="512064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was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3200400" y="512064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5577840" y="512064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8595360" y="512064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</a:t>
            </a:r>
            <a:endParaRPr lang="en-US" sz="1700" dirty="0"/>
          </a:p>
        </p:txBody>
      </p:sp>
      <p:sp>
        <p:nvSpPr>
          <p:cNvPr id="29" name="Text 27"/>
          <p:cNvSpPr/>
          <p:nvPr/>
        </p:nvSpPr>
        <p:spPr>
          <a:xfrm>
            <a:off x="640080" y="576072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stemmer is rules without a dictionary. The lemmatizer knows, but must be told the part of speech. Both are choices about sameness, and both are standardization.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E5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SHAPE OF EVERY CORPUS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Zipf's law: three communities, one curve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493776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 words by frequency, plot count against rank, log scales: a straight line, in any corpus, in any language.</a:t>
            </a:r>
            <a:endParaRPr lang="en-US" sz="1500" dirty="0"/>
          </a:p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head of the curve IS the stop list: a handful of words does most of the work.</a:t>
            </a:r>
            <a:endParaRPr lang="en-US" sz="1500" dirty="0"/>
          </a:p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tail is the other warning: most words are too rare to count reliably.</a:t>
            </a:r>
            <a:endParaRPr lang="en-US" sz="1500" dirty="0"/>
          </a:p>
        </p:txBody>
      </p:sp>
      <p:pic>
        <p:nvPicPr>
          <p:cNvPr id="5" name="Image 0" descr="/tmp/figs/zipf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852160" y="1828800"/>
            <a:ext cx="566928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COUNTING PHRASES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N-grams: a sliver of order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521208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bigram is two words in a row. “Power supply” and “long distance” are things, not word pairs.</a:t>
            </a:r>
            <a:endParaRPr lang="en-US" sz="1500" dirty="0"/>
          </a:p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community's top bigrams are already a fingerprint.</a:t>
            </a:r>
            <a:endParaRPr lang="en-US" sz="1500" dirty="0"/>
          </a:p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cost: the top word appears hundreds of times, the top pair dozens, the top triple six. Context is bought with sparsity.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126480" y="2011680"/>
            <a:ext cx="5394960" cy="3840480"/>
          </a:xfrm>
          <a:prstGeom prst="roundRect">
            <a:avLst>
              <a:gd name="adj" fmla="val 2381"/>
            </a:avLst>
          </a:prstGeom>
          <a:solidFill>
            <a:srgbClr val="F4EEE8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0" y="228600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5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r/buildapc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0" y="265176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power supply · usb ports · air flow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0" y="34747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r/gardening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0" y="38404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last year · full sun · raised beds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00800" y="46634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r/relationship_advice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00800" y="502920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long distance · red flag · break up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0080" y="626364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Books is this method at civilizational scale; Bollen et al. is an n-gram study.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STATISTICS OF COUNTS · HABITS 1 &amp; 2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Look at the distribution. Divide by a denominator.</a:t>
            </a:r>
            <a:endParaRPr lang="en-US" sz="3400" dirty="0"/>
          </a:p>
        </p:txBody>
      </p:sp>
      <p:pic>
        <p:nvPicPr>
          <p:cNvPr id="4" name="Image 0" descr="/tmp/figs/plant_his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965960"/>
            <a:ext cx="5120640" cy="33832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486400"/>
            <a:ext cx="51206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 data is skewed: most comments mention plants once or never, a few mention many. Mean and median disagree; a lone mean hides it.</a:t>
            </a:r>
            <a:endParaRPr lang="en-US" sz="1250" dirty="0"/>
          </a:p>
        </p:txBody>
      </p:sp>
      <p:sp>
        <p:nvSpPr>
          <p:cNvPr id="6" name="Shape 3"/>
          <p:cNvSpPr/>
          <p:nvPr/>
        </p:nvSpPr>
        <p:spPr>
          <a:xfrm>
            <a:off x="6126480" y="1965960"/>
            <a:ext cx="5394960" cy="3383280"/>
          </a:xfrm>
          <a:prstGeom prst="roundRect">
            <a:avLst>
              <a:gd name="adj" fmla="val 2703"/>
            </a:avLst>
          </a:prstGeom>
          <a:solidFill>
            <a:srgbClr val="F4EEE8"/>
          </a:solidFill>
          <a:ln/>
        </p:spPr>
      </p:sp>
      <p:sp>
        <p:nvSpPr>
          <p:cNvPr id="7" name="Text 4"/>
          <p:cNvSpPr/>
          <p:nvPr/>
        </p:nvSpPr>
        <p:spPr>
          <a:xfrm>
            <a:off x="6400800" y="219456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per 1,000 words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6400800" y="265176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“water”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0" y="2578608"/>
            <a:ext cx="1097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3.9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8961120" y="2615184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r/gardening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 elsewhere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400800" y="352044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“feel”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7772400" y="3447288"/>
            <a:ext cx="1097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1.8</a:t>
            </a:r>
            <a:endParaRPr lang="en-US" sz="2600" dirty="0"/>
          </a:p>
        </p:txBody>
      </p:sp>
      <p:sp>
        <p:nvSpPr>
          <p:cNvPr id="13" name="Text 10"/>
          <p:cNvSpPr/>
          <p:nvPr/>
        </p:nvSpPr>
        <p:spPr>
          <a:xfrm>
            <a:off x="8961120" y="3483864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r/relationship_advice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 elsewhere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0" y="438912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“money”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7772400" y="4315968"/>
            <a:ext cx="1097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E5F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1.1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8961120" y="4352544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r/buildapc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 in advice, 0 in gardening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6126480" y="5486400"/>
            <a:ext cx="53949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Communities differ in how much they write; raw totals always vote for the talkative one.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STATISTICS OF COUNTS · HABIT 3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Standardize: is 5 a lot?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173736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 = (value − mean) / standard deviation — “how many spreads from typical?”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640080" y="2468880"/>
            <a:ext cx="5394960" cy="2103120"/>
          </a:xfrm>
          <a:prstGeom prst="roundRect">
            <a:avLst>
              <a:gd name="adj" fmla="val 4348"/>
            </a:avLst>
          </a:prstGeom>
          <a:solidFill>
            <a:srgbClr val="F4EEE8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69748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 = +4.7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914400" y="365760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comment's plant mentions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402336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wildly unusual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309360" y="2468880"/>
            <a:ext cx="5394960" cy="2103120"/>
          </a:xfrm>
          <a:prstGeom prst="roundRect">
            <a:avLst>
              <a:gd name="adj" fmla="val 4348"/>
            </a:avLst>
          </a:prstGeom>
          <a:solidFill>
            <a:srgbClr val="F4EEE8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0" y="269748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 = +1.2</a:t>
            </a:r>
            <a:endParaRPr lang="en-US" sz="4400" dirty="0"/>
          </a:p>
        </p:txBody>
      </p:sp>
      <p:sp>
        <p:nvSpPr>
          <p:cNvPr id="11" name="Text 9"/>
          <p:cNvSpPr/>
          <p:nvPr/>
        </p:nvSpPr>
        <p:spPr>
          <a:xfrm>
            <a:off x="6583680" y="365760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comment's length in words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583680" y="402336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barely notable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0080" y="4937760"/>
            <a:ext cx="1088136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Unlike scales become comparable: each number is now “how unusual, for this corpus.”</a:t>
            </a:r>
            <a:endParaRPr lang="en-US" sz="1450" dirty="0"/>
          </a:p>
          <a:p>
            <a:pPr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have met this twice without the name: lemmatization standardizes word forms; the shuffle test standardizes a gap against the spread of chance gaps.</a:t>
            </a:r>
            <a:endParaRPr lang="en-US" sz="14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E5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HERE, RARE OVERALL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tf-idf: twelve communities, sight-read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r/Cooking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3017520" y="187452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salt, veggies, protein, salmon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40080" y="2587752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r/personalfinance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017520" y="2587752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roth, account, rate, car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640080" y="3300984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r/buildapc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017520" y="3300984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cpu, fans, card, cooler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640080" y="4014216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r/gardening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017520" y="4014216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plant, sun, leaves, garden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640080" y="4727448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r/cats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017520" y="4727448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cat, kitten, food, feed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40080" y="544068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r/travel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017520" y="544068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flights, hotel, norway, minute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309360" y="187452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r/wallstreetbets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686800" y="187452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puts, bulls, premium, tomorrow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6309360" y="2587752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r/movies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686800" y="2587752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movie, trailer, films, predator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6309360" y="3300984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r/Parenting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686800" y="3300984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kids, naps, teach, school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6309360" y="4014216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r/nba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8686800" y="4014216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player, shots, games, rules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6309360" y="4727448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r/relationship_advice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8686800" y="4727448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adult, attractive, deserve, ex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6309360" y="544068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r/askscience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8686800" y="544068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math, animals, wildlife, submission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640080" y="626364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document per community. Two quiet choices did real work: max_df drops shared filler; links were stripped. Cleaning is part of the method.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CLUSTERING · NO LABELS SHOWN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Truth vs. pile: did the machine's groups match?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169164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truth = the subreddit a comment came from · pile = the group k-means invented (0/1/2 mean nothing until you look)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22860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truth \ pile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566160" y="228600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617720" y="228600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669280" y="228600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22960" y="2852928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buildapc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3566160" y="2852928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59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617720" y="2852928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237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669280" y="2852928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822960" y="3419856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gardening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566160" y="3419856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68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617720" y="3419856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669280" y="3419856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194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22960" y="3986784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relationship_advice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3566160" y="3986784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281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617720" y="3986784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5669280" y="3986784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40080" y="4892040"/>
            <a:ext cx="5852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~4 in 5 comments land with their community.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949440" y="2194560"/>
            <a:ext cx="4572000" cy="3108960"/>
          </a:xfrm>
          <a:prstGeom prst="roundRect">
            <a:avLst>
              <a:gd name="adj" fmla="val 2941"/>
            </a:avLst>
          </a:prstGeom>
          <a:solidFill>
            <a:srgbClr val="F4EEE8"/>
          </a:solidFill>
          <a:ln/>
        </p:spPr>
      </p:sp>
      <p:sp>
        <p:nvSpPr>
          <p:cNvPr id="23" name="Text 21"/>
          <p:cNvSpPr/>
          <p:nvPr/>
        </p:nvSpPr>
        <p:spPr>
          <a:xfrm>
            <a:off x="7223760" y="2377440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a pile by its words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223760" y="278892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5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pile 1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8412480" y="278892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cpu, ram, gpu, card, build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7223760" y="356616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pile 2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8412480" y="356616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plant, garden, water, seeds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7223760" y="434340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pile 0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8412480" y="434340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like, know, want, relationship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640080" y="626364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counts give one blob; tf-idf + 60 dimensions gives this. The representation, not the algorithm, does the work.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RESULT, AS A PICTURE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communities, placed by their counts</a:t>
            </a:r>
            <a:endParaRPr lang="en-US" sz="3400" dirty="0"/>
          </a:p>
        </p:txBody>
      </p:sp>
      <p:pic>
        <p:nvPicPr>
          <p:cNvPr id="4" name="Image 0" descr="/tmp/figs/reddit_pca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828800"/>
            <a:ext cx="5486400" cy="40233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943600"/>
            <a:ext cx="54864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communities, three regions. The stragglers are worth reading: a gardening comment about a partner sorts with the advice pile.</a:t>
            </a:r>
            <a:endParaRPr lang="en-US" sz="1250" dirty="0"/>
          </a:p>
        </p:txBody>
      </p:sp>
      <p:sp>
        <p:nvSpPr>
          <p:cNvPr id="6" name="Shape 3"/>
          <p:cNvSpPr/>
          <p:nvPr/>
        </p:nvSpPr>
        <p:spPr>
          <a:xfrm>
            <a:off x="6400800" y="1828800"/>
            <a:ext cx="5120640" cy="4023360"/>
          </a:xfrm>
          <a:prstGeom prst="roundRect">
            <a:avLst>
              <a:gd name="adj" fmla="val 2273"/>
            </a:avLst>
          </a:prstGeom>
          <a:solidFill>
            <a:srgbClr val="F4EEE8"/>
          </a:solidFill>
          <a:ln/>
        </p:spPr>
      </p:sp>
      <p:sp>
        <p:nvSpPr>
          <p:cNvPr id="7" name="Text 4"/>
          <p:cNvSpPr/>
          <p:nvPr/>
        </p:nvSpPr>
        <p:spPr>
          <a:xfrm>
            <a:off x="6675120" y="210312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hard version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6675120" y="2606040"/>
            <a:ext cx="457200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r/sandiego vs. r/SanDiegan: one city, two communities. The same map collapses to a single cloud, and clustering barely beats a coin flip.</a:t>
            </a:r>
            <a:endParaRPr lang="en-US" sz="1400" dirty="0"/>
          </a:p>
          <a:p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 Week 3's supervised classifier reaches only ~60%.</a:t>
            </a:r>
            <a:endParaRPr lang="en-US" sz="1400" dirty="0"/>
          </a:p>
          <a:p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is easy. Community-within-topic is hard.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MOVE FOR PICTURES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Twenty paintings, placed by color counts alone</a:t>
            </a:r>
            <a:endParaRPr lang="en-US" sz="3400" dirty="0"/>
          </a:p>
        </p:txBody>
      </p:sp>
      <p:pic>
        <p:nvPicPr>
          <p:cNvPr id="4" name="Image 0" descr="/tmp/figs/paintings_map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828800"/>
            <a:ext cx="6309360" cy="42976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315200" y="1920240"/>
            <a:ext cx="420624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 every pixel into 27 color buckets and a painting becomes a row of 27 numbers, exactly like a document's word counts.</a:t>
            </a:r>
            <a:endParaRPr lang="en-US" sz="1400" dirty="0"/>
          </a:p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k-means, no labels: portraits sort from landscapes about 3 in 4.</a:t>
            </a:r>
            <a:endParaRPr lang="en-US" sz="1400" dirty="0"/>
          </a:p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stragglers are the discussion: a brown winter landscape counts like a portrait.</a:t>
            </a:r>
            <a:endParaRPr lang="en-US" sz="1400" dirty="0"/>
          </a:p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Counts carry real signal, and the machine never knows which signal it found.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DISTINCTIVE, DONE PROPERLY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Keyness, then standardized keyness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173736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smoothed log-odds: how much likelier is this word here than there?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240280"/>
            <a:ext cx="5486400" cy="1828800"/>
          </a:xfrm>
          <a:prstGeom prst="roundRect">
            <a:avLst>
              <a:gd name="adj" fmla="val 5000"/>
            </a:avLst>
          </a:prstGeom>
          <a:solidFill>
            <a:srgbClr val="F4EEE8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423160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log-odds → topic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14400" y="278892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garden, plant, soil, seeds, water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14400" y="329184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2E5F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cpu, gpu, ram, motherboard, build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309360" y="2240280"/>
            <a:ext cx="5486400" cy="1828800"/>
          </a:xfrm>
          <a:prstGeom prst="roundRect">
            <a:avLst>
              <a:gd name="adj" fmla="val 5000"/>
            </a:avLst>
          </a:prstGeom>
          <a:solidFill>
            <a:srgbClr val="F4EEE8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0" y="2423160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standardized (Fightin' Words) → register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583680" y="278892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i, we, them, they  — a stories room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83680" y="329184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2E5F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you, your, if  — an advice room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40080" y="4434840"/>
            <a:ext cx="1088136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spcAft>
                <a:spcPts val="8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Divide each word's log-odds by its variance (habit 3, again) and the lists change character: topic sinks, register surfaces.</a:t>
            </a:r>
            <a:endParaRPr lang="en-US" sz="1400" dirty="0"/>
          </a:p>
          <a:p>
            <a:pPr indent="0" marL="0">
              <a:lnSpc>
                <a:spcPct val="118000"/>
              </a:lnSpc>
              <a:spcAft>
                <a:spcPts val="8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small gap in a very common word can be stronger evidence than a big gap in a rare one. Both lists are true; they answer different questions.</a:t>
            </a:r>
            <a:endParaRPr lang="en-US" sz="1400" dirty="0"/>
          </a:p>
          <a:p>
            <a:pPr indent="0" marL="0">
              <a:lnSpc>
                <a:spcPct val="118000"/>
              </a:lnSpc>
              <a:spcAft>
                <a:spcPts val="8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Giggles, He Gallops is exactly this method: verbs after “she” vs. “he” across 2,000 screenplays.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ONE TEST THE COURSE REQUIRES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shuffle test: could chance deal this gap?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493776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“seeds” is the most distinctively-gardening word. Its rate gap vs. r/buildapc is real arithmetic. But could randomly dealt labels produce a gap that big?</a:t>
            </a:r>
            <a:endParaRPr lang="en-US" sz="1500" dirty="0"/>
          </a:p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Shuffle the labels, recount, 1,000 times. Mark where the real gap lands.</a:t>
            </a:r>
            <a:endParaRPr lang="en-US" sz="1500" dirty="0"/>
          </a:p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Chance matched it 0 times in 1,000. This one is a finding.</a:t>
            </a:r>
            <a:endParaRPr lang="en-US" sz="1500" dirty="0"/>
          </a:p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Chance matches often → a coincidence. A difference can be real and still small; say which you have.</a:t>
            </a:r>
            <a:endParaRPr lang="en-US" sz="1500" dirty="0"/>
          </a:p>
        </p:txBody>
      </p:sp>
      <p:pic>
        <p:nvPicPr>
          <p:cNvPr id="5" name="Image 0" descr="/tmp/figs/shuffl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852160" y="1920240"/>
            <a:ext cx="5669280" cy="393192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WEEK 3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Homework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51560" y="19202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051560" y="2286000"/>
            <a:ext cx="9875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Stephen Wolfram, “What Is ChatGPT Doing…”, opening sections only: even text generation is built from counting.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3291840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51560" y="31546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051560" y="3520440"/>
            <a:ext cx="9875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 something in a text you care about; one chart; one sentence naming a choice you made. If the count compares two things, shuffle-test the gap.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0080" y="4526280"/>
            <a:ext cx="219456" cy="219456"/>
          </a:xfrm>
          <a:prstGeom prst="ellipse">
            <a:avLst/>
          </a:prstGeom>
          <a:solidFill>
            <a:srgbClr val="E8DCD6"/>
          </a:solidFill>
          <a:ln/>
        </p:spPr>
      </p:sp>
      <p:sp>
        <p:nvSpPr>
          <p:cNvPr id="11" name="Text 9"/>
          <p:cNvSpPr/>
          <p:nvPr/>
        </p:nvSpPr>
        <p:spPr>
          <a:xfrm>
            <a:off x="1051560" y="4389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051560" y="4754880"/>
            <a:ext cx="9875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Explain: why two tokenizers split a sentence differently, and what your stemming choice changed.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40080" y="594360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week: the classifier. r/sandiego vs. r/SanDiegan, and the words that give a comment away.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2026-07-12T23:17:21Z</dcterms:created>
  <dcterms:modified xsi:type="dcterms:W3CDTF">2026-07-12T23:17:21Z</dcterms:modified>
</cp:coreProperties>
</file>