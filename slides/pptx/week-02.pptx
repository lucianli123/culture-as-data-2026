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Counting, Compared: Is the Difference Real?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famous PNAS paper on trial, find the words that make a voice distinctive (the method behind Week 1's featured study), and learn the one statistical method the course requires: the shuffle test, which checks whether a difference is real.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method:  Advanced counting: baselines, keyness, and the shuffle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860233" y="1936643"/>
            <a:ext cx="67312" cy="67312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8" name="Shape 6"/>
          <p:cNvSpPr/>
          <p:nvPr/>
        </p:nvSpPr>
        <p:spPr>
          <a:xfrm>
            <a:off x="10860605" y="1635845"/>
            <a:ext cx="49135" cy="49135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9" name="Shape 7"/>
          <p:cNvSpPr/>
          <p:nvPr/>
        </p:nvSpPr>
        <p:spPr>
          <a:xfrm>
            <a:off x="9340027" y="2296225"/>
            <a:ext cx="68931" cy="68931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Shape 8"/>
          <p:cNvSpPr/>
          <p:nvPr/>
        </p:nvSpPr>
        <p:spPr>
          <a:xfrm>
            <a:off x="9184699" y="1166963"/>
            <a:ext cx="94696" cy="9469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37621" y="709320"/>
            <a:ext cx="94425" cy="94425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2193" y="1647195"/>
            <a:ext cx="90980" cy="9098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37815" y="1229768"/>
            <a:ext cx="52356" cy="523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4287" y="1918300"/>
            <a:ext cx="56277" cy="5627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84609" y="961970"/>
            <a:ext cx="70739" cy="70739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05380" y="822038"/>
            <a:ext cx="63737" cy="63737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2802" y="2222405"/>
            <a:ext cx="58133" cy="58133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56674" y="674890"/>
            <a:ext cx="76786" cy="7678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9996" y="2115473"/>
            <a:ext cx="87692" cy="87692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82568" y="2055975"/>
            <a:ext cx="58846" cy="5884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57390" y="1220295"/>
            <a:ext cx="67974" cy="67974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97462" y="2069693"/>
            <a:ext cx="83071" cy="83071"/>
          </a:xfrm>
          <a:prstGeom prst="ellipse">
            <a:avLst/>
          </a:prstGeom>
          <a:solidFill>
            <a:srgbClr val="7A3B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377440" cy="2377440"/>
          </a:xfrm>
          <a:prstGeom prst="ellipse">
            <a:avLst/>
          </a:prstGeom>
          <a:solidFill>
            <a:srgbClr val="F4EEE8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2423160"/>
            <a:ext cx="146304" cy="14630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Shape 2"/>
          <p:cNvSpPr/>
          <p:nvPr/>
        </p:nvSpPr>
        <p:spPr>
          <a:xfrm>
            <a:off x="1563624" y="2514600"/>
            <a:ext cx="146304" cy="14630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5" name="Shape 3"/>
          <p:cNvSpPr/>
          <p:nvPr/>
        </p:nvSpPr>
        <p:spPr>
          <a:xfrm>
            <a:off x="1801368" y="2423160"/>
            <a:ext cx="146304" cy="146304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study we open with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Bollen/Schmidt trial: a hockey stick of societal distress, found by counting.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they choose, and where might it be wrong?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" cy="25603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10241280" cy="3657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rising words are fiction-words, and Google scanned more fiction after 2000. The rebuttal, and the method worth adopting: the authors removed the entire fiction corpus and re-ran it, and the pattern largely held. The answer to "your corpus is biased" is a test, not an argument.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trial: Bollen et al. v. Schmidt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(PNAS 2021): phrases of distorted thinking ("I am a failure," "everyone hates me") surge in Google Books after 2000. A hockey stick.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45536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54096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objection: Google scanned more fiction after 2000. Maybe the surge is novels, not distress.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67912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rebuttal: the authors deleted the entire fiction corpus and re-ran the analysis. The pattern largely held.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73168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81728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runs the trial live: the Ngram Viewer's JSON endpoint returns the paper's own data. "I am a failure" hockey-sticks in the mixed corpus and sits roughly flat inside fiction; "she whispered" hockey-sticks too. The evidence cuts both ways, which is why it is a trial.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86984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95544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worth adopting: answer "your corpus is biased" with a test rather than an argument.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6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 word?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tokenizers shatter the same sentence differently: "don't" becomes one chip, two, or three.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45536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54096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never see words. They see tokens, and the split is a design decision.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67912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hand-count argument about run/running is the same decision, made with highlighters. A stemmer makes it by rule: r/gardening's own garden, gardener, gardening, and gardens all collapse to one stem, person lumped with activity. A lemmatizer consults a dictionary, but must be told the part of speech.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73168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81728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Zipf's law: rank words by frequency and every corpus gives the same curve. The head is the stop list; the tail is too rare to count.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86984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95544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down-weight what is common everywhere. "Common here, rare overall" is what characterizes a text.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85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N-grams: counting phrases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bigram is two words in a row. Week 1 counted one corpus's pairs; this week counts pairs across three communities, and each subreddit's top bigrams are already a fingerprint.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Books n-grams are this method at civilizational scale: 500 billion words, one JSON request per query. Bollen et al. is an n-gram study.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n-grams buy context and pay in sparsity: the top word appears hundreds of times, the top pair dozens, the top triple six.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love" is a different fact than "my" plus "love": pairs keep a sliver of the order the bag throws away.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statistics of counts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one: look at the distribution before the mean. Count data is skewed: most r/gardening comments mention plants zero or one time, a few mention many. Mean and median disagree, and the mean alone misleads.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45536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54096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two: divide by a denominator. Communities differ in how much they write, so raw totals mislead. Rates per 1,000 words: "water" is 3.9 in r/gardening and 0.1 elsewhere; "feel" is 1.8 in r/relationship_advice.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67912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three: standardize. A z-score rescales any number as distance from typical in units of spread: a comment with three plant mentions sits at z = +4.7, its 73-word length at +1.2. Unlike scales become comparable. Lemmatization is the same idea for word forms; the shuffle test is the same idea for gaps.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73168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81728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four: a gap between rates can still be luck. That is the shuffle test's question, and it closes the session.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86984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95544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can be real and still small; a big difference can be an artifact of the denominator. Say which you have.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6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as points: the idea of a space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document's counts are a list of numbers, and a list of numbers is a coordinate. One axis per word, and every document becomes a point; the corpus becomes a cloud. In that space, near means similar vocabulary.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 the only size that fits on a slide: a two-word space. Gardening comments live along the plant axis, buildapc along the cpu axis, relationship_advice at the origin, where neither word is its vocabulary.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space has one axis per vocabulary word, about five thousand. Unpicturable, but the arithmetic is identical. Clustering finds neighborhoods in the cloud; PCA is a camera angle that flattens it to two axes for viewing.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5's embeddings are this exact move with learned axes: near comes to mean similar meaning instead of shared vocabulary. Whenever you read "embedding": a placement of things into a space where distance is designed to mean something.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85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Clustering: three communities, separable from counts alone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6781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Reddit comments from r/buildapc, r/gardening, and r/relationship_advice, streamed live (analyze-only: counts and findings are published, the text and usernames never are). k-means gets no labels.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0990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18460"/>
            <a:ext cx="10607040" cy="6781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counts: one blob, the everywhere-words dominate. tf-idf: better, still smeared. tf-idf compressed to 60 dimensions: about four comments in five land with their community.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8808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596640"/>
            <a:ext cx="10607040" cy="6781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never changed; the representation did. Same data, same k-means, three answers, which previews Week 5's whole move: replace word columns with learned dimensions.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74820"/>
            <a:ext cx="10607040" cy="6781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stragglers: a gardening comment about a partner sorts with relationship_advice. The cluster found vocabulary; vocabulary mostly tracks community. Name what separated before you claim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4444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953000"/>
            <a:ext cx="10607040" cy="6781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version, in the go-further: r/sandiego against r/SanDiegan, one city, two communities. Clustering barely beats a coin flip, and even Week 3's supervised classifier reaches only about 60 percent. Topic is easy; community-within-topic is hard.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72262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631180"/>
            <a:ext cx="10607040" cy="6781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same move for pictures: twenty Met paintings counted into 27 color buckets, k-means, no labels. Portraits sort from landscapes three in four, and the stragglers (a brown winter landscape counts like a portrait) are the discussion.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fool yourself with significance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we shuffle-tested our top keyness word and got p = 0. Of course: we picked it BECAUSE its gap was the most extreme of 1,500. State the hypothesis before looking, then test exactly that.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Multiplicity: split one community's comments randomly in half and keyness still produces a convincing "distinctive vocabulary": pure noise. Test 1,500 words at p &lt; .05 and ~75 pass by luck. Bollen et al. counted 241 phrases. Defenses: correct the threshold, pre-register, or check winners on held-out data.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"significant" answers "is it chance?", never "does it matter?" With enough comments a microscopic gap passes. Report the effect and the p, both: "3.3 per 1,000 words more (p &lt; .001)".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bootstrap closes the loop: resample your own comments 1,000 times for a confidence interval. The shuffle test asks "could it be zero?"; the bootstrap asks "what sizes are believable?" A publishable finding survives both.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6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counting fails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Negation: "I am not happy" adds one to the happy count. Bigrams catch a little of this; most context is invisible to a counter.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stemmer is rules without a dictionary: universal, university, and universe all become "univers".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lemmatizer needs the part of speech: "saw" is a tool as a noun and the past of see as a verb; told nothing, it guesses.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Polysemy: "sick beat" and "sick child" add to the same count. A word type is not a meaning. Week 5's embeddings exist for these holes, and bring their own.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85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Keyness: what makes a voice distinctive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word: how much likelier is it in corpus A than corpus B? A log-odds ratio, smoothed so rare words don't explode.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45536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54096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positive = distinctively A. Strongly negative = distinctively B. The middle is shared language.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67912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Giggles, He Gallops is exactly this method: verbs after "she" vs. "he" in 2,000 screenplays. Women snuggle, giggle, squeal; men gallop, strap, shoot.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73168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81728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log-odds by their variance (Monroe et al.'s Fightin' Words) and the lists change character: topic words sink, register surfaces. r/buildapc's strongest markers become you/your (an advice room), r/gardening's i/we/them (a stories room).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86984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95544"/>
            <a:ext cx="10607040" cy="81381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pair is a choice: this artist against pop, this subreddit against a novel. Different pair, different "distinctive."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 test: is the gap real?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could randomly dealt labels produce a gap this large?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 labels, recount, 1,000 times. Mark where the real gap lands in that pile. The fraction of shuffles that match it is the p-value, the number inside every "p &lt; .05" you will ever read.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rarely matches it: a finding. Chance matches it often: a coincidence. Pre-registered in the notebook: "gardeners say water more" (gap +3.3 per 1,000 words, p &lt; .001); "money" between buildapc and advice fails (p = .17) and even flips sign between pulls.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"probably not chance." It never says "big enough to matter." Effect size is your argument to make.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third of the session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606040"/>
            <a:ext cx="548640" cy="5486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/ demo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counting: baselines, keyness, and the shuffle 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606040"/>
            <a:ext cx="548640" cy="5486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920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hands-on on your own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823960" y="2606040"/>
            <a:ext cx="548640" cy="54864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7782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the study, debate it, or critique each other's work.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72768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554480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favorite Pudding pieces from the sketch, what did yours count, and one choice its makers made. Then retrieval.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20824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20824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2002536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trial: claim, objection, re-run-without-fiction rebuttal, "interpret with care." One named choice is the chart: the hockey-stick shape depends on its y-axis and smoothing. The notebook pulls the paper's own phrases live from Google Books and probes the fiction objection with fiction-marker phrases.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450592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demonstration before the complications: the words one artist uses far more than everyone else, a signature vocabulary measured against a pop baseline.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16936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898648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bag-of-words: two communities, highlighters, argue about merging run/running. Counting requires defining.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64992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64992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346704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word? Paste a sentence into two tokenizer playgrounds and watch it shatter differently. Models see tokens, not words. Then the standard tools for the run/running decision: NLTK stemming and lemmatization, a real stop list, and Zipf's law, the curve that explains why stop lists exist.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13048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13048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794760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61104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4242816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and statistics, hands-on: bigrams across three corpora, distributions and mean-versus-median on real counts, rates per 1,000 words, z-scores as the common scale. Then tf-idf at two scales, single comments as documents and twelve whole subreddits as documents, each community sight-read from its distinctive words (cpu and coolers, roth and rates, puts and bears), then the idea of a space made explicit (documents as points, one axis per word, a two-word space drawn), and k-means on the live comments: raw counts give a blob, tf-idf plus 60 dimensions sorts about four comments in five with their community. The representation, not the algorithm, does the work. Then the room drives: propose a question, pick three communities, everyone predicts which stands alone and which two blur, one call clusters them live, and the table scores the room. Closer: the same k-means on twenty Met paintings counted into 27 color buckets sorts portraits from landscapes, three in four.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709160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4690872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Keyness, the She Giggles, He Gallops move: a log-odds ratio between two corpora finds the words one voice uses far more than a baseline, exactly the method behind Week 1's featured piece. The corpus pair is a choice too: artist vs. pop, lyrics vs. subreddit vs. novel.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157216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157216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5138928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difference real? The shuffle test names the p-value, then the three traps: selection (testing the word you picked for its extremity), multiplicity (random halves of one community yield a convincing fake vocabulary; ~75 of 1,500 words pass by luck), and size (significant is not big; report effect and p together, with a bootstrap interval for the size).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605272"/>
            <a:ext cx="868680" cy="338328"/>
          </a:xfrm>
          <a:prstGeom prst="roundRect">
            <a:avLst>
              <a:gd name="adj" fmla="val 16216"/>
            </a:avLst>
          </a:prstGeom>
          <a:solidFill>
            <a:srgbClr val="7A3B2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605272"/>
            <a:ext cx="868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5586984"/>
            <a:ext cx="9646920" cy="4480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Gemini-free check and check-out.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homework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7335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9842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Daniels, The Largest Vocabulary in Hip Hop (The Pudding): 150 rappers ranked by unique words, token analysis exactly as in today's session, caveats and 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60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curious, the field's own version of today's trial: Underwood, Textual Distances (2018) vs. Da, The Computational Case (2019), with the free forum where the field argues 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219456" cy="2194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20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(optional)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904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Grimmer &amp;amp; Stewart, Text as Data (2013), §1–4: all quantitative models of language are wrong, but some are useful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5371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480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86460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something in a text you care about; one chart; one sentence naming a choice. If the count compares two things, shuffle-test the gap.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51383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(AI closed)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82472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it: why two tokenizers split a sentence differently, and what your stemming choice changed. (Competencies 3, 5.)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WEEK CONNECTS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course's through-lines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A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02082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counting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44144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is the simplest tool and has no notion of meaning. Week 5 addresses that limit.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6F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48386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count is a choice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90448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stemming, the corpus, the chart's axis, each hides a decision you made.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985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94690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difference real?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536752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 labels and count again, one thousand times; if chance often matches your gap, do not trust it.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CHECK, AI CLOSED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8686800" cy="3108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it: why two tokenizers split a sentence differently, and what your stemming choice changed. (Competencies 3, 5.)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  ·  Week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95847" y="5368090"/>
            <a:ext cx="79937" cy="79937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Shape 4"/>
          <p:cNvSpPr/>
          <p:nvPr/>
        </p:nvSpPr>
        <p:spPr>
          <a:xfrm>
            <a:off x="11348430" y="5402430"/>
            <a:ext cx="71327" cy="7132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Shape 5"/>
          <p:cNvSpPr/>
          <p:nvPr/>
        </p:nvSpPr>
        <p:spPr>
          <a:xfrm>
            <a:off x="9759326" y="5722309"/>
            <a:ext cx="97642" cy="9764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8" name="Shape 6"/>
          <p:cNvSpPr/>
          <p:nvPr/>
        </p:nvSpPr>
        <p:spPr>
          <a:xfrm>
            <a:off x="10155655" y="5314266"/>
            <a:ext cx="72014" cy="7201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9" name="Shape 7"/>
          <p:cNvSpPr/>
          <p:nvPr/>
        </p:nvSpPr>
        <p:spPr>
          <a:xfrm>
            <a:off x="11043898" y="4902202"/>
            <a:ext cx="72167" cy="7216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Shape 8"/>
          <p:cNvSpPr/>
          <p:nvPr/>
        </p:nvSpPr>
        <p:spPr>
          <a:xfrm>
            <a:off x="10930534" y="5210016"/>
            <a:ext cx="66097" cy="66097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2363" y="5224248"/>
            <a:ext cx="76664" cy="7666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405866" y="5668799"/>
            <a:ext cx="71864" cy="7186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28162" y="5530208"/>
            <a:ext cx="74557" cy="74557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55732" y="5532375"/>
            <a:ext cx="52740" cy="527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4734" y="4661840"/>
            <a:ext cx="84135" cy="84135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52610" y="5379864"/>
            <a:ext cx="81875" cy="81875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55520" y="4935626"/>
            <a:ext cx="68820" cy="6882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810262" y="5790387"/>
            <a:ext cx="67830" cy="67830"/>
          </a:xfrm>
          <a:prstGeom prst="ellipse">
            <a:avLst/>
          </a:prstGeom>
          <a:solidFill>
            <a:srgbClr val="3F6F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2026-07-18T16:54:33Z</dcterms:created>
  <dcterms:modified xsi:type="dcterms:W3CDTF">2026-07-18T16:54:33Z</dcterms:modified>
</cp:coreProperties>
</file>