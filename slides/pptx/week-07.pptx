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3" autoAdjust="0"/>
    <p:restoredTop sz="94711" autoAdjust="0"/>
  </p:normalViewPr>
  <p:slideViewPr>
    <p:cSldViewPr snapToGrid="0" snapToObjects="1">
      <p:cViewPr varScale="1">
        <p:scale>
          <a:sx n="84" d="100"/>
          <a:sy n="84" d="100"/>
        </p:scale>
        <p:origin x="1278"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241EB5C9-1307-BA42-ABA2-0BC069CD8E7F}" type="datetimeFigureOut">
              <a:rPr lang="en-US" smtClean="0"/>
              <a:t>4/5/2019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241EB5C9-1307-BA42-ABA2-0BC069CD8E7F}" type="datetimeFigureOut">
              <a:rPr lang="en-US" smtClean="0"/>
              <a:t>4/5/2019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4/5/2019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1EB5C9-1307-BA42-ABA2-0BC069CD8E7F}" type="datetimeFigureOut">
              <a:rPr lang="en-US" smtClean="0"/>
              <a:t>4/5/2019</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npr.org/2025/03/26/nx-s1-5288157/new-york-times-openai-copyright-case-goes-forward" TargetMode="External" /><Relationship Id="rId3" Type="http://schemas.openxmlformats.org/officeDocument/2006/relationships/hyperlink" Target="https://www.pnas.org/doi/10.1073/pnas.2305016120" TargetMode="External" /><Relationship Id="rId4" Type="http://schemas.openxmlformats.org/officeDocument/2006/relationships/hyperlink" Target="https://arxiv.org/abs/2410.1202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lvl="0" marL="0" indent="0">
              <a:buNone/>
            </a:pPr>
            <a:r>
              <a:rPr/>
              <a:t>Week</a:t>
            </a:r>
            <a:r>
              <a:rPr/>
              <a:t> </a:t>
            </a:r>
            <a:r>
              <a:rPr/>
              <a:t>7:</a:t>
            </a:r>
            <a:r>
              <a:rPr/>
              <a:t> </a:t>
            </a:r>
            <a:r>
              <a:rPr/>
              <a:t>The</a:t>
            </a:r>
            <a:r>
              <a:rPr/>
              <a:t> </a:t>
            </a:r>
            <a:r>
              <a:rPr/>
              <a:t>AI</a:t>
            </a:r>
            <a:r>
              <a:rPr/>
              <a:t> </a:t>
            </a:r>
            <a:r>
              <a:rPr/>
              <a:t>as</a:t>
            </a:r>
            <a:r>
              <a:rPr/>
              <a:t> </a:t>
            </a:r>
            <a:r>
              <a:rPr/>
              <a:t>a</a:t>
            </a:r>
            <a:r>
              <a:rPr/>
              <a:t> </a:t>
            </a:r>
            <a:r>
              <a:rPr/>
              <a:t>Reader,</a:t>
            </a:r>
            <a:r>
              <a:rPr/>
              <a:t> </a:t>
            </a:r>
            <a:r>
              <a:rPr/>
              <a:t>at</a:t>
            </a:r>
            <a:r>
              <a:rPr/>
              <a:t> </a:t>
            </a:r>
            <a:r>
              <a:rPr/>
              <a:t>Scale</a:t>
            </a:r>
          </a:p>
        </p:txBody>
      </p:sp>
      <p:sp>
        <p:nvSpPr>
          <p:cNvPr id="3" name="Subtitle 2"/>
          <p:cNvSpPr>
            <a:spLocks noGrp="1"/>
          </p:cNvSpPr>
          <p:nvPr>
            <p:ph type="subTitle" idx="1"/>
          </p:nvPr>
        </p:nvSpPr>
        <p:spPr>
          <a:xfrm>
            <a:off x="1371600" y="3886200"/>
            <a:ext cx="6400800" cy="1752600"/>
          </a:xfrm>
        </p:spPr>
        <p:txBody>
          <a:bodyPr/>
          <a:lstStyle/>
          <a:p>
            <a:pPr lvl="0" marL="0" indent="0">
              <a:buNone/>
            </a:pPr>
            <a:r>
              <a:rPr/>
              <a:t>Culture</a:t>
            </a:r>
            <a:r>
              <a:rPr/>
              <a:t> </a:t>
            </a:r>
            <a:r>
              <a:rPr/>
              <a:t>as</a:t>
            </a:r>
            <a:r>
              <a:rPr/>
              <a:t> </a:t>
            </a:r>
            <a:r>
              <a:rPr/>
              <a:t>Data</a:t>
            </a:r>
            <a:r>
              <a:rPr/>
              <a:t> </a:t>
            </a:r>
            <a:r>
              <a:rPr/>
              <a:t>·</a:t>
            </a:r>
            <a:r>
              <a:rPr/>
              <a:t> </a:t>
            </a:r>
            <a:r>
              <a:rPr/>
              <a:t>draft</a:t>
            </a:r>
            <a:r>
              <a:rPr/>
              <a:t> </a:t>
            </a:r>
            <a:r>
              <a:rPr/>
              <a:t>slides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p>
            <a:pPr lvl="0" marL="0" indent="0">
              <a:buNone/>
            </a:pPr>
            <a:r>
              <a:rPr/>
              <a:t>Week</a:t>
            </a:r>
            <a:r>
              <a:rPr/>
              <a:t> </a:t>
            </a:r>
            <a:r>
              <a:rPr/>
              <a:t>7</a:t>
            </a:r>
            <a:r>
              <a:rPr/>
              <a:t> </a:t>
            </a:r>
            <a:r>
              <a:rPr/>
              <a:t>·</a:t>
            </a:r>
            <a:r>
              <a:rPr/>
              <a:t> </a:t>
            </a:r>
            <a:r>
              <a:rPr/>
              <a:t>The</a:t>
            </a:r>
            <a:r>
              <a:rPr/>
              <a:t> </a:t>
            </a:r>
            <a:r>
              <a:rPr/>
              <a:t>AI</a:t>
            </a:r>
            <a:r>
              <a:rPr/>
              <a:t> </a:t>
            </a:r>
            <a:r>
              <a:rPr/>
              <a:t>as</a:t>
            </a:r>
            <a:r>
              <a:rPr/>
              <a:t> </a:t>
            </a:r>
            <a:r>
              <a:rPr/>
              <a:t>a</a:t>
            </a:r>
            <a:r>
              <a:rPr/>
              <a:t> </a:t>
            </a:r>
            <a:r>
              <a:rPr/>
              <a:t>Reader,</a:t>
            </a:r>
            <a:r>
              <a:rPr/>
              <a:t> </a:t>
            </a:r>
            <a:r>
              <a:rPr/>
              <a:t>at</a:t>
            </a:r>
            <a:r>
              <a:rPr/>
              <a:t> </a:t>
            </a:r>
            <a:r>
              <a:rPr/>
              <a:t>Scale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1270000" indent="0">
              <a:buNone/>
            </a:pPr>
            <a:r>
              <a:rPr sz="2000"/>
              <a:t>Use the AI to read your whole corpus at once, learn to trust the labels it’s sure of and catch the ones it isn’t, and reckon with whose judgment you’re renting.</a:t>
            </a:r>
          </a:p>
          <a:p>
            <a:pPr lvl="0" marL="0" indent="0">
              <a:buNone/>
            </a:pPr>
            <a:r>
              <a:rPr i="1"/>
              <a:t>Tool / method: LLM-as-annotator, the most common operation in the field · Competencies: 2, 4, 5</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Look</a:t>
            </a:r>
            <a:r>
              <a:rPr/>
              <a:t> </a:t>
            </a:r>
            <a:r>
              <a:rPr/>
              <a:t>at</a:t>
            </a:r>
            <a:r>
              <a:rPr/>
              <a:t> </a:t>
            </a:r>
            <a:r>
              <a:rPr/>
              <a:t>This</a:t>
            </a:r>
          </a:p>
        </p:txBody>
      </p:sp>
      <p:sp>
        <p:nvSpPr>
          <p:cNvPr id="3" name="Content Placeholder 2"/>
          <p:cNvSpPr>
            <a:spLocks noGrp="1"/>
          </p:cNvSpPr>
          <p:nvPr>
            <p:ph idx="1"/>
          </p:nvPr>
        </p:nvSpPr>
        <p:spPr/>
        <p:txBody>
          <a:bodyPr/>
          <a:lstStyle/>
          <a:p>
            <a:pPr lvl="0" marL="0" indent="0">
              <a:buNone/>
            </a:pPr>
            <a:r>
              <a:rPr/>
              <a:t>Gilardi, Alizadeh &amp; Kubli (2023): ChatGPT outperformed crowd workers on several text-labeling tasks, cheaper, faster, more consistent.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Question</a:t>
            </a:r>
            <a:r>
              <a:rPr/>
              <a:t> </a:t>
            </a:r>
            <a:r>
              <a:rPr/>
              <a:t>It</a:t>
            </a:r>
          </a:p>
        </p:txBody>
      </p:sp>
      <p:sp>
        <p:nvSpPr>
          <p:cNvPr id="3" name="Content Placeholder 2"/>
          <p:cNvSpPr>
            <a:spLocks noGrp="1"/>
          </p:cNvSpPr>
          <p:nvPr>
            <p:ph idx="1"/>
          </p:nvPr>
        </p:nvSpPr>
        <p:spPr/>
        <p:txBody>
          <a:bodyPr/>
          <a:lstStyle/>
          <a:p>
            <a:pPr lvl="0" marL="0" indent="0">
              <a:buNone/>
            </a:pPr>
            <a:r>
              <a:rPr/>
              <a:t>The prompt is the codebook; agreement with humans isn’t ground truth; and the model fails silently, confident wrong answers a human’s disagreement would have caught. Its “judgment” is a compression of scraped creative work, whose reading are you renting?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Three</a:t>
            </a:r>
            <a:r>
              <a:rPr/>
              <a:t> </a:t>
            </a:r>
            <a:r>
              <a:rPr/>
              <a:t>modes</a:t>
            </a:r>
            <a:r>
              <a:rPr/>
              <a:t> </a:t>
            </a:r>
            <a:r>
              <a:rPr/>
              <a:t>today</a:t>
            </a:r>
            <a:r>
              <a:rPr/>
              <a:t> </a:t>
            </a:r>
            <a:r>
              <a:rPr/>
              <a:t>(about</a:t>
            </a:r>
            <a:r>
              <a:rPr/>
              <a:t> </a:t>
            </a:r>
            <a:r>
              <a:rPr/>
              <a:t>a</a:t>
            </a:r>
            <a:r>
              <a:rPr/>
              <a:t> </a:t>
            </a:r>
            <a:r>
              <a:rPr/>
              <a:t>third</a:t>
            </a:r>
            <a:r>
              <a:rPr/>
              <a:t> </a:t>
            </a:r>
            <a:r>
              <a:rPr/>
              <a:t>each)</a:t>
            </a:r>
          </a:p>
        </p:txBody>
      </p:sp>
      <p:sp>
        <p:nvSpPr>
          <p:cNvPr id="3" name="Content Placeholder 2"/>
          <p:cNvSpPr>
            <a:spLocks noGrp="1"/>
          </p:cNvSpPr>
          <p:nvPr>
            <p:ph idx="1"/>
          </p:nvPr>
        </p:nvSpPr>
        <p:spPr/>
        <p:txBody>
          <a:bodyPr/>
          <a:lstStyle/>
          <a:p>
            <a:pPr lvl="1"/>
            <a:r>
              <a:rPr b="1"/>
              <a:t>Lecture / demo:</a:t>
            </a:r>
            <a:r>
              <a:rPr/>
              <a:t> LLM-as-annotator, the most common operation in the field</a:t>
            </a:r>
          </a:p>
          <a:p>
            <a:pPr lvl="1"/>
            <a:r>
              <a:rPr b="1"/>
              <a:t>Workshop:</a:t>
            </a:r>
            <a:r>
              <a:rPr/>
              <a:t> build hands-on on your own data</a:t>
            </a:r>
          </a:p>
          <a:p>
            <a:pPr lvl="1"/>
            <a:r>
              <a:rPr b="1"/>
              <a:t>Discussion:</a:t>
            </a:r>
            <a:r>
              <a:rPr/>
              <a:t> the study above, interrogate it, debate it, or critique each other’s work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The</a:t>
            </a:r>
            <a:r>
              <a:rPr/>
              <a:t> </a:t>
            </a:r>
            <a:r>
              <a:rPr/>
              <a:t>session</a:t>
            </a:r>
          </a:p>
        </p:txBody>
      </p:sp>
      <p:sp>
        <p:nvSpPr>
          <p:cNvPr id="3" name="Content Placeholder 2"/>
          <p:cNvSpPr>
            <a:spLocks noGrp="1"/>
          </p:cNvSpPr>
          <p:nvPr>
            <p:ph idx="1"/>
          </p:nvPr>
        </p:nvSpPr>
        <p:spPr/>
        <p:txBody>
          <a:bodyPr/>
          <a:lstStyle/>
          <a:p>
            <a:pPr lvl="1"/>
            <a:r>
              <a:rPr b="1"/>
              <a:t>0:00</a:t>
            </a:r>
            <a:r>
              <a:rPr/>
              <a:t> Warm-up + Look at This, room names the choice first: the AI as a cheaper coder, and where it fails silently.</a:t>
            </a:r>
          </a:p>
          <a:p>
            <a:pPr lvl="1"/>
            <a:r>
              <a:rPr b="1"/>
              <a:t>0:10</a:t>
            </a:r>
            <a:r>
              <a:rPr/>
              <a:t> The annotator move, on your corpus: write a labeling prompt for your categories, run it on a slice, read the labels back. Tighten the definition and watch the labels shift, the prompt is your codebook.</a:t>
            </a:r>
          </a:p>
          <a:p>
            <a:pPr lvl="1"/>
            <a:r>
              <a:rPr b="1"/>
              <a:t>0:35</a:t>
            </a:r>
            <a:r>
              <a:rPr/>
              <a:t> Confidence, and when to trust it: ask the model not just what but how sure. Sort by confidence, trust the sure labels, hand-check the unsure ones, which is exactly which 30 to pull for Week 6.</a:t>
            </a:r>
          </a:p>
          <a:p>
            <a:pPr lvl="1"/>
            <a:r>
              <a:rPr b="1"/>
              <a:t>0:50</a:t>
            </a:r>
            <a:r>
              <a:rPr/>
              <a:t> Break</a:t>
            </a:r>
          </a:p>
          <a:p>
            <a:pPr lvl="1"/>
            <a:r>
              <a:rPr b="1"/>
              <a:t>1:00</a:t>
            </a:r>
            <a:r>
              <a:rPr/>
              <a:t> 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p>
          <a:p>
            <a:pPr lvl="1"/>
            <a:r>
              <a:rPr b="1"/>
              <a:t>1:50</a:t>
            </a:r>
            <a:r>
              <a:rPr/>
              <a:t> Gemini-free check and check-out.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Reading</a:t>
            </a:r>
            <a:r>
              <a:rPr/>
              <a:t> </a:t>
            </a:r>
            <a:r>
              <a:rPr/>
              <a:t>&amp;</a:t>
            </a:r>
            <a:r>
              <a:rPr/>
              <a:t> </a:t>
            </a:r>
            <a:r>
              <a:rPr/>
              <a:t>homework</a:t>
            </a:r>
          </a:p>
        </p:txBody>
      </p:sp>
      <p:sp>
        <p:nvSpPr>
          <p:cNvPr id="3" name="Content Placeholder 2"/>
          <p:cNvSpPr>
            <a:spLocks noGrp="1"/>
          </p:cNvSpPr>
          <p:nvPr>
            <p:ph idx="1"/>
          </p:nvPr>
        </p:nvSpPr>
        <p:spPr/>
        <p:txBody>
          <a:bodyPr/>
          <a:lstStyle/>
          <a:p>
            <a:pPr lvl="1"/>
            <a:r>
              <a:rPr b="1"/>
              <a:t>Reading:</a:t>
            </a:r>
            <a:r>
              <a:rPr/>
              <a:t> </a:t>
            </a:r>
            <a:r>
              <a:rPr>
                <a:hlinkClick r:id="rId2"/>
              </a:rPr>
              <a:t>NYT v. OpenAI</a:t>
            </a:r>
            <a:r>
              <a:rPr/>
              <a:t>, read against your Week 4 licensing conversation</a:t>
            </a:r>
          </a:p>
          <a:p>
            <a:pPr lvl="1"/>
            <a:r>
              <a:rPr b="1"/>
              <a:t>Supplement:</a:t>
            </a:r>
            <a:r>
              <a:rPr/>
              <a:t> </a:t>
            </a:r>
            <a:r>
              <a:rPr>
                <a:hlinkClick r:id="rId3"/>
              </a:rPr>
              <a:t>Gilardi et al., full</a:t>
            </a:r>
            <a:r>
              <a:rPr/>
              <a:t>; </a:t>
            </a:r>
            <a:r>
              <a:rPr>
                <a:hlinkClick r:id="rId4"/>
              </a:rPr>
              <a:t>Bamman et al., LLM classification in cultural analytics (CHR 2024)</a:t>
            </a:r>
          </a:p>
          <a:p>
            <a:pPr lvl="1"/>
            <a:r>
              <a:rPr b="1"/>
              <a:t>Sketch:</a:t>
            </a:r>
            <a:r>
              <a:rPr/>
              <a:t> Show one label the AI got confidently wrong and one it nailed; say how you knew.</a:t>
            </a:r>
          </a:p>
          <a:p>
            <a:pPr lvl="1"/>
            <a:r>
              <a:rPr b="1"/>
              <a:t>Check (AI closed):</a:t>
            </a:r>
            <a:r>
              <a:rPr/>
              <a:t> Explain it: what is your labeling prompt deciding on your behalf, and how would you check whether to trust a given label? (Competencies 2, 5.)</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Office PowerPoint</Application>
  <PresentationFormat>On-screen Show (4:3)</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The AI as a Reader, at Scale</dc:title>
  <dc:creator/>
  <cp:keywords/>
  <dcterms:created xsi:type="dcterms:W3CDTF">2026-06-29T04:14:03Z</dcterms:created>
  <dcterms:modified xsi:type="dcterms:W3CDTF">2026-06-29T04:14:03Z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vt:lpwstr>revealjs</vt:lpwstr>
  </property>
  <property fmtid="{D5CDD505-2E9C-101B-9397-08002B2CF9AE}" pid="3" name="subtitle">
    <vt:lpwstr>Culture as Data · draft slides</vt:lpwstr>
  </property>
</Properties>
</file>