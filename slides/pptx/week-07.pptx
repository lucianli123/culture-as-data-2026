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CULTURE AS DATA</a:t>
            </a:r>
            <a:endParaRPr lang="en-US" sz="1300" dirty="0"/>
          </a:p>
        </p:txBody>
      </p:sp>
      <p:sp>
        <p:nvSpPr>
          <p:cNvPr id="3" name="Text 1"/>
          <p:cNvSpPr/>
          <p:nvPr/>
        </p:nvSpPr>
        <p:spPr>
          <a:xfrm>
            <a:off x="640080" y="1554480"/>
            <a:ext cx="5486400" cy="548640"/>
          </a:xfrm>
          <a:prstGeom prst="rect">
            <a:avLst/>
          </a:prstGeom>
          <a:noFill/>
          <a:ln/>
        </p:spPr>
        <p:txBody>
          <a:bodyPr wrap="square" rtlCol="0" anchor="ctr"/>
          <a:lstStyle/>
          <a:p>
            <a:pPr indent="0" marL="0">
              <a:buNone/>
            </a:pPr>
            <a:r>
              <a:rPr lang="en-US" sz="2000" dirty="0">
                <a:solidFill>
                  <a:srgbClr val="E8DCD6"/>
                </a:solidFill>
                <a:latin typeface="Calibri" pitchFamily="34" charset="0"/>
                <a:ea typeface="Calibri" pitchFamily="34" charset="-122"/>
                <a:cs typeface="Calibri" pitchFamily="34" charset="-120"/>
              </a:rPr>
              <a:t>Week 7</a:t>
            </a:r>
            <a:endParaRPr lang="en-US" sz="2000" dirty="0"/>
          </a:p>
        </p:txBody>
      </p:sp>
      <p:sp>
        <p:nvSpPr>
          <p:cNvPr id="4" name="Text 2"/>
          <p:cNvSpPr/>
          <p:nvPr/>
        </p:nvSpPr>
        <p:spPr>
          <a:xfrm>
            <a:off x="640080" y="2011680"/>
            <a:ext cx="8961120" cy="1828800"/>
          </a:xfrm>
          <a:prstGeom prst="rect">
            <a:avLst/>
          </a:prstGeom>
          <a:noFill/>
          <a:ln/>
        </p:spPr>
        <p:txBody>
          <a:bodyPr wrap="square" rtlCol="0" anchor="t">
            <a:spAutoFit/>
          </a:bodyPr>
          <a:lstStyle/>
          <a:p>
            <a:pPr indent="0" marL="0">
              <a:buNone/>
            </a:pPr>
            <a:r>
              <a:rPr lang="en-US" sz="4000" b="1" dirty="0">
                <a:solidFill>
                  <a:srgbClr val="FFFFFF"/>
                </a:solidFill>
                <a:latin typeface="Cambria" pitchFamily="34" charset="0"/>
                <a:ea typeface="Cambria" pitchFamily="34" charset="-122"/>
                <a:cs typeface="Cambria" pitchFamily="34" charset="-120"/>
              </a:rPr>
              <a:t>The AI as a Reader, at Scale</a:t>
            </a:r>
            <a:endParaRPr lang="en-US" sz="4000" dirty="0"/>
          </a:p>
        </p:txBody>
      </p:sp>
      <p:sp>
        <p:nvSpPr>
          <p:cNvPr id="5" name="Text 3"/>
          <p:cNvSpPr/>
          <p:nvPr/>
        </p:nvSpPr>
        <p:spPr>
          <a:xfrm>
            <a:off x="640080" y="4114800"/>
            <a:ext cx="7680960" cy="1463040"/>
          </a:xfrm>
          <a:prstGeom prst="rect">
            <a:avLst/>
          </a:prstGeom>
          <a:noFill/>
          <a:ln/>
        </p:spPr>
        <p:txBody>
          <a:bodyPr wrap="square" rtlCol="0" anchor="t">
            <a:spAutoFit/>
          </a:bodyPr>
          <a:lstStyle/>
          <a:p>
            <a:pPr indent="0" marL="0">
              <a:buNone/>
            </a:pPr>
            <a:r>
              <a:rPr lang="en-US" sz="1600" i="1" dirty="0">
                <a:solidFill>
                  <a:srgbClr val="E8DCD6"/>
                </a:solidFill>
                <a:latin typeface="Calibri" pitchFamily="34" charset="0"/>
                <a:ea typeface="Calibri" pitchFamily="34" charset="-122"/>
                <a:cs typeface="Calibri" pitchFamily="34" charset="-120"/>
              </a:rPr>
              <a:t>Use the AI to read your whole corpus at once, learn to trust the labels it's sure of and catch the ones it isn't, and reckon with whose judgment you're renting.</a:t>
            </a:r>
            <a:endParaRPr lang="en-US" sz="16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B9852F"/>
                </a:solidFill>
                <a:latin typeface="Calibri" pitchFamily="34" charset="0"/>
                <a:ea typeface="Calibri" pitchFamily="34" charset="-122"/>
                <a:cs typeface="Calibri" pitchFamily="34" charset="-120"/>
              </a:rPr>
              <a:t>Tool / method:  LLM-as-annotator, the most common operation in the field</a:t>
            </a:r>
            <a:endParaRPr lang="en-US" sz="1200" dirty="0"/>
          </a:p>
        </p:txBody>
      </p:sp>
      <p:sp>
        <p:nvSpPr>
          <p:cNvPr id="7" name="Shape 5"/>
          <p:cNvSpPr/>
          <p:nvPr/>
        </p:nvSpPr>
        <p:spPr>
          <a:xfrm>
            <a:off x="10891814" y="1316897"/>
            <a:ext cx="76796" cy="76796"/>
          </a:xfrm>
          <a:prstGeom prst="ellipse">
            <a:avLst/>
          </a:prstGeom>
          <a:solidFill>
            <a:srgbClr val="7A3B2E"/>
          </a:solidFill>
          <a:ln/>
        </p:spPr>
      </p:sp>
      <p:sp>
        <p:nvSpPr>
          <p:cNvPr id="8" name="Shape 6"/>
          <p:cNvSpPr/>
          <p:nvPr/>
        </p:nvSpPr>
        <p:spPr>
          <a:xfrm>
            <a:off x="10256003" y="1733296"/>
            <a:ext cx="87871" cy="87871"/>
          </a:xfrm>
          <a:prstGeom prst="ellipse">
            <a:avLst/>
          </a:prstGeom>
          <a:solidFill>
            <a:srgbClr val="3F6F5F"/>
          </a:solidFill>
          <a:ln/>
        </p:spPr>
      </p:sp>
      <p:sp>
        <p:nvSpPr>
          <p:cNvPr id="9" name="Shape 7"/>
          <p:cNvSpPr/>
          <p:nvPr/>
        </p:nvSpPr>
        <p:spPr>
          <a:xfrm>
            <a:off x="9004241" y="1421773"/>
            <a:ext cx="47003" cy="47003"/>
          </a:xfrm>
          <a:prstGeom prst="ellipse">
            <a:avLst/>
          </a:prstGeom>
          <a:solidFill>
            <a:srgbClr val="B9852F"/>
          </a:solidFill>
          <a:ln/>
        </p:spPr>
      </p:sp>
      <p:sp>
        <p:nvSpPr>
          <p:cNvPr id="10" name="Shape 8"/>
          <p:cNvSpPr/>
          <p:nvPr/>
        </p:nvSpPr>
        <p:spPr>
          <a:xfrm>
            <a:off x="11022730" y="1106228"/>
            <a:ext cx="86781" cy="86781"/>
          </a:xfrm>
          <a:prstGeom prst="ellipse">
            <a:avLst/>
          </a:prstGeom>
          <a:solidFill>
            <a:srgbClr val="7A3B2E"/>
          </a:solidFill>
          <a:ln/>
        </p:spPr>
      </p:sp>
      <p:sp>
        <p:nvSpPr>
          <p:cNvPr id="11" name="Shape 9"/>
          <p:cNvSpPr/>
          <p:nvPr/>
        </p:nvSpPr>
        <p:spPr>
          <a:xfrm>
            <a:off x="9224868" y="1510562"/>
            <a:ext cx="65471" cy="65471"/>
          </a:xfrm>
          <a:prstGeom prst="ellipse">
            <a:avLst/>
          </a:prstGeom>
          <a:solidFill>
            <a:srgbClr val="3F6F5F"/>
          </a:solidFill>
          <a:ln/>
        </p:spPr>
      </p:sp>
      <p:sp>
        <p:nvSpPr>
          <p:cNvPr id="12" name="Shape 10"/>
          <p:cNvSpPr/>
          <p:nvPr/>
        </p:nvSpPr>
        <p:spPr>
          <a:xfrm>
            <a:off x="10240057" y="1621315"/>
            <a:ext cx="60798" cy="60798"/>
          </a:xfrm>
          <a:prstGeom prst="ellipse">
            <a:avLst/>
          </a:prstGeom>
          <a:solidFill>
            <a:srgbClr val="B9852F"/>
          </a:solidFill>
          <a:ln/>
        </p:spPr>
      </p:sp>
      <p:sp>
        <p:nvSpPr>
          <p:cNvPr id="13" name="Shape 11"/>
          <p:cNvSpPr/>
          <p:nvPr/>
        </p:nvSpPr>
        <p:spPr>
          <a:xfrm>
            <a:off x="9724896" y="2162385"/>
            <a:ext cx="95622" cy="95622"/>
          </a:xfrm>
          <a:prstGeom prst="ellipse">
            <a:avLst/>
          </a:prstGeom>
          <a:solidFill>
            <a:srgbClr val="7A3B2E"/>
          </a:solidFill>
          <a:ln/>
        </p:spPr>
      </p:sp>
      <p:sp>
        <p:nvSpPr>
          <p:cNvPr id="14" name="Shape 12"/>
          <p:cNvSpPr/>
          <p:nvPr/>
        </p:nvSpPr>
        <p:spPr>
          <a:xfrm>
            <a:off x="11565584" y="2120314"/>
            <a:ext cx="83075" cy="83075"/>
          </a:xfrm>
          <a:prstGeom prst="ellipse">
            <a:avLst/>
          </a:prstGeom>
          <a:solidFill>
            <a:srgbClr val="3F6F5F"/>
          </a:solidFill>
          <a:ln/>
        </p:spPr>
      </p:sp>
      <p:sp>
        <p:nvSpPr>
          <p:cNvPr id="15" name="Shape 13"/>
          <p:cNvSpPr/>
          <p:nvPr/>
        </p:nvSpPr>
        <p:spPr>
          <a:xfrm>
            <a:off x="11418723" y="2219001"/>
            <a:ext cx="46017" cy="46017"/>
          </a:xfrm>
          <a:prstGeom prst="ellipse">
            <a:avLst/>
          </a:prstGeom>
          <a:solidFill>
            <a:srgbClr val="B9852F"/>
          </a:solidFill>
          <a:ln/>
        </p:spPr>
      </p:sp>
      <p:sp>
        <p:nvSpPr>
          <p:cNvPr id="16" name="Shape 14"/>
          <p:cNvSpPr/>
          <p:nvPr/>
        </p:nvSpPr>
        <p:spPr>
          <a:xfrm>
            <a:off x="10427311" y="1444987"/>
            <a:ext cx="62172" cy="62172"/>
          </a:xfrm>
          <a:prstGeom prst="ellipse">
            <a:avLst/>
          </a:prstGeom>
          <a:solidFill>
            <a:srgbClr val="7A3B2E"/>
          </a:solidFill>
          <a:ln/>
        </p:spPr>
      </p:sp>
      <p:sp>
        <p:nvSpPr>
          <p:cNvPr id="17" name="Shape 15"/>
          <p:cNvSpPr/>
          <p:nvPr/>
        </p:nvSpPr>
        <p:spPr>
          <a:xfrm>
            <a:off x="9734350" y="2259531"/>
            <a:ext cx="99536" cy="99536"/>
          </a:xfrm>
          <a:prstGeom prst="ellipse">
            <a:avLst/>
          </a:prstGeom>
          <a:solidFill>
            <a:srgbClr val="3F6F5F"/>
          </a:solidFill>
          <a:ln/>
        </p:spPr>
      </p:sp>
      <p:sp>
        <p:nvSpPr>
          <p:cNvPr id="18" name="Shape 16"/>
          <p:cNvSpPr/>
          <p:nvPr/>
        </p:nvSpPr>
        <p:spPr>
          <a:xfrm>
            <a:off x="10482839" y="1911813"/>
            <a:ext cx="71241" cy="71241"/>
          </a:xfrm>
          <a:prstGeom prst="ellipse">
            <a:avLst/>
          </a:prstGeom>
          <a:solidFill>
            <a:srgbClr val="B9852F"/>
          </a:solidFill>
          <a:ln/>
        </p:spPr>
      </p:sp>
      <p:sp>
        <p:nvSpPr>
          <p:cNvPr id="19" name="Shape 17"/>
          <p:cNvSpPr/>
          <p:nvPr/>
        </p:nvSpPr>
        <p:spPr>
          <a:xfrm>
            <a:off x="11072577" y="1125733"/>
            <a:ext cx="55011" cy="55011"/>
          </a:xfrm>
          <a:prstGeom prst="ellipse">
            <a:avLst/>
          </a:prstGeom>
          <a:solidFill>
            <a:srgbClr val="7A3B2E"/>
          </a:solidFill>
          <a:ln/>
        </p:spPr>
      </p:sp>
      <p:sp>
        <p:nvSpPr>
          <p:cNvPr id="20" name="Shape 18"/>
          <p:cNvSpPr/>
          <p:nvPr/>
        </p:nvSpPr>
        <p:spPr>
          <a:xfrm>
            <a:off x="9903366" y="2362552"/>
            <a:ext cx="73707" cy="73707"/>
          </a:xfrm>
          <a:prstGeom prst="ellipse">
            <a:avLst/>
          </a:prstGeom>
          <a:solidFill>
            <a:srgbClr val="3F6F5F"/>
          </a:solidFill>
          <a:ln/>
        </p:spPr>
      </p:sp>
      <p:sp>
        <p:nvSpPr>
          <p:cNvPr id="21" name="Shape 19"/>
          <p:cNvSpPr/>
          <p:nvPr/>
        </p:nvSpPr>
        <p:spPr>
          <a:xfrm>
            <a:off x="10861405" y="1134090"/>
            <a:ext cx="95323" cy="95323"/>
          </a:xfrm>
          <a:prstGeom prst="ellipse">
            <a:avLst/>
          </a:prstGeom>
          <a:solidFill>
            <a:srgbClr val="B9852F"/>
          </a:solidFill>
          <a:ln/>
        </p:spPr>
      </p:sp>
      <p:sp>
        <p:nvSpPr>
          <p:cNvPr id="22" name="Shape 20"/>
          <p:cNvSpPr/>
          <p:nvPr/>
        </p:nvSpPr>
        <p:spPr>
          <a:xfrm>
            <a:off x="9603293" y="1638965"/>
            <a:ext cx="87856" cy="87856"/>
          </a:xfrm>
          <a:prstGeom prst="ellipse">
            <a:avLst/>
          </a:prstGeom>
          <a:solidFill>
            <a:srgbClr val="7A3B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371600"/>
            <a:ext cx="2377440" cy="2377440"/>
          </a:xfrm>
          <a:prstGeom prst="ellipse">
            <a:avLst/>
          </a:prstGeom>
          <a:solidFill>
            <a:srgbClr val="F4EEE8"/>
          </a:solidFill>
          <a:ln/>
        </p:spPr>
      </p:sp>
      <p:sp>
        <p:nvSpPr>
          <p:cNvPr id="3" name="Shape 1"/>
          <p:cNvSpPr/>
          <p:nvPr/>
        </p:nvSpPr>
        <p:spPr>
          <a:xfrm>
            <a:off x="1325880" y="2423160"/>
            <a:ext cx="146304" cy="146304"/>
          </a:xfrm>
          <a:prstGeom prst="ellipse">
            <a:avLst/>
          </a:prstGeom>
          <a:solidFill>
            <a:srgbClr val="7A3B2E"/>
          </a:solidFill>
          <a:ln/>
        </p:spPr>
      </p:sp>
      <p:sp>
        <p:nvSpPr>
          <p:cNvPr id="4" name="Shape 2"/>
          <p:cNvSpPr/>
          <p:nvPr/>
        </p:nvSpPr>
        <p:spPr>
          <a:xfrm>
            <a:off x="1563624" y="2514600"/>
            <a:ext cx="146304" cy="146304"/>
          </a:xfrm>
          <a:prstGeom prst="ellipse">
            <a:avLst/>
          </a:prstGeom>
          <a:solidFill>
            <a:srgbClr val="3F6F5F"/>
          </a:solidFill>
          <a:ln/>
        </p:spPr>
      </p:sp>
      <p:sp>
        <p:nvSpPr>
          <p:cNvPr id="5" name="Shape 3"/>
          <p:cNvSpPr/>
          <p:nvPr/>
        </p:nvSpPr>
        <p:spPr>
          <a:xfrm>
            <a:off x="1801368" y="2423160"/>
            <a:ext cx="146304" cy="146304"/>
          </a:xfrm>
          <a:prstGeom prst="ellipse">
            <a:avLst/>
          </a:prstGeom>
          <a:solidFill>
            <a:srgbClr val="B9852F"/>
          </a:solidFill>
          <a:ln/>
        </p:spPr>
      </p:sp>
      <p:sp>
        <p:nvSpPr>
          <p:cNvPr id="6" name="Text 4"/>
          <p:cNvSpPr/>
          <p:nvPr/>
        </p:nvSpPr>
        <p:spPr>
          <a:xfrm>
            <a:off x="3657600" y="914400"/>
            <a:ext cx="73152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LOOK AT THIS</a:t>
            </a:r>
            <a:endParaRPr lang="en-US" sz="1300" dirty="0"/>
          </a:p>
        </p:txBody>
      </p:sp>
      <p:sp>
        <p:nvSpPr>
          <p:cNvPr id="7" name="Text 5"/>
          <p:cNvSpPr/>
          <p:nvPr/>
        </p:nvSpPr>
        <p:spPr>
          <a:xfrm>
            <a:off x="3657600" y="1280160"/>
            <a:ext cx="786384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study we open with</a:t>
            </a:r>
            <a:endParaRPr lang="en-US" sz="3000" dirty="0"/>
          </a:p>
        </p:txBody>
      </p:sp>
      <p:sp>
        <p:nvSpPr>
          <p:cNvPr id="8" name="Text 6"/>
          <p:cNvSpPr/>
          <p:nvPr/>
        </p:nvSpPr>
        <p:spPr>
          <a:xfrm>
            <a:off x="3657600" y="2286000"/>
            <a:ext cx="7863840" cy="3291840"/>
          </a:xfrm>
          <a:prstGeom prst="rect">
            <a:avLst/>
          </a:prstGeom>
          <a:noFill/>
          <a:ln/>
        </p:spPr>
        <p:txBody>
          <a:bodyPr wrap="square" rtlCol="0" anchor="t">
            <a:spAutoFit/>
          </a:bodyPr>
          <a:lstStyle/>
          <a:p>
            <a:pPr indent="0" marL="0">
              <a:lnSpc>
                <a:spcPct val="115000"/>
              </a:lnSpc>
              <a:buNone/>
            </a:pPr>
            <a:r>
              <a:rPr lang="en-US" sz="1900" dirty="0">
                <a:solidFill>
                  <a:srgbClr val="1A1A1A"/>
                </a:solidFill>
                <a:latin typeface="Calibri" pitchFamily="34" charset="0"/>
                <a:ea typeface="Calibri" pitchFamily="34" charset="-122"/>
                <a:cs typeface="Calibri" pitchFamily="34" charset="-120"/>
              </a:rPr>
              <a:t>Gilardi, Alizadeh &amp; Kubli (2023): ChatGPT outperformed crowd workers on several text-labeling tasks, cheaper, faster, more consistent.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73152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QUESTION IT</a:t>
            </a:r>
            <a:endParaRPr lang="en-US" sz="1300" dirty="0"/>
          </a:p>
        </p:txBody>
      </p:sp>
      <p:sp>
        <p:nvSpPr>
          <p:cNvPr id="3" name="Text 1"/>
          <p:cNvSpPr/>
          <p:nvPr/>
        </p:nvSpPr>
        <p:spPr>
          <a:xfrm>
            <a:off x="640080" y="1188720"/>
            <a:ext cx="10881360" cy="914400"/>
          </a:xfrm>
          <a:prstGeom prst="rect">
            <a:avLst/>
          </a:prstGeom>
          <a:noFill/>
          <a:ln/>
        </p:spPr>
        <p:txBody>
          <a:bodyPr wrap="square" rtlCol="0" anchor="ctr">
            <a:spAutoFit/>
          </a:bodyPr>
          <a:lstStyle/>
          <a:p>
            <a:pPr indent="0" marL="0">
              <a:buNone/>
            </a:pPr>
            <a:r>
              <a:rPr lang="en-US" sz="2600" b="1" dirty="0">
                <a:solidFill>
                  <a:srgbClr val="1A1A1A"/>
                </a:solidFill>
                <a:latin typeface="Cambria" pitchFamily="34" charset="0"/>
                <a:ea typeface="Cambria" pitchFamily="34" charset="-122"/>
                <a:cs typeface="Cambria" pitchFamily="34" charset="-120"/>
              </a:rPr>
              <a:t>What did they choose, and where might it be wrong?</a:t>
            </a:r>
            <a:endParaRPr lang="en-US" sz="2600" dirty="0"/>
          </a:p>
        </p:txBody>
      </p:sp>
      <p:sp>
        <p:nvSpPr>
          <p:cNvPr id="4" name="Shape 2"/>
          <p:cNvSpPr/>
          <p:nvPr/>
        </p:nvSpPr>
        <p:spPr>
          <a:xfrm>
            <a:off x="640080" y="2468880"/>
            <a:ext cx="256032" cy="256032"/>
          </a:xfrm>
          <a:prstGeom prst="ellipse">
            <a:avLst/>
          </a:prstGeom>
          <a:solidFill>
            <a:srgbClr val="B9852F"/>
          </a:solidFill>
          <a:ln/>
        </p:spPr>
      </p:sp>
      <p:sp>
        <p:nvSpPr>
          <p:cNvPr id="5" name="Text 3"/>
          <p:cNvSpPr/>
          <p:nvPr/>
        </p:nvSpPr>
        <p:spPr>
          <a:xfrm>
            <a:off x="1097280" y="2286000"/>
            <a:ext cx="10241280" cy="3657600"/>
          </a:xfrm>
          <a:prstGeom prst="rect">
            <a:avLst/>
          </a:prstGeom>
          <a:noFill/>
          <a:ln/>
        </p:spPr>
        <p:txBody>
          <a:bodyPr wrap="square" rtlCol="0" anchor="t">
            <a:spAutoFit/>
          </a:bodyPr>
          <a:lstStyle/>
          <a:p>
            <a:pPr indent="0" marL="0">
              <a:lnSpc>
                <a:spcPct val="120000"/>
              </a:lnSpc>
              <a:buNone/>
            </a:pPr>
            <a:r>
              <a:rPr lang="en-US" sz="2000" dirty="0">
                <a:solidFill>
                  <a:srgbClr val="1A1A1A"/>
                </a:solidFill>
                <a:latin typeface="Calibri" pitchFamily="34" charset="0"/>
                <a:ea typeface="Calibri" pitchFamily="34" charset="-122"/>
                <a:cs typeface="Calibri" pitchFamily="34" charset="-120"/>
              </a:rPr>
              <a:t>The prompt is the codebook; agreement with humans isn't ground truth; and the model fails silently, confident wrong answers a human's disagreement would have caught. Its "judgment" is a compression of scraped creative work, whose reading are you renting?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7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powerful, opaque reader</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Gilardi et al. (2023): ChatGPT out-labeled paid crowd workers on political-text tasks at roughly a twentieth of the cost.</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Your prompt IS the codebook: categories, definitions, edge-case rules. Write it like one.</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Change one line of the codebook and the same machine becomes a different reader.</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It fails silently. Confident-and-wrong looks identical to confident-and-right from the outside.</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7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Trust, by confidence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Ask for a confidence number with every label. Sort ascending. Hand-check the bottom.</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Gold set first: label ~30 items yourself before the machine sees them. Agreement against gold is your accuracy floor.</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Disagreements are data: sometimes the model is wrong, sometimes your codebook was vague.</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Whose reading are you renting? A model trained largely on scraped creative work. Week 8 takes that up.</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7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Three readers, one course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Week 3, the transparent reader: a logistic regression whose weights you can read.</a:t>
            </a:r>
            <a:endParaRPr lang="en-US" sz="1650" dirty="0"/>
          </a:p>
        </p:txBody>
      </p:sp>
      <p:sp>
        <p:nvSpPr>
          <p:cNvPr id="7" name="Shape 5"/>
          <p:cNvSpPr/>
          <p:nvPr/>
        </p:nvSpPr>
        <p:spPr>
          <a:xfrm>
            <a:off x="640080" y="3383280"/>
            <a:ext cx="201168" cy="201168"/>
          </a:xfrm>
          <a:prstGeom prst="ellipse">
            <a:avLst/>
          </a:prstGeom>
          <a:solidFill>
            <a:srgbClr val="3F6F5F"/>
          </a:solidFill>
          <a:ln/>
        </p:spPr>
      </p:sp>
      <p:sp>
        <p:nvSpPr>
          <p:cNvPr id="8" name="Text 6"/>
          <p:cNvSpPr/>
          <p:nvPr/>
        </p:nvSpPr>
        <p:spPr>
          <a:xfrm>
            <a:off x="1097280" y="329184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Week 7, the powerful reader: an API model you audit by confidence and gold set.</a:t>
            </a:r>
            <a:endParaRPr lang="en-US" sz="1650" dirty="0"/>
          </a:p>
        </p:txBody>
      </p:sp>
      <p:sp>
        <p:nvSpPr>
          <p:cNvPr id="9" name="Shape 7"/>
          <p:cNvSpPr/>
          <p:nvPr/>
        </p:nvSpPr>
        <p:spPr>
          <a:xfrm>
            <a:off x="640080" y="4434840"/>
            <a:ext cx="201168" cy="201168"/>
          </a:xfrm>
          <a:prstGeom prst="ellipse">
            <a:avLst/>
          </a:prstGeom>
          <a:solidFill>
            <a:srgbClr val="B9852F"/>
          </a:solidFill>
          <a:ln/>
        </p:spPr>
      </p:sp>
      <p:sp>
        <p:nvSpPr>
          <p:cNvPr id="10" name="Text 8"/>
          <p:cNvSpPr/>
          <p:nvPr/>
        </p:nvSpPr>
        <p:spPr>
          <a:xfrm>
            <a:off x="1097280" y="434340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Go-further, the reader you own: fine-tune ModernBERT on your own labels. Free to run, and it is yours.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Three modes today</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6B6B63"/>
                </a:solidFill>
                <a:latin typeface="Calibri" pitchFamily="34" charset="0"/>
                <a:ea typeface="Calibri" pitchFamily="34" charset="-122"/>
                <a:cs typeface="Calibri" pitchFamily="34" charset="-120"/>
              </a:rPr>
              <a:t>about a third of the session each</a:t>
            </a:r>
            <a:endParaRPr lang="en-US" sz="1400" dirty="0"/>
          </a:p>
        </p:txBody>
      </p:sp>
      <p:sp>
        <p:nvSpPr>
          <p:cNvPr id="4" name="Shape 2"/>
          <p:cNvSpPr/>
          <p:nvPr/>
        </p:nvSpPr>
        <p:spPr>
          <a:xfrm>
            <a:off x="640080" y="2194560"/>
            <a:ext cx="3383280" cy="3291840"/>
          </a:xfrm>
          <a:prstGeom prst="roundRect">
            <a:avLst>
              <a:gd name="adj" fmla="val 3333"/>
            </a:avLst>
          </a:prstGeom>
          <a:solidFill>
            <a:srgbClr val="F4EEE8"/>
          </a:solidFill>
          <a:ln/>
        </p:spPr>
      </p:sp>
      <p:sp>
        <p:nvSpPr>
          <p:cNvPr id="5" name="Shape 3"/>
          <p:cNvSpPr/>
          <p:nvPr/>
        </p:nvSpPr>
        <p:spPr>
          <a:xfrm>
            <a:off x="1051560" y="2606040"/>
            <a:ext cx="548640" cy="548640"/>
          </a:xfrm>
          <a:prstGeom prst="ellipse">
            <a:avLst/>
          </a:prstGeom>
          <a:solidFill>
            <a:srgbClr val="7A3B2E"/>
          </a:solidFill>
          <a:ln/>
        </p:spPr>
      </p:sp>
      <p:sp>
        <p:nvSpPr>
          <p:cNvPr id="6" name="Text 4"/>
          <p:cNvSpPr/>
          <p:nvPr/>
        </p:nvSpPr>
        <p:spPr>
          <a:xfrm>
            <a:off x="10058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Lecture / demo</a:t>
            </a:r>
            <a:endParaRPr lang="en-US" sz="2100" dirty="0"/>
          </a:p>
        </p:txBody>
      </p:sp>
      <p:sp>
        <p:nvSpPr>
          <p:cNvPr id="7" name="Text 5"/>
          <p:cNvSpPr/>
          <p:nvPr/>
        </p:nvSpPr>
        <p:spPr>
          <a:xfrm>
            <a:off x="10058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LLM-as-annotator, the most common operation in the field</a:t>
            </a:r>
            <a:endParaRPr lang="en-US" sz="1500" dirty="0"/>
          </a:p>
        </p:txBody>
      </p:sp>
      <p:sp>
        <p:nvSpPr>
          <p:cNvPr id="8" name="Shape 6"/>
          <p:cNvSpPr/>
          <p:nvPr/>
        </p:nvSpPr>
        <p:spPr>
          <a:xfrm>
            <a:off x="4526280" y="2194560"/>
            <a:ext cx="3383280" cy="3291840"/>
          </a:xfrm>
          <a:prstGeom prst="roundRect">
            <a:avLst>
              <a:gd name="adj" fmla="val 3333"/>
            </a:avLst>
          </a:prstGeom>
          <a:solidFill>
            <a:srgbClr val="F4EEE8"/>
          </a:solidFill>
          <a:ln/>
        </p:spPr>
      </p:sp>
      <p:sp>
        <p:nvSpPr>
          <p:cNvPr id="9" name="Shape 7"/>
          <p:cNvSpPr/>
          <p:nvPr/>
        </p:nvSpPr>
        <p:spPr>
          <a:xfrm>
            <a:off x="4937760" y="2606040"/>
            <a:ext cx="548640" cy="548640"/>
          </a:xfrm>
          <a:prstGeom prst="ellipse">
            <a:avLst/>
          </a:prstGeom>
          <a:solidFill>
            <a:srgbClr val="3F6F5F"/>
          </a:solidFill>
          <a:ln/>
        </p:spPr>
      </p:sp>
      <p:sp>
        <p:nvSpPr>
          <p:cNvPr id="10" name="Text 8"/>
          <p:cNvSpPr/>
          <p:nvPr/>
        </p:nvSpPr>
        <p:spPr>
          <a:xfrm>
            <a:off x="48920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Workshop</a:t>
            </a:r>
            <a:endParaRPr lang="en-US" sz="2100" dirty="0"/>
          </a:p>
        </p:txBody>
      </p:sp>
      <p:sp>
        <p:nvSpPr>
          <p:cNvPr id="11" name="Text 9"/>
          <p:cNvSpPr/>
          <p:nvPr/>
        </p:nvSpPr>
        <p:spPr>
          <a:xfrm>
            <a:off x="48920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Build hands-on on your own data.</a:t>
            </a:r>
            <a:endParaRPr lang="en-US" sz="1500" dirty="0"/>
          </a:p>
        </p:txBody>
      </p:sp>
      <p:sp>
        <p:nvSpPr>
          <p:cNvPr id="12" name="Shape 10"/>
          <p:cNvSpPr/>
          <p:nvPr/>
        </p:nvSpPr>
        <p:spPr>
          <a:xfrm>
            <a:off x="8412480" y="2194560"/>
            <a:ext cx="3383280" cy="3291840"/>
          </a:xfrm>
          <a:prstGeom prst="roundRect">
            <a:avLst>
              <a:gd name="adj" fmla="val 3333"/>
            </a:avLst>
          </a:prstGeom>
          <a:solidFill>
            <a:srgbClr val="F4EEE8"/>
          </a:solidFill>
          <a:ln/>
        </p:spPr>
      </p:sp>
      <p:sp>
        <p:nvSpPr>
          <p:cNvPr id="13" name="Shape 11"/>
          <p:cNvSpPr/>
          <p:nvPr/>
        </p:nvSpPr>
        <p:spPr>
          <a:xfrm>
            <a:off x="8823960" y="2606040"/>
            <a:ext cx="548640" cy="548640"/>
          </a:xfrm>
          <a:prstGeom prst="ellipse">
            <a:avLst/>
          </a:prstGeom>
          <a:solidFill>
            <a:srgbClr val="B9852F"/>
          </a:solidFill>
          <a:ln/>
        </p:spPr>
      </p:sp>
      <p:sp>
        <p:nvSpPr>
          <p:cNvPr id="14" name="Text 12"/>
          <p:cNvSpPr/>
          <p:nvPr/>
        </p:nvSpPr>
        <p:spPr>
          <a:xfrm>
            <a:off x="87782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Discussion</a:t>
            </a:r>
            <a:endParaRPr lang="en-US" sz="2100" dirty="0"/>
          </a:p>
        </p:txBody>
      </p:sp>
      <p:sp>
        <p:nvSpPr>
          <p:cNvPr id="15" name="Text 13"/>
          <p:cNvSpPr/>
          <p:nvPr/>
        </p:nvSpPr>
        <p:spPr>
          <a:xfrm>
            <a:off x="87782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Interrogate the study, debate it, or critique each other's work.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session</a:t>
            </a:r>
            <a:endParaRPr lang="en-US" sz="3000" dirty="0"/>
          </a:p>
        </p:txBody>
      </p:sp>
      <p:sp>
        <p:nvSpPr>
          <p:cNvPr id="3" name="Shape 1"/>
          <p:cNvSpPr/>
          <p:nvPr/>
        </p:nvSpPr>
        <p:spPr>
          <a:xfrm>
            <a:off x="640080" y="1572768"/>
            <a:ext cx="868680" cy="457200"/>
          </a:xfrm>
          <a:prstGeom prst="roundRect">
            <a:avLst>
              <a:gd name="adj" fmla="val 12000"/>
            </a:avLst>
          </a:prstGeom>
          <a:solidFill>
            <a:srgbClr val="7A3B2E"/>
          </a:solidFill>
          <a:ln/>
        </p:spPr>
      </p:sp>
      <p:sp>
        <p:nvSpPr>
          <p:cNvPr id="4" name="Text 2"/>
          <p:cNvSpPr/>
          <p:nvPr/>
        </p:nvSpPr>
        <p:spPr>
          <a:xfrm>
            <a:off x="640080" y="157276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5" name="Text 3"/>
          <p:cNvSpPr/>
          <p:nvPr/>
        </p:nvSpPr>
        <p:spPr>
          <a:xfrm>
            <a:off x="1691640" y="155448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Warm-up + Look at This, room names the choice first: the AI as a cheaper coder, and where it fails silently.</a:t>
            </a:r>
            <a:endParaRPr lang="en-US" sz="1250" dirty="0"/>
          </a:p>
        </p:txBody>
      </p:sp>
      <p:sp>
        <p:nvSpPr>
          <p:cNvPr id="6" name="Shape 4"/>
          <p:cNvSpPr/>
          <p:nvPr/>
        </p:nvSpPr>
        <p:spPr>
          <a:xfrm>
            <a:off x="640080" y="2139696"/>
            <a:ext cx="868680" cy="457200"/>
          </a:xfrm>
          <a:prstGeom prst="roundRect">
            <a:avLst>
              <a:gd name="adj" fmla="val 12000"/>
            </a:avLst>
          </a:prstGeom>
          <a:solidFill>
            <a:srgbClr val="7A3B2E"/>
          </a:solidFill>
          <a:ln/>
        </p:spPr>
      </p:sp>
      <p:sp>
        <p:nvSpPr>
          <p:cNvPr id="7" name="Text 5"/>
          <p:cNvSpPr/>
          <p:nvPr/>
        </p:nvSpPr>
        <p:spPr>
          <a:xfrm>
            <a:off x="640080" y="2139696"/>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0:10</a:t>
            </a:r>
            <a:endParaRPr lang="en-US" sz="1100" dirty="0"/>
          </a:p>
        </p:txBody>
      </p:sp>
      <p:sp>
        <p:nvSpPr>
          <p:cNvPr id="8" name="Text 6"/>
          <p:cNvSpPr/>
          <p:nvPr/>
        </p:nvSpPr>
        <p:spPr>
          <a:xfrm>
            <a:off x="1691640" y="2121408"/>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The annotator move, on your corpus: write a labeling prompt for your categories, run it on a slice, read the labels back. Tighten the definition and watch the labels shift, the prompt is your codebook.</a:t>
            </a:r>
            <a:endParaRPr lang="en-US" sz="1250" dirty="0"/>
          </a:p>
        </p:txBody>
      </p:sp>
      <p:sp>
        <p:nvSpPr>
          <p:cNvPr id="9" name="Shape 7"/>
          <p:cNvSpPr/>
          <p:nvPr/>
        </p:nvSpPr>
        <p:spPr>
          <a:xfrm>
            <a:off x="640080" y="2706624"/>
            <a:ext cx="868680" cy="457200"/>
          </a:xfrm>
          <a:prstGeom prst="roundRect">
            <a:avLst>
              <a:gd name="adj" fmla="val 12000"/>
            </a:avLst>
          </a:prstGeom>
          <a:solidFill>
            <a:srgbClr val="7A3B2E"/>
          </a:solidFill>
          <a:ln/>
        </p:spPr>
      </p:sp>
      <p:sp>
        <p:nvSpPr>
          <p:cNvPr id="10" name="Text 8"/>
          <p:cNvSpPr/>
          <p:nvPr/>
        </p:nvSpPr>
        <p:spPr>
          <a:xfrm>
            <a:off x="640080" y="2706624"/>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0:35</a:t>
            </a:r>
            <a:endParaRPr lang="en-US" sz="1100" dirty="0"/>
          </a:p>
        </p:txBody>
      </p:sp>
      <p:sp>
        <p:nvSpPr>
          <p:cNvPr id="11" name="Text 9"/>
          <p:cNvSpPr/>
          <p:nvPr/>
        </p:nvSpPr>
        <p:spPr>
          <a:xfrm>
            <a:off x="1691640" y="2688336"/>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Confidence, and when to trust it: ask the model not just what but how sure. Sort by confidence, trust the labels the model is sure of, and hand-check the unsure ones.</a:t>
            </a:r>
            <a:endParaRPr lang="en-US" sz="1250" dirty="0"/>
          </a:p>
        </p:txBody>
      </p:sp>
      <p:sp>
        <p:nvSpPr>
          <p:cNvPr id="12" name="Shape 10"/>
          <p:cNvSpPr/>
          <p:nvPr/>
        </p:nvSpPr>
        <p:spPr>
          <a:xfrm>
            <a:off x="640080" y="3273552"/>
            <a:ext cx="868680" cy="457200"/>
          </a:xfrm>
          <a:prstGeom prst="roundRect">
            <a:avLst>
              <a:gd name="adj" fmla="val 12000"/>
            </a:avLst>
          </a:prstGeom>
          <a:solidFill>
            <a:srgbClr val="7A3B2E"/>
          </a:solidFill>
          <a:ln/>
        </p:spPr>
      </p:sp>
      <p:sp>
        <p:nvSpPr>
          <p:cNvPr id="13" name="Text 11"/>
          <p:cNvSpPr/>
          <p:nvPr/>
        </p:nvSpPr>
        <p:spPr>
          <a:xfrm>
            <a:off x="640080" y="3273552"/>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0:50</a:t>
            </a:r>
            <a:endParaRPr lang="en-US" sz="1100" dirty="0"/>
          </a:p>
        </p:txBody>
      </p:sp>
      <p:sp>
        <p:nvSpPr>
          <p:cNvPr id="14" name="Text 12"/>
          <p:cNvSpPr/>
          <p:nvPr/>
        </p:nvSpPr>
        <p:spPr>
          <a:xfrm>
            <a:off x="1691640" y="3255264"/>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Break</a:t>
            </a:r>
            <a:endParaRPr lang="en-US" sz="1250" dirty="0"/>
          </a:p>
        </p:txBody>
      </p:sp>
      <p:sp>
        <p:nvSpPr>
          <p:cNvPr id="15" name="Shape 13"/>
          <p:cNvSpPr/>
          <p:nvPr/>
        </p:nvSpPr>
        <p:spPr>
          <a:xfrm>
            <a:off x="640080" y="3840480"/>
            <a:ext cx="868680" cy="457200"/>
          </a:xfrm>
          <a:prstGeom prst="roundRect">
            <a:avLst>
              <a:gd name="adj" fmla="val 12000"/>
            </a:avLst>
          </a:prstGeom>
          <a:solidFill>
            <a:srgbClr val="7A3B2E"/>
          </a:solidFill>
          <a:ln/>
        </p:spPr>
      </p:sp>
      <p:sp>
        <p:nvSpPr>
          <p:cNvPr id="16" name="Text 14"/>
          <p:cNvSpPr/>
          <p:nvPr/>
        </p:nvSpPr>
        <p:spPr>
          <a:xfrm>
            <a:off x="640080" y="3840480"/>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17" name="Text 15"/>
          <p:cNvSpPr/>
          <p:nvPr/>
        </p:nvSpPr>
        <p:spPr>
          <a:xfrm>
            <a:off x="1691640" y="3822192"/>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Accuracy check, then project workshop: run your prompt against a small hand-labeled gold set. Where does the AI disagree, and is it wrong or are you? Then build time on your corpus. Go further (optional, technically comfortable): instead of the closed API model, run an open model from Hugging Face, or fine-tune your own small classifier (ModernBERT) on the labels you just made, the third reader you own.</a:t>
            </a:r>
            <a:endParaRPr lang="en-US" sz="1250" dirty="0"/>
          </a:p>
        </p:txBody>
      </p:sp>
      <p:sp>
        <p:nvSpPr>
          <p:cNvPr id="18" name="Shape 16"/>
          <p:cNvSpPr/>
          <p:nvPr/>
        </p:nvSpPr>
        <p:spPr>
          <a:xfrm>
            <a:off x="640080" y="4407408"/>
            <a:ext cx="868680" cy="457200"/>
          </a:xfrm>
          <a:prstGeom prst="roundRect">
            <a:avLst>
              <a:gd name="adj" fmla="val 12000"/>
            </a:avLst>
          </a:prstGeom>
          <a:solidFill>
            <a:srgbClr val="7A3B2E"/>
          </a:solidFill>
          <a:ln/>
        </p:spPr>
      </p:sp>
      <p:sp>
        <p:nvSpPr>
          <p:cNvPr id="19" name="Text 17"/>
          <p:cNvSpPr/>
          <p:nvPr/>
        </p:nvSpPr>
        <p:spPr>
          <a:xfrm>
            <a:off x="640080" y="440740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1:50</a:t>
            </a:r>
            <a:endParaRPr lang="en-US" sz="1100" dirty="0"/>
          </a:p>
        </p:txBody>
      </p:sp>
      <p:sp>
        <p:nvSpPr>
          <p:cNvPr id="20" name="Text 18"/>
          <p:cNvSpPr/>
          <p:nvPr/>
        </p:nvSpPr>
        <p:spPr>
          <a:xfrm>
            <a:off x="1691640" y="438912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Gemini-free check and check-out.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Reading &amp; homework</a:t>
            </a:r>
            <a:endParaRPr lang="en-US" sz="3000" dirty="0"/>
          </a:p>
        </p:txBody>
      </p:sp>
      <p:sp>
        <p:nvSpPr>
          <p:cNvPr id="3" name="Shape 1"/>
          <p:cNvSpPr/>
          <p:nvPr/>
        </p:nvSpPr>
        <p:spPr>
          <a:xfrm>
            <a:off x="640080" y="1673352"/>
            <a:ext cx="219456" cy="219456"/>
          </a:xfrm>
          <a:prstGeom prst="ellipse">
            <a:avLst/>
          </a:prstGeom>
          <a:solidFill>
            <a:srgbClr val="7A3B2E"/>
          </a:solidFill>
          <a:ln/>
        </p:spPr>
      </p:sp>
      <p:sp>
        <p:nvSpPr>
          <p:cNvPr id="4" name="Text 2"/>
          <p:cNvSpPr/>
          <p:nvPr/>
        </p:nvSpPr>
        <p:spPr>
          <a:xfrm>
            <a:off x="1051560" y="160020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Reading</a:t>
            </a:r>
            <a:endParaRPr lang="en-US" sz="1500" dirty="0"/>
          </a:p>
        </p:txBody>
      </p:sp>
      <p:sp>
        <p:nvSpPr>
          <p:cNvPr id="5" name="Text 3"/>
          <p:cNvSpPr/>
          <p:nvPr/>
        </p:nvSpPr>
        <p:spPr>
          <a:xfrm>
            <a:off x="1051560" y="198424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NYT v. OpenAI, read against your Week 4 licensing conversation</a:t>
            </a:r>
            <a:endParaRPr lang="en-US" sz="1400" dirty="0"/>
          </a:p>
        </p:txBody>
      </p:sp>
      <p:sp>
        <p:nvSpPr>
          <p:cNvPr id="6" name="Shape 4"/>
          <p:cNvSpPr/>
          <p:nvPr/>
        </p:nvSpPr>
        <p:spPr>
          <a:xfrm>
            <a:off x="640080" y="2633472"/>
            <a:ext cx="219456" cy="219456"/>
          </a:xfrm>
          <a:prstGeom prst="ellipse">
            <a:avLst/>
          </a:prstGeom>
          <a:solidFill>
            <a:srgbClr val="3F6F5F"/>
          </a:solidFill>
          <a:ln/>
        </p:spPr>
      </p:sp>
      <p:sp>
        <p:nvSpPr>
          <p:cNvPr id="7" name="Text 5"/>
          <p:cNvSpPr/>
          <p:nvPr/>
        </p:nvSpPr>
        <p:spPr>
          <a:xfrm>
            <a:off x="1051560" y="256032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Supplement</a:t>
            </a:r>
            <a:endParaRPr lang="en-US" sz="1500" dirty="0"/>
          </a:p>
        </p:txBody>
      </p:sp>
      <p:sp>
        <p:nvSpPr>
          <p:cNvPr id="8" name="Text 6"/>
          <p:cNvSpPr/>
          <p:nvPr/>
        </p:nvSpPr>
        <p:spPr>
          <a:xfrm>
            <a:off x="1051560" y="294436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Gilardi et al., full; Bamman et al., LLM classification in cultural analytics (CHR 2024)</a:t>
            </a:r>
            <a:endParaRPr lang="en-US" sz="1400" dirty="0"/>
          </a:p>
        </p:txBody>
      </p:sp>
      <p:sp>
        <p:nvSpPr>
          <p:cNvPr id="9" name="Shape 7"/>
          <p:cNvSpPr/>
          <p:nvPr/>
        </p:nvSpPr>
        <p:spPr>
          <a:xfrm>
            <a:off x="640080" y="3593592"/>
            <a:ext cx="219456" cy="219456"/>
          </a:xfrm>
          <a:prstGeom prst="ellipse">
            <a:avLst/>
          </a:prstGeom>
          <a:solidFill>
            <a:srgbClr val="B9852F"/>
          </a:solidFill>
          <a:ln/>
        </p:spPr>
      </p:sp>
      <p:sp>
        <p:nvSpPr>
          <p:cNvPr id="10" name="Text 8"/>
          <p:cNvSpPr/>
          <p:nvPr/>
        </p:nvSpPr>
        <p:spPr>
          <a:xfrm>
            <a:off x="1051560" y="3520440"/>
            <a:ext cx="10424160" cy="365760"/>
          </a:xfrm>
          <a:prstGeom prst="rect">
            <a:avLst/>
          </a:prstGeom>
          <a:noFill/>
          <a:ln/>
        </p:spPr>
        <p:txBody>
          <a:bodyPr wrap="square" rtlCol="0" anchor="ctr"/>
          <a:lstStyle/>
          <a:p>
            <a:pPr indent="0" marL="0">
              <a:buNone/>
            </a:pPr>
            <a:r>
              <a:rPr lang="en-US" sz="1500" b="1" dirty="0">
                <a:solidFill>
                  <a:srgbClr val="B9852F"/>
                </a:solidFill>
                <a:latin typeface="Calibri" pitchFamily="34" charset="0"/>
                <a:ea typeface="Calibri" pitchFamily="34" charset="-122"/>
                <a:cs typeface="Calibri" pitchFamily="34" charset="-120"/>
              </a:rPr>
              <a:t>Deeper (optional)</a:t>
            </a:r>
            <a:endParaRPr lang="en-US" sz="1500" dirty="0"/>
          </a:p>
        </p:txBody>
      </p:sp>
      <p:sp>
        <p:nvSpPr>
          <p:cNvPr id="11" name="Text 9"/>
          <p:cNvSpPr/>
          <p:nvPr/>
        </p:nvSpPr>
        <p:spPr>
          <a:xfrm>
            <a:off x="1051560" y="390448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Ziems et al., Can LLMs Transform Computational Social Science? (CL 2024), the systematic evaluation behind this week's method</a:t>
            </a:r>
            <a:endParaRPr lang="en-US" sz="1400" dirty="0"/>
          </a:p>
        </p:txBody>
      </p:sp>
      <p:sp>
        <p:nvSpPr>
          <p:cNvPr id="12" name="Shape 10"/>
          <p:cNvSpPr/>
          <p:nvPr/>
        </p:nvSpPr>
        <p:spPr>
          <a:xfrm>
            <a:off x="640080" y="4553712"/>
            <a:ext cx="219456" cy="219456"/>
          </a:xfrm>
          <a:prstGeom prst="ellipse">
            <a:avLst/>
          </a:prstGeom>
          <a:solidFill>
            <a:srgbClr val="3F6F5F"/>
          </a:solidFill>
          <a:ln/>
        </p:spPr>
      </p:sp>
      <p:sp>
        <p:nvSpPr>
          <p:cNvPr id="13" name="Text 11"/>
          <p:cNvSpPr/>
          <p:nvPr/>
        </p:nvSpPr>
        <p:spPr>
          <a:xfrm>
            <a:off x="1051560" y="448056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Sketch</a:t>
            </a:r>
            <a:endParaRPr lang="en-US" sz="1500" dirty="0"/>
          </a:p>
        </p:txBody>
      </p:sp>
      <p:sp>
        <p:nvSpPr>
          <p:cNvPr id="14" name="Text 12"/>
          <p:cNvSpPr/>
          <p:nvPr/>
        </p:nvSpPr>
        <p:spPr>
          <a:xfrm>
            <a:off x="1051560" y="486460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Show one label the AI got confidently wrong and one it nailed; say how you knew.</a:t>
            </a:r>
            <a:endParaRPr lang="en-US" sz="1400" dirty="0"/>
          </a:p>
        </p:txBody>
      </p:sp>
      <p:sp>
        <p:nvSpPr>
          <p:cNvPr id="15" name="Shape 13"/>
          <p:cNvSpPr/>
          <p:nvPr/>
        </p:nvSpPr>
        <p:spPr>
          <a:xfrm>
            <a:off x="640080" y="5513832"/>
            <a:ext cx="219456" cy="219456"/>
          </a:xfrm>
          <a:prstGeom prst="ellipse">
            <a:avLst/>
          </a:prstGeom>
          <a:solidFill>
            <a:srgbClr val="7A3B2E"/>
          </a:solidFill>
          <a:ln/>
        </p:spPr>
      </p:sp>
      <p:sp>
        <p:nvSpPr>
          <p:cNvPr id="16" name="Text 14"/>
          <p:cNvSpPr/>
          <p:nvPr/>
        </p:nvSpPr>
        <p:spPr>
          <a:xfrm>
            <a:off x="1051560" y="544068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Check (AI closed)</a:t>
            </a:r>
            <a:endParaRPr lang="en-US" sz="1500" dirty="0"/>
          </a:p>
        </p:txBody>
      </p:sp>
      <p:sp>
        <p:nvSpPr>
          <p:cNvPr id="17" name="Text 15"/>
          <p:cNvSpPr/>
          <p:nvPr/>
        </p:nvSpPr>
        <p:spPr>
          <a:xfrm>
            <a:off x="1051560" y="582472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Explain it: what is your labeling prompt deciding on your behalf, and how would you check whether to trust a given label? (Competencies 2, 5.)</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HOW THIS WEEK CONNECTS</a:t>
            </a:r>
            <a:endParaRPr lang="en-US" sz="1300" dirty="0"/>
          </a:p>
        </p:txBody>
      </p:sp>
      <p:sp>
        <p:nvSpPr>
          <p:cNvPr id="3" name="Text 1"/>
          <p:cNvSpPr/>
          <p:nvPr/>
        </p:nvSpPr>
        <p:spPr>
          <a:xfrm>
            <a:off x="640080" y="987552"/>
            <a:ext cx="100584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course's through-lines</a:t>
            </a:r>
            <a:endParaRPr lang="en-US" sz="2800" dirty="0"/>
          </a:p>
        </p:txBody>
      </p:sp>
      <p:sp>
        <p:nvSpPr>
          <p:cNvPr id="4" name="Shape 2"/>
          <p:cNvSpPr/>
          <p:nvPr/>
        </p:nvSpPr>
        <p:spPr>
          <a:xfrm>
            <a:off x="640080" y="2057400"/>
            <a:ext cx="457200" cy="457200"/>
          </a:xfrm>
          <a:prstGeom prst="roundRect">
            <a:avLst>
              <a:gd name="adj" fmla="val 16000"/>
            </a:avLst>
          </a:prstGeom>
          <a:solidFill>
            <a:srgbClr val="7A3B2E"/>
          </a:solidFill>
          <a:ln/>
        </p:spPr>
      </p:sp>
      <p:sp>
        <p:nvSpPr>
          <p:cNvPr id="5" name="Text 3"/>
          <p:cNvSpPr/>
          <p:nvPr/>
        </p:nvSpPr>
        <p:spPr>
          <a:xfrm>
            <a:off x="640080" y="2057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2020824"/>
            <a:ext cx="10332720" cy="411480"/>
          </a:xfrm>
          <a:prstGeom prst="rect">
            <a:avLst/>
          </a:prstGeom>
          <a:noFill/>
          <a:ln/>
        </p:spPr>
        <p:txBody>
          <a:bodyPr wrap="square" rtlCol="0" anchor="ctr"/>
          <a:lstStyle/>
          <a:p>
            <a:pPr indent="0" marL="0">
              <a:buNone/>
            </a:pPr>
            <a:r>
              <a:rPr lang="en-US" sz="1900" b="1" dirty="0">
                <a:solidFill>
                  <a:srgbClr val="7A3B2E"/>
                </a:solidFill>
                <a:latin typeface="Cambria" pitchFamily="34" charset="0"/>
                <a:ea typeface="Cambria" pitchFamily="34" charset="-122"/>
                <a:cs typeface="Cambria" pitchFamily="34" charset="-120"/>
              </a:rPr>
              <a:t>The reader you can't see</a:t>
            </a:r>
            <a:endParaRPr lang="en-US" sz="1900" dirty="0"/>
          </a:p>
        </p:txBody>
      </p:sp>
      <p:sp>
        <p:nvSpPr>
          <p:cNvPr id="7" name="Text 5"/>
          <p:cNvSpPr/>
          <p:nvPr/>
        </p:nvSpPr>
        <p:spPr>
          <a:xfrm>
            <a:off x="1371600" y="244144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The powerful, opaque annotator: trust the labels it is sure of, check the rest.</a:t>
            </a:r>
            <a:endParaRPr lang="en-US" sz="1450" dirty="0"/>
          </a:p>
        </p:txBody>
      </p:sp>
      <p:sp>
        <p:nvSpPr>
          <p:cNvPr id="8" name="Shape 6"/>
          <p:cNvSpPr/>
          <p:nvPr/>
        </p:nvSpPr>
        <p:spPr>
          <a:xfrm>
            <a:off x="640080" y="3520440"/>
            <a:ext cx="457200" cy="457200"/>
          </a:xfrm>
          <a:prstGeom prst="roundRect">
            <a:avLst>
              <a:gd name="adj" fmla="val 16000"/>
            </a:avLst>
          </a:prstGeom>
          <a:solidFill>
            <a:srgbClr val="3F6F5F"/>
          </a:solidFill>
          <a:ln/>
        </p:spPr>
      </p:sp>
      <p:sp>
        <p:nvSpPr>
          <p:cNvPr id="9" name="Text 7"/>
          <p:cNvSpPr/>
          <p:nvPr/>
        </p:nvSpPr>
        <p:spPr>
          <a:xfrm>
            <a:off x="640080" y="3520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3483864"/>
            <a:ext cx="10332720" cy="411480"/>
          </a:xfrm>
          <a:prstGeom prst="rect">
            <a:avLst/>
          </a:prstGeom>
          <a:noFill/>
          <a:ln/>
        </p:spPr>
        <p:txBody>
          <a:bodyPr wrap="square" rtlCol="0" anchor="ctr"/>
          <a:lstStyle/>
          <a:p>
            <a:pPr indent="0" marL="0">
              <a:buNone/>
            </a:pPr>
            <a:r>
              <a:rPr lang="en-US" sz="1900" b="1" dirty="0">
                <a:solidFill>
                  <a:srgbClr val="3F6F5F"/>
                </a:solidFill>
                <a:latin typeface="Cambria" pitchFamily="34" charset="0"/>
                <a:ea typeface="Cambria" pitchFamily="34" charset="-122"/>
                <a:cs typeface="Cambria" pitchFamily="34" charset="-120"/>
              </a:rPr>
              <a:t>Whose judgment are you renting</a:t>
            </a:r>
            <a:endParaRPr lang="en-US" sz="1900" dirty="0"/>
          </a:p>
        </p:txBody>
      </p:sp>
      <p:sp>
        <p:nvSpPr>
          <p:cNvPr id="11" name="Text 9"/>
          <p:cNvSpPr/>
          <p:nvPr/>
        </p:nvSpPr>
        <p:spPr>
          <a:xfrm>
            <a:off x="1371600" y="390448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Its reading was learned from creative work scraped largely without permission.</a:t>
            </a:r>
            <a:endParaRPr lang="en-US" sz="1450" dirty="0"/>
          </a:p>
        </p:txBody>
      </p:sp>
      <p:sp>
        <p:nvSpPr>
          <p:cNvPr id="12" name="Shape 10"/>
          <p:cNvSpPr/>
          <p:nvPr/>
        </p:nvSpPr>
        <p:spPr>
          <a:xfrm>
            <a:off x="640080" y="4983480"/>
            <a:ext cx="457200" cy="457200"/>
          </a:xfrm>
          <a:prstGeom prst="roundRect">
            <a:avLst>
              <a:gd name="adj" fmla="val 16000"/>
            </a:avLst>
          </a:prstGeom>
          <a:solidFill>
            <a:srgbClr val="B9852F"/>
          </a:solidFill>
          <a:ln/>
        </p:spPr>
      </p:sp>
      <p:sp>
        <p:nvSpPr>
          <p:cNvPr id="13" name="Text 11"/>
          <p:cNvSpPr/>
          <p:nvPr/>
        </p:nvSpPr>
        <p:spPr>
          <a:xfrm>
            <a:off x="640080" y="49834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4946904"/>
            <a:ext cx="10332720" cy="411480"/>
          </a:xfrm>
          <a:prstGeom prst="rect">
            <a:avLst/>
          </a:prstGeom>
          <a:noFill/>
          <a:ln/>
        </p:spPr>
        <p:txBody>
          <a:bodyPr wrap="square" rtlCol="0" anchor="ctr"/>
          <a:lstStyle/>
          <a:p>
            <a:pPr indent="0" marL="0">
              <a:buNone/>
            </a:pPr>
            <a:r>
              <a:rPr lang="en-US" sz="1900" b="1" dirty="0">
                <a:solidFill>
                  <a:srgbClr val="B9852F"/>
                </a:solidFill>
                <a:latin typeface="Cambria" pitchFamily="34" charset="0"/>
                <a:ea typeface="Cambria" pitchFamily="34" charset="-122"/>
                <a:cs typeface="Cambria" pitchFamily="34" charset="-120"/>
              </a:rPr>
              <a:t>The third reader (go further)</a:t>
            </a:r>
            <a:endParaRPr lang="en-US" sz="1900" dirty="0"/>
          </a:p>
        </p:txBody>
      </p:sp>
      <p:sp>
        <p:nvSpPr>
          <p:cNvPr id="15" name="Text 13"/>
          <p:cNvSpPr/>
          <p:nvPr/>
        </p:nvSpPr>
        <p:spPr>
          <a:xfrm>
            <a:off x="1371600" y="536752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Fine-tune a model you own, transparent, powerful, now yours.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1005840"/>
            <a:ext cx="82296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THE CHECK, AI CLOSED</a:t>
            </a:r>
            <a:endParaRPr lang="en-US" sz="1300" dirty="0"/>
          </a:p>
        </p:txBody>
      </p:sp>
      <p:sp>
        <p:nvSpPr>
          <p:cNvPr id="3" name="Text 1"/>
          <p:cNvSpPr/>
          <p:nvPr/>
        </p:nvSpPr>
        <p:spPr>
          <a:xfrm>
            <a:off x="640080" y="1645920"/>
            <a:ext cx="8686800" cy="3108960"/>
          </a:xfrm>
          <a:prstGeom prst="rect">
            <a:avLst/>
          </a:prstGeom>
          <a:noFill/>
          <a:ln/>
        </p:spPr>
        <p:txBody>
          <a:bodyPr wrap="square" rtlCol="0" anchor="t">
            <a:spAutoFit/>
          </a:bodyPr>
          <a:lstStyle/>
          <a:p>
            <a:pPr indent="0" marL="0">
              <a:lnSpc>
                <a:spcPct val="115000"/>
              </a:lnSpc>
              <a:buNone/>
            </a:pPr>
            <a:r>
              <a:rPr lang="en-US" sz="2600" dirty="0">
                <a:solidFill>
                  <a:srgbClr val="FFFFFF"/>
                </a:solidFill>
                <a:latin typeface="Cambria" pitchFamily="34" charset="0"/>
                <a:ea typeface="Cambria" pitchFamily="34" charset="-122"/>
                <a:cs typeface="Cambria" pitchFamily="34" charset="-120"/>
              </a:rPr>
              <a:t>Explain it: what is your labeling prompt deciding on your behalf, and how would you check whether to trust a given label? (Competencies 2, 5.)</a:t>
            </a:r>
            <a:endParaRPr lang="en-US" sz="2600" dirty="0"/>
          </a:p>
        </p:txBody>
      </p:sp>
      <p:sp>
        <p:nvSpPr>
          <p:cNvPr id="4" name="Text 2"/>
          <p:cNvSpPr/>
          <p:nvPr/>
        </p:nvSpPr>
        <p:spPr>
          <a:xfrm>
            <a:off x="640080" y="6126480"/>
            <a:ext cx="7315200" cy="365760"/>
          </a:xfrm>
          <a:prstGeom prst="rect">
            <a:avLst/>
          </a:prstGeom>
          <a:noFill/>
          <a:ln/>
        </p:spPr>
        <p:txBody>
          <a:bodyPr wrap="square" rtlCol="0" anchor="ctr"/>
          <a:lstStyle/>
          <a:p>
            <a:pPr indent="0" marL="0">
              <a:buNone/>
            </a:pPr>
            <a:r>
              <a:rPr lang="en-US" sz="1200" dirty="0">
                <a:solidFill>
                  <a:srgbClr val="E8DCD6"/>
                </a:solidFill>
                <a:latin typeface="Calibri" pitchFamily="34" charset="0"/>
                <a:ea typeface="Calibri" pitchFamily="34" charset="-122"/>
                <a:cs typeface="Calibri" pitchFamily="34" charset="-120"/>
              </a:rPr>
              <a:t>Culture as Data  ·  Week 7</a:t>
            </a:r>
            <a:endParaRPr lang="en-US" sz="1200" dirty="0"/>
          </a:p>
        </p:txBody>
      </p:sp>
      <p:sp>
        <p:nvSpPr>
          <p:cNvPr id="5" name="Shape 3"/>
          <p:cNvSpPr/>
          <p:nvPr/>
        </p:nvSpPr>
        <p:spPr>
          <a:xfrm>
            <a:off x="10183884" y="4527301"/>
            <a:ext cx="69797" cy="69797"/>
          </a:xfrm>
          <a:prstGeom prst="ellipse">
            <a:avLst/>
          </a:prstGeom>
          <a:solidFill>
            <a:srgbClr val="7A3B2E"/>
          </a:solidFill>
          <a:ln/>
        </p:spPr>
      </p:sp>
      <p:sp>
        <p:nvSpPr>
          <p:cNvPr id="6" name="Shape 4"/>
          <p:cNvSpPr/>
          <p:nvPr/>
        </p:nvSpPr>
        <p:spPr>
          <a:xfrm>
            <a:off x="11301291" y="4978554"/>
            <a:ext cx="58604" cy="58604"/>
          </a:xfrm>
          <a:prstGeom prst="ellipse">
            <a:avLst/>
          </a:prstGeom>
          <a:solidFill>
            <a:srgbClr val="3F6F5F"/>
          </a:solidFill>
          <a:ln/>
        </p:spPr>
      </p:sp>
      <p:sp>
        <p:nvSpPr>
          <p:cNvPr id="7" name="Shape 5"/>
          <p:cNvSpPr/>
          <p:nvPr/>
        </p:nvSpPr>
        <p:spPr>
          <a:xfrm>
            <a:off x="10279171" y="4798406"/>
            <a:ext cx="89957" cy="89957"/>
          </a:xfrm>
          <a:prstGeom prst="ellipse">
            <a:avLst/>
          </a:prstGeom>
          <a:solidFill>
            <a:srgbClr val="B9852F"/>
          </a:solidFill>
          <a:ln/>
        </p:spPr>
      </p:sp>
      <p:sp>
        <p:nvSpPr>
          <p:cNvPr id="8" name="Shape 6"/>
          <p:cNvSpPr/>
          <p:nvPr/>
        </p:nvSpPr>
        <p:spPr>
          <a:xfrm>
            <a:off x="10744645" y="4710756"/>
            <a:ext cx="76987" cy="76987"/>
          </a:xfrm>
          <a:prstGeom prst="ellipse">
            <a:avLst/>
          </a:prstGeom>
          <a:solidFill>
            <a:srgbClr val="7A3B2E"/>
          </a:solidFill>
          <a:ln/>
        </p:spPr>
      </p:sp>
      <p:sp>
        <p:nvSpPr>
          <p:cNvPr id="9" name="Shape 7"/>
          <p:cNvSpPr/>
          <p:nvPr/>
        </p:nvSpPr>
        <p:spPr>
          <a:xfrm>
            <a:off x="11204192" y="5439504"/>
            <a:ext cx="97418" cy="97418"/>
          </a:xfrm>
          <a:prstGeom prst="ellipse">
            <a:avLst/>
          </a:prstGeom>
          <a:solidFill>
            <a:srgbClr val="3F6F5F"/>
          </a:solidFill>
          <a:ln/>
        </p:spPr>
      </p:sp>
      <p:sp>
        <p:nvSpPr>
          <p:cNvPr id="10" name="Shape 8"/>
          <p:cNvSpPr/>
          <p:nvPr/>
        </p:nvSpPr>
        <p:spPr>
          <a:xfrm>
            <a:off x="10164293" y="5971191"/>
            <a:ext cx="64381" cy="64381"/>
          </a:xfrm>
          <a:prstGeom prst="ellipse">
            <a:avLst/>
          </a:prstGeom>
          <a:solidFill>
            <a:srgbClr val="B9852F"/>
          </a:solidFill>
          <a:ln/>
        </p:spPr>
      </p:sp>
      <p:sp>
        <p:nvSpPr>
          <p:cNvPr id="11" name="Shape 9"/>
          <p:cNvSpPr/>
          <p:nvPr/>
        </p:nvSpPr>
        <p:spPr>
          <a:xfrm>
            <a:off x="11252067" y="5292356"/>
            <a:ext cx="55602" cy="55602"/>
          </a:xfrm>
          <a:prstGeom prst="ellipse">
            <a:avLst/>
          </a:prstGeom>
          <a:solidFill>
            <a:srgbClr val="7A3B2E"/>
          </a:solidFill>
          <a:ln/>
        </p:spPr>
      </p:sp>
      <p:sp>
        <p:nvSpPr>
          <p:cNvPr id="12" name="Shape 10"/>
          <p:cNvSpPr/>
          <p:nvPr/>
        </p:nvSpPr>
        <p:spPr>
          <a:xfrm>
            <a:off x="10413674" y="5864259"/>
            <a:ext cx="93940" cy="93940"/>
          </a:xfrm>
          <a:prstGeom prst="ellipse">
            <a:avLst/>
          </a:prstGeom>
          <a:solidFill>
            <a:srgbClr val="3F6F5F"/>
          </a:solidFill>
          <a:ln/>
        </p:spPr>
      </p:sp>
      <p:sp>
        <p:nvSpPr>
          <p:cNvPr id="13" name="Shape 11"/>
          <p:cNvSpPr/>
          <p:nvPr/>
        </p:nvSpPr>
        <p:spPr>
          <a:xfrm>
            <a:off x="11276234" y="4936081"/>
            <a:ext cx="92527" cy="92527"/>
          </a:xfrm>
          <a:prstGeom prst="ellipse">
            <a:avLst/>
          </a:prstGeom>
          <a:solidFill>
            <a:srgbClr val="B9852F"/>
          </a:solidFill>
          <a:ln/>
        </p:spPr>
      </p:sp>
      <p:sp>
        <p:nvSpPr>
          <p:cNvPr id="14" name="Shape 12"/>
          <p:cNvSpPr/>
          <p:nvPr/>
        </p:nvSpPr>
        <p:spPr>
          <a:xfrm>
            <a:off x="9785908" y="4969081"/>
            <a:ext cx="74223" cy="74223"/>
          </a:xfrm>
          <a:prstGeom prst="ellipse">
            <a:avLst/>
          </a:prstGeom>
          <a:solidFill>
            <a:srgbClr val="7A3B2E"/>
          </a:solidFill>
          <a:ln/>
        </p:spPr>
      </p:sp>
      <p:sp>
        <p:nvSpPr>
          <p:cNvPr id="15" name="Shape 13"/>
          <p:cNvSpPr/>
          <p:nvPr/>
        </p:nvSpPr>
        <p:spPr>
          <a:xfrm>
            <a:off x="9569815" y="4949799"/>
            <a:ext cx="61887" cy="61887"/>
          </a:xfrm>
          <a:prstGeom prst="ellipse">
            <a:avLst/>
          </a:prstGeom>
          <a:solidFill>
            <a:srgbClr val="3F6F5F"/>
          </a:solidFill>
          <a:ln/>
        </p:spPr>
      </p:sp>
      <p:sp>
        <p:nvSpPr>
          <p:cNvPr id="16" name="Shape 14"/>
          <p:cNvSpPr/>
          <p:nvPr/>
        </p:nvSpPr>
        <p:spPr>
          <a:xfrm>
            <a:off x="9134436" y="5602136"/>
            <a:ext cx="78381" cy="78381"/>
          </a:xfrm>
          <a:prstGeom prst="ellipse">
            <a:avLst/>
          </a:prstGeom>
          <a:solidFill>
            <a:srgbClr val="B9852F"/>
          </a:solidFill>
          <a:ln/>
        </p:spPr>
      </p:sp>
      <p:sp>
        <p:nvSpPr>
          <p:cNvPr id="17" name="Shape 15"/>
          <p:cNvSpPr/>
          <p:nvPr/>
        </p:nvSpPr>
        <p:spPr>
          <a:xfrm>
            <a:off x="9546570" y="5912631"/>
            <a:ext cx="91700" cy="91700"/>
          </a:xfrm>
          <a:prstGeom prst="ellipse">
            <a:avLst/>
          </a:prstGeom>
          <a:solidFill>
            <a:srgbClr val="7A3B2E"/>
          </a:solidFill>
          <a:ln/>
        </p:spPr>
      </p:sp>
      <p:sp>
        <p:nvSpPr>
          <p:cNvPr id="18" name="Shape 16"/>
          <p:cNvSpPr/>
          <p:nvPr/>
        </p:nvSpPr>
        <p:spPr>
          <a:xfrm>
            <a:off x="9312697" y="4867824"/>
            <a:ext cx="69840" cy="69840"/>
          </a:xfrm>
          <a:prstGeom prst="ellipse">
            <a:avLst/>
          </a:prstGeom>
          <a:solidFill>
            <a:srgbClr val="3F6F5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2026-07-18T21:30:24Z</dcterms:created>
  <dcterms:modified xsi:type="dcterms:W3CDTF">2026-07-18T21:30:24Z</dcterms:modified>
</cp:coreProperties>
</file>