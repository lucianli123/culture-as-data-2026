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7</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The AI as a Reader, at Scale</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Use the AI to read your whole corpus at once, learn to trust the labels it's sure of and catch the ones it isn't, and reckon with whose judgment you're renting.</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LLM-as-annotator, the most common operation in the field</a:t>
            </a:r>
            <a:endParaRPr lang="en-US" sz="1200" dirty="0"/>
          </a:p>
        </p:txBody>
      </p:sp>
      <p:sp>
        <p:nvSpPr>
          <p:cNvPr id="7" name="Shape 5"/>
          <p:cNvSpPr/>
          <p:nvPr/>
        </p:nvSpPr>
        <p:spPr>
          <a:xfrm>
            <a:off x="10891814" y="1316897"/>
            <a:ext cx="76796" cy="76796"/>
          </a:xfrm>
          <a:prstGeom prst="ellipse">
            <a:avLst/>
          </a:prstGeom>
          <a:solidFill>
            <a:srgbClr val="7A3B2E"/>
          </a:solidFill>
          <a:ln/>
        </p:spPr>
      </p:sp>
      <p:sp>
        <p:nvSpPr>
          <p:cNvPr id="8" name="Shape 6"/>
          <p:cNvSpPr/>
          <p:nvPr/>
        </p:nvSpPr>
        <p:spPr>
          <a:xfrm>
            <a:off x="10256003" y="1733296"/>
            <a:ext cx="87871" cy="87871"/>
          </a:xfrm>
          <a:prstGeom prst="ellipse">
            <a:avLst/>
          </a:prstGeom>
          <a:solidFill>
            <a:srgbClr val="3F6F5F"/>
          </a:solidFill>
          <a:ln/>
        </p:spPr>
      </p:sp>
      <p:sp>
        <p:nvSpPr>
          <p:cNvPr id="9" name="Shape 7"/>
          <p:cNvSpPr/>
          <p:nvPr/>
        </p:nvSpPr>
        <p:spPr>
          <a:xfrm>
            <a:off x="9004241" y="1421773"/>
            <a:ext cx="47003" cy="47003"/>
          </a:xfrm>
          <a:prstGeom prst="ellipse">
            <a:avLst/>
          </a:prstGeom>
          <a:solidFill>
            <a:srgbClr val="B9852F"/>
          </a:solidFill>
          <a:ln/>
        </p:spPr>
      </p:sp>
      <p:sp>
        <p:nvSpPr>
          <p:cNvPr id="10" name="Shape 8"/>
          <p:cNvSpPr/>
          <p:nvPr/>
        </p:nvSpPr>
        <p:spPr>
          <a:xfrm>
            <a:off x="11022730" y="1106228"/>
            <a:ext cx="86781" cy="86781"/>
          </a:xfrm>
          <a:prstGeom prst="ellipse">
            <a:avLst/>
          </a:prstGeom>
          <a:solidFill>
            <a:srgbClr val="7A3B2E"/>
          </a:solidFill>
          <a:ln/>
        </p:spPr>
      </p:sp>
      <p:sp>
        <p:nvSpPr>
          <p:cNvPr id="11" name="Shape 9"/>
          <p:cNvSpPr/>
          <p:nvPr/>
        </p:nvSpPr>
        <p:spPr>
          <a:xfrm>
            <a:off x="9224868" y="1510562"/>
            <a:ext cx="65471" cy="65471"/>
          </a:xfrm>
          <a:prstGeom prst="ellipse">
            <a:avLst/>
          </a:prstGeom>
          <a:solidFill>
            <a:srgbClr val="3F6F5F"/>
          </a:solidFill>
          <a:ln/>
        </p:spPr>
      </p:sp>
      <p:sp>
        <p:nvSpPr>
          <p:cNvPr id="12" name="Shape 10"/>
          <p:cNvSpPr/>
          <p:nvPr/>
        </p:nvSpPr>
        <p:spPr>
          <a:xfrm>
            <a:off x="10240057" y="1621315"/>
            <a:ext cx="60798" cy="60798"/>
          </a:xfrm>
          <a:prstGeom prst="ellipse">
            <a:avLst/>
          </a:prstGeom>
          <a:solidFill>
            <a:srgbClr val="B9852F"/>
          </a:solidFill>
          <a:ln/>
        </p:spPr>
      </p:sp>
      <p:sp>
        <p:nvSpPr>
          <p:cNvPr id="13" name="Shape 11"/>
          <p:cNvSpPr/>
          <p:nvPr/>
        </p:nvSpPr>
        <p:spPr>
          <a:xfrm>
            <a:off x="9724896" y="2162385"/>
            <a:ext cx="95622" cy="95622"/>
          </a:xfrm>
          <a:prstGeom prst="ellipse">
            <a:avLst/>
          </a:prstGeom>
          <a:solidFill>
            <a:srgbClr val="7A3B2E"/>
          </a:solidFill>
          <a:ln/>
        </p:spPr>
      </p:sp>
      <p:sp>
        <p:nvSpPr>
          <p:cNvPr id="14" name="Shape 12"/>
          <p:cNvSpPr/>
          <p:nvPr/>
        </p:nvSpPr>
        <p:spPr>
          <a:xfrm>
            <a:off x="11565584" y="2120314"/>
            <a:ext cx="83075" cy="83075"/>
          </a:xfrm>
          <a:prstGeom prst="ellipse">
            <a:avLst/>
          </a:prstGeom>
          <a:solidFill>
            <a:srgbClr val="3F6F5F"/>
          </a:solidFill>
          <a:ln/>
        </p:spPr>
      </p:sp>
      <p:sp>
        <p:nvSpPr>
          <p:cNvPr id="15" name="Shape 13"/>
          <p:cNvSpPr/>
          <p:nvPr/>
        </p:nvSpPr>
        <p:spPr>
          <a:xfrm>
            <a:off x="11418723" y="2219001"/>
            <a:ext cx="46017" cy="46017"/>
          </a:xfrm>
          <a:prstGeom prst="ellipse">
            <a:avLst/>
          </a:prstGeom>
          <a:solidFill>
            <a:srgbClr val="B9852F"/>
          </a:solidFill>
          <a:ln/>
        </p:spPr>
      </p:sp>
      <p:sp>
        <p:nvSpPr>
          <p:cNvPr id="16" name="Shape 14"/>
          <p:cNvSpPr/>
          <p:nvPr/>
        </p:nvSpPr>
        <p:spPr>
          <a:xfrm>
            <a:off x="10427311" y="1444987"/>
            <a:ext cx="62172" cy="62172"/>
          </a:xfrm>
          <a:prstGeom prst="ellipse">
            <a:avLst/>
          </a:prstGeom>
          <a:solidFill>
            <a:srgbClr val="7A3B2E"/>
          </a:solidFill>
          <a:ln/>
        </p:spPr>
      </p:sp>
      <p:sp>
        <p:nvSpPr>
          <p:cNvPr id="17" name="Shape 15"/>
          <p:cNvSpPr/>
          <p:nvPr/>
        </p:nvSpPr>
        <p:spPr>
          <a:xfrm>
            <a:off x="9734350" y="2259531"/>
            <a:ext cx="99536" cy="99536"/>
          </a:xfrm>
          <a:prstGeom prst="ellipse">
            <a:avLst/>
          </a:prstGeom>
          <a:solidFill>
            <a:srgbClr val="3F6F5F"/>
          </a:solidFill>
          <a:ln/>
        </p:spPr>
      </p:sp>
      <p:sp>
        <p:nvSpPr>
          <p:cNvPr id="18" name="Shape 16"/>
          <p:cNvSpPr/>
          <p:nvPr/>
        </p:nvSpPr>
        <p:spPr>
          <a:xfrm>
            <a:off x="10482839" y="1911813"/>
            <a:ext cx="71241" cy="71241"/>
          </a:xfrm>
          <a:prstGeom prst="ellipse">
            <a:avLst/>
          </a:prstGeom>
          <a:solidFill>
            <a:srgbClr val="B9852F"/>
          </a:solidFill>
          <a:ln/>
        </p:spPr>
      </p:sp>
      <p:sp>
        <p:nvSpPr>
          <p:cNvPr id="19" name="Shape 17"/>
          <p:cNvSpPr/>
          <p:nvPr/>
        </p:nvSpPr>
        <p:spPr>
          <a:xfrm>
            <a:off x="11072577" y="1125733"/>
            <a:ext cx="55011" cy="55011"/>
          </a:xfrm>
          <a:prstGeom prst="ellipse">
            <a:avLst/>
          </a:prstGeom>
          <a:solidFill>
            <a:srgbClr val="7A3B2E"/>
          </a:solidFill>
          <a:ln/>
        </p:spPr>
      </p:sp>
      <p:sp>
        <p:nvSpPr>
          <p:cNvPr id="20" name="Shape 18"/>
          <p:cNvSpPr/>
          <p:nvPr/>
        </p:nvSpPr>
        <p:spPr>
          <a:xfrm>
            <a:off x="9903366" y="2362552"/>
            <a:ext cx="73707" cy="73707"/>
          </a:xfrm>
          <a:prstGeom prst="ellipse">
            <a:avLst/>
          </a:prstGeom>
          <a:solidFill>
            <a:srgbClr val="3F6F5F"/>
          </a:solidFill>
          <a:ln/>
        </p:spPr>
      </p:sp>
      <p:sp>
        <p:nvSpPr>
          <p:cNvPr id="21" name="Shape 19"/>
          <p:cNvSpPr/>
          <p:nvPr/>
        </p:nvSpPr>
        <p:spPr>
          <a:xfrm>
            <a:off x="10861405" y="1134090"/>
            <a:ext cx="95323" cy="95323"/>
          </a:xfrm>
          <a:prstGeom prst="ellipse">
            <a:avLst/>
          </a:prstGeom>
          <a:solidFill>
            <a:srgbClr val="B9852F"/>
          </a:solidFill>
          <a:ln/>
        </p:spPr>
      </p:sp>
      <p:sp>
        <p:nvSpPr>
          <p:cNvPr id="22" name="Shape 20"/>
          <p:cNvSpPr/>
          <p:nvPr/>
        </p:nvSpPr>
        <p:spPr>
          <a:xfrm>
            <a:off x="9603293" y="1638965"/>
            <a:ext cx="87856" cy="8785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Gilardi, Alizadeh &amp; Kubli (2023): ChatGPT outperformed crowd workers on several text-labeling tasks, cheaper, faster, more consistent.</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prompt is the codebook; agreement with humans isn't ground truth; and the model fails silently, confident wrong answers a human's disagreement would have caught. Its "judgment" is a compression of scraped creative work, whose reading are you renting?</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LLM-as-annotator, the most common operation in the field</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AI as a cheaper coder, and where it fails silently.</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annotator move, on your corpus: write a labeling prompt for your categories, run it on a slice, read the labels back. Tighten the definition and watch the labels shift, the prompt is your codebook.</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Confidence, and when to trust it: ask the model not just what but how sure. Sort by confidence, trust the sure labels, hand-check the unsure ones, which is exactly which 30 to pull for Week 6.</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0:50</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1:00</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Accuracy check, then project workshop: run your prompt against a small hand-labeled gold set. Where does the AI disagree, and is it wrong or are you? Then build time on your corpus. Go further (optional, technically comfortable): instead of the closed API model, run an open model from Hugging Face, or fine-tune your own small classifier (ModernBERT) on the labels you just made, the third reader you own.</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810512"/>
            <a:ext cx="219456" cy="219456"/>
          </a:xfrm>
          <a:prstGeom prst="ellipse">
            <a:avLst/>
          </a:prstGeom>
          <a:solidFill>
            <a:srgbClr val="7A3B2E"/>
          </a:solidFill>
          <a:ln/>
        </p:spPr>
      </p:sp>
      <p:sp>
        <p:nvSpPr>
          <p:cNvPr id="4" name="Text 2"/>
          <p:cNvSpPr/>
          <p:nvPr/>
        </p:nvSpPr>
        <p:spPr>
          <a:xfrm>
            <a:off x="1051560" y="173736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21214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NYT v. OpenAI, read against your Week 4 licensing conversation</a:t>
            </a:r>
            <a:endParaRPr lang="en-US" sz="1400" dirty="0"/>
          </a:p>
        </p:txBody>
      </p:sp>
      <p:sp>
        <p:nvSpPr>
          <p:cNvPr id="6" name="Shape 4"/>
          <p:cNvSpPr/>
          <p:nvPr/>
        </p:nvSpPr>
        <p:spPr>
          <a:xfrm>
            <a:off x="640080" y="2953512"/>
            <a:ext cx="219456" cy="219456"/>
          </a:xfrm>
          <a:prstGeom prst="ellipse">
            <a:avLst/>
          </a:prstGeom>
          <a:solidFill>
            <a:srgbClr val="3F6F5F"/>
          </a:solidFill>
          <a:ln/>
        </p:spPr>
      </p:sp>
      <p:sp>
        <p:nvSpPr>
          <p:cNvPr id="7" name="Text 5"/>
          <p:cNvSpPr/>
          <p:nvPr/>
        </p:nvSpPr>
        <p:spPr>
          <a:xfrm>
            <a:off x="1051560" y="28803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32644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Gilardi et al., full; Bamman et al., LLM classification in cultural analytics (CHR 2024)</a:t>
            </a:r>
            <a:endParaRPr lang="en-US" sz="1400" dirty="0"/>
          </a:p>
        </p:txBody>
      </p:sp>
      <p:sp>
        <p:nvSpPr>
          <p:cNvPr id="9" name="Shape 7"/>
          <p:cNvSpPr/>
          <p:nvPr/>
        </p:nvSpPr>
        <p:spPr>
          <a:xfrm>
            <a:off x="640080" y="4096512"/>
            <a:ext cx="219456" cy="219456"/>
          </a:xfrm>
          <a:prstGeom prst="ellipse">
            <a:avLst/>
          </a:prstGeom>
          <a:solidFill>
            <a:srgbClr val="B9852F"/>
          </a:solidFill>
          <a:ln/>
        </p:spPr>
      </p:sp>
      <p:sp>
        <p:nvSpPr>
          <p:cNvPr id="10" name="Text 8"/>
          <p:cNvSpPr/>
          <p:nvPr/>
        </p:nvSpPr>
        <p:spPr>
          <a:xfrm>
            <a:off x="1051560" y="402336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Sketch</a:t>
            </a:r>
            <a:endParaRPr lang="en-US" sz="1500" dirty="0"/>
          </a:p>
        </p:txBody>
      </p:sp>
      <p:sp>
        <p:nvSpPr>
          <p:cNvPr id="11" name="Text 9"/>
          <p:cNvSpPr/>
          <p:nvPr/>
        </p:nvSpPr>
        <p:spPr>
          <a:xfrm>
            <a:off x="1051560" y="44074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Show one label the AI got confidently wrong and one it nailed; say how you knew.</a:t>
            </a:r>
            <a:endParaRPr lang="en-US" sz="1400" dirty="0"/>
          </a:p>
        </p:txBody>
      </p:sp>
      <p:sp>
        <p:nvSpPr>
          <p:cNvPr id="12" name="Shape 10"/>
          <p:cNvSpPr/>
          <p:nvPr/>
        </p:nvSpPr>
        <p:spPr>
          <a:xfrm>
            <a:off x="640080" y="5239512"/>
            <a:ext cx="219456" cy="219456"/>
          </a:xfrm>
          <a:prstGeom prst="ellipse">
            <a:avLst/>
          </a:prstGeom>
          <a:solidFill>
            <a:srgbClr val="7A3B2E"/>
          </a:solidFill>
          <a:ln/>
        </p:spPr>
      </p:sp>
      <p:sp>
        <p:nvSpPr>
          <p:cNvPr id="13" name="Text 11"/>
          <p:cNvSpPr/>
          <p:nvPr/>
        </p:nvSpPr>
        <p:spPr>
          <a:xfrm>
            <a:off x="1051560" y="516636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4" name="Text 12"/>
          <p:cNvSpPr/>
          <p:nvPr/>
        </p:nvSpPr>
        <p:spPr>
          <a:xfrm>
            <a:off x="1051560" y="55504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what is your labeling prompt deciding on your behalf, and how would you check whether to trust a given label? (Competencies 2, 5.)</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The reader you can't see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powerful, opaque annotator: trust the labels it is sure of, check the rest.</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Whose judgment are you renting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Its reading was learned from creative work scraped largely without permission.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The third reader (go further)</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Fine-tune a model you own, transparent, powerful, now yours.</a:t>
            </a:r>
            <a:endParaRPr lang="en-US" sz="14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what is your labeling prompt deciding on your behalf, and how would you check whether to trust a given label? (Competencies 2, 5.)</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7</a:t>
            </a:r>
            <a:endParaRPr lang="en-US" sz="1200" dirty="0"/>
          </a:p>
        </p:txBody>
      </p:sp>
      <p:sp>
        <p:nvSpPr>
          <p:cNvPr id="5" name="Shape 3"/>
          <p:cNvSpPr/>
          <p:nvPr/>
        </p:nvSpPr>
        <p:spPr>
          <a:xfrm>
            <a:off x="10183884" y="4527301"/>
            <a:ext cx="69797" cy="69797"/>
          </a:xfrm>
          <a:prstGeom prst="ellipse">
            <a:avLst/>
          </a:prstGeom>
          <a:solidFill>
            <a:srgbClr val="7A3B2E"/>
          </a:solidFill>
          <a:ln/>
        </p:spPr>
      </p:sp>
      <p:sp>
        <p:nvSpPr>
          <p:cNvPr id="6" name="Shape 4"/>
          <p:cNvSpPr/>
          <p:nvPr/>
        </p:nvSpPr>
        <p:spPr>
          <a:xfrm>
            <a:off x="11301291" y="4978554"/>
            <a:ext cx="58604" cy="58604"/>
          </a:xfrm>
          <a:prstGeom prst="ellipse">
            <a:avLst/>
          </a:prstGeom>
          <a:solidFill>
            <a:srgbClr val="3F6F5F"/>
          </a:solidFill>
          <a:ln/>
        </p:spPr>
      </p:sp>
      <p:sp>
        <p:nvSpPr>
          <p:cNvPr id="7" name="Shape 5"/>
          <p:cNvSpPr/>
          <p:nvPr/>
        </p:nvSpPr>
        <p:spPr>
          <a:xfrm>
            <a:off x="10279171" y="4798406"/>
            <a:ext cx="89957" cy="89957"/>
          </a:xfrm>
          <a:prstGeom prst="ellipse">
            <a:avLst/>
          </a:prstGeom>
          <a:solidFill>
            <a:srgbClr val="B9852F"/>
          </a:solidFill>
          <a:ln/>
        </p:spPr>
      </p:sp>
      <p:sp>
        <p:nvSpPr>
          <p:cNvPr id="8" name="Shape 6"/>
          <p:cNvSpPr/>
          <p:nvPr/>
        </p:nvSpPr>
        <p:spPr>
          <a:xfrm>
            <a:off x="10744645" y="4710756"/>
            <a:ext cx="76987" cy="76987"/>
          </a:xfrm>
          <a:prstGeom prst="ellipse">
            <a:avLst/>
          </a:prstGeom>
          <a:solidFill>
            <a:srgbClr val="7A3B2E"/>
          </a:solidFill>
          <a:ln/>
        </p:spPr>
      </p:sp>
      <p:sp>
        <p:nvSpPr>
          <p:cNvPr id="9" name="Shape 7"/>
          <p:cNvSpPr/>
          <p:nvPr/>
        </p:nvSpPr>
        <p:spPr>
          <a:xfrm>
            <a:off x="11204192" y="5439504"/>
            <a:ext cx="97418" cy="97418"/>
          </a:xfrm>
          <a:prstGeom prst="ellipse">
            <a:avLst/>
          </a:prstGeom>
          <a:solidFill>
            <a:srgbClr val="3F6F5F"/>
          </a:solidFill>
          <a:ln/>
        </p:spPr>
      </p:sp>
      <p:sp>
        <p:nvSpPr>
          <p:cNvPr id="10" name="Shape 8"/>
          <p:cNvSpPr/>
          <p:nvPr/>
        </p:nvSpPr>
        <p:spPr>
          <a:xfrm>
            <a:off x="10164293" y="5971191"/>
            <a:ext cx="64381" cy="64381"/>
          </a:xfrm>
          <a:prstGeom prst="ellipse">
            <a:avLst/>
          </a:prstGeom>
          <a:solidFill>
            <a:srgbClr val="B9852F"/>
          </a:solidFill>
          <a:ln/>
        </p:spPr>
      </p:sp>
      <p:sp>
        <p:nvSpPr>
          <p:cNvPr id="11" name="Shape 9"/>
          <p:cNvSpPr/>
          <p:nvPr/>
        </p:nvSpPr>
        <p:spPr>
          <a:xfrm>
            <a:off x="11252067" y="5292356"/>
            <a:ext cx="55602" cy="55602"/>
          </a:xfrm>
          <a:prstGeom prst="ellipse">
            <a:avLst/>
          </a:prstGeom>
          <a:solidFill>
            <a:srgbClr val="7A3B2E"/>
          </a:solidFill>
          <a:ln/>
        </p:spPr>
      </p:sp>
      <p:sp>
        <p:nvSpPr>
          <p:cNvPr id="12" name="Shape 10"/>
          <p:cNvSpPr/>
          <p:nvPr/>
        </p:nvSpPr>
        <p:spPr>
          <a:xfrm>
            <a:off x="10413674" y="5864259"/>
            <a:ext cx="93940" cy="93940"/>
          </a:xfrm>
          <a:prstGeom prst="ellipse">
            <a:avLst/>
          </a:prstGeom>
          <a:solidFill>
            <a:srgbClr val="3F6F5F"/>
          </a:solidFill>
          <a:ln/>
        </p:spPr>
      </p:sp>
      <p:sp>
        <p:nvSpPr>
          <p:cNvPr id="13" name="Shape 11"/>
          <p:cNvSpPr/>
          <p:nvPr/>
        </p:nvSpPr>
        <p:spPr>
          <a:xfrm>
            <a:off x="11276234" y="4936081"/>
            <a:ext cx="92527" cy="92527"/>
          </a:xfrm>
          <a:prstGeom prst="ellipse">
            <a:avLst/>
          </a:prstGeom>
          <a:solidFill>
            <a:srgbClr val="B9852F"/>
          </a:solidFill>
          <a:ln/>
        </p:spPr>
      </p:sp>
      <p:sp>
        <p:nvSpPr>
          <p:cNvPr id="14" name="Shape 12"/>
          <p:cNvSpPr/>
          <p:nvPr/>
        </p:nvSpPr>
        <p:spPr>
          <a:xfrm>
            <a:off x="9785908" y="4969081"/>
            <a:ext cx="74223" cy="74223"/>
          </a:xfrm>
          <a:prstGeom prst="ellipse">
            <a:avLst/>
          </a:prstGeom>
          <a:solidFill>
            <a:srgbClr val="7A3B2E"/>
          </a:solidFill>
          <a:ln/>
        </p:spPr>
      </p:sp>
      <p:sp>
        <p:nvSpPr>
          <p:cNvPr id="15" name="Shape 13"/>
          <p:cNvSpPr/>
          <p:nvPr/>
        </p:nvSpPr>
        <p:spPr>
          <a:xfrm>
            <a:off x="9569815" y="4949799"/>
            <a:ext cx="61887" cy="61887"/>
          </a:xfrm>
          <a:prstGeom prst="ellipse">
            <a:avLst/>
          </a:prstGeom>
          <a:solidFill>
            <a:srgbClr val="3F6F5F"/>
          </a:solidFill>
          <a:ln/>
        </p:spPr>
      </p:sp>
      <p:sp>
        <p:nvSpPr>
          <p:cNvPr id="16" name="Shape 14"/>
          <p:cNvSpPr/>
          <p:nvPr/>
        </p:nvSpPr>
        <p:spPr>
          <a:xfrm>
            <a:off x="9134436" y="5602136"/>
            <a:ext cx="78381" cy="78381"/>
          </a:xfrm>
          <a:prstGeom prst="ellipse">
            <a:avLst/>
          </a:prstGeom>
          <a:solidFill>
            <a:srgbClr val="B9852F"/>
          </a:solidFill>
          <a:ln/>
        </p:spPr>
      </p:sp>
      <p:sp>
        <p:nvSpPr>
          <p:cNvPr id="17" name="Shape 15"/>
          <p:cNvSpPr/>
          <p:nvPr/>
        </p:nvSpPr>
        <p:spPr>
          <a:xfrm>
            <a:off x="9546570" y="5912631"/>
            <a:ext cx="91700" cy="91700"/>
          </a:xfrm>
          <a:prstGeom prst="ellipse">
            <a:avLst/>
          </a:prstGeom>
          <a:solidFill>
            <a:srgbClr val="7A3B2E"/>
          </a:solidFill>
          <a:ln/>
        </p:spPr>
      </p:sp>
      <p:sp>
        <p:nvSpPr>
          <p:cNvPr id="18" name="Shape 16"/>
          <p:cNvSpPr/>
          <p:nvPr/>
        </p:nvSpPr>
        <p:spPr>
          <a:xfrm>
            <a:off x="9312697" y="4867824"/>
            <a:ext cx="69840" cy="69840"/>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2026-06-29T04:30:12Z</dcterms:created>
  <dcterms:modified xsi:type="dcterms:W3CDTF">2026-06-29T04:30:12Z</dcterms:modified>
</cp:coreProperties>
</file>