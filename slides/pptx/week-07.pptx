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7</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The AI as a Reader, at Scale</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Use the AI to read your whole corpus at once, learn to trust the labels it's sure of and catch the ones it isn't, and reckon with whose judgment you're renting.</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LLM-as-annotator, the most common operation in the field</a:t>
            </a:r>
            <a:endParaRPr lang="en-US" sz="1200" dirty="0"/>
          </a:p>
        </p:txBody>
      </p:sp>
      <p:sp>
        <p:nvSpPr>
          <p:cNvPr id="7" name="Shape 5"/>
          <p:cNvSpPr/>
          <p:nvPr/>
        </p:nvSpPr>
        <p:spPr>
          <a:xfrm>
            <a:off x="10891814" y="1316897"/>
            <a:ext cx="76796" cy="76796"/>
          </a:xfrm>
          <a:prstGeom prst="ellipse">
            <a:avLst/>
          </a:prstGeom>
          <a:solidFill>
            <a:srgbClr val="7A3B2E"/>
          </a:solidFill>
          <a:ln/>
        </p:spPr>
      </p:sp>
      <p:sp>
        <p:nvSpPr>
          <p:cNvPr id="8" name="Shape 6"/>
          <p:cNvSpPr/>
          <p:nvPr/>
        </p:nvSpPr>
        <p:spPr>
          <a:xfrm>
            <a:off x="10256003" y="1733296"/>
            <a:ext cx="87871" cy="87871"/>
          </a:xfrm>
          <a:prstGeom prst="ellipse">
            <a:avLst/>
          </a:prstGeom>
          <a:solidFill>
            <a:srgbClr val="3F6F5F"/>
          </a:solidFill>
          <a:ln/>
        </p:spPr>
      </p:sp>
      <p:sp>
        <p:nvSpPr>
          <p:cNvPr id="9" name="Shape 7"/>
          <p:cNvSpPr/>
          <p:nvPr/>
        </p:nvSpPr>
        <p:spPr>
          <a:xfrm>
            <a:off x="9004241" y="1421773"/>
            <a:ext cx="47003" cy="47003"/>
          </a:xfrm>
          <a:prstGeom prst="ellipse">
            <a:avLst/>
          </a:prstGeom>
          <a:solidFill>
            <a:srgbClr val="B9852F"/>
          </a:solidFill>
          <a:ln/>
        </p:spPr>
      </p:sp>
      <p:sp>
        <p:nvSpPr>
          <p:cNvPr id="10" name="Shape 8"/>
          <p:cNvSpPr/>
          <p:nvPr/>
        </p:nvSpPr>
        <p:spPr>
          <a:xfrm>
            <a:off x="11022730" y="1106228"/>
            <a:ext cx="86781" cy="86781"/>
          </a:xfrm>
          <a:prstGeom prst="ellipse">
            <a:avLst/>
          </a:prstGeom>
          <a:solidFill>
            <a:srgbClr val="7A3B2E"/>
          </a:solidFill>
          <a:ln/>
        </p:spPr>
      </p:sp>
      <p:sp>
        <p:nvSpPr>
          <p:cNvPr id="11" name="Shape 9"/>
          <p:cNvSpPr/>
          <p:nvPr/>
        </p:nvSpPr>
        <p:spPr>
          <a:xfrm>
            <a:off x="9224868" y="1510562"/>
            <a:ext cx="65471" cy="65471"/>
          </a:xfrm>
          <a:prstGeom prst="ellipse">
            <a:avLst/>
          </a:prstGeom>
          <a:solidFill>
            <a:srgbClr val="3F6F5F"/>
          </a:solidFill>
          <a:ln/>
        </p:spPr>
      </p:sp>
      <p:sp>
        <p:nvSpPr>
          <p:cNvPr id="12" name="Shape 10"/>
          <p:cNvSpPr/>
          <p:nvPr/>
        </p:nvSpPr>
        <p:spPr>
          <a:xfrm>
            <a:off x="10240057" y="1621315"/>
            <a:ext cx="60798" cy="60798"/>
          </a:xfrm>
          <a:prstGeom prst="ellipse">
            <a:avLst/>
          </a:prstGeom>
          <a:solidFill>
            <a:srgbClr val="B9852F"/>
          </a:solidFill>
          <a:ln/>
        </p:spPr>
      </p:sp>
      <p:sp>
        <p:nvSpPr>
          <p:cNvPr id="13" name="Shape 11"/>
          <p:cNvSpPr/>
          <p:nvPr/>
        </p:nvSpPr>
        <p:spPr>
          <a:xfrm>
            <a:off x="9724896" y="2162385"/>
            <a:ext cx="95622" cy="95622"/>
          </a:xfrm>
          <a:prstGeom prst="ellipse">
            <a:avLst/>
          </a:prstGeom>
          <a:solidFill>
            <a:srgbClr val="7A3B2E"/>
          </a:solidFill>
          <a:ln/>
        </p:spPr>
      </p:sp>
      <p:sp>
        <p:nvSpPr>
          <p:cNvPr id="14" name="Shape 12"/>
          <p:cNvSpPr/>
          <p:nvPr/>
        </p:nvSpPr>
        <p:spPr>
          <a:xfrm>
            <a:off x="11565584" y="2120314"/>
            <a:ext cx="83075" cy="83075"/>
          </a:xfrm>
          <a:prstGeom prst="ellipse">
            <a:avLst/>
          </a:prstGeom>
          <a:solidFill>
            <a:srgbClr val="3F6F5F"/>
          </a:solidFill>
          <a:ln/>
        </p:spPr>
      </p:sp>
      <p:sp>
        <p:nvSpPr>
          <p:cNvPr id="15" name="Shape 13"/>
          <p:cNvSpPr/>
          <p:nvPr/>
        </p:nvSpPr>
        <p:spPr>
          <a:xfrm>
            <a:off x="11418723" y="2219001"/>
            <a:ext cx="46017" cy="46017"/>
          </a:xfrm>
          <a:prstGeom prst="ellipse">
            <a:avLst/>
          </a:prstGeom>
          <a:solidFill>
            <a:srgbClr val="B9852F"/>
          </a:solidFill>
          <a:ln/>
        </p:spPr>
      </p:sp>
      <p:sp>
        <p:nvSpPr>
          <p:cNvPr id="16" name="Shape 14"/>
          <p:cNvSpPr/>
          <p:nvPr/>
        </p:nvSpPr>
        <p:spPr>
          <a:xfrm>
            <a:off x="10427311" y="1444987"/>
            <a:ext cx="62172" cy="62172"/>
          </a:xfrm>
          <a:prstGeom prst="ellipse">
            <a:avLst/>
          </a:prstGeom>
          <a:solidFill>
            <a:srgbClr val="7A3B2E"/>
          </a:solidFill>
          <a:ln/>
        </p:spPr>
      </p:sp>
      <p:sp>
        <p:nvSpPr>
          <p:cNvPr id="17" name="Shape 15"/>
          <p:cNvSpPr/>
          <p:nvPr/>
        </p:nvSpPr>
        <p:spPr>
          <a:xfrm>
            <a:off x="9734350" y="2259531"/>
            <a:ext cx="99536" cy="99536"/>
          </a:xfrm>
          <a:prstGeom prst="ellipse">
            <a:avLst/>
          </a:prstGeom>
          <a:solidFill>
            <a:srgbClr val="3F6F5F"/>
          </a:solidFill>
          <a:ln/>
        </p:spPr>
      </p:sp>
      <p:sp>
        <p:nvSpPr>
          <p:cNvPr id="18" name="Shape 16"/>
          <p:cNvSpPr/>
          <p:nvPr/>
        </p:nvSpPr>
        <p:spPr>
          <a:xfrm>
            <a:off x="10482839" y="1911813"/>
            <a:ext cx="71241" cy="71241"/>
          </a:xfrm>
          <a:prstGeom prst="ellipse">
            <a:avLst/>
          </a:prstGeom>
          <a:solidFill>
            <a:srgbClr val="B9852F"/>
          </a:solidFill>
          <a:ln/>
        </p:spPr>
      </p:sp>
      <p:sp>
        <p:nvSpPr>
          <p:cNvPr id="19" name="Shape 17"/>
          <p:cNvSpPr/>
          <p:nvPr/>
        </p:nvSpPr>
        <p:spPr>
          <a:xfrm>
            <a:off x="11072577" y="1125733"/>
            <a:ext cx="55011" cy="55011"/>
          </a:xfrm>
          <a:prstGeom prst="ellipse">
            <a:avLst/>
          </a:prstGeom>
          <a:solidFill>
            <a:srgbClr val="7A3B2E"/>
          </a:solidFill>
          <a:ln/>
        </p:spPr>
      </p:sp>
      <p:sp>
        <p:nvSpPr>
          <p:cNvPr id="20" name="Shape 18"/>
          <p:cNvSpPr/>
          <p:nvPr/>
        </p:nvSpPr>
        <p:spPr>
          <a:xfrm>
            <a:off x="9903366" y="2362552"/>
            <a:ext cx="73707" cy="73707"/>
          </a:xfrm>
          <a:prstGeom prst="ellipse">
            <a:avLst/>
          </a:prstGeom>
          <a:solidFill>
            <a:srgbClr val="3F6F5F"/>
          </a:solidFill>
          <a:ln/>
        </p:spPr>
      </p:sp>
      <p:sp>
        <p:nvSpPr>
          <p:cNvPr id="21" name="Shape 19"/>
          <p:cNvSpPr/>
          <p:nvPr/>
        </p:nvSpPr>
        <p:spPr>
          <a:xfrm>
            <a:off x="10861405" y="1134090"/>
            <a:ext cx="95323" cy="95323"/>
          </a:xfrm>
          <a:prstGeom prst="ellipse">
            <a:avLst/>
          </a:prstGeom>
          <a:solidFill>
            <a:srgbClr val="B9852F"/>
          </a:solidFill>
          <a:ln/>
        </p:spPr>
      </p:sp>
      <p:sp>
        <p:nvSpPr>
          <p:cNvPr id="22" name="Shape 20"/>
          <p:cNvSpPr/>
          <p:nvPr/>
        </p:nvSpPr>
        <p:spPr>
          <a:xfrm>
            <a:off x="9603293" y="1638965"/>
            <a:ext cx="87856" cy="87856"/>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Gilardi, Alizadeh &amp; Kubli (2023): ChatGPT outperformed crowd workers on several text-labeling tasks, cheaper, faster, more consistent.</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The prompt is the codebook; agreement with humans isn't ground truth; and the model fails silently, confident wrong answers a human's disagreement would have caught. Its "judgment" is a compression of scraped creative work, whose reading are you renting?</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powerful, opaque reader</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Gilardi et al. (2023): ChatGPT out-labeled paid crowd workers on political-text tasks at roughly a twentieth of the cost.</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prompt IS the codebook: categories, definitions, edge-case rules. Write it like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Change one line of the codebook and the same machine becomes a different reader.</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It fails silently. Confident-and-wrong looks identical to confident-and-right from the outside.</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Trust, by confidence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for a confidence number with every label. Sort ascending. Hand-check the bottom.</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Gold set first: label ~30 items yourself before the machine sees them. Agreement against gold is your accuracy floor.</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Disagreements are data: sometimes the model is wrong, sometimes your codebook was vague.</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Whose reading are you renting? A model trained largely on scraped creative work. Week 8 takes that up.</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7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Three readers, one course</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3, the transparent reader: a logistic regression whose weights you can read.</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Week 7, the powerful reader: an API model you audit by confidence and gold set.</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Go-further, the reader you own: fine-tune ModernBERT on your own labels. Free to run, and it is yours.</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LLM-as-annotator, the most common operation in the field</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room names the choice first: the AI as a cheaper coder, and where it fails silently.</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0:10</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The annotator move, on your corpus: write a labeling prompt for your categories, run it on a slice, read the labels back. Tighten the definition and watch the labels shift, the prompt is your codebook.</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0:35</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Confidence, and when to trust it: ask the model not just what but how sure. Sort by confidence, trust the labels the model is sure of, and hand-check the unsure ones.</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0:50</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1:00</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Accuracy check, then project workshop: run your prompt against a small hand-labeled gold set. Where does the AI disagree, and is it wrong or are you? Then build time on your corpus. Go further (optional, technically comfortable): instead of the closed API model, run an open model from Hugging Face, or fine-tune your own small classifier (ModernBERT) on the labels you just made, the third reader you own.</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check and check-out.</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NYT v. OpenAI, read against your Week 4 licensing conversation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Gilardi et al., full; Bamman et al., LLM classification in cultural analytics (CHR 2024)</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Ziems et al., Can LLMs Transform Computational Social Science? (CL 2024), the systematic evaluation behind this week's method</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Show one label the AI got confidently wrong and one it nailed; say how you knew.</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what is your labeling prompt deciding on your behalf, and how would you check whether to trust a given label? (Competencies 2, 5.)</a:t>
            </a:r>
            <a:endParaRPr lang="en-US" sz="14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The reader you can't see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powerful, opaque annotator: trust the labels it is sure of, check the rest.</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Whose judgment are you renting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Its reading was learned from creative work scraped largely without permission.</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The third reader (go further)</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Fine-tune a model you own, transparent, powerful, now yours.</a:t>
            </a:r>
            <a:endParaRPr lang="en-US" sz="14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what is your labeling prompt deciding on your behalf, and how would you check whether to trust a given label? (Competencies 2, 5.)</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7</a:t>
            </a:r>
            <a:endParaRPr lang="en-US" sz="1200" dirty="0"/>
          </a:p>
        </p:txBody>
      </p:sp>
      <p:sp>
        <p:nvSpPr>
          <p:cNvPr id="5" name="Shape 3"/>
          <p:cNvSpPr/>
          <p:nvPr/>
        </p:nvSpPr>
        <p:spPr>
          <a:xfrm>
            <a:off x="10183884" y="4527301"/>
            <a:ext cx="69797" cy="69797"/>
          </a:xfrm>
          <a:prstGeom prst="ellipse">
            <a:avLst/>
          </a:prstGeom>
          <a:solidFill>
            <a:srgbClr val="7A3B2E"/>
          </a:solidFill>
          <a:ln/>
        </p:spPr>
      </p:sp>
      <p:sp>
        <p:nvSpPr>
          <p:cNvPr id="6" name="Shape 4"/>
          <p:cNvSpPr/>
          <p:nvPr/>
        </p:nvSpPr>
        <p:spPr>
          <a:xfrm>
            <a:off x="11301291" y="4978554"/>
            <a:ext cx="58604" cy="58604"/>
          </a:xfrm>
          <a:prstGeom prst="ellipse">
            <a:avLst/>
          </a:prstGeom>
          <a:solidFill>
            <a:srgbClr val="3F6F5F"/>
          </a:solidFill>
          <a:ln/>
        </p:spPr>
      </p:sp>
      <p:sp>
        <p:nvSpPr>
          <p:cNvPr id="7" name="Shape 5"/>
          <p:cNvSpPr/>
          <p:nvPr/>
        </p:nvSpPr>
        <p:spPr>
          <a:xfrm>
            <a:off x="10279171" y="4798406"/>
            <a:ext cx="89957" cy="89957"/>
          </a:xfrm>
          <a:prstGeom prst="ellipse">
            <a:avLst/>
          </a:prstGeom>
          <a:solidFill>
            <a:srgbClr val="B9852F"/>
          </a:solidFill>
          <a:ln/>
        </p:spPr>
      </p:sp>
      <p:sp>
        <p:nvSpPr>
          <p:cNvPr id="8" name="Shape 6"/>
          <p:cNvSpPr/>
          <p:nvPr/>
        </p:nvSpPr>
        <p:spPr>
          <a:xfrm>
            <a:off x="10744645" y="4710756"/>
            <a:ext cx="76987" cy="76987"/>
          </a:xfrm>
          <a:prstGeom prst="ellipse">
            <a:avLst/>
          </a:prstGeom>
          <a:solidFill>
            <a:srgbClr val="7A3B2E"/>
          </a:solidFill>
          <a:ln/>
        </p:spPr>
      </p:sp>
      <p:sp>
        <p:nvSpPr>
          <p:cNvPr id="9" name="Shape 7"/>
          <p:cNvSpPr/>
          <p:nvPr/>
        </p:nvSpPr>
        <p:spPr>
          <a:xfrm>
            <a:off x="11204192" y="5439504"/>
            <a:ext cx="97418" cy="97418"/>
          </a:xfrm>
          <a:prstGeom prst="ellipse">
            <a:avLst/>
          </a:prstGeom>
          <a:solidFill>
            <a:srgbClr val="3F6F5F"/>
          </a:solidFill>
          <a:ln/>
        </p:spPr>
      </p:sp>
      <p:sp>
        <p:nvSpPr>
          <p:cNvPr id="10" name="Shape 8"/>
          <p:cNvSpPr/>
          <p:nvPr/>
        </p:nvSpPr>
        <p:spPr>
          <a:xfrm>
            <a:off x="10164293" y="5971191"/>
            <a:ext cx="64381" cy="64381"/>
          </a:xfrm>
          <a:prstGeom prst="ellipse">
            <a:avLst/>
          </a:prstGeom>
          <a:solidFill>
            <a:srgbClr val="B9852F"/>
          </a:solidFill>
          <a:ln/>
        </p:spPr>
      </p:sp>
      <p:sp>
        <p:nvSpPr>
          <p:cNvPr id="11" name="Shape 9"/>
          <p:cNvSpPr/>
          <p:nvPr/>
        </p:nvSpPr>
        <p:spPr>
          <a:xfrm>
            <a:off x="11252067" y="5292356"/>
            <a:ext cx="55602" cy="55602"/>
          </a:xfrm>
          <a:prstGeom prst="ellipse">
            <a:avLst/>
          </a:prstGeom>
          <a:solidFill>
            <a:srgbClr val="7A3B2E"/>
          </a:solidFill>
          <a:ln/>
        </p:spPr>
      </p:sp>
      <p:sp>
        <p:nvSpPr>
          <p:cNvPr id="12" name="Shape 10"/>
          <p:cNvSpPr/>
          <p:nvPr/>
        </p:nvSpPr>
        <p:spPr>
          <a:xfrm>
            <a:off x="10413674" y="5864259"/>
            <a:ext cx="93940" cy="93940"/>
          </a:xfrm>
          <a:prstGeom prst="ellipse">
            <a:avLst/>
          </a:prstGeom>
          <a:solidFill>
            <a:srgbClr val="3F6F5F"/>
          </a:solidFill>
          <a:ln/>
        </p:spPr>
      </p:sp>
      <p:sp>
        <p:nvSpPr>
          <p:cNvPr id="13" name="Shape 11"/>
          <p:cNvSpPr/>
          <p:nvPr/>
        </p:nvSpPr>
        <p:spPr>
          <a:xfrm>
            <a:off x="11276234" y="4936081"/>
            <a:ext cx="92527" cy="92527"/>
          </a:xfrm>
          <a:prstGeom prst="ellipse">
            <a:avLst/>
          </a:prstGeom>
          <a:solidFill>
            <a:srgbClr val="B9852F"/>
          </a:solidFill>
          <a:ln/>
        </p:spPr>
      </p:sp>
      <p:sp>
        <p:nvSpPr>
          <p:cNvPr id="14" name="Shape 12"/>
          <p:cNvSpPr/>
          <p:nvPr/>
        </p:nvSpPr>
        <p:spPr>
          <a:xfrm>
            <a:off x="9785908" y="4969081"/>
            <a:ext cx="74223" cy="74223"/>
          </a:xfrm>
          <a:prstGeom prst="ellipse">
            <a:avLst/>
          </a:prstGeom>
          <a:solidFill>
            <a:srgbClr val="7A3B2E"/>
          </a:solidFill>
          <a:ln/>
        </p:spPr>
      </p:sp>
      <p:sp>
        <p:nvSpPr>
          <p:cNvPr id="15" name="Shape 13"/>
          <p:cNvSpPr/>
          <p:nvPr/>
        </p:nvSpPr>
        <p:spPr>
          <a:xfrm>
            <a:off x="9569815" y="4949799"/>
            <a:ext cx="61887" cy="61887"/>
          </a:xfrm>
          <a:prstGeom prst="ellipse">
            <a:avLst/>
          </a:prstGeom>
          <a:solidFill>
            <a:srgbClr val="3F6F5F"/>
          </a:solidFill>
          <a:ln/>
        </p:spPr>
      </p:sp>
      <p:sp>
        <p:nvSpPr>
          <p:cNvPr id="16" name="Shape 14"/>
          <p:cNvSpPr/>
          <p:nvPr/>
        </p:nvSpPr>
        <p:spPr>
          <a:xfrm>
            <a:off x="9134436" y="5602136"/>
            <a:ext cx="78381" cy="78381"/>
          </a:xfrm>
          <a:prstGeom prst="ellipse">
            <a:avLst/>
          </a:prstGeom>
          <a:solidFill>
            <a:srgbClr val="B9852F"/>
          </a:solidFill>
          <a:ln/>
        </p:spPr>
      </p:sp>
      <p:sp>
        <p:nvSpPr>
          <p:cNvPr id="17" name="Shape 15"/>
          <p:cNvSpPr/>
          <p:nvPr/>
        </p:nvSpPr>
        <p:spPr>
          <a:xfrm>
            <a:off x="9546570" y="5912631"/>
            <a:ext cx="91700" cy="91700"/>
          </a:xfrm>
          <a:prstGeom prst="ellipse">
            <a:avLst/>
          </a:prstGeom>
          <a:solidFill>
            <a:srgbClr val="7A3B2E"/>
          </a:solidFill>
          <a:ln/>
        </p:spPr>
      </p:sp>
      <p:sp>
        <p:nvSpPr>
          <p:cNvPr id="18" name="Shape 16"/>
          <p:cNvSpPr/>
          <p:nvPr/>
        </p:nvSpPr>
        <p:spPr>
          <a:xfrm>
            <a:off x="9312697" y="4867824"/>
            <a:ext cx="69840" cy="69840"/>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2026-07-12T21:17:19Z</dcterms:created>
  <dcterms:modified xsi:type="dcterms:W3CDTF">2026-07-12T21:17:19Z</dcterms:modified>
</cp:coreProperties>
</file>