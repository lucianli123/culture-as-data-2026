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Lst>
  <p:notesMasterIdLst>
    <p:notesMasterId r:id="rId22"/>
  </p:notesMasterIdLst>
  <p:sldSz cx="12191695" cy="6858000"/>
  <p:notesSz cx="6858000" cy="12191695"/>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notesMaster" Target="notesMasters/notesMaster1.xml"/><Relationship Id="rId23" Type="http://schemas.openxmlformats.org/officeDocument/2006/relationships/presProps" Target="presProps.xml"/><Relationship Id="rId24" Type="http://schemas.openxmlformats.org/officeDocument/2006/relationships/viewProps" Target="viewProps.xml"/><Relationship Id="rId25" Type="http://schemas.openxmlformats.org/officeDocument/2006/relationships/theme" Target="theme/theme1.xml"/><Relationship Id="rId2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jpg"/><Relationship Id="rId2" Type="http://schemas.openxmlformats.org/officeDocument/2006/relationships/image" Target="../media/image-15-2.jpg"/><Relationship Id="rId3" Type="http://schemas.openxmlformats.org/officeDocument/2006/relationships/image" Target="../media/image-15-3.jpg"/><Relationship Id="rId4" Type="http://schemas.openxmlformats.org/officeDocument/2006/relationships/image" Target="../media/image-15-4.jpg"/><Relationship Id="rId5" Type="http://schemas.openxmlformats.org/officeDocument/2006/relationships/image" Target="../media/image-15-5.jpg"/><Relationship Id="rId6" Type="http://schemas.openxmlformats.org/officeDocument/2006/relationships/image" Target="../media/image-15-6.jpg"/><Relationship Id="rId7" Type="http://schemas.openxmlformats.org/officeDocument/2006/relationships/image" Target="../media/image-15-7.jpg"/><Relationship Id="rId8" Type="http://schemas.openxmlformats.org/officeDocument/2006/relationships/image" Target="../media/image-15-8.jpg"/><Relationship Id="rId9" Type="http://schemas.openxmlformats.org/officeDocument/2006/relationships/slideLayout" Target="../slideLayouts/slideLayout1.xml"/><Relationship Id="rId10"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4E261D"/>
        </a:solidFill>
      </p:bgPr>
    </p:bg>
    <p:spTree>
      <p:nvGrpSpPr>
        <p:cNvPr id="1" name=""/>
        <p:cNvGrpSpPr/>
        <p:nvPr/>
      </p:nvGrpSpPr>
      <p:grpSpPr>
        <a:xfrm>
          <a:off x="0" y="0"/>
          <a:ext cx="0" cy="0"/>
          <a:chOff x="0" y="0"/>
          <a:chExt cx="0" cy="0"/>
        </a:xfrm>
      </p:grpSpPr>
      <p:sp>
        <p:nvSpPr>
          <p:cNvPr id="2" name="Text 0"/>
          <p:cNvSpPr/>
          <p:nvPr/>
        </p:nvSpPr>
        <p:spPr>
          <a:xfrm>
            <a:off x="640080" y="502920"/>
            <a:ext cx="7315200" cy="274320"/>
          </a:xfrm>
          <a:prstGeom prst="rect">
            <a:avLst/>
          </a:prstGeom>
          <a:noFill/>
          <a:ln/>
        </p:spPr>
        <p:txBody>
          <a:bodyPr wrap="square" rtlCol="0" anchor="ctr"/>
          <a:lstStyle/>
          <a:p>
            <a:pPr indent="0" marL="0">
              <a:buNone/>
            </a:pPr>
            <a:r>
              <a:rPr lang="en-US" sz="1300" b="1" spc="300" kern="0" dirty="0">
                <a:solidFill>
                  <a:srgbClr val="B9852F"/>
                </a:solidFill>
                <a:latin typeface="Calibri" pitchFamily="34" charset="0"/>
                <a:ea typeface="Calibri" pitchFamily="34" charset="-122"/>
                <a:cs typeface="Calibri" pitchFamily="34" charset="-120"/>
              </a:rPr>
              <a:t>CULTURE AS DATA</a:t>
            </a:r>
            <a:endParaRPr lang="en-US" sz="1300" dirty="0"/>
          </a:p>
        </p:txBody>
      </p:sp>
      <p:sp>
        <p:nvSpPr>
          <p:cNvPr id="3" name="Text 1"/>
          <p:cNvSpPr/>
          <p:nvPr/>
        </p:nvSpPr>
        <p:spPr>
          <a:xfrm>
            <a:off x="640080" y="1554480"/>
            <a:ext cx="5486400" cy="548640"/>
          </a:xfrm>
          <a:prstGeom prst="rect">
            <a:avLst/>
          </a:prstGeom>
          <a:noFill/>
          <a:ln/>
        </p:spPr>
        <p:txBody>
          <a:bodyPr wrap="square" rtlCol="0" anchor="ctr"/>
          <a:lstStyle/>
          <a:p>
            <a:pPr indent="0" marL="0">
              <a:buNone/>
            </a:pPr>
            <a:r>
              <a:rPr lang="en-US" sz="2000" dirty="0">
                <a:solidFill>
                  <a:srgbClr val="E8DCD6"/>
                </a:solidFill>
                <a:latin typeface="Calibri" pitchFamily="34" charset="0"/>
                <a:ea typeface="Calibri" pitchFamily="34" charset="-122"/>
                <a:cs typeface="Calibri" pitchFamily="34" charset="-120"/>
              </a:rPr>
              <a:t>Week 1</a:t>
            </a:r>
            <a:endParaRPr lang="en-US" sz="2000" dirty="0"/>
          </a:p>
        </p:txBody>
      </p:sp>
      <p:sp>
        <p:nvSpPr>
          <p:cNvPr id="4" name="Text 2"/>
          <p:cNvSpPr/>
          <p:nvPr/>
        </p:nvSpPr>
        <p:spPr>
          <a:xfrm>
            <a:off x="640080" y="2011680"/>
            <a:ext cx="8961120" cy="1828800"/>
          </a:xfrm>
          <a:prstGeom prst="rect">
            <a:avLst/>
          </a:prstGeom>
          <a:noFill/>
          <a:ln/>
        </p:spPr>
        <p:txBody>
          <a:bodyPr wrap="square" rtlCol="0" anchor="t">
            <a:spAutoFit/>
          </a:bodyPr>
          <a:lstStyle/>
          <a:p>
            <a:pPr indent="0" marL="0">
              <a:buNone/>
            </a:pPr>
            <a:r>
              <a:rPr lang="en-US" sz="4000" b="1" dirty="0">
                <a:solidFill>
                  <a:srgbClr val="FFFFFF"/>
                </a:solidFill>
                <a:latin typeface="Cambria" pitchFamily="34" charset="0"/>
                <a:ea typeface="Cambria" pitchFamily="34" charset="-122"/>
                <a:cs typeface="Cambria" pitchFamily="34" charset="-120"/>
              </a:rPr>
              <a:t>Your First Investigation</a:t>
            </a:r>
            <a:endParaRPr lang="en-US" sz="4000" dirty="0"/>
          </a:p>
        </p:txBody>
      </p:sp>
      <p:sp>
        <p:nvSpPr>
          <p:cNvPr id="5" name="Text 3"/>
          <p:cNvSpPr/>
          <p:nvPr/>
        </p:nvSpPr>
        <p:spPr>
          <a:xfrm>
            <a:off x="640080" y="4114800"/>
            <a:ext cx="7680960" cy="1463040"/>
          </a:xfrm>
          <a:prstGeom prst="rect">
            <a:avLst/>
          </a:prstGeom>
          <a:noFill/>
          <a:ln/>
        </p:spPr>
        <p:txBody>
          <a:bodyPr wrap="square" rtlCol="0" anchor="t">
            <a:spAutoFit/>
          </a:bodyPr>
          <a:lstStyle/>
          <a:p>
            <a:pPr indent="0" marL="0">
              <a:buNone/>
            </a:pPr>
            <a:r>
              <a:rPr lang="en-US" sz="1600" i="1" dirty="0">
                <a:solidFill>
                  <a:srgbClr val="E8DCD6"/>
                </a:solidFill>
                <a:latin typeface="Calibri" pitchFamily="34" charset="0"/>
                <a:ea typeface="Calibri" pitchFamily="34" charset="-122"/>
                <a:cs typeface="Calibri" pitchFamily="34" charset="-120"/>
              </a:rPr>
              <a:t>By the mid-session break you will have loaded a real dataset, asked a question of it, and produced a chart. By the end you will have counted culture in three forms: rows, words, and pixels.</a:t>
            </a:r>
            <a:endParaRPr lang="en-US" sz="1600" dirty="0"/>
          </a:p>
        </p:txBody>
      </p:sp>
      <p:sp>
        <p:nvSpPr>
          <p:cNvPr id="6" name="Text 4"/>
          <p:cNvSpPr/>
          <p:nvPr/>
        </p:nvSpPr>
        <p:spPr>
          <a:xfrm>
            <a:off x="640080" y="6035040"/>
            <a:ext cx="10058400" cy="365760"/>
          </a:xfrm>
          <a:prstGeom prst="rect">
            <a:avLst/>
          </a:prstGeom>
          <a:noFill/>
          <a:ln/>
        </p:spPr>
        <p:txBody>
          <a:bodyPr wrap="square" rtlCol="0" anchor="ctr"/>
          <a:lstStyle/>
          <a:p>
            <a:pPr indent="0" marL="0">
              <a:buNone/>
            </a:pPr>
            <a:r>
              <a:rPr lang="en-US" sz="1200" dirty="0">
                <a:solidFill>
                  <a:srgbClr val="B9852F"/>
                </a:solidFill>
                <a:latin typeface="Calibri" pitchFamily="34" charset="0"/>
                <a:ea typeface="Calibri" pitchFamily="34" charset="-122"/>
                <a:cs typeface="Calibri" pitchFamily="34" charset="-120"/>
              </a:rPr>
              <a:t>Tool / method:  Counting: rows, words, pixels</a:t>
            </a:r>
            <a:endParaRPr lang="en-US" sz="1200" dirty="0"/>
          </a:p>
        </p:txBody>
      </p:sp>
      <p:sp>
        <p:nvSpPr>
          <p:cNvPr id="7" name="Shape 5"/>
          <p:cNvSpPr/>
          <p:nvPr/>
        </p:nvSpPr>
        <p:spPr>
          <a:xfrm>
            <a:off x="11299837" y="2060592"/>
            <a:ext cx="98334" cy="98334"/>
          </a:xfrm>
          <a:prstGeom prst="ellipse">
            <a:avLst/>
          </a:prstGeom>
          <a:solidFill>
            <a:srgbClr val="7A3B2E"/>
          </a:solidFill>
          <a:ln/>
        </p:spPr>
      </p:sp>
      <p:sp>
        <p:nvSpPr>
          <p:cNvPr id="8" name="Shape 6"/>
          <p:cNvSpPr/>
          <p:nvPr/>
        </p:nvSpPr>
        <p:spPr>
          <a:xfrm>
            <a:off x="10981525" y="1616354"/>
            <a:ext cx="85279" cy="85279"/>
          </a:xfrm>
          <a:prstGeom prst="ellipse">
            <a:avLst/>
          </a:prstGeom>
          <a:solidFill>
            <a:srgbClr val="3F6F5F"/>
          </a:solidFill>
          <a:ln/>
        </p:spPr>
      </p:sp>
      <p:sp>
        <p:nvSpPr>
          <p:cNvPr id="9" name="Shape 7"/>
          <p:cNvSpPr/>
          <p:nvPr/>
        </p:nvSpPr>
        <p:spPr>
          <a:xfrm>
            <a:off x="10504464" y="733755"/>
            <a:ext cx="84289" cy="84289"/>
          </a:xfrm>
          <a:prstGeom prst="ellipse">
            <a:avLst/>
          </a:prstGeom>
          <a:solidFill>
            <a:srgbClr val="B9852F"/>
          </a:solidFill>
          <a:ln/>
        </p:spPr>
      </p:sp>
      <p:sp>
        <p:nvSpPr>
          <p:cNvPr id="10" name="Shape 8"/>
          <p:cNvSpPr/>
          <p:nvPr/>
        </p:nvSpPr>
        <p:spPr>
          <a:xfrm>
            <a:off x="11011653" y="1874054"/>
            <a:ext cx="63360" cy="63360"/>
          </a:xfrm>
          <a:prstGeom prst="ellipse">
            <a:avLst/>
          </a:prstGeom>
          <a:solidFill>
            <a:srgbClr val="7A3B2E"/>
          </a:solidFill>
          <a:ln/>
        </p:spPr>
      </p:sp>
      <p:sp>
        <p:nvSpPr>
          <p:cNvPr id="11" name="Shape 9"/>
          <p:cNvSpPr/>
          <p:nvPr/>
        </p:nvSpPr>
        <p:spPr>
          <a:xfrm>
            <a:off x="10902891" y="2286431"/>
            <a:ext cx="100216" cy="100216"/>
          </a:xfrm>
          <a:prstGeom prst="ellipse">
            <a:avLst/>
          </a:prstGeom>
          <a:solidFill>
            <a:srgbClr val="3F6F5F"/>
          </a:solidFill>
          <a:ln/>
        </p:spPr>
      </p:sp>
      <p:sp>
        <p:nvSpPr>
          <p:cNvPr id="12" name="Shape 10"/>
          <p:cNvSpPr/>
          <p:nvPr/>
        </p:nvSpPr>
        <p:spPr>
          <a:xfrm>
            <a:off x="11321180" y="957427"/>
            <a:ext cx="53126" cy="53126"/>
          </a:xfrm>
          <a:prstGeom prst="ellipse">
            <a:avLst/>
          </a:prstGeom>
          <a:solidFill>
            <a:srgbClr val="B9852F"/>
          </a:solidFill>
          <a:ln/>
        </p:spPr>
      </p:sp>
      <p:sp>
        <p:nvSpPr>
          <p:cNvPr id="13" name="Shape 11"/>
          <p:cNvSpPr/>
          <p:nvPr/>
        </p:nvSpPr>
        <p:spPr>
          <a:xfrm>
            <a:off x="10666318" y="2085661"/>
            <a:ext cx="54676" cy="54676"/>
          </a:xfrm>
          <a:prstGeom prst="ellipse">
            <a:avLst/>
          </a:prstGeom>
          <a:solidFill>
            <a:srgbClr val="7A3B2E"/>
          </a:solidFill>
          <a:ln/>
        </p:spPr>
      </p:sp>
      <p:sp>
        <p:nvSpPr>
          <p:cNvPr id="14" name="Shape 12"/>
          <p:cNvSpPr/>
          <p:nvPr/>
        </p:nvSpPr>
        <p:spPr>
          <a:xfrm>
            <a:off x="10081307" y="1182953"/>
            <a:ext cx="72863" cy="72863"/>
          </a:xfrm>
          <a:prstGeom prst="ellipse">
            <a:avLst/>
          </a:prstGeom>
          <a:solidFill>
            <a:srgbClr val="3F6F5F"/>
          </a:solidFill>
          <a:ln/>
        </p:spPr>
      </p:sp>
      <p:sp>
        <p:nvSpPr>
          <p:cNvPr id="15" name="Shape 13"/>
          <p:cNvSpPr/>
          <p:nvPr/>
        </p:nvSpPr>
        <p:spPr>
          <a:xfrm>
            <a:off x="10709146" y="710563"/>
            <a:ext cx="75683" cy="75683"/>
          </a:xfrm>
          <a:prstGeom prst="ellipse">
            <a:avLst/>
          </a:prstGeom>
          <a:solidFill>
            <a:srgbClr val="B9852F"/>
          </a:solidFill>
          <a:ln/>
        </p:spPr>
      </p:sp>
      <p:sp>
        <p:nvSpPr>
          <p:cNvPr id="16" name="Shape 14"/>
          <p:cNvSpPr/>
          <p:nvPr/>
        </p:nvSpPr>
        <p:spPr>
          <a:xfrm>
            <a:off x="10949634" y="1392392"/>
            <a:ext cx="85996" cy="85996"/>
          </a:xfrm>
          <a:prstGeom prst="ellipse">
            <a:avLst/>
          </a:prstGeom>
          <a:solidFill>
            <a:srgbClr val="7A3B2E"/>
          </a:solidFill>
          <a:ln/>
        </p:spPr>
      </p:sp>
      <p:sp>
        <p:nvSpPr>
          <p:cNvPr id="17" name="Shape 15"/>
          <p:cNvSpPr/>
          <p:nvPr/>
        </p:nvSpPr>
        <p:spPr>
          <a:xfrm>
            <a:off x="9202573" y="2214980"/>
            <a:ext cx="71798" cy="71798"/>
          </a:xfrm>
          <a:prstGeom prst="ellipse">
            <a:avLst/>
          </a:prstGeom>
          <a:solidFill>
            <a:srgbClr val="3F6F5F"/>
          </a:solidFill>
          <a:ln/>
        </p:spPr>
      </p:sp>
      <p:sp>
        <p:nvSpPr>
          <p:cNvPr id="18" name="Shape 16"/>
          <p:cNvSpPr/>
          <p:nvPr/>
        </p:nvSpPr>
        <p:spPr>
          <a:xfrm>
            <a:off x="9354161" y="2164865"/>
            <a:ext cx="55949" cy="55949"/>
          </a:xfrm>
          <a:prstGeom prst="ellipse">
            <a:avLst/>
          </a:prstGeom>
          <a:solidFill>
            <a:srgbClr val="B9852F"/>
          </a:solidFill>
          <a:ln/>
        </p:spPr>
      </p:sp>
      <p:sp>
        <p:nvSpPr>
          <p:cNvPr id="19" name="Shape 17"/>
          <p:cNvSpPr/>
          <p:nvPr/>
        </p:nvSpPr>
        <p:spPr>
          <a:xfrm>
            <a:off x="9804200" y="1965949"/>
            <a:ext cx="61309" cy="61309"/>
          </a:xfrm>
          <a:prstGeom prst="ellipse">
            <a:avLst/>
          </a:prstGeom>
          <a:solidFill>
            <a:srgbClr val="7A3B2E"/>
          </a:solidFill>
          <a:ln/>
        </p:spPr>
      </p:sp>
      <p:sp>
        <p:nvSpPr>
          <p:cNvPr id="20" name="Shape 18"/>
          <p:cNvSpPr/>
          <p:nvPr/>
        </p:nvSpPr>
        <p:spPr>
          <a:xfrm>
            <a:off x="8952489" y="2342131"/>
            <a:ext cx="55874" cy="55874"/>
          </a:xfrm>
          <a:prstGeom prst="ellipse">
            <a:avLst/>
          </a:prstGeom>
          <a:solidFill>
            <a:srgbClr val="3F6F5F"/>
          </a:solidFill>
          <a:ln/>
        </p:spPr>
      </p:sp>
      <p:sp>
        <p:nvSpPr>
          <p:cNvPr id="21" name="Shape 19"/>
          <p:cNvSpPr/>
          <p:nvPr/>
        </p:nvSpPr>
        <p:spPr>
          <a:xfrm>
            <a:off x="10685227" y="2279952"/>
            <a:ext cx="62504" cy="62504"/>
          </a:xfrm>
          <a:prstGeom prst="ellipse">
            <a:avLst/>
          </a:prstGeom>
          <a:solidFill>
            <a:srgbClr val="B9852F"/>
          </a:solidFill>
          <a:ln/>
        </p:spPr>
      </p:sp>
      <p:sp>
        <p:nvSpPr>
          <p:cNvPr id="22" name="Shape 20"/>
          <p:cNvSpPr/>
          <p:nvPr/>
        </p:nvSpPr>
        <p:spPr>
          <a:xfrm>
            <a:off x="10659016" y="765951"/>
            <a:ext cx="49196" cy="49196"/>
          </a:xfrm>
          <a:prstGeom prst="ellipse">
            <a:avLst/>
          </a:prstGeom>
          <a:solidFill>
            <a:srgbClr val="7A3B2E"/>
          </a:solidFill>
          <a:ln/>
        </p:spPr>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1371600"/>
            <a:ext cx="2377440" cy="2377440"/>
          </a:xfrm>
          <a:prstGeom prst="ellipse">
            <a:avLst/>
          </a:prstGeom>
          <a:solidFill>
            <a:srgbClr val="F4EEE8"/>
          </a:solidFill>
          <a:ln/>
        </p:spPr>
      </p:sp>
      <p:sp>
        <p:nvSpPr>
          <p:cNvPr id="3" name="Shape 1"/>
          <p:cNvSpPr/>
          <p:nvPr/>
        </p:nvSpPr>
        <p:spPr>
          <a:xfrm>
            <a:off x="1325880" y="2423160"/>
            <a:ext cx="146304" cy="146304"/>
          </a:xfrm>
          <a:prstGeom prst="ellipse">
            <a:avLst/>
          </a:prstGeom>
          <a:solidFill>
            <a:srgbClr val="7A3B2E"/>
          </a:solidFill>
          <a:ln/>
        </p:spPr>
      </p:sp>
      <p:sp>
        <p:nvSpPr>
          <p:cNvPr id="4" name="Shape 2"/>
          <p:cNvSpPr/>
          <p:nvPr/>
        </p:nvSpPr>
        <p:spPr>
          <a:xfrm>
            <a:off x="1563624" y="2514600"/>
            <a:ext cx="146304" cy="146304"/>
          </a:xfrm>
          <a:prstGeom prst="ellipse">
            <a:avLst/>
          </a:prstGeom>
          <a:solidFill>
            <a:srgbClr val="3F6F5F"/>
          </a:solidFill>
          <a:ln/>
        </p:spPr>
      </p:sp>
      <p:sp>
        <p:nvSpPr>
          <p:cNvPr id="5" name="Shape 3"/>
          <p:cNvSpPr/>
          <p:nvPr/>
        </p:nvSpPr>
        <p:spPr>
          <a:xfrm>
            <a:off x="1801368" y="2423160"/>
            <a:ext cx="146304" cy="146304"/>
          </a:xfrm>
          <a:prstGeom prst="ellipse">
            <a:avLst/>
          </a:prstGeom>
          <a:solidFill>
            <a:srgbClr val="B9852F"/>
          </a:solidFill>
          <a:ln/>
        </p:spPr>
      </p:sp>
      <p:sp>
        <p:nvSpPr>
          <p:cNvPr id="6" name="Text 4"/>
          <p:cNvSpPr/>
          <p:nvPr/>
        </p:nvSpPr>
        <p:spPr>
          <a:xfrm>
            <a:off x="3657600" y="914400"/>
            <a:ext cx="7315200" cy="320040"/>
          </a:xfrm>
          <a:prstGeom prst="rect">
            <a:avLst/>
          </a:prstGeom>
          <a:noFill/>
          <a:ln/>
        </p:spPr>
        <p:txBody>
          <a:bodyPr wrap="square" rtlCol="0" anchor="ctr"/>
          <a:lstStyle/>
          <a:p>
            <a:pPr indent="0" marL="0">
              <a:buNone/>
            </a:pPr>
            <a:r>
              <a:rPr lang="en-US" sz="1300" b="1" spc="300" kern="0" dirty="0">
                <a:solidFill>
                  <a:srgbClr val="B9852F"/>
                </a:solidFill>
                <a:latin typeface="Calibri" pitchFamily="34" charset="0"/>
                <a:ea typeface="Calibri" pitchFamily="34" charset="-122"/>
                <a:cs typeface="Calibri" pitchFamily="34" charset="-120"/>
              </a:rPr>
              <a:t>LOOK AT THIS</a:t>
            </a:r>
            <a:endParaRPr lang="en-US" sz="1300" dirty="0"/>
          </a:p>
        </p:txBody>
      </p:sp>
      <p:sp>
        <p:nvSpPr>
          <p:cNvPr id="7" name="Text 5"/>
          <p:cNvSpPr/>
          <p:nvPr/>
        </p:nvSpPr>
        <p:spPr>
          <a:xfrm>
            <a:off x="3657600" y="1280160"/>
            <a:ext cx="7863840" cy="731520"/>
          </a:xfrm>
          <a:prstGeom prst="rect">
            <a:avLst/>
          </a:prstGeom>
          <a:noFill/>
          <a:ln/>
        </p:spPr>
        <p:txBody>
          <a:bodyPr wrap="square" rtlCol="0" anchor="ctr"/>
          <a:lstStyle/>
          <a:p>
            <a:pPr indent="0" marL="0">
              <a:buNone/>
            </a:pPr>
            <a:r>
              <a:rPr lang="en-US" sz="3000" b="1" dirty="0">
                <a:solidFill>
                  <a:srgbClr val="1A1A1A"/>
                </a:solidFill>
                <a:latin typeface="Cambria" pitchFamily="34" charset="0"/>
                <a:ea typeface="Cambria" pitchFamily="34" charset="-122"/>
                <a:cs typeface="Cambria" pitchFamily="34" charset="-120"/>
              </a:rPr>
              <a:t>The study we open with</a:t>
            </a:r>
            <a:endParaRPr lang="en-US" sz="3000" dirty="0"/>
          </a:p>
        </p:txBody>
      </p:sp>
      <p:sp>
        <p:nvSpPr>
          <p:cNvPr id="8" name="Text 6"/>
          <p:cNvSpPr/>
          <p:nvPr/>
        </p:nvSpPr>
        <p:spPr>
          <a:xfrm>
            <a:off x="3657600" y="2286000"/>
            <a:ext cx="7863840" cy="3291840"/>
          </a:xfrm>
          <a:prstGeom prst="rect">
            <a:avLst/>
          </a:prstGeom>
          <a:noFill/>
          <a:ln/>
        </p:spPr>
        <p:txBody>
          <a:bodyPr wrap="square" rtlCol="0" anchor="t">
            <a:spAutoFit/>
          </a:bodyPr>
          <a:lstStyle/>
          <a:p>
            <a:pPr indent="0" marL="0">
              <a:lnSpc>
                <a:spcPct val="115000"/>
              </a:lnSpc>
              <a:buNone/>
            </a:pPr>
            <a:r>
              <a:rPr lang="en-US" sz="1900" dirty="0">
                <a:solidFill>
                  <a:srgbClr val="1A1A1A"/>
                </a:solidFill>
                <a:latin typeface="Calibri" pitchFamily="34" charset="0"/>
                <a:ea typeface="Calibri" pitchFamily="34" charset="-122"/>
                <a:cs typeface="Calibri" pitchFamily="34" charset="-120"/>
              </a:rPr>
              <a:t>The Pudding, "She Giggles, He Gallops" (2017): across ~2,000 film screenplays, the stage-direction verbs split by gender, women snuggle and giggle, men gallop and stride. The interactive presentation makes the pattern unmistakable.</a:t>
            </a:r>
            <a:endParaRPr lang="en-US" sz="1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822960"/>
            <a:ext cx="7315200" cy="320040"/>
          </a:xfrm>
          <a:prstGeom prst="rect">
            <a:avLst/>
          </a:prstGeom>
          <a:noFill/>
          <a:ln/>
        </p:spPr>
        <p:txBody>
          <a:bodyPr wrap="square" rtlCol="0" anchor="ctr"/>
          <a:lstStyle/>
          <a:p>
            <a:pPr indent="0" marL="0">
              <a:buNone/>
            </a:pPr>
            <a:r>
              <a:rPr lang="en-US" sz="1300" b="1" spc="300" kern="0" dirty="0">
                <a:solidFill>
                  <a:srgbClr val="7A3B2E"/>
                </a:solidFill>
                <a:latin typeface="Calibri" pitchFamily="34" charset="0"/>
                <a:ea typeface="Calibri" pitchFamily="34" charset="-122"/>
                <a:cs typeface="Calibri" pitchFamily="34" charset="-120"/>
              </a:rPr>
              <a:t>QUESTION IT</a:t>
            </a:r>
            <a:endParaRPr lang="en-US" sz="1300" dirty="0"/>
          </a:p>
        </p:txBody>
      </p:sp>
      <p:sp>
        <p:nvSpPr>
          <p:cNvPr id="3" name="Text 1"/>
          <p:cNvSpPr/>
          <p:nvPr/>
        </p:nvSpPr>
        <p:spPr>
          <a:xfrm>
            <a:off x="640080" y="1188720"/>
            <a:ext cx="10881360" cy="914400"/>
          </a:xfrm>
          <a:prstGeom prst="rect">
            <a:avLst/>
          </a:prstGeom>
          <a:noFill/>
          <a:ln/>
        </p:spPr>
        <p:txBody>
          <a:bodyPr wrap="square" rtlCol="0" anchor="ctr">
            <a:spAutoFit/>
          </a:bodyPr>
          <a:lstStyle/>
          <a:p>
            <a:pPr indent="0" marL="0">
              <a:buNone/>
            </a:pPr>
            <a:r>
              <a:rPr lang="en-US" sz="2600" b="1" dirty="0">
                <a:solidFill>
                  <a:srgbClr val="1A1A1A"/>
                </a:solidFill>
                <a:latin typeface="Cambria" pitchFamily="34" charset="0"/>
                <a:ea typeface="Cambria" pitchFamily="34" charset="-122"/>
                <a:cs typeface="Cambria" pitchFamily="34" charset="-120"/>
              </a:rPr>
              <a:t>What did they choose, and where might it be wrong?</a:t>
            </a:r>
            <a:endParaRPr lang="en-US" sz="2600" dirty="0"/>
          </a:p>
        </p:txBody>
      </p:sp>
      <p:sp>
        <p:nvSpPr>
          <p:cNvPr id="4" name="Shape 2"/>
          <p:cNvSpPr/>
          <p:nvPr/>
        </p:nvSpPr>
        <p:spPr>
          <a:xfrm>
            <a:off x="640080" y="2468880"/>
            <a:ext cx="256032" cy="256032"/>
          </a:xfrm>
          <a:prstGeom prst="ellipse">
            <a:avLst/>
          </a:prstGeom>
          <a:solidFill>
            <a:srgbClr val="B9852F"/>
          </a:solidFill>
          <a:ln/>
        </p:spPr>
      </p:sp>
      <p:sp>
        <p:nvSpPr>
          <p:cNvPr id="5" name="Text 3"/>
          <p:cNvSpPr/>
          <p:nvPr/>
        </p:nvSpPr>
        <p:spPr>
          <a:xfrm>
            <a:off x="1097280" y="2286000"/>
            <a:ext cx="10241280" cy="3657600"/>
          </a:xfrm>
          <a:prstGeom prst="rect">
            <a:avLst/>
          </a:prstGeom>
          <a:noFill/>
          <a:ln/>
        </p:spPr>
        <p:txBody>
          <a:bodyPr wrap="square" rtlCol="0" anchor="t">
            <a:spAutoFit/>
          </a:bodyPr>
          <a:lstStyle/>
          <a:p>
            <a:pPr indent="0" marL="0">
              <a:lnSpc>
                <a:spcPct val="120000"/>
              </a:lnSpc>
              <a:buNone/>
            </a:pPr>
            <a:r>
              <a:rPr lang="en-US" sz="2000" dirty="0">
                <a:solidFill>
                  <a:srgbClr val="1A1A1A"/>
                </a:solidFill>
                <a:latin typeface="Calibri" pitchFamily="34" charset="0"/>
                <a:ea typeface="Calibri" pitchFamily="34" charset="-122"/>
                <a:cs typeface="Calibri" pitchFamily="34" charset="-120"/>
              </a:rPr>
              <a:t>The 2,000 screenplays skew toward what was produced and digitized: is that "film," or a sample of it? Whose choice is a gendered verb: the writer's, the character's, or the genre's? Counting shows the split, not the cause. The visualization's own choices deserve the same scrutiny as the data.</a:t>
            </a:r>
            <a:endParaRPr lang="en-US" sz="2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64592" cy="6858000"/>
          </a:xfrm>
          <a:prstGeom prst="rect">
            <a:avLst/>
          </a:prstGeom>
          <a:solidFill>
            <a:srgbClr val="7A3B2E"/>
          </a:solidFill>
          <a:ln/>
        </p:spPr>
      </p:sp>
      <p:sp>
        <p:nvSpPr>
          <p:cNvPr id="3" name="Text 1"/>
          <p:cNvSpPr/>
          <p:nvPr/>
        </p:nvSpPr>
        <p:spPr>
          <a:xfrm>
            <a:off x="640080" y="640080"/>
            <a:ext cx="10058400" cy="320040"/>
          </a:xfrm>
          <a:prstGeom prst="rect">
            <a:avLst/>
          </a:prstGeom>
          <a:noFill/>
          <a:ln/>
        </p:spPr>
        <p:txBody>
          <a:bodyPr wrap="square" rtlCol="0" anchor="ctr"/>
          <a:lstStyle/>
          <a:p>
            <a:pPr indent="0" marL="0">
              <a:buNone/>
            </a:pPr>
            <a:r>
              <a:rPr lang="en-US" sz="1200" b="1" spc="300" kern="0" dirty="0">
                <a:solidFill>
                  <a:srgbClr val="7A3B2E"/>
                </a:solidFill>
                <a:latin typeface="Calibri" pitchFamily="34" charset="0"/>
                <a:ea typeface="Calibri" pitchFamily="34" charset="-122"/>
                <a:cs typeface="Calibri" pitchFamily="34" charset="-120"/>
              </a:rPr>
              <a:t>WEEK 1 · KEY POINTS</a:t>
            </a:r>
            <a:endParaRPr lang="en-US" sz="1200" dirty="0"/>
          </a:p>
        </p:txBody>
      </p:sp>
      <p:sp>
        <p:nvSpPr>
          <p:cNvPr id="4" name="Text 2"/>
          <p:cNvSpPr/>
          <p:nvPr/>
        </p:nvSpPr>
        <p:spPr>
          <a:xfrm>
            <a:off x="640080" y="1005840"/>
            <a:ext cx="10881360" cy="914400"/>
          </a:xfrm>
          <a:prstGeom prst="rect">
            <a:avLst/>
          </a:prstGeom>
          <a:noFill/>
          <a:ln/>
        </p:spPr>
        <p:txBody>
          <a:bodyPr wrap="square" rtlCol="0" anchor="t">
            <a:spAutoFit/>
          </a:bodyPr>
          <a:lstStyle/>
          <a:p>
            <a:pPr indent="0" marL="0">
              <a:buNone/>
            </a:pPr>
            <a:r>
              <a:rPr lang="en-US" sz="3000" b="1" dirty="0">
                <a:solidFill>
                  <a:srgbClr val="1A1A1A"/>
                </a:solidFill>
                <a:latin typeface="Cambria" pitchFamily="34" charset="0"/>
                <a:ea typeface="Cambria" pitchFamily="34" charset="-122"/>
                <a:cs typeface="Cambria" pitchFamily="34" charset="-120"/>
              </a:rPr>
              <a:t>Course logistics</a:t>
            </a:r>
            <a:endParaRPr lang="en-US" sz="3000" dirty="0"/>
          </a:p>
        </p:txBody>
      </p:sp>
      <p:sp>
        <p:nvSpPr>
          <p:cNvPr id="5" name="Shape 3"/>
          <p:cNvSpPr/>
          <p:nvPr/>
        </p:nvSpPr>
        <p:spPr>
          <a:xfrm>
            <a:off x="640080" y="2331720"/>
            <a:ext cx="201168" cy="201168"/>
          </a:xfrm>
          <a:prstGeom prst="ellipse">
            <a:avLst/>
          </a:prstGeom>
          <a:solidFill>
            <a:srgbClr val="7A3B2E"/>
          </a:solidFill>
          <a:ln/>
        </p:spPr>
      </p:sp>
      <p:sp>
        <p:nvSpPr>
          <p:cNvPr id="6" name="Text 4"/>
          <p:cNvSpPr/>
          <p:nvPr/>
        </p:nvSpPr>
        <p:spPr>
          <a:xfrm>
            <a:off x="1097280" y="2240280"/>
            <a:ext cx="10607040" cy="813816"/>
          </a:xfrm>
          <a:prstGeom prst="rect">
            <a:avLst/>
          </a:prstGeom>
          <a:noFill/>
          <a:ln/>
        </p:spPr>
        <p:txBody>
          <a:bodyPr wrap="square" rtlCol="0" anchor="t">
            <a:spAutoFit/>
          </a:bodyPr>
          <a:lstStyle/>
          <a:p>
            <a:pPr indent="0" marL="0">
              <a:lnSpc>
                <a:spcPct val="112000"/>
              </a:lnSpc>
              <a:buNone/>
            </a:pPr>
            <a:r>
              <a:rPr lang="en-US" sz="1500" dirty="0">
                <a:solidFill>
                  <a:srgbClr val="1A1A1A"/>
                </a:solidFill>
                <a:latin typeface="Calibri" pitchFamily="34" charset="0"/>
                <a:ea typeface="Calibri" pitchFamily="34" charset="-122"/>
                <a:cs typeface="Calibri" pitchFamily="34" charset="-120"/>
              </a:rPr>
              <a:t>Ten sessions, two hours each, in three parts every week: lecture and demonstration, hands-on workshop, and discussion, roughly a third each.</a:t>
            </a:r>
            <a:endParaRPr lang="en-US" sz="1500" dirty="0"/>
          </a:p>
        </p:txBody>
      </p:sp>
      <p:sp>
        <p:nvSpPr>
          <p:cNvPr id="7" name="Shape 5"/>
          <p:cNvSpPr/>
          <p:nvPr/>
        </p:nvSpPr>
        <p:spPr>
          <a:xfrm>
            <a:off x="640080" y="3145536"/>
            <a:ext cx="201168" cy="201168"/>
          </a:xfrm>
          <a:prstGeom prst="ellipse">
            <a:avLst/>
          </a:prstGeom>
          <a:solidFill>
            <a:srgbClr val="3F6F5F"/>
          </a:solidFill>
          <a:ln/>
        </p:spPr>
      </p:sp>
      <p:sp>
        <p:nvSpPr>
          <p:cNvPr id="8" name="Text 6"/>
          <p:cNvSpPr/>
          <p:nvPr/>
        </p:nvSpPr>
        <p:spPr>
          <a:xfrm>
            <a:off x="1097280" y="3054096"/>
            <a:ext cx="10607040" cy="813816"/>
          </a:xfrm>
          <a:prstGeom prst="rect">
            <a:avLst/>
          </a:prstGeom>
          <a:noFill/>
          <a:ln/>
        </p:spPr>
        <p:txBody>
          <a:bodyPr wrap="square" rtlCol="0" anchor="t">
            <a:spAutoFit/>
          </a:bodyPr>
          <a:lstStyle/>
          <a:p>
            <a:pPr indent="0" marL="0">
              <a:lnSpc>
                <a:spcPct val="112000"/>
              </a:lnSpc>
              <a:buNone/>
            </a:pPr>
            <a:r>
              <a:rPr lang="en-US" sz="1500" dirty="0">
                <a:solidFill>
                  <a:srgbClr val="1A1A1A"/>
                </a:solidFill>
                <a:latin typeface="Calibri" pitchFamily="34" charset="0"/>
                <a:ea typeface="Calibri" pitchFamily="34" charset="-122"/>
                <a:cs typeface="Calibri" pitchFamily="34" charset="-120"/>
              </a:rPr>
              <a:t>Bring a laptop. You need a Google account (Colab and Drive, where all work lives) and a GitHub account (where your essay publishes); both are free, and the course costs nothing.</a:t>
            </a:r>
            <a:endParaRPr lang="en-US" sz="1500" dirty="0"/>
          </a:p>
        </p:txBody>
      </p:sp>
      <p:sp>
        <p:nvSpPr>
          <p:cNvPr id="9" name="Shape 7"/>
          <p:cNvSpPr/>
          <p:nvPr/>
        </p:nvSpPr>
        <p:spPr>
          <a:xfrm>
            <a:off x="640080" y="3959352"/>
            <a:ext cx="201168" cy="201168"/>
          </a:xfrm>
          <a:prstGeom prst="ellipse">
            <a:avLst/>
          </a:prstGeom>
          <a:solidFill>
            <a:srgbClr val="B9852F"/>
          </a:solidFill>
          <a:ln/>
        </p:spPr>
      </p:sp>
      <p:sp>
        <p:nvSpPr>
          <p:cNvPr id="10" name="Text 8"/>
          <p:cNvSpPr/>
          <p:nvPr/>
        </p:nvSpPr>
        <p:spPr>
          <a:xfrm>
            <a:off x="1097280" y="3867912"/>
            <a:ext cx="10607040" cy="813816"/>
          </a:xfrm>
          <a:prstGeom prst="rect">
            <a:avLst/>
          </a:prstGeom>
          <a:noFill/>
          <a:ln/>
        </p:spPr>
        <p:txBody>
          <a:bodyPr wrap="square" rtlCol="0" anchor="t">
            <a:spAutoFit/>
          </a:bodyPr>
          <a:lstStyle/>
          <a:p>
            <a:pPr indent="0" marL="0">
              <a:lnSpc>
                <a:spcPct val="112000"/>
              </a:lnSpc>
              <a:buNone/>
            </a:pPr>
            <a:r>
              <a:rPr lang="en-US" sz="1500" dirty="0">
                <a:solidFill>
                  <a:srgbClr val="1A1A1A"/>
                </a:solidFill>
                <a:latin typeface="Calibri" pitchFamily="34" charset="0"/>
                <a:ea typeface="Calibri" pitchFamily="34" charset="-122"/>
                <a:cs typeface="Calibri" pitchFamily="34" charset="-120"/>
              </a:rPr>
              <a:t>The weekly rhythm: a short reading before each session, a small sketch after it, and a five-minute check with the AI closed. All materials live on the course site.</a:t>
            </a:r>
            <a:endParaRPr lang="en-US" sz="1500" dirty="0"/>
          </a:p>
        </p:txBody>
      </p:sp>
      <p:sp>
        <p:nvSpPr>
          <p:cNvPr id="11" name="Shape 9"/>
          <p:cNvSpPr/>
          <p:nvPr/>
        </p:nvSpPr>
        <p:spPr>
          <a:xfrm>
            <a:off x="640080" y="4773168"/>
            <a:ext cx="201168" cy="201168"/>
          </a:xfrm>
          <a:prstGeom prst="ellipse">
            <a:avLst/>
          </a:prstGeom>
          <a:solidFill>
            <a:srgbClr val="7A3B2E"/>
          </a:solidFill>
          <a:ln/>
        </p:spPr>
      </p:sp>
      <p:sp>
        <p:nvSpPr>
          <p:cNvPr id="12" name="Text 10"/>
          <p:cNvSpPr/>
          <p:nvPr/>
        </p:nvSpPr>
        <p:spPr>
          <a:xfrm>
            <a:off x="1097280" y="4681728"/>
            <a:ext cx="10607040" cy="813816"/>
          </a:xfrm>
          <a:prstGeom prst="rect">
            <a:avLst/>
          </a:prstGeom>
          <a:noFill/>
          <a:ln/>
        </p:spPr>
        <p:txBody>
          <a:bodyPr wrap="square" rtlCol="0" anchor="t">
            <a:spAutoFit/>
          </a:bodyPr>
          <a:lstStyle/>
          <a:p>
            <a:pPr indent="0" marL="0">
              <a:lnSpc>
                <a:spcPct val="112000"/>
              </a:lnSpc>
              <a:buNone/>
            </a:pPr>
            <a:r>
              <a:rPr lang="en-US" sz="1500" dirty="0">
                <a:solidFill>
                  <a:srgbClr val="1A1A1A"/>
                </a:solidFill>
                <a:latin typeface="Calibri" pitchFamily="34" charset="0"/>
                <a:ea typeface="Calibri" pitchFamily="34" charset="-122"/>
                <a:cs typeface="Calibri" pitchFamily="34" charset="-120"/>
              </a:rPr>
              <a:t>Icebreaker, one fast round: your name, one piece of culture you kept returning to this year, and one number about it you wish you knew. Keep your answer; it is a first draft of a project question.</a:t>
            </a:r>
            <a:endParaRPr lang="en-US" sz="1500" dirty="0"/>
          </a:p>
        </p:txBody>
      </p:sp>
      <p:sp>
        <p:nvSpPr>
          <p:cNvPr id="13" name="Shape 11"/>
          <p:cNvSpPr/>
          <p:nvPr/>
        </p:nvSpPr>
        <p:spPr>
          <a:xfrm>
            <a:off x="640080" y="5586984"/>
            <a:ext cx="201168" cy="201168"/>
          </a:xfrm>
          <a:prstGeom prst="ellipse">
            <a:avLst/>
          </a:prstGeom>
          <a:solidFill>
            <a:srgbClr val="3F6F5F"/>
          </a:solidFill>
          <a:ln/>
        </p:spPr>
      </p:sp>
      <p:sp>
        <p:nvSpPr>
          <p:cNvPr id="14" name="Text 12"/>
          <p:cNvSpPr/>
          <p:nvPr/>
        </p:nvSpPr>
        <p:spPr>
          <a:xfrm>
            <a:off x="1097280" y="5495544"/>
            <a:ext cx="10607040" cy="813816"/>
          </a:xfrm>
          <a:prstGeom prst="rect">
            <a:avLst/>
          </a:prstGeom>
          <a:noFill/>
          <a:ln/>
        </p:spPr>
        <p:txBody>
          <a:bodyPr wrap="square" rtlCol="0" anchor="t">
            <a:spAutoFit/>
          </a:bodyPr>
          <a:lstStyle/>
          <a:p>
            <a:pPr indent="0" marL="0">
              <a:lnSpc>
                <a:spcPct val="112000"/>
              </a:lnSpc>
              <a:buNone/>
            </a:pPr>
            <a:r>
              <a:rPr lang="en-US" sz="1500" dirty="0">
                <a:solidFill>
                  <a:srgbClr val="1A1A1A"/>
                </a:solidFill>
                <a:latin typeface="Calibri" pitchFamily="34" charset="0"/>
                <a:ea typeface="Calibri" pitchFamily="34" charset="-122"/>
                <a:cs typeface="Calibri" pitchFamily="34" charset="-120"/>
              </a:rPr>
              <a:t>The course ends in a public showcase, friends and family invited, your finding at a live URL.</a:t>
            </a:r>
            <a:endParaRPr lang="en-US" sz="15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64592" cy="6858000"/>
          </a:xfrm>
          <a:prstGeom prst="rect">
            <a:avLst/>
          </a:prstGeom>
          <a:solidFill>
            <a:srgbClr val="3F6F5F"/>
          </a:solidFill>
          <a:ln/>
        </p:spPr>
      </p:sp>
      <p:sp>
        <p:nvSpPr>
          <p:cNvPr id="3" name="Text 1"/>
          <p:cNvSpPr/>
          <p:nvPr/>
        </p:nvSpPr>
        <p:spPr>
          <a:xfrm>
            <a:off x="640080" y="640080"/>
            <a:ext cx="10058400" cy="320040"/>
          </a:xfrm>
          <a:prstGeom prst="rect">
            <a:avLst/>
          </a:prstGeom>
          <a:noFill/>
          <a:ln/>
        </p:spPr>
        <p:txBody>
          <a:bodyPr wrap="square" rtlCol="0" anchor="ctr"/>
          <a:lstStyle/>
          <a:p>
            <a:pPr indent="0" marL="0">
              <a:buNone/>
            </a:pPr>
            <a:r>
              <a:rPr lang="en-US" sz="1200" b="1" spc="300" kern="0" dirty="0">
                <a:solidFill>
                  <a:srgbClr val="3F6F5F"/>
                </a:solidFill>
                <a:latin typeface="Calibri" pitchFamily="34" charset="0"/>
                <a:ea typeface="Calibri" pitchFamily="34" charset="-122"/>
                <a:cs typeface="Calibri" pitchFamily="34" charset="-120"/>
              </a:rPr>
              <a:t>WEEK 1 · KEY POINTS</a:t>
            </a:r>
            <a:endParaRPr lang="en-US" sz="1200" dirty="0"/>
          </a:p>
        </p:txBody>
      </p:sp>
      <p:sp>
        <p:nvSpPr>
          <p:cNvPr id="4" name="Text 2"/>
          <p:cNvSpPr/>
          <p:nvPr/>
        </p:nvSpPr>
        <p:spPr>
          <a:xfrm>
            <a:off x="640080" y="1005840"/>
            <a:ext cx="10881360" cy="914400"/>
          </a:xfrm>
          <a:prstGeom prst="rect">
            <a:avLst/>
          </a:prstGeom>
          <a:noFill/>
          <a:ln/>
        </p:spPr>
        <p:txBody>
          <a:bodyPr wrap="square" rtlCol="0" anchor="t">
            <a:spAutoFit/>
          </a:bodyPr>
          <a:lstStyle/>
          <a:p>
            <a:pPr indent="0" marL="0">
              <a:buNone/>
            </a:pPr>
            <a:r>
              <a:rPr lang="en-US" sz="3000" b="1" dirty="0">
                <a:solidFill>
                  <a:srgbClr val="1A1A1A"/>
                </a:solidFill>
                <a:latin typeface="Cambria" pitchFamily="34" charset="0"/>
                <a:ea typeface="Cambria" pitchFamily="34" charset="-122"/>
                <a:cs typeface="Cambria" pitchFamily="34" charset="-120"/>
              </a:rPr>
              <a:t>Why this course: the stakes</a:t>
            </a:r>
            <a:endParaRPr lang="en-US" sz="3000" dirty="0"/>
          </a:p>
        </p:txBody>
      </p:sp>
      <p:sp>
        <p:nvSpPr>
          <p:cNvPr id="5" name="Shape 3"/>
          <p:cNvSpPr/>
          <p:nvPr/>
        </p:nvSpPr>
        <p:spPr>
          <a:xfrm>
            <a:off x="640080" y="2331720"/>
            <a:ext cx="201168" cy="201168"/>
          </a:xfrm>
          <a:prstGeom prst="ellipse">
            <a:avLst/>
          </a:prstGeom>
          <a:solidFill>
            <a:srgbClr val="7A3B2E"/>
          </a:solidFill>
          <a:ln/>
        </p:spPr>
      </p:sp>
      <p:sp>
        <p:nvSpPr>
          <p:cNvPr id="6" name="Text 4"/>
          <p:cNvSpPr/>
          <p:nvPr/>
        </p:nvSpPr>
        <p:spPr>
          <a:xfrm>
            <a:off x="1097280" y="224028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Machines already read culture at scale: the feed ranking what you see, the moderation filter, the model trained on scraped art and prose. That reading shapes which culture reaches you, and it happens without you.</a:t>
            </a:r>
            <a:endParaRPr lang="en-US" sz="1650" dirty="0"/>
          </a:p>
        </p:txBody>
      </p:sp>
      <p:sp>
        <p:nvSpPr>
          <p:cNvPr id="7" name="Shape 5"/>
          <p:cNvSpPr/>
          <p:nvPr/>
        </p:nvSpPr>
        <p:spPr>
          <a:xfrm>
            <a:off x="640080" y="3348990"/>
            <a:ext cx="201168" cy="201168"/>
          </a:xfrm>
          <a:prstGeom prst="ellipse">
            <a:avLst/>
          </a:prstGeom>
          <a:solidFill>
            <a:srgbClr val="3F6F5F"/>
          </a:solidFill>
          <a:ln/>
        </p:spPr>
      </p:sp>
      <p:sp>
        <p:nvSpPr>
          <p:cNvPr id="8" name="Text 6"/>
          <p:cNvSpPr/>
          <p:nvPr/>
        </p:nvSpPr>
        <p:spPr>
          <a:xfrm>
            <a:off x="1097280" y="325755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Reading culture with machines produces real knowledge and real mistakes, and the two look identical until someone checks. Learning to check is the course.</a:t>
            </a:r>
            <a:endParaRPr lang="en-US" sz="1650" dirty="0"/>
          </a:p>
        </p:txBody>
      </p:sp>
      <p:sp>
        <p:nvSpPr>
          <p:cNvPr id="9" name="Shape 7"/>
          <p:cNvSpPr/>
          <p:nvPr/>
        </p:nvSpPr>
        <p:spPr>
          <a:xfrm>
            <a:off x="640080" y="4366260"/>
            <a:ext cx="201168" cy="201168"/>
          </a:xfrm>
          <a:prstGeom prst="ellipse">
            <a:avLst/>
          </a:prstGeom>
          <a:solidFill>
            <a:srgbClr val="B9852F"/>
          </a:solidFill>
          <a:ln/>
        </p:spPr>
      </p:sp>
      <p:sp>
        <p:nvSpPr>
          <p:cNvPr id="10" name="Text 8"/>
          <p:cNvSpPr/>
          <p:nvPr/>
        </p:nvSpPr>
        <p:spPr>
          <a:xfrm>
            <a:off x="1097280" y="427482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Ten weeks from now, you do the reading: a question you chose, a corpus you built, a published finding anyone can verify.</a:t>
            </a:r>
            <a:endParaRPr lang="en-US" sz="1650" dirty="0"/>
          </a:p>
        </p:txBody>
      </p:sp>
      <p:sp>
        <p:nvSpPr>
          <p:cNvPr id="11" name="Shape 9"/>
          <p:cNvSpPr/>
          <p:nvPr/>
        </p:nvSpPr>
        <p:spPr>
          <a:xfrm>
            <a:off x="640080" y="5383530"/>
            <a:ext cx="201168" cy="201168"/>
          </a:xfrm>
          <a:prstGeom prst="ellipse">
            <a:avLst/>
          </a:prstGeom>
          <a:solidFill>
            <a:srgbClr val="7A3B2E"/>
          </a:solidFill>
          <a:ln/>
        </p:spPr>
      </p:sp>
      <p:sp>
        <p:nvSpPr>
          <p:cNvPr id="12" name="Text 10"/>
          <p:cNvSpPr/>
          <p:nvPr/>
        </p:nvSpPr>
        <p:spPr>
          <a:xfrm>
            <a:off x="1097280" y="529209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The whole method in one sentence: it is all counting and weighting, and you can learn to read both.</a:t>
            </a:r>
            <a:endParaRPr lang="en-US" sz="16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64592" cy="6858000"/>
          </a:xfrm>
          <a:prstGeom prst="rect">
            <a:avLst/>
          </a:prstGeom>
          <a:solidFill>
            <a:srgbClr val="B9852F"/>
          </a:solidFill>
          <a:ln/>
        </p:spPr>
      </p:sp>
      <p:sp>
        <p:nvSpPr>
          <p:cNvPr id="3" name="Text 1"/>
          <p:cNvSpPr/>
          <p:nvPr/>
        </p:nvSpPr>
        <p:spPr>
          <a:xfrm>
            <a:off x="640080" y="640080"/>
            <a:ext cx="10058400" cy="320040"/>
          </a:xfrm>
          <a:prstGeom prst="rect">
            <a:avLst/>
          </a:prstGeom>
          <a:noFill/>
          <a:ln/>
        </p:spPr>
        <p:txBody>
          <a:bodyPr wrap="square" rtlCol="0" anchor="ctr"/>
          <a:lstStyle/>
          <a:p>
            <a:pPr indent="0" marL="0">
              <a:buNone/>
            </a:pPr>
            <a:r>
              <a:rPr lang="en-US" sz="1200" b="1" spc="300" kern="0" dirty="0">
                <a:solidFill>
                  <a:srgbClr val="B9852F"/>
                </a:solidFill>
                <a:latin typeface="Calibri" pitchFamily="34" charset="0"/>
                <a:ea typeface="Calibri" pitchFamily="34" charset="-122"/>
                <a:cs typeface="Calibri" pitchFamily="34" charset="-120"/>
              </a:rPr>
              <a:t>WEEK 1 · KEY POINTS</a:t>
            </a:r>
            <a:endParaRPr lang="en-US" sz="1200" dirty="0"/>
          </a:p>
        </p:txBody>
      </p:sp>
      <p:sp>
        <p:nvSpPr>
          <p:cNvPr id="4" name="Text 2"/>
          <p:cNvSpPr/>
          <p:nvPr/>
        </p:nvSpPr>
        <p:spPr>
          <a:xfrm>
            <a:off x="640080" y="1005840"/>
            <a:ext cx="10881360" cy="914400"/>
          </a:xfrm>
          <a:prstGeom prst="rect">
            <a:avLst/>
          </a:prstGeom>
          <a:noFill/>
          <a:ln/>
        </p:spPr>
        <p:txBody>
          <a:bodyPr wrap="square" rtlCol="0" anchor="t">
            <a:spAutoFit/>
          </a:bodyPr>
          <a:lstStyle/>
          <a:p>
            <a:pPr indent="0" marL="0">
              <a:buNone/>
            </a:pPr>
            <a:r>
              <a:rPr lang="en-US" sz="3000" b="1" dirty="0">
                <a:solidFill>
                  <a:srgbClr val="1A1A1A"/>
                </a:solidFill>
                <a:latin typeface="Cambria" pitchFamily="34" charset="0"/>
                <a:ea typeface="Cambria" pitchFamily="34" charset="-122"/>
                <a:cs typeface="Cambria" pitchFamily="34" charset="-120"/>
              </a:rPr>
              <a:t>What counting culture has found</a:t>
            </a:r>
            <a:endParaRPr lang="en-US" sz="3000" dirty="0"/>
          </a:p>
        </p:txBody>
      </p:sp>
      <p:sp>
        <p:nvSpPr>
          <p:cNvPr id="5" name="Shape 3"/>
          <p:cNvSpPr/>
          <p:nvPr/>
        </p:nvSpPr>
        <p:spPr>
          <a:xfrm>
            <a:off x="640080" y="2331720"/>
            <a:ext cx="201168" cy="201168"/>
          </a:xfrm>
          <a:prstGeom prst="ellipse">
            <a:avLst/>
          </a:prstGeom>
          <a:solidFill>
            <a:srgbClr val="7A3B2E"/>
          </a:solidFill>
          <a:ln/>
        </p:spPr>
      </p:sp>
      <p:sp>
        <p:nvSpPr>
          <p:cNvPr id="6" name="Text 4"/>
          <p:cNvSpPr/>
          <p:nvPr/>
        </p:nvSpPr>
        <p:spPr>
          <a:xfrm>
            <a:off x="1097280" y="2240280"/>
            <a:ext cx="10607040" cy="813816"/>
          </a:xfrm>
          <a:prstGeom prst="rect">
            <a:avLst/>
          </a:prstGeom>
          <a:noFill/>
          <a:ln/>
        </p:spPr>
        <p:txBody>
          <a:bodyPr wrap="square" rtlCol="0" anchor="t">
            <a:spAutoFit/>
          </a:bodyPr>
          <a:lstStyle/>
          <a:p>
            <a:pPr indent="0" marL="0">
              <a:lnSpc>
                <a:spcPct val="112000"/>
              </a:lnSpc>
              <a:buNone/>
            </a:pPr>
            <a:r>
              <a:rPr lang="en-US" sz="1500" dirty="0">
                <a:solidFill>
                  <a:srgbClr val="1A1A1A"/>
                </a:solidFill>
                <a:latin typeface="Calibri" pitchFamily="34" charset="0"/>
                <a:ea typeface="Calibri" pitchFamily="34" charset="-122"/>
                <a:cs typeface="Calibri" pitchFamily="34" charset="-120"/>
              </a:rPr>
              <a:t>In the stage directions of 2,000 film scripts: women snuggle, giggle, and sob; men strap, gallop, and kill. 85% of the screenwriters were men (The Pudding, 2017).</a:t>
            </a:r>
            <a:endParaRPr lang="en-US" sz="1500" dirty="0"/>
          </a:p>
        </p:txBody>
      </p:sp>
      <p:sp>
        <p:nvSpPr>
          <p:cNvPr id="7" name="Shape 5"/>
          <p:cNvSpPr/>
          <p:nvPr/>
        </p:nvSpPr>
        <p:spPr>
          <a:xfrm>
            <a:off x="640080" y="3145536"/>
            <a:ext cx="201168" cy="201168"/>
          </a:xfrm>
          <a:prstGeom prst="ellipse">
            <a:avLst/>
          </a:prstGeom>
          <a:solidFill>
            <a:srgbClr val="3F6F5F"/>
          </a:solidFill>
          <a:ln/>
        </p:spPr>
      </p:sp>
      <p:sp>
        <p:nvSpPr>
          <p:cNvPr id="8" name="Text 6"/>
          <p:cNvSpPr/>
          <p:nvPr/>
        </p:nvSpPr>
        <p:spPr>
          <a:xfrm>
            <a:off x="1097280" y="3054096"/>
            <a:ext cx="10607040" cy="813816"/>
          </a:xfrm>
          <a:prstGeom prst="rect">
            <a:avLst/>
          </a:prstGeom>
          <a:noFill/>
          <a:ln/>
        </p:spPr>
        <p:txBody>
          <a:bodyPr wrap="square" rtlCol="0" anchor="t">
            <a:spAutoFit/>
          </a:bodyPr>
          <a:lstStyle/>
          <a:p>
            <a:pPr indent="0" marL="0">
              <a:lnSpc>
                <a:spcPct val="112000"/>
              </a:lnSpc>
              <a:buNone/>
            </a:pPr>
            <a:r>
              <a:rPr lang="en-US" sz="1500" dirty="0">
                <a:solidFill>
                  <a:srgbClr val="1A1A1A"/>
                </a:solidFill>
                <a:latin typeface="Calibri" pitchFamily="34" charset="0"/>
                <a:ea typeface="Calibri" pitchFamily="34" charset="-122"/>
                <a:cs typeface="Calibri" pitchFamily="34" charset="-120"/>
              </a:rPr>
              <a:t>Across 17,000 Hot 100 songs, the biggest revolution in American pop was not the Beatles in 1964; it was hip-hop in 1991 (Mauch et al., 2015).</a:t>
            </a:r>
            <a:endParaRPr lang="en-US" sz="1500" dirty="0"/>
          </a:p>
        </p:txBody>
      </p:sp>
      <p:sp>
        <p:nvSpPr>
          <p:cNvPr id="9" name="Shape 7"/>
          <p:cNvSpPr/>
          <p:nvPr/>
        </p:nvSpPr>
        <p:spPr>
          <a:xfrm>
            <a:off x="640080" y="3959352"/>
            <a:ext cx="201168" cy="201168"/>
          </a:xfrm>
          <a:prstGeom prst="ellipse">
            <a:avLst/>
          </a:prstGeom>
          <a:solidFill>
            <a:srgbClr val="B9852F"/>
          </a:solidFill>
          <a:ln/>
        </p:spPr>
      </p:sp>
      <p:sp>
        <p:nvSpPr>
          <p:cNvPr id="10" name="Text 8"/>
          <p:cNvSpPr/>
          <p:nvPr/>
        </p:nvSpPr>
        <p:spPr>
          <a:xfrm>
            <a:off x="1097280" y="3867912"/>
            <a:ext cx="10607040" cy="813816"/>
          </a:xfrm>
          <a:prstGeom prst="rect">
            <a:avLst/>
          </a:prstGeom>
          <a:noFill/>
          <a:ln/>
        </p:spPr>
        <p:txBody>
          <a:bodyPr wrap="square" rtlCol="0" anchor="t">
            <a:spAutoFit/>
          </a:bodyPr>
          <a:lstStyle/>
          <a:p>
            <a:pPr indent="0" marL="0">
              <a:lnSpc>
                <a:spcPct val="112000"/>
              </a:lnSpc>
              <a:buNone/>
            </a:pPr>
            <a:r>
              <a:rPr lang="en-US" sz="1500" dirty="0">
                <a:solidFill>
                  <a:srgbClr val="1A1A1A"/>
                </a:solidFill>
                <a:latin typeface="Calibri" pitchFamily="34" charset="0"/>
                <a:ea typeface="Calibri" pitchFamily="34" charset="-122"/>
                <a:cs typeface="Calibri" pitchFamily="34" charset="-120"/>
              </a:rPr>
              <a:t>Counting small words like 'the' and 'of' unmasked Robert Galbraith as J.K. Rowling within days (Juola, 2013).</a:t>
            </a:r>
            <a:endParaRPr lang="en-US" sz="1500" dirty="0"/>
          </a:p>
        </p:txBody>
      </p:sp>
      <p:sp>
        <p:nvSpPr>
          <p:cNvPr id="11" name="Shape 9"/>
          <p:cNvSpPr/>
          <p:nvPr/>
        </p:nvSpPr>
        <p:spPr>
          <a:xfrm>
            <a:off x="640080" y="4773168"/>
            <a:ext cx="201168" cy="201168"/>
          </a:xfrm>
          <a:prstGeom prst="ellipse">
            <a:avLst/>
          </a:prstGeom>
          <a:solidFill>
            <a:srgbClr val="7A3B2E"/>
          </a:solidFill>
          <a:ln/>
        </p:spPr>
      </p:sp>
      <p:sp>
        <p:nvSpPr>
          <p:cNvPr id="12" name="Text 10"/>
          <p:cNvSpPr/>
          <p:nvPr/>
        </p:nvSpPr>
        <p:spPr>
          <a:xfrm>
            <a:off x="1097280" y="4681728"/>
            <a:ext cx="10607040" cy="813816"/>
          </a:xfrm>
          <a:prstGeom prst="rect">
            <a:avLst/>
          </a:prstGeom>
          <a:noFill/>
          <a:ln/>
        </p:spPr>
        <p:txBody>
          <a:bodyPr wrap="square" rtlCol="0" anchor="t">
            <a:spAutoFit/>
          </a:bodyPr>
          <a:lstStyle/>
          <a:p>
            <a:pPr indent="0" marL="0">
              <a:lnSpc>
                <a:spcPct val="112000"/>
              </a:lnSpc>
              <a:buNone/>
            </a:pPr>
            <a:r>
              <a:rPr lang="en-US" sz="1500" dirty="0">
                <a:solidFill>
                  <a:srgbClr val="1A1A1A"/>
                </a:solidFill>
                <a:latin typeface="Calibri" pitchFamily="34" charset="0"/>
                <a:ea typeface="Calibri" pitchFamily="34" charset="-122"/>
                <a:cs typeface="Calibri" pitchFamily="34" charset="-120"/>
              </a:rPr>
              <a:t>A model trained on Google News completes 'man is to computer programmer as woman is to...' with 'homemaker' (Bolukbasi et al., 2016).</a:t>
            </a:r>
            <a:endParaRPr lang="en-US" sz="1500" dirty="0"/>
          </a:p>
        </p:txBody>
      </p:sp>
      <p:sp>
        <p:nvSpPr>
          <p:cNvPr id="13" name="Shape 11"/>
          <p:cNvSpPr/>
          <p:nvPr/>
        </p:nvSpPr>
        <p:spPr>
          <a:xfrm>
            <a:off x="640080" y="5586984"/>
            <a:ext cx="201168" cy="201168"/>
          </a:xfrm>
          <a:prstGeom prst="ellipse">
            <a:avLst/>
          </a:prstGeom>
          <a:solidFill>
            <a:srgbClr val="3F6F5F"/>
          </a:solidFill>
          <a:ln/>
        </p:spPr>
      </p:sp>
      <p:sp>
        <p:nvSpPr>
          <p:cNvPr id="14" name="Text 12"/>
          <p:cNvSpPr/>
          <p:nvPr/>
        </p:nvSpPr>
        <p:spPr>
          <a:xfrm>
            <a:off x="1097280" y="5495544"/>
            <a:ext cx="10607040" cy="813816"/>
          </a:xfrm>
          <a:prstGeom prst="rect">
            <a:avLst/>
          </a:prstGeom>
          <a:noFill/>
          <a:ln/>
        </p:spPr>
        <p:txBody>
          <a:bodyPr wrap="square" rtlCol="0" anchor="t">
            <a:spAutoFit/>
          </a:bodyPr>
          <a:lstStyle/>
          <a:p>
            <a:pPr indent="0" marL="0">
              <a:lnSpc>
                <a:spcPct val="112000"/>
              </a:lnSpc>
              <a:buNone/>
            </a:pPr>
            <a:r>
              <a:rPr lang="en-US" sz="1500" dirty="0">
                <a:solidFill>
                  <a:srgbClr val="1A1A1A"/>
                </a:solidFill>
                <a:latin typeface="Calibri" pitchFamily="34" charset="0"/>
                <a:ea typeface="Calibri" pitchFamily="34" charset="-122"/>
                <a:cs typeface="Calibri" pitchFamily="34" charset="-120"/>
              </a:rPr>
              <a:t>An AI portrait sold at Christie's for $432,500; the training data was other people's paintings (2018). Every one of these is a count, and every one has arguable choices. Both halves are the course.</a:t>
            </a:r>
            <a:endParaRPr lang="en-US" sz="15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64592" cy="6858000"/>
          </a:xfrm>
          <a:prstGeom prst="rect">
            <a:avLst/>
          </a:prstGeom>
          <a:solidFill>
            <a:srgbClr val="7A3B2E"/>
          </a:solidFill>
          <a:ln/>
        </p:spPr>
      </p:sp>
      <p:sp>
        <p:nvSpPr>
          <p:cNvPr id="3" name="Text 1"/>
          <p:cNvSpPr/>
          <p:nvPr/>
        </p:nvSpPr>
        <p:spPr>
          <a:xfrm>
            <a:off x="640080" y="640080"/>
            <a:ext cx="10058400" cy="320040"/>
          </a:xfrm>
          <a:prstGeom prst="rect">
            <a:avLst/>
          </a:prstGeom>
          <a:noFill/>
          <a:ln/>
        </p:spPr>
        <p:txBody>
          <a:bodyPr wrap="square" rtlCol="0" anchor="ctr"/>
          <a:lstStyle/>
          <a:p>
            <a:pPr indent="0" marL="0">
              <a:buNone/>
            </a:pPr>
            <a:r>
              <a:rPr lang="en-US" sz="1200" b="1" spc="300" kern="0" dirty="0">
                <a:solidFill>
                  <a:srgbClr val="7A3B2E"/>
                </a:solidFill>
                <a:latin typeface="Calibri" pitchFamily="34" charset="0"/>
                <a:ea typeface="Calibri" pitchFamily="34" charset="-122"/>
                <a:cs typeface="Calibri" pitchFamily="34" charset="-120"/>
              </a:rPr>
              <a:t>WEEK 1 · KEY POINTS</a:t>
            </a:r>
            <a:endParaRPr lang="en-US" sz="1200" dirty="0"/>
          </a:p>
        </p:txBody>
      </p:sp>
      <p:sp>
        <p:nvSpPr>
          <p:cNvPr id="4" name="Text 2"/>
          <p:cNvSpPr/>
          <p:nvPr/>
        </p:nvSpPr>
        <p:spPr>
          <a:xfrm>
            <a:off x="640080" y="1005840"/>
            <a:ext cx="10881360" cy="914400"/>
          </a:xfrm>
          <a:prstGeom prst="rect">
            <a:avLst/>
          </a:prstGeom>
          <a:noFill/>
          <a:ln/>
        </p:spPr>
        <p:txBody>
          <a:bodyPr wrap="square" rtlCol="0" anchor="t">
            <a:spAutoFit/>
          </a:bodyPr>
          <a:lstStyle/>
          <a:p>
            <a:pPr indent="0" marL="0">
              <a:buNone/>
            </a:pPr>
            <a:r>
              <a:rPr lang="en-US" sz="3000" b="1" dirty="0">
                <a:solidFill>
                  <a:srgbClr val="1A1A1A"/>
                </a:solidFill>
                <a:latin typeface="Cambria" pitchFamily="34" charset="0"/>
                <a:ea typeface="Cambria" pitchFamily="34" charset="-122"/>
                <a:cs typeface="Cambria" pitchFamily="34" charset="-120"/>
              </a:rPr>
              <a:t>Four words, used all term</a:t>
            </a:r>
            <a:endParaRPr lang="en-US" sz="3000" dirty="0"/>
          </a:p>
        </p:txBody>
      </p:sp>
      <p:sp>
        <p:nvSpPr>
          <p:cNvPr id="5" name="Shape 3"/>
          <p:cNvSpPr/>
          <p:nvPr/>
        </p:nvSpPr>
        <p:spPr>
          <a:xfrm>
            <a:off x="640080" y="2331720"/>
            <a:ext cx="201168" cy="201168"/>
          </a:xfrm>
          <a:prstGeom prst="ellipse">
            <a:avLst/>
          </a:prstGeom>
          <a:solidFill>
            <a:srgbClr val="7A3B2E"/>
          </a:solidFill>
          <a:ln/>
        </p:spPr>
      </p:sp>
      <p:sp>
        <p:nvSpPr>
          <p:cNvPr id="6" name="Text 4"/>
          <p:cNvSpPr/>
          <p:nvPr/>
        </p:nvSpPr>
        <p:spPr>
          <a:xfrm>
            <a:off x="1097280" y="224028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Corpus: the pile you study. 500 announcements, 2,000 screenplays, 10,000 album covers.</a:t>
            </a:r>
            <a:endParaRPr lang="en-US" sz="1650" dirty="0"/>
          </a:p>
        </p:txBody>
      </p:sp>
      <p:sp>
        <p:nvSpPr>
          <p:cNvPr id="7" name="Shape 5"/>
          <p:cNvSpPr/>
          <p:nvPr/>
        </p:nvSpPr>
        <p:spPr>
          <a:xfrm>
            <a:off x="640080" y="3348990"/>
            <a:ext cx="201168" cy="201168"/>
          </a:xfrm>
          <a:prstGeom prst="ellipse">
            <a:avLst/>
          </a:prstGeom>
          <a:solidFill>
            <a:srgbClr val="3F6F5F"/>
          </a:solidFill>
          <a:ln/>
        </p:spPr>
      </p:sp>
      <p:sp>
        <p:nvSpPr>
          <p:cNvPr id="8" name="Text 6"/>
          <p:cNvSpPr/>
          <p:nvPr/>
        </p:nvSpPr>
        <p:spPr>
          <a:xfrm>
            <a:off x="1097280" y="325755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Method: the counting or weighting you run on the corpus.</a:t>
            </a:r>
            <a:endParaRPr lang="en-US" sz="1650" dirty="0"/>
          </a:p>
        </p:txBody>
      </p:sp>
      <p:sp>
        <p:nvSpPr>
          <p:cNvPr id="9" name="Shape 7"/>
          <p:cNvSpPr/>
          <p:nvPr/>
        </p:nvSpPr>
        <p:spPr>
          <a:xfrm>
            <a:off x="640080" y="4366260"/>
            <a:ext cx="201168" cy="201168"/>
          </a:xfrm>
          <a:prstGeom prst="ellipse">
            <a:avLst/>
          </a:prstGeom>
          <a:solidFill>
            <a:srgbClr val="B9852F"/>
          </a:solidFill>
          <a:ln/>
        </p:spPr>
      </p:sp>
      <p:sp>
        <p:nvSpPr>
          <p:cNvPr id="10" name="Text 8"/>
          <p:cNvSpPr/>
          <p:nvPr/>
        </p:nvSpPr>
        <p:spPr>
          <a:xfrm>
            <a:off x="1097280" y="427482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Model: any simplification that turns culture into numbers. A word count is already one.</a:t>
            </a:r>
            <a:endParaRPr lang="en-US" sz="1650" dirty="0"/>
          </a:p>
        </p:txBody>
      </p:sp>
      <p:sp>
        <p:nvSpPr>
          <p:cNvPr id="11" name="Shape 9"/>
          <p:cNvSpPr/>
          <p:nvPr/>
        </p:nvSpPr>
        <p:spPr>
          <a:xfrm>
            <a:off x="640080" y="5383530"/>
            <a:ext cx="201168" cy="201168"/>
          </a:xfrm>
          <a:prstGeom prst="ellipse">
            <a:avLst/>
          </a:prstGeom>
          <a:solidFill>
            <a:srgbClr val="7A3B2E"/>
          </a:solidFill>
          <a:ln/>
        </p:spPr>
      </p:sp>
      <p:sp>
        <p:nvSpPr>
          <p:cNvPr id="12" name="Text 10"/>
          <p:cNvSpPr/>
          <p:nvPr/>
        </p:nvSpPr>
        <p:spPr>
          <a:xfrm>
            <a:off x="1097280" y="529209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Embedding: a few hundred numbers that place an item on a map of meaning. Week 5.</a:t>
            </a:r>
            <a:endParaRPr lang="en-US" sz="16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64592" cy="6858000"/>
          </a:xfrm>
          <a:prstGeom prst="rect">
            <a:avLst/>
          </a:prstGeom>
          <a:solidFill>
            <a:srgbClr val="3F6F5F"/>
          </a:solidFill>
          <a:ln/>
        </p:spPr>
      </p:sp>
      <p:sp>
        <p:nvSpPr>
          <p:cNvPr id="3" name="Text 1"/>
          <p:cNvSpPr/>
          <p:nvPr/>
        </p:nvSpPr>
        <p:spPr>
          <a:xfrm>
            <a:off x="640080" y="640080"/>
            <a:ext cx="10058400" cy="320040"/>
          </a:xfrm>
          <a:prstGeom prst="rect">
            <a:avLst/>
          </a:prstGeom>
          <a:noFill/>
          <a:ln/>
        </p:spPr>
        <p:txBody>
          <a:bodyPr wrap="square" rtlCol="0" anchor="ctr"/>
          <a:lstStyle/>
          <a:p>
            <a:pPr indent="0" marL="0">
              <a:buNone/>
            </a:pPr>
            <a:r>
              <a:rPr lang="en-US" sz="1200" b="1" spc="300" kern="0" dirty="0">
                <a:solidFill>
                  <a:srgbClr val="3F6F5F"/>
                </a:solidFill>
                <a:latin typeface="Calibri" pitchFamily="34" charset="0"/>
                <a:ea typeface="Calibri" pitchFamily="34" charset="-122"/>
                <a:cs typeface="Calibri" pitchFamily="34" charset="-120"/>
              </a:rPr>
              <a:t>WEEK 1 · KEY POINTS</a:t>
            </a:r>
            <a:endParaRPr lang="en-US" sz="1200" dirty="0"/>
          </a:p>
        </p:txBody>
      </p:sp>
      <p:sp>
        <p:nvSpPr>
          <p:cNvPr id="4" name="Text 2"/>
          <p:cNvSpPr/>
          <p:nvPr/>
        </p:nvSpPr>
        <p:spPr>
          <a:xfrm>
            <a:off x="640080" y="1005840"/>
            <a:ext cx="10881360" cy="914400"/>
          </a:xfrm>
          <a:prstGeom prst="rect">
            <a:avLst/>
          </a:prstGeom>
          <a:noFill/>
          <a:ln/>
        </p:spPr>
        <p:txBody>
          <a:bodyPr wrap="square" rtlCol="0" anchor="t">
            <a:spAutoFit/>
          </a:bodyPr>
          <a:lstStyle/>
          <a:p>
            <a:pPr indent="0" marL="0">
              <a:buNone/>
            </a:pPr>
            <a:r>
              <a:rPr lang="en-US" sz="3000" b="1" dirty="0">
                <a:solidFill>
                  <a:srgbClr val="1A1A1A"/>
                </a:solidFill>
                <a:latin typeface="Cambria" pitchFamily="34" charset="0"/>
                <a:ea typeface="Cambria" pitchFamily="34" charset="-122"/>
                <a:cs typeface="Cambria" pitchFamily="34" charset="-120"/>
              </a:rPr>
              <a:t>What is data? A CSV, and Drucker's caveat</a:t>
            </a:r>
            <a:endParaRPr lang="en-US" sz="3000" dirty="0"/>
          </a:p>
        </p:txBody>
      </p:sp>
      <p:sp>
        <p:nvSpPr>
          <p:cNvPr id="5" name="Shape 3"/>
          <p:cNvSpPr/>
          <p:nvPr/>
        </p:nvSpPr>
        <p:spPr>
          <a:xfrm>
            <a:off x="640080" y="2331720"/>
            <a:ext cx="201168" cy="201168"/>
          </a:xfrm>
          <a:prstGeom prst="ellipse">
            <a:avLst/>
          </a:prstGeom>
          <a:solidFill>
            <a:srgbClr val="7A3B2E"/>
          </a:solidFill>
          <a:ln/>
        </p:spPr>
      </p:sp>
      <p:sp>
        <p:nvSpPr>
          <p:cNvPr id="6" name="Text 4"/>
          <p:cNvSpPr/>
          <p:nvPr/>
        </p:nvSpPr>
        <p:spPr>
          <a:xfrm>
            <a:off x="1097280" y="2240280"/>
            <a:ext cx="10607040" cy="813816"/>
          </a:xfrm>
          <a:prstGeom prst="rect">
            <a:avLst/>
          </a:prstGeom>
          <a:noFill/>
          <a:ln/>
        </p:spPr>
        <p:txBody>
          <a:bodyPr wrap="square" rtlCol="0" anchor="t">
            <a:spAutoFit/>
          </a:bodyPr>
          <a:lstStyle/>
          <a:p>
            <a:pPr indent="0" marL="0">
              <a:lnSpc>
                <a:spcPct val="112000"/>
              </a:lnSpc>
              <a:buNone/>
            </a:pPr>
            <a:r>
              <a:rPr lang="en-US" sz="1500" dirty="0">
                <a:solidFill>
                  <a:srgbClr val="1A1A1A"/>
                </a:solidFill>
                <a:latin typeface="Calibri" pitchFamily="34" charset="0"/>
                <a:ea typeface="Calibri" pitchFamily="34" charset="-122"/>
                <a:cs typeface="Calibri" pitchFamily="34" charset="-120"/>
              </a:rPr>
              <a:t>Data is anything made countable. The making is the part to watch.</a:t>
            </a:r>
            <a:endParaRPr lang="en-US" sz="1500" dirty="0"/>
          </a:p>
        </p:txBody>
      </p:sp>
      <p:sp>
        <p:nvSpPr>
          <p:cNvPr id="7" name="Shape 5"/>
          <p:cNvSpPr/>
          <p:nvPr/>
        </p:nvSpPr>
        <p:spPr>
          <a:xfrm>
            <a:off x="640080" y="3145536"/>
            <a:ext cx="201168" cy="201168"/>
          </a:xfrm>
          <a:prstGeom prst="ellipse">
            <a:avLst/>
          </a:prstGeom>
          <a:solidFill>
            <a:srgbClr val="3F6F5F"/>
          </a:solidFill>
          <a:ln/>
        </p:spPr>
      </p:sp>
      <p:sp>
        <p:nvSpPr>
          <p:cNvPr id="8" name="Text 6"/>
          <p:cNvSpPr/>
          <p:nvPr/>
        </p:nvSpPr>
        <p:spPr>
          <a:xfrm>
            <a:off x="1097280" y="3054096"/>
            <a:ext cx="10607040" cy="813816"/>
          </a:xfrm>
          <a:prstGeom prst="rect">
            <a:avLst/>
          </a:prstGeom>
          <a:noFill/>
          <a:ln/>
        </p:spPr>
        <p:txBody>
          <a:bodyPr wrap="square" rtlCol="0" anchor="t">
            <a:spAutoFit/>
          </a:bodyPr>
          <a:lstStyle/>
          <a:p>
            <a:pPr indent="0" marL="0">
              <a:lnSpc>
                <a:spcPct val="112000"/>
              </a:lnSpc>
              <a:buNone/>
            </a:pPr>
            <a:r>
              <a:rPr lang="en-US" sz="1500" dirty="0">
                <a:solidFill>
                  <a:srgbClr val="1A1A1A"/>
                </a:solidFill>
                <a:latin typeface="Calibri" pitchFamily="34" charset="0"/>
                <a:ea typeface="Calibri" pitchFamily="34" charset="-122"/>
                <a:cs typeface="Calibri" pitchFamily="34" charset="-120"/>
              </a:rPr>
              <a:t>A CSV: one row per thing, one column per recorded fact. Ours: one row per painting, one column per fact the Met records.</a:t>
            </a:r>
            <a:endParaRPr lang="en-US" sz="1500" dirty="0"/>
          </a:p>
        </p:txBody>
      </p:sp>
      <p:sp>
        <p:nvSpPr>
          <p:cNvPr id="9" name="Shape 7"/>
          <p:cNvSpPr/>
          <p:nvPr/>
        </p:nvSpPr>
        <p:spPr>
          <a:xfrm>
            <a:off x="640080" y="3959352"/>
            <a:ext cx="201168" cy="201168"/>
          </a:xfrm>
          <a:prstGeom prst="ellipse">
            <a:avLst/>
          </a:prstGeom>
          <a:solidFill>
            <a:srgbClr val="B9852F"/>
          </a:solidFill>
          <a:ln/>
        </p:spPr>
      </p:sp>
      <p:sp>
        <p:nvSpPr>
          <p:cNvPr id="10" name="Text 8"/>
          <p:cNvSpPr/>
          <p:nvPr/>
        </p:nvSpPr>
        <p:spPr>
          <a:xfrm>
            <a:off x="1097280" y="3867912"/>
            <a:ext cx="10607040" cy="813816"/>
          </a:xfrm>
          <a:prstGeom prst="rect">
            <a:avLst/>
          </a:prstGeom>
          <a:noFill/>
          <a:ln/>
        </p:spPr>
        <p:txBody>
          <a:bodyPr wrap="square" rtlCol="0" anchor="t">
            <a:spAutoFit/>
          </a:bodyPr>
          <a:lstStyle/>
          <a:p>
            <a:pPr indent="0" marL="0">
              <a:lnSpc>
                <a:spcPct val="112000"/>
              </a:lnSpc>
              <a:buNone/>
            </a:pPr>
            <a:r>
              <a:rPr lang="en-US" sz="1500" dirty="0">
                <a:solidFill>
                  <a:srgbClr val="1A1A1A"/>
                </a:solidFill>
                <a:latin typeface="Calibri" pitchFamily="34" charset="0"/>
                <a:ea typeface="Calibri" pitchFamily="34" charset="-122"/>
                <a:cs typeface="Calibri" pitchFamily="34" charset="-120"/>
              </a:rPr>
              <a:t>Drucker: data ("the given") is the wrong word. Capta, "the taken," is honest.</a:t>
            </a:r>
            <a:endParaRPr lang="en-US" sz="1500" dirty="0"/>
          </a:p>
        </p:txBody>
      </p:sp>
      <p:sp>
        <p:nvSpPr>
          <p:cNvPr id="11" name="Shape 9"/>
          <p:cNvSpPr/>
          <p:nvPr/>
        </p:nvSpPr>
        <p:spPr>
          <a:xfrm>
            <a:off x="640080" y="4773168"/>
            <a:ext cx="201168" cy="201168"/>
          </a:xfrm>
          <a:prstGeom prst="ellipse">
            <a:avLst/>
          </a:prstGeom>
          <a:solidFill>
            <a:srgbClr val="7A3B2E"/>
          </a:solidFill>
          <a:ln/>
        </p:spPr>
      </p:sp>
      <p:sp>
        <p:nvSpPr>
          <p:cNvPr id="12" name="Text 10"/>
          <p:cNvSpPr/>
          <p:nvPr/>
        </p:nvSpPr>
        <p:spPr>
          <a:xfrm>
            <a:off x="1097280" y="4681728"/>
            <a:ext cx="10607040" cy="813816"/>
          </a:xfrm>
          <a:prstGeom prst="rect">
            <a:avLst/>
          </a:prstGeom>
          <a:noFill/>
          <a:ln/>
        </p:spPr>
        <p:txBody>
          <a:bodyPr wrap="square" rtlCol="0" anchor="t">
            <a:spAutoFit/>
          </a:bodyPr>
          <a:lstStyle/>
          <a:p>
            <a:pPr indent="0" marL="0">
              <a:lnSpc>
                <a:spcPct val="112000"/>
              </a:lnSpc>
              <a:buNone/>
            </a:pPr>
            <a:r>
              <a:rPr lang="en-US" sz="1500" dirty="0">
                <a:solidFill>
                  <a:srgbClr val="1A1A1A"/>
                </a:solidFill>
                <a:latin typeface="Calibri" pitchFamily="34" charset="0"/>
                <a:ea typeface="Calibri" pitchFamily="34" charset="-122"/>
                <a:cs typeface="Calibri" pitchFamily="34" charset="-120"/>
              </a:rPr>
              <a:t>The columns are choices: the artist's name but not the sitter's; a free-text date. Absence is a decision too.</a:t>
            </a:r>
            <a:endParaRPr lang="en-US" sz="1500" dirty="0"/>
          </a:p>
        </p:txBody>
      </p:sp>
      <p:sp>
        <p:nvSpPr>
          <p:cNvPr id="13" name="Shape 11"/>
          <p:cNvSpPr/>
          <p:nvPr/>
        </p:nvSpPr>
        <p:spPr>
          <a:xfrm>
            <a:off x="640080" y="5586984"/>
            <a:ext cx="201168" cy="201168"/>
          </a:xfrm>
          <a:prstGeom prst="ellipse">
            <a:avLst/>
          </a:prstGeom>
          <a:solidFill>
            <a:srgbClr val="3F6F5F"/>
          </a:solidFill>
          <a:ln/>
        </p:spPr>
      </p:sp>
      <p:sp>
        <p:nvSpPr>
          <p:cNvPr id="14" name="Text 12"/>
          <p:cNvSpPr/>
          <p:nvPr/>
        </p:nvSpPr>
        <p:spPr>
          <a:xfrm>
            <a:off x="1097280" y="5495544"/>
            <a:ext cx="10607040" cy="813816"/>
          </a:xfrm>
          <a:prstGeom prst="rect">
            <a:avLst/>
          </a:prstGeom>
          <a:noFill/>
          <a:ln/>
        </p:spPr>
        <p:txBody>
          <a:bodyPr wrap="square" rtlCol="0" anchor="t">
            <a:spAutoFit/>
          </a:bodyPr>
          <a:lstStyle/>
          <a:p>
            <a:pPr indent="0" marL="0">
              <a:lnSpc>
                <a:spcPct val="112000"/>
              </a:lnSpc>
              <a:buNone/>
            </a:pPr>
            <a:r>
              <a:rPr lang="en-US" sz="1500" dirty="0">
                <a:solidFill>
                  <a:srgbClr val="1A1A1A"/>
                </a:solidFill>
                <a:latin typeface="Calibri" pitchFamily="34" charset="0"/>
                <a:ea typeface="Calibri" pitchFamily="34" charset="-122"/>
                <a:cs typeface="Calibri" pitchFamily="34" charset="-120"/>
              </a:rPr>
              <a:t>Pairs, two minutes: what did the catalogers take, and what did they leave?</a:t>
            </a:r>
            <a:endParaRPr lang="en-US" sz="15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64592" cy="6858000"/>
          </a:xfrm>
          <a:prstGeom prst="rect">
            <a:avLst/>
          </a:prstGeom>
          <a:solidFill>
            <a:srgbClr val="B9852F"/>
          </a:solidFill>
          <a:ln/>
        </p:spPr>
      </p:sp>
      <p:sp>
        <p:nvSpPr>
          <p:cNvPr id="3" name="Text 1"/>
          <p:cNvSpPr/>
          <p:nvPr/>
        </p:nvSpPr>
        <p:spPr>
          <a:xfrm>
            <a:off x="640080" y="640080"/>
            <a:ext cx="10058400" cy="320040"/>
          </a:xfrm>
          <a:prstGeom prst="rect">
            <a:avLst/>
          </a:prstGeom>
          <a:noFill/>
          <a:ln/>
        </p:spPr>
        <p:txBody>
          <a:bodyPr wrap="square" rtlCol="0" anchor="ctr"/>
          <a:lstStyle/>
          <a:p>
            <a:pPr indent="0" marL="0">
              <a:buNone/>
            </a:pPr>
            <a:r>
              <a:rPr lang="en-US" sz="1200" b="1" spc="300" kern="0" dirty="0">
                <a:solidFill>
                  <a:srgbClr val="B9852F"/>
                </a:solidFill>
                <a:latin typeface="Calibri" pitchFamily="34" charset="0"/>
                <a:ea typeface="Calibri" pitchFamily="34" charset="-122"/>
                <a:cs typeface="Calibri" pitchFamily="34" charset="-120"/>
              </a:rPr>
              <a:t>WEEK 1 · KEY POINTS</a:t>
            </a:r>
            <a:endParaRPr lang="en-US" sz="1200" dirty="0"/>
          </a:p>
        </p:txBody>
      </p:sp>
      <p:sp>
        <p:nvSpPr>
          <p:cNvPr id="4" name="Text 2"/>
          <p:cNvSpPr/>
          <p:nvPr/>
        </p:nvSpPr>
        <p:spPr>
          <a:xfrm>
            <a:off x="640080" y="1005840"/>
            <a:ext cx="10881360" cy="914400"/>
          </a:xfrm>
          <a:prstGeom prst="rect">
            <a:avLst/>
          </a:prstGeom>
          <a:noFill/>
          <a:ln/>
        </p:spPr>
        <p:txBody>
          <a:bodyPr wrap="square" rtlCol="0" anchor="t">
            <a:spAutoFit/>
          </a:bodyPr>
          <a:lstStyle/>
          <a:p>
            <a:pPr indent="0" marL="0">
              <a:buNone/>
            </a:pPr>
            <a:r>
              <a:rPr lang="en-US" sz="3000" b="1" dirty="0">
                <a:solidFill>
                  <a:srgbClr val="1A1A1A"/>
                </a:solidFill>
                <a:latin typeface="Cambria" pitchFamily="34" charset="0"/>
                <a:ea typeface="Cambria" pitchFamily="34" charset="-122"/>
                <a:cs typeface="Cambria" pitchFamily="34" charset="-120"/>
              </a:rPr>
              <a:t>Quantification has a literature (the theory shelf, never required)</a:t>
            </a:r>
            <a:endParaRPr lang="en-US" sz="3000" dirty="0"/>
          </a:p>
        </p:txBody>
      </p:sp>
      <p:sp>
        <p:nvSpPr>
          <p:cNvPr id="5" name="Shape 3"/>
          <p:cNvSpPr/>
          <p:nvPr/>
        </p:nvSpPr>
        <p:spPr>
          <a:xfrm>
            <a:off x="640080" y="2331720"/>
            <a:ext cx="201168" cy="201168"/>
          </a:xfrm>
          <a:prstGeom prst="ellipse">
            <a:avLst/>
          </a:prstGeom>
          <a:solidFill>
            <a:srgbClr val="7A3B2E"/>
          </a:solidFill>
          <a:ln/>
        </p:spPr>
      </p:sp>
      <p:sp>
        <p:nvSpPr>
          <p:cNvPr id="6" name="Text 4"/>
          <p:cNvSpPr/>
          <p:nvPr/>
        </p:nvSpPr>
        <p:spPr>
          <a:xfrm>
            <a:off x="1097280" y="2240280"/>
            <a:ext cx="10607040" cy="813816"/>
          </a:xfrm>
          <a:prstGeom prst="rect">
            <a:avLst/>
          </a:prstGeom>
          <a:noFill/>
          <a:ln/>
        </p:spPr>
        <p:txBody>
          <a:bodyPr wrap="square" rtlCol="0" anchor="t">
            <a:spAutoFit/>
          </a:bodyPr>
          <a:lstStyle/>
          <a:p>
            <a:pPr indent="0" marL="0">
              <a:lnSpc>
                <a:spcPct val="112000"/>
              </a:lnSpc>
              <a:buNone/>
            </a:pPr>
            <a:r>
              <a:rPr lang="en-US" sz="1500" dirty="0">
                <a:solidFill>
                  <a:srgbClr val="1A1A1A"/>
                </a:solidFill>
                <a:latin typeface="Calibri" pitchFamily="34" charset="0"/>
                <a:ea typeface="Calibri" pitchFamily="34" charset="-122"/>
                <a:cs typeface="Calibri" pitchFamily="34" charset="-120"/>
              </a:rPr>
              <a:t>Porter, Trust in Numbers (1995): quantification is a technology of distance - numbers travel where personal trust cannot, which is why institutions demand them.</a:t>
            </a:r>
            <a:endParaRPr lang="en-US" sz="1500" dirty="0"/>
          </a:p>
        </p:txBody>
      </p:sp>
      <p:sp>
        <p:nvSpPr>
          <p:cNvPr id="7" name="Shape 5"/>
          <p:cNvSpPr/>
          <p:nvPr/>
        </p:nvSpPr>
        <p:spPr>
          <a:xfrm>
            <a:off x="640080" y="3145536"/>
            <a:ext cx="201168" cy="201168"/>
          </a:xfrm>
          <a:prstGeom prst="ellipse">
            <a:avLst/>
          </a:prstGeom>
          <a:solidFill>
            <a:srgbClr val="3F6F5F"/>
          </a:solidFill>
          <a:ln/>
        </p:spPr>
      </p:sp>
      <p:sp>
        <p:nvSpPr>
          <p:cNvPr id="8" name="Text 6"/>
          <p:cNvSpPr/>
          <p:nvPr/>
        </p:nvSpPr>
        <p:spPr>
          <a:xfrm>
            <a:off x="1097280" y="3054096"/>
            <a:ext cx="10607040" cy="813816"/>
          </a:xfrm>
          <a:prstGeom prst="rect">
            <a:avLst/>
          </a:prstGeom>
          <a:noFill/>
          <a:ln/>
        </p:spPr>
        <p:txBody>
          <a:bodyPr wrap="square" rtlCol="0" anchor="t">
            <a:spAutoFit/>
          </a:bodyPr>
          <a:lstStyle/>
          <a:p>
            <a:pPr indent="0" marL="0">
              <a:lnSpc>
                <a:spcPct val="112000"/>
              </a:lnSpc>
              <a:buNone/>
            </a:pPr>
            <a:r>
              <a:rPr lang="en-US" sz="1500" dirty="0">
                <a:solidFill>
                  <a:srgbClr val="1A1A1A"/>
                </a:solidFill>
                <a:latin typeface="Calibri" pitchFamily="34" charset="0"/>
                <a:ea typeface="Calibri" pitchFamily="34" charset="-122"/>
                <a:cs typeface="Calibri" pitchFamily="34" charset="-120"/>
              </a:rPr>
              <a:t>Bowker and Star, Sorting Things Out (1999): every classification makes some things visible and others invisible; categories have politics, including the columns of a museum catalog.</a:t>
            </a:r>
            <a:endParaRPr lang="en-US" sz="1500" dirty="0"/>
          </a:p>
        </p:txBody>
      </p:sp>
      <p:sp>
        <p:nvSpPr>
          <p:cNvPr id="9" name="Shape 7"/>
          <p:cNvSpPr/>
          <p:nvPr/>
        </p:nvSpPr>
        <p:spPr>
          <a:xfrm>
            <a:off x="640080" y="3959352"/>
            <a:ext cx="201168" cy="201168"/>
          </a:xfrm>
          <a:prstGeom prst="ellipse">
            <a:avLst/>
          </a:prstGeom>
          <a:solidFill>
            <a:srgbClr val="B9852F"/>
          </a:solidFill>
          <a:ln/>
        </p:spPr>
      </p:sp>
      <p:sp>
        <p:nvSpPr>
          <p:cNvPr id="10" name="Text 8"/>
          <p:cNvSpPr/>
          <p:nvPr/>
        </p:nvSpPr>
        <p:spPr>
          <a:xfrm>
            <a:off x="1097280" y="3867912"/>
            <a:ext cx="10607040" cy="813816"/>
          </a:xfrm>
          <a:prstGeom prst="rect">
            <a:avLst/>
          </a:prstGeom>
          <a:noFill/>
          <a:ln/>
        </p:spPr>
        <p:txBody>
          <a:bodyPr wrap="square" rtlCol="0" anchor="t">
            <a:spAutoFit/>
          </a:bodyPr>
          <a:lstStyle/>
          <a:p>
            <a:pPr indent="0" marL="0">
              <a:lnSpc>
                <a:spcPct val="112000"/>
              </a:lnSpc>
              <a:buNone/>
            </a:pPr>
            <a:r>
              <a:rPr lang="en-US" sz="1500" dirty="0">
                <a:solidFill>
                  <a:srgbClr val="1A1A1A"/>
                </a:solidFill>
                <a:latin typeface="Calibri" pitchFamily="34" charset="0"/>
                <a:ea typeface="Calibri" pitchFamily="34" charset="-122"/>
                <a:cs typeface="Calibri" pitchFamily="34" charset="-120"/>
              </a:rPr>
              <a:t>Gitelman (ed.), 'Raw Data' Is an Oxymoron (2013): there is no raw data - collection, cleaning, and framing cook it before you arrive.</a:t>
            </a:r>
            <a:endParaRPr lang="en-US" sz="1500" dirty="0"/>
          </a:p>
        </p:txBody>
      </p:sp>
      <p:sp>
        <p:nvSpPr>
          <p:cNvPr id="11" name="Shape 9"/>
          <p:cNvSpPr/>
          <p:nvPr/>
        </p:nvSpPr>
        <p:spPr>
          <a:xfrm>
            <a:off x="640080" y="4773168"/>
            <a:ext cx="201168" cy="201168"/>
          </a:xfrm>
          <a:prstGeom prst="ellipse">
            <a:avLst/>
          </a:prstGeom>
          <a:solidFill>
            <a:srgbClr val="7A3B2E"/>
          </a:solidFill>
          <a:ln/>
        </p:spPr>
      </p:sp>
      <p:sp>
        <p:nvSpPr>
          <p:cNvPr id="12" name="Text 10"/>
          <p:cNvSpPr/>
          <p:nvPr/>
        </p:nvSpPr>
        <p:spPr>
          <a:xfrm>
            <a:off x="1097280" y="4681728"/>
            <a:ext cx="10607040" cy="813816"/>
          </a:xfrm>
          <a:prstGeom prst="rect">
            <a:avLst/>
          </a:prstGeom>
          <a:noFill/>
          <a:ln/>
        </p:spPr>
        <p:txBody>
          <a:bodyPr wrap="square" rtlCol="0" anchor="t">
            <a:spAutoFit/>
          </a:bodyPr>
          <a:lstStyle/>
          <a:p>
            <a:pPr indent="0" marL="0">
              <a:lnSpc>
                <a:spcPct val="112000"/>
              </a:lnSpc>
              <a:buNone/>
            </a:pPr>
            <a:r>
              <a:rPr lang="en-US" sz="1500" dirty="0">
                <a:solidFill>
                  <a:srgbClr val="1A1A1A"/>
                </a:solidFill>
                <a:latin typeface="Calibri" pitchFamily="34" charset="0"/>
                <a:ea typeface="Calibri" pitchFamily="34" charset="-122"/>
                <a:cs typeface="Calibri" pitchFamily="34" charset="-120"/>
              </a:rPr>
              <a:t>Scott, Seeing Like a State (1998): counting makes the world legible to power, and the counting remakes the world to be more countable.</a:t>
            </a:r>
            <a:endParaRPr lang="en-US" sz="1500" dirty="0"/>
          </a:p>
        </p:txBody>
      </p:sp>
      <p:sp>
        <p:nvSpPr>
          <p:cNvPr id="13" name="Shape 11"/>
          <p:cNvSpPr/>
          <p:nvPr/>
        </p:nvSpPr>
        <p:spPr>
          <a:xfrm>
            <a:off x="640080" y="5586984"/>
            <a:ext cx="201168" cy="201168"/>
          </a:xfrm>
          <a:prstGeom prst="ellipse">
            <a:avLst/>
          </a:prstGeom>
          <a:solidFill>
            <a:srgbClr val="3F6F5F"/>
          </a:solidFill>
          <a:ln/>
        </p:spPr>
      </p:sp>
      <p:sp>
        <p:nvSpPr>
          <p:cNvPr id="14" name="Text 12"/>
          <p:cNvSpPr/>
          <p:nvPr/>
        </p:nvSpPr>
        <p:spPr>
          <a:xfrm>
            <a:off x="1097280" y="5495544"/>
            <a:ext cx="10607040" cy="813816"/>
          </a:xfrm>
          <a:prstGeom prst="rect">
            <a:avLst/>
          </a:prstGeom>
          <a:noFill/>
          <a:ln/>
        </p:spPr>
        <p:txBody>
          <a:bodyPr wrap="square" rtlCol="0" anchor="t">
            <a:spAutoFit/>
          </a:bodyPr>
          <a:lstStyle/>
          <a:p>
            <a:pPr indent="0" marL="0">
              <a:lnSpc>
                <a:spcPct val="112000"/>
              </a:lnSpc>
              <a:buNone/>
            </a:pPr>
            <a:r>
              <a:rPr lang="en-US" sz="1500" dirty="0">
                <a:solidFill>
                  <a:srgbClr val="1A1A1A"/>
                </a:solidFill>
                <a:latin typeface="Calibri" pitchFamily="34" charset="0"/>
                <a:ea typeface="Calibri" pitchFamily="34" charset="-122"/>
                <a:cs typeface="Calibri" pitchFamily="34" charset="-120"/>
              </a:rPr>
              <a:t>Drucker's capta (the Week 1 supplement) is the door into this shelf; D'Ignazio and Klein's Data Feminism (open access) runs under the whole course. None of it is required; all of it is where the course's habits come from.</a:t>
            </a:r>
            <a:endParaRPr lang="en-US" sz="15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64592" cy="6858000"/>
          </a:xfrm>
          <a:prstGeom prst="rect">
            <a:avLst/>
          </a:prstGeom>
          <a:solidFill>
            <a:srgbClr val="7A3B2E"/>
          </a:solidFill>
          <a:ln/>
        </p:spPr>
      </p:sp>
      <p:sp>
        <p:nvSpPr>
          <p:cNvPr id="3" name="Text 1"/>
          <p:cNvSpPr/>
          <p:nvPr/>
        </p:nvSpPr>
        <p:spPr>
          <a:xfrm>
            <a:off x="640080" y="640080"/>
            <a:ext cx="10058400" cy="320040"/>
          </a:xfrm>
          <a:prstGeom prst="rect">
            <a:avLst/>
          </a:prstGeom>
          <a:noFill/>
          <a:ln/>
        </p:spPr>
        <p:txBody>
          <a:bodyPr wrap="square" rtlCol="0" anchor="ctr"/>
          <a:lstStyle/>
          <a:p>
            <a:pPr indent="0" marL="0">
              <a:buNone/>
            </a:pPr>
            <a:r>
              <a:rPr lang="en-US" sz="1200" b="1" spc="300" kern="0" dirty="0">
                <a:solidFill>
                  <a:srgbClr val="7A3B2E"/>
                </a:solidFill>
                <a:latin typeface="Calibri" pitchFamily="34" charset="0"/>
                <a:ea typeface="Calibri" pitchFamily="34" charset="-122"/>
                <a:cs typeface="Calibri" pitchFamily="34" charset="-120"/>
              </a:rPr>
              <a:t>WEEK 1 · KEY POINTS</a:t>
            </a:r>
            <a:endParaRPr lang="en-US" sz="1200" dirty="0"/>
          </a:p>
        </p:txBody>
      </p:sp>
      <p:sp>
        <p:nvSpPr>
          <p:cNvPr id="4" name="Text 2"/>
          <p:cNvSpPr/>
          <p:nvPr/>
        </p:nvSpPr>
        <p:spPr>
          <a:xfrm>
            <a:off x="640080" y="1005840"/>
            <a:ext cx="10881360" cy="914400"/>
          </a:xfrm>
          <a:prstGeom prst="rect">
            <a:avLst/>
          </a:prstGeom>
          <a:noFill/>
          <a:ln/>
        </p:spPr>
        <p:txBody>
          <a:bodyPr wrap="square" rtlCol="0" anchor="t">
            <a:spAutoFit/>
          </a:bodyPr>
          <a:lstStyle/>
          <a:p>
            <a:pPr indent="0" marL="0">
              <a:buNone/>
            </a:pPr>
            <a:r>
              <a:rPr lang="en-US" sz="3000" b="1" dirty="0">
                <a:solidFill>
                  <a:srgbClr val="1A1A1A"/>
                </a:solidFill>
                <a:latin typeface="Cambria" pitchFamily="34" charset="0"/>
                <a:ea typeface="Cambria" pitchFamily="34" charset="-122"/>
                <a:cs typeface="Cambria" pitchFamily="34" charset="-120"/>
              </a:rPr>
              <a:t>The Drive routine (every week, without exception)</a:t>
            </a:r>
            <a:endParaRPr lang="en-US" sz="3000" dirty="0"/>
          </a:p>
        </p:txBody>
      </p:sp>
      <p:sp>
        <p:nvSpPr>
          <p:cNvPr id="5" name="Shape 3"/>
          <p:cNvSpPr/>
          <p:nvPr/>
        </p:nvSpPr>
        <p:spPr>
          <a:xfrm>
            <a:off x="640080" y="2331720"/>
            <a:ext cx="201168" cy="201168"/>
          </a:xfrm>
          <a:prstGeom prst="ellipse">
            <a:avLst/>
          </a:prstGeom>
          <a:solidFill>
            <a:srgbClr val="7A3B2E"/>
          </a:solidFill>
          <a:ln/>
        </p:spPr>
      </p:sp>
      <p:sp>
        <p:nvSpPr>
          <p:cNvPr id="6" name="Text 4"/>
          <p:cNvSpPr/>
          <p:nvPr/>
        </p:nvSpPr>
        <p:spPr>
          <a:xfrm>
            <a:off x="1097280" y="224028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Colab wipes its machine when you idle. Your mounted Drive folder is what survives.</a:t>
            </a:r>
            <a:endParaRPr lang="en-US" sz="1650" dirty="0"/>
          </a:p>
        </p:txBody>
      </p:sp>
      <p:sp>
        <p:nvSpPr>
          <p:cNvPr id="7" name="Shape 5"/>
          <p:cNvSpPr/>
          <p:nvPr/>
        </p:nvSpPr>
        <p:spPr>
          <a:xfrm>
            <a:off x="640080" y="3348990"/>
            <a:ext cx="201168" cy="201168"/>
          </a:xfrm>
          <a:prstGeom prst="ellipse">
            <a:avLst/>
          </a:prstGeom>
          <a:solidFill>
            <a:srgbClr val="3F6F5F"/>
          </a:solidFill>
          <a:ln/>
        </p:spPr>
      </p:sp>
      <p:sp>
        <p:nvSpPr>
          <p:cNvPr id="8" name="Text 6"/>
          <p:cNvSpPr/>
          <p:nvPr/>
        </p:nvSpPr>
        <p:spPr>
          <a:xfrm>
            <a:off x="1097280" y="325755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Copy the notebook to Drive, mount Drive, save everything to the one project folder.</a:t>
            </a:r>
            <a:endParaRPr lang="en-US" sz="1650" dirty="0"/>
          </a:p>
        </p:txBody>
      </p:sp>
      <p:sp>
        <p:nvSpPr>
          <p:cNvPr id="9" name="Shape 7"/>
          <p:cNvSpPr/>
          <p:nvPr/>
        </p:nvSpPr>
        <p:spPr>
          <a:xfrm>
            <a:off x="640080" y="4366260"/>
            <a:ext cx="201168" cy="201168"/>
          </a:xfrm>
          <a:prstGeom prst="ellipse">
            <a:avLst/>
          </a:prstGeom>
          <a:solidFill>
            <a:srgbClr val="B9852F"/>
          </a:solidFill>
          <a:ln/>
        </p:spPr>
      </p:sp>
      <p:sp>
        <p:nvSpPr>
          <p:cNvPr id="10" name="Text 8"/>
          <p:cNvSpPr/>
          <p:nvPr/>
        </p:nvSpPr>
        <p:spPr>
          <a:xfrm>
            <a:off x="1097280" y="427482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Your Week-4 corpus has to be alive in Week 5. This ritual is how.</a:t>
            </a:r>
            <a:endParaRPr lang="en-US" sz="1650" dirty="0"/>
          </a:p>
        </p:txBody>
      </p:sp>
      <p:sp>
        <p:nvSpPr>
          <p:cNvPr id="11" name="Shape 9"/>
          <p:cNvSpPr/>
          <p:nvPr/>
        </p:nvSpPr>
        <p:spPr>
          <a:xfrm>
            <a:off x="640080" y="5383530"/>
            <a:ext cx="201168" cy="201168"/>
          </a:xfrm>
          <a:prstGeom prst="ellipse">
            <a:avLst/>
          </a:prstGeom>
          <a:solidFill>
            <a:srgbClr val="7A3B2E"/>
          </a:solidFill>
          <a:ln/>
        </p:spPr>
      </p:sp>
      <p:sp>
        <p:nvSpPr>
          <p:cNvPr id="12" name="Text 10"/>
          <p:cNvSpPr/>
          <p:nvPr/>
        </p:nvSpPr>
        <p:spPr>
          <a:xfrm>
            <a:off x="1097280" y="529209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Gemini key goes in Colab Secrets. Never pasted into code.</a:t>
            </a:r>
            <a:endParaRPr lang="en-US" sz="16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64592" cy="6858000"/>
          </a:xfrm>
          <a:prstGeom prst="rect">
            <a:avLst/>
          </a:prstGeom>
          <a:solidFill>
            <a:srgbClr val="3F6F5F"/>
          </a:solidFill>
          <a:ln/>
        </p:spPr>
      </p:sp>
      <p:sp>
        <p:nvSpPr>
          <p:cNvPr id="3" name="Text 1"/>
          <p:cNvSpPr/>
          <p:nvPr/>
        </p:nvSpPr>
        <p:spPr>
          <a:xfrm>
            <a:off x="640080" y="640080"/>
            <a:ext cx="10058400" cy="320040"/>
          </a:xfrm>
          <a:prstGeom prst="rect">
            <a:avLst/>
          </a:prstGeom>
          <a:noFill/>
          <a:ln/>
        </p:spPr>
        <p:txBody>
          <a:bodyPr wrap="square" rtlCol="0" anchor="ctr"/>
          <a:lstStyle/>
          <a:p>
            <a:pPr indent="0" marL="0">
              <a:buNone/>
            </a:pPr>
            <a:r>
              <a:rPr lang="en-US" sz="1200" b="1" spc="300" kern="0" dirty="0">
                <a:solidFill>
                  <a:srgbClr val="3F6F5F"/>
                </a:solidFill>
                <a:latin typeface="Calibri" pitchFamily="34" charset="0"/>
                <a:ea typeface="Calibri" pitchFamily="34" charset="-122"/>
                <a:cs typeface="Calibri" pitchFamily="34" charset="-120"/>
              </a:rPr>
              <a:t>WEEK 1 · KEY POINTS</a:t>
            </a:r>
            <a:endParaRPr lang="en-US" sz="1200" dirty="0"/>
          </a:p>
        </p:txBody>
      </p:sp>
      <p:sp>
        <p:nvSpPr>
          <p:cNvPr id="4" name="Text 2"/>
          <p:cNvSpPr/>
          <p:nvPr/>
        </p:nvSpPr>
        <p:spPr>
          <a:xfrm>
            <a:off x="640080" y="1005840"/>
            <a:ext cx="10881360" cy="914400"/>
          </a:xfrm>
          <a:prstGeom prst="rect">
            <a:avLst/>
          </a:prstGeom>
          <a:noFill/>
          <a:ln/>
        </p:spPr>
        <p:txBody>
          <a:bodyPr wrap="square" rtlCol="0" anchor="t">
            <a:spAutoFit/>
          </a:bodyPr>
          <a:lstStyle/>
          <a:p>
            <a:pPr indent="0" marL="0">
              <a:buNone/>
            </a:pPr>
            <a:r>
              <a:rPr lang="en-US" sz="3000" b="1" dirty="0">
                <a:solidFill>
                  <a:srgbClr val="1A1A1A"/>
                </a:solidFill>
                <a:latin typeface="Cambria" pitchFamily="34" charset="0"/>
                <a:ea typeface="Cambria" pitchFamily="34" charset="-122"/>
                <a:cs typeface="Cambria" pitchFamily="34" charset="-120"/>
              </a:rPr>
              <a:t>When code fails (it will, today, deliberately)</a:t>
            </a:r>
            <a:endParaRPr lang="en-US" sz="3000" dirty="0"/>
          </a:p>
        </p:txBody>
      </p:sp>
      <p:sp>
        <p:nvSpPr>
          <p:cNvPr id="5" name="Shape 3"/>
          <p:cNvSpPr/>
          <p:nvPr/>
        </p:nvSpPr>
        <p:spPr>
          <a:xfrm>
            <a:off x="640080" y="2331720"/>
            <a:ext cx="201168" cy="201168"/>
          </a:xfrm>
          <a:prstGeom prst="ellipse">
            <a:avLst/>
          </a:prstGeom>
          <a:solidFill>
            <a:srgbClr val="7A3B2E"/>
          </a:solidFill>
          <a:ln/>
        </p:spPr>
      </p:sp>
      <p:sp>
        <p:nvSpPr>
          <p:cNvPr id="6" name="Text 4"/>
          <p:cNvSpPr/>
          <p:nvPr/>
        </p:nvSpPr>
        <p:spPr>
          <a:xfrm>
            <a:off x="1097280" y="224028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Read the last line of the traceback first. It names the problem.</a:t>
            </a:r>
            <a:endParaRPr lang="en-US" sz="1650" dirty="0"/>
          </a:p>
        </p:txBody>
      </p:sp>
      <p:sp>
        <p:nvSpPr>
          <p:cNvPr id="7" name="Shape 5"/>
          <p:cNvSpPr/>
          <p:nvPr/>
        </p:nvSpPr>
        <p:spPr>
          <a:xfrm>
            <a:off x="640080" y="3348990"/>
            <a:ext cx="201168" cy="201168"/>
          </a:xfrm>
          <a:prstGeom prst="ellipse">
            <a:avLst/>
          </a:prstGeom>
          <a:solidFill>
            <a:srgbClr val="3F6F5F"/>
          </a:solidFill>
          <a:ln/>
        </p:spPr>
      </p:sp>
      <p:sp>
        <p:nvSpPr>
          <p:cNvPr id="8" name="Text 6"/>
          <p:cNvSpPr/>
          <p:nvPr/>
        </p:nvSpPr>
        <p:spPr>
          <a:xfrm>
            <a:off x="1097280" y="325755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Paste it to the AI: "this errored, fix it and tell me what went wrong."</a:t>
            </a:r>
            <a:endParaRPr lang="en-US" sz="1650" dirty="0"/>
          </a:p>
        </p:txBody>
      </p:sp>
      <p:sp>
        <p:nvSpPr>
          <p:cNvPr id="9" name="Shape 7"/>
          <p:cNvSpPr/>
          <p:nvPr/>
        </p:nvSpPr>
        <p:spPr>
          <a:xfrm>
            <a:off x="640080" y="4366260"/>
            <a:ext cx="201168" cy="201168"/>
          </a:xfrm>
          <a:prstGeom prst="ellipse">
            <a:avLst/>
          </a:prstGeom>
          <a:solidFill>
            <a:srgbClr val="B9852F"/>
          </a:solidFill>
          <a:ln/>
        </p:spPr>
      </p:sp>
      <p:sp>
        <p:nvSpPr>
          <p:cNvPr id="10" name="Text 8"/>
          <p:cNvSpPr/>
          <p:nvPr/>
        </p:nvSpPr>
        <p:spPr>
          <a:xfrm>
            <a:off x="1097280" y="427482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Try twice, then ask a human. In that order.</a:t>
            </a:r>
            <a:endParaRPr lang="en-US" sz="1650" dirty="0"/>
          </a:p>
        </p:txBody>
      </p:sp>
      <p:sp>
        <p:nvSpPr>
          <p:cNvPr id="11" name="Shape 9"/>
          <p:cNvSpPr/>
          <p:nvPr/>
        </p:nvSpPr>
        <p:spPr>
          <a:xfrm>
            <a:off x="640080" y="5383530"/>
            <a:ext cx="201168" cy="201168"/>
          </a:xfrm>
          <a:prstGeom prst="ellipse">
            <a:avLst/>
          </a:prstGeom>
          <a:solidFill>
            <a:srgbClr val="7A3B2E"/>
          </a:solidFill>
          <a:ln/>
        </p:spPr>
      </p:sp>
      <p:sp>
        <p:nvSpPr>
          <p:cNvPr id="12" name="Text 10"/>
          <p:cNvSpPr/>
          <p:nvPr/>
        </p:nvSpPr>
        <p:spPr>
          <a:xfrm>
            <a:off x="1097280" y="529209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Keep the cheat sheet at hand. No one memorizes error messages; everyone reads them.</a:t>
            </a:r>
            <a:endParaRPr lang="en-US" sz="16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64592" cy="6858000"/>
          </a:xfrm>
          <a:prstGeom prst="rect">
            <a:avLst/>
          </a:prstGeom>
          <a:solidFill>
            <a:srgbClr val="B9852F"/>
          </a:solidFill>
          <a:ln/>
        </p:spPr>
      </p:sp>
      <p:sp>
        <p:nvSpPr>
          <p:cNvPr id="3" name="Text 1"/>
          <p:cNvSpPr/>
          <p:nvPr/>
        </p:nvSpPr>
        <p:spPr>
          <a:xfrm>
            <a:off x="640080" y="640080"/>
            <a:ext cx="10058400" cy="320040"/>
          </a:xfrm>
          <a:prstGeom prst="rect">
            <a:avLst/>
          </a:prstGeom>
          <a:noFill/>
          <a:ln/>
        </p:spPr>
        <p:txBody>
          <a:bodyPr wrap="square" rtlCol="0" anchor="ctr"/>
          <a:lstStyle/>
          <a:p>
            <a:pPr indent="0" marL="0">
              <a:buNone/>
            </a:pPr>
            <a:r>
              <a:rPr lang="en-US" sz="1200" b="1" spc="300" kern="0" dirty="0">
                <a:solidFill>
                  <a:srgbClr val="B9852F"/>
                </a:solidFill>
                <a:latin typeface="Calibri" pitchFamily="34" charset="0"/>
                <a:ea typeface="Calibri" pitchFamily="34" charset="-122"/>
                <a:cs typeface="Calibri" pitchFamily="34" charset="-120"/>
              </a:rPr>
              <a:t>WEEK 1 · KEY POINTS</a:t>
            </a:r>
            <a:endParaRPr lang="en-US" sz="1200" dirty="0"/>
          </a:p>
        </p:txBody>
      </p:sp>
      <p:sp>
        <p:nvSpPr>
          <p:cNvPr id="4" name="Text 2"/>
          <p:cNvSpPr/>
          <p:nvPr/>
        </p:nvSpPr>
        <p:spPr>
          <a:xfrm>
            <a:off x="640080" y="1005840"/>
            <a:ext cx="10881360" cy="914400"/>
          </a:xfrm>
          <a:prstGeom prst="rect">
            <a:avLst/>
          </a:prstGeom>
          <a:noFill/>
          <a:ln/>
        </p:spPr>
        <p:txBody>
          <a:bodyPr wrap="square" rtlCol="0" anchor="t">
            <a:spAutoFit/>
          </a:bodyPr>
          <a:lstStyle/>
          <a:p>
            <a:pPr indent="0" marL="0">
              <a:buNone/>
            </a:pPr>
            <a:r>
              <a:rPr lang="en-US" sz="3000" b="1" dirty="0">
                <a:solidFill>
                  <a:srgbClr val="1A1A1A"/>
                </a:solidFill>
                <a:latin typeface="Cambria" pitchFamily="34" charset="0"/>
                <a:ea typeface="Cambria" pitchFamily="34" charset="-122"/>
                <a:cs typeface="Cambria" pitchFamily="34" charset="-120"/>
              </a:rPr>
              <a:t>Bags of words, bags of pixels, and what they miss</a:t>
            </a:r>
            <a:endParaRPr lang="en-US" sz="3000" dirty="0"/>
          </a:p>
        </p:txBody>
      </p:sp>
      <p:sp>
        <p:nvSpPr>
          <p:cNvPr id="5" name="Shape 3"/>
          <p:cNvSpPr/>
          <p:nvPr/>
        </p:nvSpPr>
        <p:spPr>
          <a:xfrm>
            <a:off x="640080" y="2331720"/>
            <a:ext cx="201168" cy="201168"/>
          </a:xfrm>
          <a:prstGeom prst="ellipse">
            <a:avLst/>
          </a:prstGeom>
          <a:solidFill>
            <a:srgbClr val="7A3B2E"/>
          </a:solidFill>
          <a:ln/>
        </p:spPr>
      </p:sp>
      <p:sp>
        <p:nvSpPr>
          <p:cNvPr id="6" name="Text 4"/>
          <p:cNvSpPr/>
          <p:nvPr/>
        </p:nvSpPr>
        <p:spPr>
          <a:xfrm>
            <a:off x="1097280" y="2240280"/>
            <a:ext cx="10607040" cy="813816"/>
          </a:xfrm>
          <a:prstGeom prst="rect">
            <a:avLst/>
          </a:prstGeom>
          <a:noFill/>
          <a:ln/>
        </p:spPr>
        <p:txBody>
          <a:bodyPr wrap="square" rtlCol="0" anchor="t">
            <a:spAutoFit/>
          </a:bodyPr>
          <a:lstStyle/>
          <a:p>
            <a:pPr indent="0" marL="0">
              <a:lnSpc>
                <a:spcPct val="112000"/>
              </a:lnSpc>
              <a:buNone/>
            </a:pPr>
            <a:r>
              <a:rPr lang="en-US" sz="1500" dirty="0">
                <a:solidFill>
                  <a:srgbClr val="1A1A1A"/>
                </a:solidFill>
                <a:latin typeface="Calibri" pitchFamily="34" charset="0"/>
                <a:ea typeface="Calibri" pitchFamily="34" charset="-122"/>
                <a:cs typeface="Calibri" pitchFamily="34" charset="-120"/>
              </a:rPr>
              <a:t>What counts as red? A boundary you set on the hue wheel. Shift it twenty degrees and paintings change category without changing a pixel: defining the ranges is the analysis, the same decision as the stop-word list.</a:t>
            </a:r>
            <a:endParaRPr lang="en-US" sz="1500" dirty="0"/>
          </a:p>
        </p:txBody>
      </p:sp>
      <p:sp>
        <p:nvSpPr>
          <p:cNvPr id="7" name="Shape 5"/>
          <p:cNvSpPr/>
          <p:nvPr/>
        </p:nvSpPr>
        <p:spPr>
          <a:xfrm>
            <a:off x="640080" y="3145536"/>
            <a:ext cx="201168" cy="201168"/>
          </a:xfrm>
          <a:prstGeom prst="ellipse">
            <a:avLst/>
          </a:prstGeom>
          <a:solidFill>
            <a:srgbClr val="3F6F5F"/>
          </a:solidFill>
          <a:ln/>
        </p:spPr>
      </p:sp>
      <p:sp>
        <p:nvSpPr>
          <p:cNvPr id="8" name="Text 6"/>
          <p:cNvSpPr/>
          <p:nvPr/>
        </p:nvSpPr>
        <p:spPr>
          <a:xfrm>
            <a:off x="1097280" y="3054096"/>
            <a:ext cx="10607040" cy="813816"/>
          </a:xfrm>
          <a:prstGeom prst="rect">
            <a:avLst/>
          </a:prstGeom>
          <a:noFill/>
          <a:ln/>
        </p:spPr>
        <p:txBody>
          <a:bodyPr wrap="square" rtlCol="0" anchor="t">
            <a:spAutoFit/>
          </a:bodyPr>
          <a:lstStyle/>
          <a:p>
            <a:pPr indent="0" marL="0">
              <a:lnSpc>
                <a:spcPct val="112000"/>
              </a:lnSpc>
              <a:buNone/>
            </a:pPr>
            <a:r>
              <a:rPr lang="en-US" sz="1500" dirty="0">
                <a:solidFill>
                  <a:srgbClr val="1A1A1A"/>
                </a:solidFill>
                <a:latin typeface="Calibri" pitchFamily="34" charset="0"/>
                <a:ea typeface="Calibri" pitchFamily="34" charset="-122"/>
                <a:cs typeface="Calibri" pitchFamily="34" charset="-120"/>
              </a:rPr>
              <a:t>Two sentences with identical word-bags can mean opposite things: "the critics loved it, the public did not" and its reversal count the same.</a:t>
            </a:r>
            <a:endParaRPr lang="en-US" sz="1500" dirty="0"/>
          </a:p>
        </p:txBody>
      </p:sp>
      <p:sp>
        <p:nvSpPr>
          <p:cNvPr id="9" name="Shape 7"/>
          <p:cNvSpPr/>
          <p:nvPr/>
        </p:nvSpPr>
        <p:spPr>
          <a:xfrm>
            <a:off x="640080" y="3959352"/>
            <a:ext cx="201168" cy="201168"/>
          </a:xfrm>
          <a:prstGeom prst="ellipse">
            <a:avLst/>
          </a:prstGeom>
          <a:solidFill>
            <a:srgbClr val="B9852F"/>
          </a:solidFill>
          <a:ln/>
        </p:spPr>
      </p:sp>
      <p:sp>
        <p:nvSpPr>
          <p:cNvPr id="10" name="Text 8"/>
          <p:cNvSpPr/>
          <p:nvPr/>
        </p:nvSpPr>
        <p:spPr>
          <a:xfrm>
            <a:off x="1097280" y="3867912"/>
            <a:ext cx="10607040" cy="813816"/>
          </a:xfrm>
          <a:prstGeom prst="rect">
            <a:avLst/>
          </a:prstGeom>
          <a:noFill/>
          <a:ln/>
        </p:spPr>
        <p:txBody>
          <a:bodyPr wrap="square" rtlCol="0" anchor="t">
            <a:spAutoFit/>
          </a:bodyPr>
          <a:lstStyle/>
          <a:p>
            <a:pPr indent="0" marL="0">
              <a:lnSpc>
                <a:spcPct val="112000"/>
              </a:lnSpc>
              <a:buNone/>
            </a:pPr>
            <a:r>
              <a:rPr lang="en-US" sz="1500" dirty="0">
                <a:solidFill>
                  <a:srgbClr val="1A1A1A"/>
                </a:solidFill>
                <a:latin typeface="Calibri" pitchFamily="34" charset="0"/>
                <a:ea typeface="Calibri" pitchFamily="34" charset="-122"/>
                <a:cs typeface="Calibri" pitchFamily="34" charset="-120"/>
              </a:rPr>
              <a:t>The centerpiece: Sonnet 130's bag is a catalogue of praise - sun, coral, roses, snow, music, goddess. The poem negates every item ("my mistress' eyes are nothing like the sun"). The count reads a love poem; Shakespeare wrote a satire of love poems.</a:t>
            </a:r>
            <a:endParaRPr lang="en-US" sz="1500" dirty="0"/>
          </a:p>
        </p:txBody>
      </p:sp>
      <p:sp>
        <p:nvSpPr>
          <p:cNvPr id="11" name="Shape 9"/>
          <p:cNvSpPr/>
          <p:nvPr/>
        </p:nvSpPr>
        <p:spPr>
          <a:xfrm>
            <a:off x="640080" y="4773168"/>
            <a:ext cx="201168" cy="201168"/>
          </a:xfrm>
          <a:prstGeom prst="ellipse">
            <a:avLst/>
          </a:prstGeom>
          <a:solidFill>
            <a:srgbClr val="7A3B2E"/>
          </a:solidFill>
          <a:ln/>
        </p:spPr>
      </p:sp>
      <p:sp>
        <p:nvSpPr>
          <p:cNvPr id="12" name="Text 10"/>
          <p:cNvSpPr/>
          <p:nvPr/>
        </p:nvSpPr>
        <p:spPr>
          <a:xfrm>
            <a:off x="1097280" y="4681728"/>
            <a:ext cx="10607040" cy="813816"/>
          </a:xfrm>
          <a:prstGeom prst="rect">
            <a:avLst/>
          </a:prstGeom>
          <a:noFill/>
          <a:ln/>
        </p:spPr>
        <p:txBody>
          <a:bodyPr wrap="square" rtlCol="0" anchor="t">
            <a:spAutoFit/>
          </a:bodyPr>
          <a:lstStyle/>
          <a:p>
            <a:pPr indent="0" marL="0">
              <a:lnSpc>
                <a:spcPct val="112000"/>
              </a:lnSpc>
              <a:buNone/>
            </a:pPr>
            <a:r>
              <a:rPr lang="en-US" sz="1500" dirty="0">
                <a:solidFill>
                  <a:srgbClr val="1A1A1A"/>
                </a:solidFill>
                <a:latin typeface="Calibri" pitchFamily="34" charset="0"/>
                <a:ea typeface="Calibri" pitchFamily="34" charset="-122"/>
                <a:cs typeface="Calibri" pitchFamily="34" charset="-120"/>
              </a:rPr>
              <a:t>The manifest's date column reads "ca. 1520" and "1530s". Force it to numbers and pandas quietly turns those into NaN, and mean() skips NaN without telling you: the average drops half the paintings, the older half. Count your NaN before you average.</a:t>
            </a:r>
            <a:endParaRPr lang="en-US" sz="1500" dirty="0"/>
          </a:p>
        </p:txBody>
      </p:sp>
      <p:sp>
        <p:nvSpPr>
          <p:cNvPr id="13" name="Shape 11"/>
          <p:cNvSpPr/>
          <p:nvPr/>
        </p:nvSpPr>
        <p:spPr>
          <a:xfrm>
            <a:off x="640080" y="5586984"/>
            <a:ext cx="201168" cy="201168"/>
          </a:xfrm>
          <a:prstGeom prst="ellipse">
            <a:avLst/>
          </a:prstGeom>
          <a:solidFill>
            <a:srgbClr val="3F6F5F"/>
          </a:solidFill>
          <a:ln/>
        </p:spPr>
      </p:sp>
      <p:sp>
        <p:nvSpPr>
          <p:cNvPr id="14" name="Text 12"/>
          <p:cNvSpPr/>
          <p:nvPr/>
        </p:nvSpPr>
        <p:spPr>
          <a:xfrm>
            <a:off x="1097280" y="5495544"/>
            <a:ext cx="10607040" cy="813816"/>
          </a:xfrm>
          <a:prstGeom prst="rect">
            <a:avLst/>
          </a:prstGeom>
          <a:noFill/>
          <a:ln/>
        </p:spPr>
        <p:txBody>
          <a:bodyPr wrap="square" rtlCol="0" anchor="t">
            <a:spAutoFit/>
          </a:bodyPr>
          <a:lstStyle/>
          <a:p>
            <a:pPr indent="0" marL="0">
              <a:lnSpc>
                <a:spcPct val="112000"/>
              </a:lnSpc>
              <a:buNone/>
            </a:pPr>
            <a:r>
              <a:rPr lang="en-US" sz="1500" dirty="0">
                <a:solidFill>
                  <a:srgbClr val="1A1A1A"/>
                </a:solidFill>
                <a:latin typeface="Calibri" pitchFamily="34" charset="0"/>
                <a:ea typeface="Calibri" pitchFamily="34" charset="-122"/>
                <a:cs typeface="Calibri" pitchFamily="34" charset="-120"/>
              </a:rPr>
              <a:t>The loss is the trade counting makes for scale. Name it on day one; Week 5's embeddings exist to recover some of it.</a:t>
            </a:r>
            <a:endParaRPr lang="en-US" sz="15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64592" cy="6858000"/>
          </a:xfrm>
          <a:prstGeom prst="rect">
            <a:avLst/>
          </a:prstGeom>
          <a:solidFill>
            <a:srgbClr val="7A3B2E"/>
          </a:solidFill>
          <a:ln/>
        </p:spPr>
      </p:sp>
      <p:sp>
        <p:nvSpPr>
          <p:cNvPr id="3" name="Text 1"/>
          <p:cNvSpPr/>
          <p:nvPr/>
        </p:nvSpPr>
        <p:spPr>
          <a:xfrm>
            <a:off x="640080" y="640080"/>
            <a:ext cx="10058400" cy="320040"/>
          </a:xfrm>
          <a:prstGeom prst="rect">
            <a:avLst/>
          </a:prstGeom>
          <a:noFill/>
          <a:ln/>
        </p:spPr>
        <p:txBody>
          <a:bodyPr wrap="square" rtlCol="0" anchor="ctr"/>
          <a:lstStyle/>
          <a:p>
            <a:pPr indent="0" marL="0">
              <a:buNone/>
            </a:pPr>
            <a:r>
              <a:rPr lang="en-US" sz="1200" b="1" spc="300" kern="0" dirty="0">
                <a:solidFill>
                  <a:srgbClr val="7A3B2E"/>
                </a:solidFill>
                <a:latin typeface="Calibri" pitchFamily="34" charset="0"/>
                <a:ea typeface="Calibri" pitchFamily="34" charset="-122"/>
                <a:cs typeface="Calibri" pitchFamily="34" charset="-120"/>
              </a:rPr>
              <a:t>WEEK 1 · KEY POINTS</a:t>
            </a:r>
            <a:endParaRPr lang="en-US" sz="1200" dirty="0"/>
          </a:p>
        </p:txBody>
      </p:sp>
      <p:sp>
        <p:nvSpPr>
          <p:cNvPr id="4" name="Text 2"/>
          <p:cNvSpPr/>
          <p:nvPr/>
        </p:nvSpPr>
        <p:spPr>
          <a:xfrm>
            <a:off x="640080" y="1005840"/>
            <a:ext cx="10881360" cy="914400"/>
          </a:xfrm>
          <a:prstGeom prst="rect">
            <a:avLst/>
          </a:prstGeom>
          <a:noFill/>
          <a:ln/>
        </p:spPr>
        <p:txBody>
          <a:bodyPr wrap="square" rtlCol="0" anchor="t">
            <a:spAutoFit/>
          </a:bodyPr>
          <a:lstStyle/>
          <a:p>
            <a:pPr indent="0" marL="0">
              <a:buNone/>
            </a:pPr>
            <a:r>
              <a:rPr lang="en-US" sz="3000" b="1" dirty="0">
                <a:solidFill>
                  <a:srgbClr val="1A1A1A"/>
                </a:solidFill>
                <a:latin typeface="Cambria" pitchFamily="34" charset="0"/>
                <a:ea typeface="Cambria" pitchFamily="34" charset="-122"/>
                <a:cs typeface="Cambria" pitchFamily="34" charset="-120"/>
              </a:rPr>
              <a:t>Deep-research tools: one role, four rules</a:t>
            </a:r>
            <a:endParaRPr lang="en-US" sz="3000" dirty="0"/>
          </a:p>
        </p:txBody>
      </p:sp>
      <p:sp>
        <p:nvSpPr>
          <p:cNvPr id="5" name="Shape 3"/>
          <p:cNvSpPr/>
          <p:nvPr/>
        </p:nvSpPr>
        <p:spPr>
          <a:xfrm>
            <a:off x="640080" y="2331720"/>
            <a:ext cx="201168" cy="201168"/>
          </a:xfrm>
          <a:prstGeom prst="ellipse">
            <a:avLst/>
          </a:prstGeom>
          <a:solidFill>
            <a:srgbClr val="7A3B2E"/>
          </a:solidFill>
          <a:ln/>
        </p:spPr>
      </p:sp>
      <p:sp>
        <p:nvSpPr>
          <p:cNvPr id="6" name="Text 4"/>
          <p:cNvSpPr/>
          <p:nvPr/>
        </p:nvSpPr>
        <p:spPr>
          <a:xfrm>
            <a:off x="1097280" y="2240280"/>
            <a:ext cx="10607040" cy="813816"/>
          </a:xfrm>
          <a:prstGeom prst="rect">
            <a:avLst/>
          </a:prstGeom>
          <a:noFill/>
          <a:ln/>
        </p:spPr>
        <p:txBody>
          <a:bodyPr wrap="square" rtlCol="0" anchor="t">
            <a:spAutoFit/>
          </a:bodyPr>
          <a:lstStyle/>
          <a:p>
            <a:pPr indent="0" marL="0">
              <a:lnSpc>
                <a:spcPct val="112000"/>
              </a:lnSpc>
              <a:buNone/>
            </a:pPr>
            <a:r>
              <a:rPr lang="en-US" sz="1500" dirty="0">
                <a:solidFill>
                  <a:srgbClr val="1A1A1A"/>
                </a:solidFill>
                <a:latin typeface="Calibri" pitchFamily="34" charset="0"/>
                <a:ea typeface="Calibri" pitchFamily="34" charset="-122"/>
                <a:cs typeface="Calibri" pitchFamily="34" charset="-120"/>
              </a:rPr>
              <a:t>AI deep-research tools browse for an hour and return a long, cited report. In this course they have exactly one role: the scout, finding datasets and prior work before Week 4's commitment.</a:t>
            </a:r>
            <a:endParaRPr lang="en-US" sz="1500" dirty="0"/>
          </a:p>
        </p:txBody>
      </p:sp>
      <p:sp>
        <p:nvSpPr>
          <p:cNvPr id="7" name="Shape 5"/>
          <p:cNvSpPr/>
          <p:nvPr/>
        </p:nvSpPr>
        <p:spPr>
          <a:xfrm>
            <a:off x="640080" y="3145536"/>
            <a:ext cx="201168" cy="201168"/>
          </a:xfrm>
          <a:prstGeom prst="ellipse">
            <a:avLst/>
          </a:prstGeom>
          <a:solidFill>
            <a:srgbClr val="3F6F5F"/>
          </a:solidFill>
          <a:ln/>
        </p:spPr>
      </p:sp>
      <p:sp>
        <p:nvSpPr>
          <p:cNvPr id="8" name="Text 6"/>
          <p:cNvSpPr/>
          <p:nvPr/>
        </p:nvSpPr>
        <p:spPr>
          <a:xfrm>
            <a:off x="1097280" y="3054096"/>
            <a:ext cx="10607040" cy="813816"/>
          </a:xfrm>
          <a:prstGeom prst="rect">
            <a:avLst/>
          </a:prstGeom>
          <a:noFill/>
          <a:ln/>
        </p:spPr>
        <p:txBody>
          <a:bodyPr wrap="square" rtlCol="0" anchor="t">
            <a:spAutoFit/>
          </a:bodyPr>
          <a:lstStyle/>
          <a:p>
            <a:pPr indent="0" marL="0">
              <a:lnSpc>
                <a:spcPct val="112000"/>
              </a:lnSpc>
              <a:buNone/>
            </a:pPr>
            <a:r>
              <a:rPr lang="en-US" sz="1500" dirty="0">
                <a:solidFill>
                  <a:srgbClr val="1A1A1A"/>
                </a:solidFill>
                <a:latin typeface="Calibri" pitchFamily="34" charset="0"/>
                <a:ea typeface="Calibri" pitchFamily="34" charset="-122"/>
                <a:cs typeface="Calibri" pitchFamily="34" charset="-120"/>
              </a:rPr>
              <a:t>Rule one: every citation is a lead, not a source. Reports cite real, wrong, and nonexistent works with identical confidence; nothing enters your work unread.</a:t>
            </a:r>
            <a:endParaRPr lang="en-US" sz="1500" dirty="0"/>
          </a:p>
        </p:txBody>
      </p:sp>
      <p:sp>
        <p:nvSpPr>
          <p:cNvPr id="9" name="Shape 7"/>
          <p:cNvSpPr/>
          <p:nvPr/>
        </p:nvSpPr>
        <p:spPr>
          <a:xfrm>
            <a:off x="640080" y="3959352"/>
            <a:ext cx="201168" cy="201168"/>
          </a:xfrm>
          <a:prstGeom prst="ellipse">
            <a:avLst/>
          </a:prstGeom>
          <a:solidFill>
            <a:srgbClr val="B9852F"/>
          </a:solidFill>
          <a:ln/>
        </p:spPr>
      </p:sp>
      <p:sp>
        <p:nvSpPr>
          <p:cNvPr id="10" name="Text 8"/>
          <p:cNvSpPr/>
          <p:nvPr/>
        </p:nvSpPr>
        <p:spPr>
          <a:xfrm>
            <a:off x="1097280" y="3867912"/>
            <a:ext cx="10607040" cy="813816"/>
          </a:xfrm>
          <a:prstGeom prst="rect">
            <a:avLst/>
          </a:prstGeom>
          <a:noFill/>
          <a:ln/>
        </p:spPr>
        <p:txBody>
          <a:bodyPr wrap="square" rtlCol="0" anchor="t">
            <a:spAutoFit/>
          </a:bodyPr>
          <a:lstStyle/>
          <a:p>
            <a:pPr indent="0" marL="0">
              <a:lnSpc>
                <a:spcPct val="112000"/>
              </a:lnSpc>
              <a:buNone/>
            </a:pPr>
            <a:r>
              <a:rPr lang="en-US" sz="1500" dirty="0">
                <a:solidFill>
                  <a:srgbClr val="1A1A1A"/>
                </a:solidFill>
                <a:latin typeface="Calibri" pitchFamily="34" charset="0"/>
                <a:ea typeface="Calibri" pitchFamily="34" charset="-122"/>
                <a:cs typeface="Calibri" pitchFamily="34" charset="-120"/>
              </a:rPr>
              <a:t>Rule two: verify dataset access yourself. "Publicly available" in a report means someone once said so; the corpus-existence proof (50 loadable rows, Week 3's sketch) is the standard.</a:t>
            </a:r>
            <a:endParaRPr lang="en-US" sz="1500" dirty="0"/>
          </a:p>
        </p:txBody>
      </p:sp>
      <p:sp>
        <p:nvSpPr>
          <p:cNvPr id="11" name="Shape 9"/>
          <p:cNvSpPr/>
          <p:nvPr/>
        </p:nvSpPr>
        <p:spPr>
          <a:xfrm>
            <a:off x="640080" y="4773168"/>
            <a:ext cx="201168" cy="201168"/>
          </a:xfrm>
          <a:prstGeom prst="ellipse">
            <a:avLst/>
          </a:prstGeom>
          <a:solidFill>
            <a:srgbClr val="7A3B2E"/>
          </a:solidFill>
          <a:ln/>
        </p:spPr>
      </p:sp>
      <p:sp>
        <p:nvSpPr>
          <p:cNvPr id="12" name="Text 10"/>
          <p:cNvSpPr/>
          <p:nvPr/>
        </p:nvSpPr>
        <p:spPr>
          <a:xfrm>
            <a:off x="1097280" y="4681728"/>
            <a:ext cx="10607040" cy="813816"/>
          </a:xfrm>
          <a:prstGeom prst="rect">
            <a:avLst/>
          </a:prstGeom>
          <a:noFill/>
          <a:ln/>
        </p:spPr>
        <p:txBody>
          <a:bodyPr wrap="square" rtlCol="0" anchor="t">
            <a:spAutoFit/>
          </a:bodyPr>
          <a:lstStyle/>
          <a:p>
            <a:pPr indent="0" marL="0">
              <a:lnSpc>
                <a:spcPct val="112000"/>
              </a:lnSpc>
              <a:buNone/>
            </a:pPr>
            <a:r>
              <a:rPr lang="en-US" sz="1500" dirty="0">
                <a:solidFill>
                  <a:srgbClr val="1A1A1A"/>
                </a:solidFill>
                <a:latin typeface="Calibri" pitchFamily="34" charset="0"/>
                <a:ea typeface="Calibri" pitchFamily="34" charset="-122"/>
                <a:cs typeface="Calibri" pitchFamily="34" charset="-120"/>
              </a:rPr>
              <a:t>Rule three: the report is never a source. Cite what you read, not the tool that found it.</a:t>
            </a:r>
            <a:endParaRPr lang="en-US" sz="1500" dirty="0"/>
          </a:p>
        </p:txBody>
      </p:sp>
      <p:sp>
        <p:nvSpPr>
          <p:cNvPr id="13" name="Shape 11"/>
          <p:cNvSpPr/>
          <p:nvPr/>
        </p:nvSpPr>
        <p:spPr>
          <a:xfrm>
            <a:off x="640080" y="5586984"/>
            <a:ext cx="201168" cy="201168"/>
          </a:xfrm>
          <a:prstGeom prst="ellipse">
            <a:avLst/>
          </a:prstGeom>
          <a:solidFill>
            <a:srgbClr val="3F6F5F"/>
          </a:solidFill>
          <a:ln/>
        </p:spPr>
      </p:sp>
      <p:sp>
        <p:nvSpPr>
          <p:cNvPr id="14" name="Text 12"/>
          <p:cNvSpPr/>
          <p:nvPr/>
        </p:nvSpPr>
        <p:spPr>
          <a:xfrm>
            <a:off x="1097280" y="5495544"/>
            <a:ext cx="10607040" cy="813816"/>
          </a:xfrm>
          <a:prstGeom prst="rect">
            <a:avLst/>
          </a:prstGeom>
          <a:noFill/>
          <a:ln/>
        </p:spPr>
        <p:txBody>
          <a:bodyPr wrap="square" rtlCol="0" anchor="t">
            <a:spAutoFit/>
          </a:bodyPr>
          <a:lstStyle/>
          <a:p>
            <a:pPr indent="0" marL="0">
              <a:lnSpc>
                <a:spcPct val="112000"/>
              </a:lnSpc>
              <a:buNone/>
            </a:pPr>
            <a:r>
              <a:rPr lang="en-US" sz="1500" dirty="0">
                <a:solidFill>
                  <a:srgbClr val="1A1A1A"/>
                </a:solidFill>
                <a:latin typeface="Calibri" pitchFamily="34" charset="0"/>
                <a:ea typeface="Calibri" pitchFamily="34" charset="-122"/>
                <a:cs typeface="Calibri" pitchFamily="34" charset="-120"/>
              </a:rPr>
              <a:t>Rule four: scout, then close the tool. Your question, your reading, and your interpretation cannot be delegated - the same boundary as with code.</a:t>
            </a:r>
            <a:endParaRPr lang="en-US" sz="15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64592" cy="6858000"/>
          </a:xfrm>
          <a:prstGeom prst="rect">
            <a:avLst/>
          </a:prstGeom>
          <a:solidFill>
            <a:srgbClr val="3F6F5F"/>
          </a:solidFill>
          <a:ln/>
        </p:spPr>
      </p:sp>
      <p:sp>
        <p:nvSpPr>
          <p:cNvPr id="3" name="Text 1"/>
          <p:cNvSpPr/>
          <p:nvPr/>
        </p:nvSpPr>
        <p:spPr>
          <a:xfrm>
            <a:off x="640080" y="640080"/>
            <a:ext cx="10058400" cy="320040"/>
          </a:xfrm>
          <a:prstGeom prst="rect">
            <a:avLst/>
          </a:prstGeom>
          <a:noFill/>
          <a:ln/>
        </p:spPr>
        <p:txBody>
          <a:bodyPr wrap="square" rtlCol="0" anchor="ctr"/>
          <a:lstStyle/>
          <a:p>
            <a:pPr indent="0" marL="0">
              <a:buNone/>
            </a:pPr>
            <a:r>
              <a:rPr lang="en-US" sz="1200" b="1" spc="300" kern="0" dirty="0">
                <a:solidFill>
                  <a:srgbClr val="3F6F5F"/>
                </a:solidFill>
                <a:latin typeface="Calibri" pitchFamily="34" charset="0"/>
                <a:ea typeface="Calibri" pitchFamily="34" charset="-122"/>
                <a:cs typeface="Calibri" pitchFamily="34" charset="-120"/>
              </a:rPr>
              <a:t>WEEK 1 · KEY POINTS</a:t>
            </a:r>
            <a:endParaRPr lang="en-US" sz="1200" dirty="0"/>
          </a:p>
        </p:txBody>
      </p:sp>
      <p:sp>
        <p:nvSpPr>
          <p:cNvPr id="4" name="Text 2"/>
          <p:cNvSpPr/>
          <p:nvPr/>
        </p:nvSpPr>
        <p:spPr>
          <a:xfrm>
            <a:off x="640080" y="1005840"/>
            <a:ext cx="10881360" cy="914400"/>
          </a:xfrm>
          <a:prstGeom prst="rect">
            <a:avLst/>
          </a:prstGeom>
          <a:noFill/>
          <a:ln/>
        </p:spPr>
        <p:txBody>
          <a:bodyPr wrap="square" rtlCol="0" anchor="t">
            <a:spAutoFit/>
          </a:bodyPr>
          <a:lstStyle/>
          <a:p>
            <a:pPr indent="0" marL="0">
              <a:buNone/>
            </a:pPr>
            <a:r>
              <a:rPr lang="en-US" sz="3000" b="1" dirty="0">
                <a:solidFill>
                  <a:srgbClr val="1A1A1A"/>
                </a:solidFill>
                <a:latin typeface="Cambria" pitchFamily="34" charset="0"/>
                <a:ea typeface="Cambria" pitchFamily="34" charset="-122"/>
                <a:cs typeface="Cambria" pitchFamily="34" charset="-120"/>
              </a:rPr>
              <a:t>Counting, three shapes</a:t>
            </a:r>
            <a:endParaRPr lang="en-US" sz="3000" dirty="0"/>
          </a:p>
        </p:txBody>
      </p:sp>
      <p:sp>
        <p:nvSpPr>
          <p:cNvPr id="5" name="Shape 3"/>
          <p:cNvSpPr/>
          <p:nvPr/>
        </p:nvSpPr>
        <p:spPr>
          <a:xfrm>
            <a:off x="640080" y="2331720"/>
            <a:ext cx="201168" cy="201168"/>
          </a:xfrm>
          <a:prstGeom prst="ellipse">
            <a:avLst/>
          </a:prstGeom>
          <a:solidFill>
            <a:srgbClr val="7A3B2E"/>
          </a:solidFill>
          <a:ln/>
        </p:spPr>
      </p:sp>
      <p:sp>
        <p:nvSpPr>
          <p:cNvPr id="6" name="Text 4"/>
          <p:cNvSpPr/>
          <p:nvPr/>
        </p:nvSpPr>
        <p:spPr>
          <a:xfrm>
            <a:off x="1097280" y="224028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Rows: a manifest of paintings, downloaded live and ranked in one pipeline.</a:t>
            </a:r>
            <a:endParaRPr lang="en-US" sz="1650" dirty="0"/>
          </a:p>
        </p:txBody>
      </p:sp>
      <p:sp>
        <p:nvSpPr>
          <p:cNvPr id="7" name="Shape 5"/>
          <p:cNvSpPr/>
          <p:nvPr/>
        </p:nvSpPr>
        <p:spPr>
          <a:xfrm>
            <a:off x="640080" y="3348990"/>
            <a:ext cx="201168" cy="201168"/>
          </a:xfrm>
          <a:prstGeom prst="ellipse">
            <a:avLst/>
          </a:prstGeom>
          <a:solidFill>
            <a:srgbClr val="3F6F5F"/>
          </a:solidFill>
          <a:ln/>
        </p:spPr>
      </p:sp>
      <p:sp>
        <p:nvSpPr>
          <p:cNvPr id="8" name="Text 6"/>
          <p:cNvSpPr/>
          <p:nvPr/>
        </p:nvSpPr>
        <p:spPr>
          <a:xfrm>
            <a:off x="1097280" y="325755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Words: the top words of 154 sonnets are thy and thou until the stop list learns Early Modern English; then love (195 times), beauty, and time surface. The stop list must fit the corpus, and it is your choice.</a:t>
            </a:r>
            <a:endParaRPr lang="en-US" sz="1650" dirty="0"/>
          </a:p>
        </p:txBody>
      </p:sp>
      <p:sp>
        <p:nvSpPr>
          <p:cNvPr id="9" name="Shape 7"/>
          <p:cNvSpPr/>
          <p:nvPr/>
        </p:nvSpPr>
        <p:spPr>
          <a:xfrm>
            <a:off x="640080" y="4366260"/>
            <a:ext cx="201168" cy="201168"/>
          </a:xfrm>
          <a:prstGeom prst="ellipse">
            <a:avLst/>
          </a:prstGeom>
          <a:solidFill>
            <a:srgbClr val="B9852F"/>
          </a:solidFill>
          <a:ln/>
        </p:spPr>
      </p:sp>
      <p:sp>
        <p:nvSpPr>
          <p:cNvPr id="10" name="Text 8"/>
          <p:cNvSpPr/>
          <p:nvPr/>
        </p:nvSpPr>
        <p:spPr>
          <a:xfrm>
            <a:off x="1097280" y="427482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Pixels: the paintings themselves, ranked darkest to brightest from average luminance.</a:t>
            </a:r>
            <a:endParaRPr lang="en-US" sz="1650" dirty="0"/>
          </a:p>
        </p:txBody>
      </p:sp>
      <p:sp>
        <p:nvSpPr>
          <p:cNvPr id="11" name="Shape 9"/>
          <p:cNvSpPr/>
          <p:nvPr/>
        </p:nvSpPr>
        <p:spPr>
          <a:xfrm>
            <a:off x="640080" y="5383530"/>
            <a:ext cx="201168" cy="201168"/>
          </a:xfrm>
          <a:prstGeom prst="ellipse">
            <a:avLst/>
          </a:prstGeom>
          <a:solidFill>
            <a:srgbClr val="7A3B2E"/>
          </a:solidFill>
          <a:ln/>
        </p:spPr>
      </p:sp>
      <p:sp>
        <p:nvSpPr>
          <p:cNvPr id="12" name="Text 10"/>
          <p:cNvSpPr/>
          <p:nvPr/>
        </p:nvSpPr>
        <p:spPr>
          <a:xfrm>
            <a:off x="1097280" y="529209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One technique, three shapes, a decision hiding in each.</a:t>
            </a:r>
            <a:endParaRPr lang="en-US" sz="16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640080"/>
            <a:ext cx="10058400" cy="320040"/>
          </a:xfrm>
          <a:prstGeom prst="rect">
            <a:avLst/>
          </a:prstGeom>
          <a:noFill/>
          <a:ln/>
        </p:spPr>
        <p:txBody>
          <a:bodyPr wrap="square" rtlCol="0" anchor="ctr"/>
          <a:lstStyle/>
          <a:p>
            <a:pPr indent="0" marL="0">
              <a:buNone/>
            </a:pPr>
            <a:r>
              <a:rPr lang="en-US" sz="1200" b="1" spc="300" kern="0" dirty="0">
                <a:solidFill>
                  <a:srgbClr val="3F6F5F"/>
                </a:solidFill>
                <a:latin typeface="Calibri" pitchFamily="34" charset="0"/>
                <a:ea typeface="Calibri" pitchFamily="34" charset="-122"/>
                <a:cs typeface="Calibri" pitchFamily="34" charset="-120"/>
              </a:rPr>
              <a:t>WEEK 1 · THE IMAGE CORPUS</a:t>
            </a:r>
            <a:endParaRPr lang="en-US" sz="1200" dirty="0"/>
          </a:p>
        </p:txBody>
      </p:sp>
      <p:sp>
        <p:nvSpPr>
          <p:cNvPr id="3" name="Text 1"/>
          <p:cNvSpPr/>
          <p:nvPr/>
        </p:nvSpPr>
        <p:spPr>
          <a:xfrm>
            <a:off x="640080" y="1005840"/>
            <a:ext cx="10881360" cy="640080"/>
          </a:xfrm>
          <a:prstGeom prst="rect">
            <a:avLst/>
          </a:prstGeom>
          <a:noFill/>
          <a:ln/>
        </p:spPr>
        <p:txBody>
          <a:bodyPr wrap="square" rtlCol="0" anchor="ctr"/>
          <a:lstStyle/>
          <a:p>
            <a:pPr indent="0" marL="0">
              <a:buNone/>
            </a:pPr>
            <a:r>
              <a:rPr lang="en-US" sz="2600" b="1" dirty="0">
                <a:solidFill>
                  <a:srgbClr val="1A1A1A"/>
                </a:solidFill>
                <a:latin typeface="Cambria" pitchFamily="34" charset="0"/>
                <a:ea typeface="Cambria" pitchFamily="34" charset="-122"/>
                <a:cs typeface="Cambria" pitchFamily="34" charset="-120"/>
              </a:rPr>
              <a:t>Real CC0 paintings from the Met's open-access collection, downloaded live in the notebook</a:t>
            </a:r>
            <a:endParaRPr lang="en-US" sz="2600" dirty="0"/>
          </a:p>
        </p:txBody>
      </p:sp>
      <p:pic>
        <p:nvPicPr>
          <p:cNvPr id="4" name="Image 0" descr="/sessions/hopeful-clever-faraday/mnt/culture-as-data/notebooks/data/week01/met/435581.jpg">    </p:cNvPr>
          <p:cNvPicPr>
            <a:picLocks noChangeAspect="1"/>
          </p:cNvPicPr>
          <p:nvPr/>
        </p:nvPicPr>
        <p:blipFill>
          <a:blip r:embed="rId1"/>
          <a:srcRect l="0" r="0" t="0" b="0"/>
          <a:stretch/>
        </p:blipFill>
        <p:spPr>
          <a:xfrm>
            <a:off x="640080" y="2011680"/>
            <a:ext cx="2560320" cy="2011680"/>
          </a:xfrm>
          <a:prstGeom prst="rect">
            <a:avLst/>
          </a:prstGeom>
        </p:spPr>
      </p:pic>
      <p:pic>
        <p:nvPicPr>
          <p:cNvPr id="5" name="Image 1" descr="/sessions/hopeful-clever-faraday/mnt/culture-as-data/notebooks/data/week01/met/435802.jpg">    </p:cNvPr>
          <p:cNvPicPr>
            <a:picLocks noChangeAspect="1"/>
          </p:cNvPicPr>
          <p:nvPr/>
        </p:nvPicPr>
        <p:blipFill>
          <a:blip r:embed="rId2"/>
          <a:srcRect l="0" r="0" t="0" b="0"/>
          <a:stretch/>
        </p:blipFill>
        <p:spPr>
          <a:xfrm>
            <a:off x="3429000" y="2011680"/>
            <a:ext cx="2560320" cy="2011680"/>
          </a:xfrm>
          <a:prstGeom prst="rect">
            <a:avLst/>
          </a:prstGeom>
        </p:spPr>
      </p:pic>
      <p:pic>
        <p:nvPicPr>
          <p:cNvPr id="6" name="Image 2" descr="/sessions/hopeful-clever-faraday/mnt/culture-as-data/notebooks/data/week01/met/435896.jpg">    </p:cNvPr>
          <p:cNvPicPr>
            <a:picLocks noChangeAspect="1"/>
          </p:cNvPicPr>
          <p:nvPr/>
        </p:nvPicPr>
        <p:blipFill>
          <a:blip r:embed="rId3"/>
          <a:srcRect l="0" r="0" t="0" b="0"/>
          <a:stretch/>
        </p:blipFill>
        <p:spPr>
          <a:xfrm>
            <a:off x="6217920" y="2011680"/>
            <a:ext cx="2560320" cy="2011680"/>
          </a:xfrm>
          <a:prstGeom prst="rect">
            <a:avLst/>
          </a:prstGeom>
        </p:spPr>
      </p:pic>
      <p:pic>
        <p:nvPicPr>
          <p:cNvPr id="7" name="Image 3" descr="/sessions/hopeful-clever-faraday/mnt/culture-as-data/notebooks/data/week01/met/435944.jpg">    </p:cNvPr>
          <p:cNvPicPr>
            <a:picLocks noChangeAspect="1"/>
          </p:cNvPicPr>
          <p:nvPr/>
        </p:nvPicPr>
        <p:blipFill>
          <a:blip r:embed="rId4"/>
          <a:srcRect l="0" r="0" t="0" b="0"/>
          <a:stretch/>
        </p:blipFill>
        <p:spPr>
          <a:xfrm>
            <a:off x="9006840" y="2011680"/>
            <a:ext cx="2560320" cy="2011680"/>
          </a:xfrm>
          <a:prstGeom prst="rect">
            <a:avLst/>
          </a:prstGeom>
        </p:spPr>
      </p:pic>
      <p:pic>
        <p:nvPicPr>
          <p:cNvPr id="8" name="Image 4" descr="/sessions/hopeful-clever-faraday/mnt/culture-as-data/notebooks/data/week01/met/436295.jpg">    </p:cNvPr>
          <p:cNvPicPr>
            <a:picLocks noChangeAspect="1"/>
          </p:cNvPicPr>
          <p:nvPr/>
        </p:nvPicPr>
        <p:blipFill>
          <a:blip r:embed="rId5"/>
          <a:srcRect l="0" r="0" t="0" b="0"/>
          <a:stretch/>
        </p:blipFill>
        <p:spPr>
          <a:xfrm>
            <a:off x="640080" y="4251960"/>
            <a:ext cx="2560320" cy="2011680"/>
          </a:xfrm>
          <a:prstGeom prst="rect">
            <a:avLst/>
          </a:prstGeom>
        </p:spPr>
      </p:pic>
      <p:pic>
        <p:nvPicPr>
          <p:cNvPr id="9" name="Image 5" descr="/sessions/hopeful-clever-faraday/mnt/culture-as-data/notebooks/data/week01/met/436532.jpg">    </p:cNvPr>
          <p:cNvPicPr>
            <a:picLocks noChangeAspect="1"/>
          </p:cNvPicPr>
          <p:nvPr/>
        </p:nvPicPr>
        <p:blipFill>
          <a:blip r:embed="rId6"/>
          <a:srcRect l="0" r="0" t="0" b="0"/>
          <a:stretch/>
        </p:blipFill>
        <p:spPr>
          <a:xfrm>
            <a:off x="3429000" y="4251960"/>
            <a:ext cx="2560320" cy="2011680"/>
          </a:xfrm>
          <a:prstGeom prst="rect">
            <a:avLst/>
          </a:prstGeom>
        </p:spPr>
      </p:pic>
      <p:pic>
        <p:nvPicPr>
          <p:cNvPr id="10" name="Image 6" descr="/sessions/hopeful-clever-faraday/mnt/culture-as-data/notebooks/data/week01/met/436544.jpg">    </p:cNvPr>
          <p:cNvPicPr>
            <a:picLocks noChangeAspect="1"/>
          </p:cNvPicPr>
          <p:nvPr/>
        </p:nvPicPr>
        <p:blipFill>
          <a:blip r:embed="rId7"/>
          <a:srcRect l="0" r="0" t="0" b="0"/>
          <a:stretch/>
        </p:blipFill>
        <p:spPr>
          <a:xfrm>
            <a:off x="6217920" y="4251960"/>
            <a:ext cx="2560320" cy="2011680"/>
          </a:xfrm>
          <a:prstGeom prst="rect">
            <a:avLst/>
          </a:prstGeom>
        </p:spPr>
      </p:pic>
      <p:pic>
        <p:nvPicPr>
          <p:cNvPr id="11" name="Image 7" descr="/sessions/hopeful-clever-faraday/mnt/culture-as-data/notebooks/data/week01/met/436623.jpg">    </p:cNvPr>
          <p:cNvPicPr>
            <a:picLocks noChangeAspect="1"/>
          </p:cNvPicPr>
          <p:nvPr/>
        </p:nvPicPr>
        <p:blipFill>
          <a:blip r:embed="rId8"/>
          <a:srcRect l="0" r="0" t="0" b="0"/>
          <a:stretch/>
        </p:blipFill>
        <p:spPr>
          <a:xfrm>
            <a:off x="9006840" y="4251960"/>
            <a:ext cx="2560320" cy="2011680"/>
          </a:xfrm>
          <a:prstGeom prst="rect">
            <a:avLst/>
          </a:prstGeom>
        </p:spPr>
      </p:pic>
      <p:sp>
        <p:nvSpPr>
          <p:cNvPr id="12" name="Text 2"/>
          <p:cNvSpPr/>
          <p:nvPr/>
        </p:nvSpPr>
        <p:spPr>
          <a:xfrm>
            <a:off x="640080" y="6400800"/>
            <a:ext cx="10881360" cy="320040"/>
          </a:xfrm>
          <a:prstGeom prst="rect">
            <a:avLst/>
          </a:prstGeom>
          <a:noFill/>
          <a:ln/>
        </p:spPr>
        <p:txBody>
          <a:bodyPr wrap="square" rtlCol="0" anchor="ctr"/>
          <a:lstStyle/>
          <a:p>
            <a:pPr indent="0" marL="0">
              <a:buNone/>
            </a:pPr>
            <a:r>
              <a:rPr lang="en-US" sz="1200" i="1" dirty="0">
                <a:solidFill>
                  <a:srgbClr val="6B6B63"/>
                </a:solidFill>
                <a:latin typeface="Calibri" pitchFamily="34" charset="0"/>
                <a:ea typeface="Calibri" pitchFamily="34" charset="-122"/>
                <a:cs typeface="Calibri" pitchFamily="34" charset="-120"/>
              </a:rPr>
              <a:t>Counted by brightness in the session; by defined color ranges after class. The notebook downloads its own set live.</a:t>
            </a:r>
            <a:endParaRPr lang="en-US" sz="12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731520"/>
            <a:ext cx="10058400" cy="731520"/>
          </a:xfrm>
          <a:prstGeom prst="rect">
            <a:avLst/>
          </a:prstGeom>
          <a:noFill/>
          <a:ln/>
        </p:spPr>
        <p:txBody>
          <a:bodyPr wrap="square" rtlCol="0" anchor="ctr"/>
          <a:lstStyle/>
          <a:p>
            <a:pPr indent="0" marL="0">
              <a:buNone/>
            </a:pPr>
            <a:r>
              <a:rPr lang="en-US" sz="3000" b="1" dirty="0">
                <a:solidFill>
                  <a:srgbClr val="1A1A1A"/>
                </a:solidFill>
                <a:latin typeface="Cambria" pitchFamily="34" charset="0"/>
                <a:ea typeface="Cambria" pitchFamily="34" charset="-122"/>
                <a:cs typeface="Cambria" pitchFamily="34" charset="-120"/>
              </a:rPr>
              <a:t>Three modes today</a:t>
            </a:r>
            <a:endParaRPr lang="en-US" sz="3000" dirty="0"/>
          </a:p>
        </p:txBody>
      </p:sp>
      <p:sp>
        <p:nvSpPr>
          <p:cNvPr id="3" name="Text 1"/>
          <p:cNvSpPr/>
          <p:nvPr/>
        </p:nvSpPr>
        <p:spPr>
          <a:xfrm>
            <a:off x="640080" y="1417320"/>
            <a:ext cx="10058400" cy="365760"/>
          </a:xfrm>
          <a:prstGeom prst="rect">
            <a:avLst/>
          </a:prstGeom>
          <a:noFill/>
          <a:ln/>
        </p:spPr>
        <p:txBody>
          <a:bodyPr wrap="square" rtlCol="0" anchor="ctr"/>
          <a:lstStyle/>
          <a:p>
            <a:pPr indent="0" marL="0">
              <a:buNone/>
            </a:pPr>
            <a:r>
              <a:rPr lang="en-US" sz="1400" i="1" dirty="0">
                <a:solidFill>
                  <a:srgbClr val="6B6B63"/>
                </a:solidFill>
                <a:latin typeface="Calibri" pitchFamily="34" charset="0"/>
                <a:ea typeface="Calibri" pitchFamily="34" charset="-122"/>
                <a:cs typeface="Calibri" pitchFamily="34" charset="-120"/>
              </a:rPr>
              <a:t>about a third of the session each</a:t>
            </a:r>
            <a:endParaRPr lang="en-US" sz="1400" dirty="0"/>
          </a:p>
        </p:txBody>
      </p:sp>
      <p:sp>
        <p:nvSpPr>
          <p:cNvPr id="4" name="Shape 2"/>
          <p:cNvSpPr/>
          <p:nvPr/>
        </p:nvSpPr>
        <p:spPr>
          <a:xfrm>
            <a:off x="640080" y="2194560"/>
            <a:ext cx="3383280" cy="3291840"/>
          </a:xfrm>
          <a:prstGeom prst="roundRect">
            <a:avLst>
              <a:gd name="adj" fmla="val 3333"/>
            </a:avLst>
          </a:prstGeom>
          <a:solidFill>
            <a:srgbClr val="F4EEE8"/>
          </a:solidFill>
          <a:ln/>
        </p:spPr>
      </p:sp>
      <p:sp>
        <p:nvSpPr>
          <p:cNvPr id="5" name="Shape 3"/>
          <p:cNvSpPr/>
          <p:nvPr/>
        </p:nvSpPr>
        <p:spPr>
          <a:xfrm>
            <a:off x="1051560" y="2606040"/>
            <a:ext cx="548640" cy="548640"/>
          </a:xfrm>
          <a:prstGeom prst="ellipse">
            <a:avLst/>
          </a:prstGeom>
          <a:solidFill>
            <a:srgbClr val="7A3B2E"/>
          </a:solidFill>
          <a:ln/>
        </p:spPr>
      </p:sp>
      <p:sp>
        <p:nvSpPr>
          <p:cNvPr id="6" name="Text 4"/>
          <p:cNvSpPr/>
          <p:nvPr/>
        </p:nvSpPr>
        <p:spPr>
          <a:xfrm>
            <a:off x="1005840" y="3383280"/>
            <a:ext cx="2651760" cy="548640"/>
          </a:xfrm>
          <a:prstGeom prst="rect">
            <a:avLst/>
          </a:prstGeom>
          <a:noFill/>
          <a:ln/>
        </p:spPr>
        <p:txBody>
          <a:bodyPr wrap="square" rtlCol="0" anchor="ctr"/>
          <a:lstStyle/>
          <a:p>
            <a:pPr indent="0" marL="0">
              <a:buNone/>
            </a:pPr>
            <a:r>
              <a:rPr lang="en-US" sz="2100" b="1" dirty="0">
                <a:solidFill>
                  <a:srgbClr val="1A1A1A"/>
                </a:solidFill>
                <a:latin typeface="Cambria" pitchFamily="34" charset="0"/>
                <a:ea typeface="Cambria" pitchFamily="34" charset="-122"/>
                <a:cs typeface="Cambria" pitchFamily="34" charset="-120"/>
              </a:rPr>
              <a:t>Lecture / demo</a:t>
            </a:r>
            <a:endParaRPr lang="en-US" sz="2100" dirty="0"/>
          </a:p>
        </p:txBody>
      </p:sp>
      <p:sp>
        <p:nvSpPr>
          <p:cNvPr id="7" name="Text 5"/>
          <p:cNvSpPr/>
          <p:nvPr/>
        </p:nvSpPr>
        <p:spPr>
          <a:xfrm>
            <a:off x="1005840" y="3977640"/>
            <a:ext cx="2651760" cy="1371600"/>
          </a:xfrm>
          <a:prstGeom prst="rect">
            <a:avLst/>
          </a:prstGeom>
          <a:noFill/>
          <a:ln/>
        </p:spPr>
        <p:txBody>
          <a:bodyPr wrap="square" rtlCol="0" anchor="t">
            <a:spAutoFit/>
          </a:bodyPr>
          <a:lstStyle/>
          <a:p>
            <a:pPr indent="0" marL="0">
              <a:lnSpc>
                <a:spcPct val="115000"/>
              </a:lnSpc>
              <a:buNone/>
            </a:pPr>
            <a:r>
              <a:rPr lang="en-US" sz="1500" dirty="0">
                <a:solidFill>
                  <a:srgbClr val="1A1A1A"/>
                </a:solidFill>
                <a:latin typeface="Calibri" pitchFamily="34" charset="0"/>
                <a:ea typeface="Calibri" pitchFamily="34" charset="-122"/>
                <a:cs typeface="Calibri" pitchFamily="34" charset="-120"/>
              </a:rPr>
              <a:t>Counting: rows, words, pixels</a:t>
            </a:r>
            <a:endParaRPr lang="en-US" sz="1500" dirty="0"/>
          </a:p>
        </p:txBody>
      </p:sp>
      <p:sp>
        <p:nvSpPr>
          <p:cNvPr id="8" name="Shape 6"/>
          <p:cNvSpPr/>
          <p:nvPr/>
        </p:nvSpPr>
        <p:spPr>
          <a:xfrm>
            <a:off x="4526280" y="2194560"/>
            <a:ext cx="3383280" cy="3291840"/>
          </a:xfrm>
          <a:prstGeom prst="roundRect">
            <a:avLst>
              <a:gd name="adj" fmla="val 3333"/>
            </a:avLst>
          </a:prstGeom>
          <a:solidFill>
            <a:srgbClr val="F4EEE8"/>
          </a:solidFill>
          <a:ln/>
        </p:spPr>
      </p:sp>
      <p:sp>
        <p:nvSpPr>
          <p:cNvPr id="9" name="Shape 7"/>
          <p:cNvSpPr/>
          <p:nvPr/>
        </p:nvSpPr>
        <p:spPr>
          <a:xfrm>
            <a:off x="4937760" y="2606040"/>
            <a:ext cx="548640" cy="548640"/>
          </a:xfrm>
          <a:prstGeom prst="ellipse">
            <a:avLst/>
          </a:prstGeom>
          <a:solidFill>
            <a:srgbClr val="3F6F5F"/>
          </a:solidFill>
          <a:ln/>
        </p:spPr>
      </p:sp>
      <p:sp>
        <p:nvSpPr>
          <p:cNvPr id="10" name="Text 8"/>
          <p:cNvSpPr/>
          <p:nvPr/>
        </p:nvSpPr>
        <p:spPr>
          <a:xfrm>
            <a:off x="4892040" y="3383280"/>
            <a:ext cx="2651760" cy="548640"/>
          </a:xfrm>
          <a:prstGeom prst="rect">
            <a:avLst/>
          </a:prstGeom>
          <a:noFill/>
          <a:ln/>
        </p:spPr>
        <p:txBody>
          <a:bodyPr wrap="square" rtlCol="0" anchor="ctr"/>
          <a:lstStyle/>
          <a:p>
            <a:pPr indent="0" marL="0">
              <a:buNone/>
            </a:pPr>
            <a:r>
              <a:rPr lang="en-US" sz="2100" b="1" dirty="0">
                <a:solidFill>
                  <a:srgbClr val="1A1A1A"/>
                </a:solidFill>
                <a:latin typeface="Cambria" pitchFamily="34" charset="0"/>
                <a:ea typeface="Cambria" pitchFamily="34" charset="-122"/>
                <a:cs typeface="Cambria" pitchFamily="34" charset="-120"/>
              </a:rPr>
              <a:t>Workshop</a:t>
            </a:r>
            <a:endParaRPr lang="en-US" sz="2100" dirty="0"/>
          </a:p>
        </p:txBody>
      </p:sp>
      <p:sp>
        <p:nvSpPr>
          <p:cNvPr id="11" name="Text 9"/>
          <p:cNvSpPr/>
          <p:nvPr/>
        </p:nvSpPr>
        <p:spPr>
          <a:xfrm>
            <a:off x="4892040" y="3977640"/>
            <a:ext cx="2651760" cy="1371600"/>
          </a:xfrm>
          <a:prstGeom prst="rect">
            <a:avLst/>
          </a:prstGeom>
          <a:noFill/>
          <a:ln/>
        </p:spPr>
        <p:txBody>
          <a:bodyPr wrap="square" rtlCol="0" anchor="t">
            <a:spAutoFit/>
          </a:bodyPr>
          <a:lstStyle/>
          <a:p>
            <a:pPr indent="0" marL="0">
              <a:lnSpc>
                <a:spcPct val="115000"/>
              </a:lnSpc>
              <a:buNone/>
            </a:pPr>
            <a:r>
              <a:rPr lang="en-US" sz="1500" dirty="0">
                <a:solidFill>
                  <a:srgbClr val="1A1A1A"/>
                </a:solidFill>
                <a:latin typeface="Calibri" pitchFamily="34" charset="0"/>
                <a:ea typeface="Calibri" pitchFamily="34" charset="-122"/>
                <a:cs typeface="Calibri" pitchFamily="34" charset="-120"/>
              </a:rPr>
              <a:t>Build hands-on on your own data.</a:t>
            </a:r>
            <a:endParaRPr lang="en-US" sz="1500" dirty="0"/>
          </a:p>
        </p:txBody>
      </p:sp>
      <p:sp>
        <p:nvSpPr>
          <p:cNvPr id="12" name="Shape 10"/>
          <p:cNvSpPr/>
          <p:nvPr/>
        </p:nvSpPr>
        <p:spPr>
          <a:xfrm>
            <a:off x="8412480" y="2194560"/>
            <a:ext cx="3383280" cy="3291840"/>
          </a:xfrm>
          <a:prstGeom prst="roundRect">
            <a:avLst>
              <a:gd name="adj" fmla="val 3333"/>
            </a:avLst>
          </a:prstGeom>
          <a:solidFill>
            <a:srgbClr val="F4EEE8"/>
          </a:solidFill>
          <a:ln/>
        </p:spPr>
      </p:sp>
      <p:sp>
        <p:nvSpPr>
          <p:cNvPr id="13" name="Shape 11"/>
          <p:cNvSpPr/>
          <p:nvPr/>
        </p:nvSpPr>
        <p:spPr>
          <a:xfrm>
            <a:off x="8823960" y="2606040"/>
            <a:ext cx="548640" cy="548640"/>
          </a:xfrm>
          <a:prstGeom prst="ellipse">
            <a:avLst/>
          </a:prstGeom>
          <a:solidFill>
            <a:srgbClr val="B9852F"/>
          </a:solidFill>
          <a:ln/>
        </p:spPr>
      </p:sp>
      <p:sp>
        <p:nvSpPr>
          <p:cNvPr id="14" name="Text 12"/>
          <p:cNvSpPr/>
          <p:nvPr/>
        </p:nvSpPr>
        <p:spPr>
          <a:xfrm>
            <a:off x="8778240" y="3383280"/>
            <a:ext cx="2651760" cy="548640"/>
          </a:xfrm>
          <a:prstGeom prst="rect">
            <a:avLst/>
          </a:prstGeom>
          <a:noFill/>
          <a:ln/>
        </p:spPr>
        <p:txBody>
          <a:bodyPr wrap="square" rtlCol="0" anchor="ctr"/>
          <a:lstStyle/>
          <a:p>
            <a:pPr indent="0" marL="0">
              <a:buNone/>
            </a:pPr>
            <a:r>
              <a:rPr lang="en-US" sz="2100" b="1" dirty="0">
                <a:solidFill>
                  <a:srgbClr val="1A1A1A"/>
                </a:solidFill>
                <a:latin typeface="Cambria" pitchFamily="34" charset="0"/>
                <a:ea typeface="Cambria" pitchFamily="34" charset="-122"/>
                <a:cs typeface="Cambria" pitchFamily="34" charset="-120"/>
              </a:rPr>
              <a:t>Discussion</a:t>
            </a:r>
            <a:endParaRPr lang="en-US" sz="2100" dirty="0"/>
          </a:p>
        </p:txBody>
      </p:sp>
      <p:sp>
        <p:nvSpPr>
          <p:cNvPr id="15" name="Text 13"/>
          <p:cNvSpPr/>
          <p:nvPr/>
        </p:nvSpPr>
        <p:spPr>
          <a:xfrm>
            <a:off x="8778240" y="3977640"/>
            <a:ext cx="2651760" cy="1371600"/>
          </a:xfrm>
          <a:prstGeom prst="rect">
            <a:avLst/>
          </a:prstGeom>
          <a:noFill/>
          <a:ln/>
        </p:spPr>
        <p:txBody>
          <a:bodyPr wrap="square" rtlCol="0" anchor="t">
            <a:spAutoFit/>
          </a:bodyPr>
          <a:lstStyle/>
          <a:p>
            <a:pPr indent="0" marL="0">
              <a:lnSpc>
                <a:spcPct val="115000"/>
              </a:lnSpc>
              <a:buNone/>
            </a:pPr>
            <a:r>
              <a:rPr lang="en-US" sz="1500" dirty="0">
                <a:solidFill>
                  <a:srgbClr val="1A1A1A"/>
                </a:solidFill>
                <a:latin typeface="Calibri" pitchFamily="34" charset="0"/>
                <a:ea typeface="Calibri" pitchFamily="34" charset="-122"/>
                <a:cs typeface="Calibri" pitchFamily="34" charset="-120"/>
              </a:rPr>
              <a:t>Interrogate the study, debate it, or critique each other's work.</a:t>
            </a:r>
            <a:endParaRPr lang="en-US" sz="15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640080"/>
            <a:ext cx="10058400" cy="731520"/>
          </a:xfrm>
          <a:prstGeom prst="rect">
            <a:avLst/>
          </a:prstGeom>
          <a:noFill/>
          <a:ln/>
        </p:spPr>
        <p:txBody>
          <a:bodyPr wrap="square" rtlCol="0" anchor="ctr"/>
          <a:lstStyle/>
          <a:p>
            <a:pPr indent="0" marL="0">
              <a:buNone/>
            </a:pPr>
            <a:r>
              <a:rPr lang="en-US" sz="3000" b="1" dirty="0">
                <a:solidFill>
                  <a:srgbClr val="1A1A1A"/>
                </a:solidFill>
                <a:latin typeface="Cambria" pitchFamily="34" charset="0"/>
                <a:ea typeface="Cambria" pitchFamily="34" charset="-122"/>
                <a:cs typeface="Cambria" pitchFamily="34" charset="-120"/>
              </a:rPr>
              <a:t>The session</a:t>
            </a:r>
            <a:endParaRPr lang="en-US" sz="3000" dirty="0"/>
          </a:p>
        </p:txBody>
      </p:sp>
      <p:sp>
        <p:nvSpPr>
          <p:cNvPr id="3" name="Shape 1"/>
          <p:cNvSpPr/>
          <p:nvPr/>
        </p:nvSpPr>
        <p:spPr>
          <a:xfrm>
            <a:off x="640080" y="1572768"/>
            <a:ext cx="868680" cy="450342"/>
          </a:xfrm>
          <a:prstGeom prst="roundRect">
            <a:avLst>
              <a:gd name="adj" fmla="val 12183"/>
            </a:avLst>
          </a:prstGeom>
          <a:solidFill>
            <a:srgbClr val="7A3B2E"/>
          </a:solidFill>
          <a:ln/>
        </p:spPr>
      </p:sp>
      <p:sp>
        <p:nvSpPr>
          <p:cNvPr id="4" name="Text 2"/>
          <p:cNvSpPr/>
          <p:nvPr/>
        </p:nvSpPr>
        <p:spPr>
          <a:xfrm>
            <a:off x="640080" y="1572768"/>
            <a:ext cx="868680" cy="450342"/>
          </a:xfrm>
          <a:prstGeom prst="rect">
            <a:avLst/>
          </a:prstGeom>
          <a:no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0:00</a:t>
            </a:r>
            <a:endParaRPr lang="en-US" sz="1100" dirty="0"/>
          </a:p>
        </p:txBody>
      </p:sp>
      <p:sp>
        <p:nvSpPr>
          <p:cNvPr id="5" name="Text 3"/>
          <p:cNvSpPr/>
          <p:nvPr/>
        </p:nvSpPr>
        <p:spPr>
          <a:xfrm>
            <a:off x="1691640" y="1554480"/>
            <a:ext cx="9646920" cy="560070"/>
          </a:xfrm>
          <a:prstGeom prst="rect">
            <a:avLst/>
          </a:prstGeom>
          <a:noFill/>
          <a:ln/>
        </p:spPr>
        <p:txBody>
          <a:bodyPr wrap="square" rtlCol="0" anchor="ctr">
            <a:spAutoFit/>
          </a:bodyPr>
          <a:lstStyle/>
          <a:p>
            <a:pPr indent="0" marL="0">
              <a:buNone/>
            </a:pPr>
            <a:r>
              <a:rPr lang="en-US" sz="1100" dirty="0">
                <a:solidFill>
                  <a:srgbClr val="1A1A1A"/>
                </a:solidFill>
                <a:latin typeface="Calibri" pitchFamily="34" charset="0"/>
                <a:ea typeface="Calibri" pitchFamily="34" charset="-122"/>
                <a:cs typeface="Calibri" pitchFamily="34" charset="-120"/>
              </a:rPr>
              <a:t>Logistics, working agreements, and a one-round icebreaker: your name, one piece of culture you kept returning to this year, and one number about it you wish you knew. Today's live coding deliberately includes real mistakes.</a:t>
            </a:r>
            <a:endParaRPr lang="en-US" sz="1100" dirty="0"/>
          </a:p>
        </p:txBody>
      </p:sp>
      <p:sp>
        <p:nvSpPr>
          <p:cNvPr id="6" name="Shape 4"/>
          <p:cNvSpPr/>
          <p:nvPr/>
        </p:nvSpPr>
        <p:spPr>
          <a:xfrm>
            <a:off x="640080" y="2132838"/>
            <a:ext cx="868680" cy="450342"/>
          </a:xfrm>
          <a:prstGeom prst="roundRect">
            <a:avLst>
              <a:gd name="adj" fmla="val 12183"/>
            </a:avLst>
          </a:prstGeom>
          <a:solidFill>
            <a:srgbClr val="7A3B2E"/>
          </a:solidFill>
          <a:ln/>
        </p:spPr>
      </p:sp>
      <p:sp>
        <p:nvSpPr>
          <p:cNvPr id="7" name="Text 5"/>
          <p:cNvSpPr/>
          <p:nvPr/>
        </p:nvSpPr>
        <p:spPr>
          <a:xfrm>
            <a:off x="640080" y="2132838"/>
            <a:ext cx="868680" cy="450342"/>
          </a:xfrm>
          <a:prstGeom prst="rect">
            <a:avLst/>
          </a:prstGeom>
          <a:no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0:10</a:t>
            </a:r>
            <a:endParaRPr lang="en-US" sz="1100" dirty="0"/>
          </a:p>
        </p:txBody>
      </p:sp>
      <p:sp>
        <p:nvSpPr>
          <p:cNvPr id="8" name="Text 6"/>
          <p:cNvSpPr/>
          <p:nvPr/>
        </p:nvSpPr>
        <p:spPr>
          <a:xfrm>
            <a:off x="1691640" y="2114550"/>
            <a:ext cx="9646920" cy="560070"/>
          </a:xfrm>
          <a:prstGeom prst="rect">
            <a:avLst/>
          </a:prstGeom>
          <a:noFill/>
          <a:ln/>
        </p:spPr>
        <p:txBody>
          <a:bodyPr wrap="square" rtlCol="0" anchor="ctr">
            <a:spAutoFit/>
          </a:bodyPr>
          <a:lstStyle/>
          <a:p>
            <a:pPr indent="0" marL="0">
              <a:buNone/>
            </a:pPr>
            <a:r>
              <a:rPr lang="en-US" sz="1100" dirty="0">
                <a:solidFill>
                  <a:srgbClr val="1A1A1A"/>
                </a:solidFill>
                <a:latin typeface="Calibri" pitchFamily="34" charset="0"/>
                <a:ea typeface="Calibri" pitchFamily="34" charset="-122"/>
                <a:cs typeface="Calibri" pitchFamily="34" charset="-120"/>
              </a:rPr>
              <a:t>Lecture, the stakes: machines already read culture at scale, the feed ranking what you see, the moderation filter, the model trained on scraped art and prose, and that reading happens without you. Counting culture has produced real knowledge (the screenplay verb split, the gendered language in 14 million teaching reviews, the Rowling unmasking, pop music's 1991 revolution) and real mistakes, and both look identical until someone checks. In ten weeks you do the reading yourself and publish something checkable.</a:t>
            </a:r>
            <a:endParaRPr lang="en-US" sz="1100" dirty="0"/>
          </a:p>
        </p:txBody>
      </p:sp>
      <p:sp>
        <p:nvSpPr>
          <p:cNvPr id="9" name="Shape 7"/>
          <p:cNvSpPr/>
          <p:nvPr/>
        </p:nvSpPr>
        <p:spPr>
          <a:xfrm>
            <a:off x="640080" y="2692908"/>
            <a:ext cx="868680" cy="450342"/>
          </a:xfrm>
          <a:prstGeom prst="roundRect">
            <a:avLst>
              <a:gd name="adj" fmla="val 12183"/>
            </a:avLst>
          </a:prstGeom>
          <a:solidFill>
            <a:srgbClr val="7A3B2E"/>
          </a:solidFill>
          <a:ln/>
        </p:spPr>
      </p:sp>
      <p:sp>
        <p:nvSpPr>
          <p:cNvPr id="10" name="Text 8"/>
          <p:cNvSpPr/>
          <p:nvPr/>
        </p:nvSpPr>
        <p:spPr>
          <a:xfrm>
            <a:off x="640080" y="2692908"/>
            <a:ext cx="868680" cy="450342"/>
          </a:xfrm>
          <a:prstGeom prst="rect">
            <a:avLst/>
          </a:prstGeom>
          <a:no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0:28</a:t>
            </a:r>
            <a:endParaRPr lang="en-US" sz="1100" dirty="0"/>
          </a:p>
        </p:txBody>
      </p:sp>
      <p:sp>
        <p:nvSpPr>
          <p:cNvPr id="11" name="Text 9"/>
          <p:cNvSpPr/>
          <p:nvPr/>
        </p:nvSpPr>
        <p:spPr>
          <a:xfrm>
            <a:off x="1691640" y="2674620"/>
            <a:ext cx="9646920" cy="560070"/>
          </a:xfrm>
          <a:prstGeom prst="rect">
            <a:avLst/>
          </a:prstGeom>
          <a:noFill/>
          <a:ln/>
        </p:spPr>
        <p:txBody>
          <a:bodyPr wrap="square" rtlCol="0" anchor="ctr">
            <a:spAutoFit/>
          </a:bodyPr>
          <a:lstStyle/>
          <a:p>
            <a:pPr indent="0" marL="0">
              <a:buNone/>
            </a:pPr>
            <a:r>
              <a:rPr lang="en-US" sz="1100" dirty="0">
                <a:solidFill>
                  <a:srgbClr val="1A1A1A"/>
                </a:solidFill>
                <a:latin typeface="Calibri" pitchFamily="34" charset="0"/>
                <a:ea typeface="Calibri" pitchFamily="34" charset="-122"/>
                <a:cs typeface="Calibri" pitchFamily="34" charset="-120"/>
              </a:rPr>
              <a:t>Look at This, then Question It: She Giggles, He Gallops.</a:t>
            </a:r>
            <a:endParaRPr lang="en-US" sz="1100" dirty="0"/>
          </a:p>
        </p:txBody>
      </p:sp>
      <p:sp>
        <p:nvSpPr>
          <p:cNvPr id="12" name="Shape 10"/>
          <p:cNvSpPr/>
          <p:nvPr/>
        </p:nvSpPr>
        <p:spPr>
          <a:xfrm>
            <a:off x="640080" y="3252978"/>
            <a:ext cx="868680" cy="450342"/>
          </a:xfrm>
          <a:prstGeom prst="roundRect">
            <a:avLst>
              <a:gd name="adj" fmla="val 12183"/>
            </a:avLst>
          </a:prstGeom>
          <a:solidFill>
            <a:srgbClr val="7A3B2E"/>
          </a:solidFill>
          <a:ln/>
        </p:spPr>
      </p:sp>
      <p:sp>
        <p:nvSpPr>
          <p:cNvPr id="13" name="Text 11"/>
          <p:cNvSpPr/>
          <p:nvPr/>
        </p:nvSpPr>
        <p:spPr>
          <a:xfrm>
            <a:off x="640080" y="3252978"/>
            <a:ext cx="868680" cy="450342"/>
          </a:xfrm>
          <a:prstGeom prst="rect">
            <a:avLst/>
          </a:prstGeom>
          <a:no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0:35</a:t>
            </a:r>
            <a:endParaRPr lang="en-US" sz="1100" dirty="0"/>
          </a:p>
        </p:txBody>
      </p:sp>
      <p:sp>
        <p:nvSpPr>
          <p:cNvPr id="14" name="Text 12"/>
          <p:cNvSpPr/>
          <p:nvPr/>
        </p:nvSpPr>
        <p:spPr>
          <a:xfrm>
            <a:off x="1691640" y="3234690"/>
            <a:ext cx="9646920" cy="560070"/>
          </a:xfrm>
          <a:prstGeom prst="rect">
            <a:avLst/>
          </a:prstGeom>
          <a:noFill/>
          <a:ln/>
        </p:spPr>
        <p:txBody>
          <a:bodyPr wrap="square" rtlCol="0" anchor="ctr">
            <a:spAutoFit/>
          </a:bodyPr>
          <a:lstStyle/>
          <a:p>
            <a:pPr indent="0" marL="0">
              <a:buNone/>
            </a:pPr>
            <a:r>
              <a:rPr lang="en-US" sz="1100" dirty="0">
                <a:solidFill>
                  <a:srgbClr val="1A1A1A"/>
                </a:solidFill>
                <a:latin typeface="Calibri" pitchFamily="34" charset="0"/>
                <a:ea typeface="Calibri" pitchFamily="34" charset="-122"/>
                <a:cs typeface="Calibri" pitchFamily="34" charset="-120"/>
              </a:rPr>
              <a:t>The vocabulary and the map (no code): corpus, method, model, embedding, plus what data itself is. A CSV, anatomized on screen using the painting manifest (rows are paintings, columns are what the Met chose to record), and Drucker's correction: data is capta, taken not given. Two minutes in pairs: what did the catalogers take, and what did they leave out? The deliverable, shown: a web essay on a runnable notebook.</a:t>
            </a:r>
            <a:endParaRPr lang="en-US" sz="1100" dirty="0"/>
          </a:p>
        </p:txBody>
      </p:sp>
      <p:sp>
        <p:nvSpPr>
          <p:cNvPr id="15" name="Shape 13"/>
          <p:cNvSpPr/>
          <p:nvPr/>
        </p:nvSpPr>
        <p:spPr>
          <a:xfrm>
            <a:off x="640080" y="3813048"/>
            <a:ext cx="868680" cy="450342"/>
          </a:xfrm>
          <a:prstGeom prst="roundRect">
            <a:avLst>
              <a:gd name="adj" fmla="val 12183"/>
            </a:avLst>
          </a:prstGeom>
          <a:solidFill>
            <a:srgbClr val="7A3B2E"/>
          </a:solidFill>
          <a:ln/>
        </p:spPr>
      </p:sp>
      <p:sp>
        <p:nvSpPr>
          <p:cNvPr id="16" name="Text 14"/>
          <p:cNvSpPr/>
          <p:nvPr/>
        </p:nvSpPr>
        <p:spPr>
          <a:xfrm>
            <a:off x="640080" y="3813048"/>
            <a:ext cx="868680" cy="450342"/>
          </a:xfrm>
          <a:prstGeom prst="rect">
            <a:avLst/>
          </a:prstGeom>
          <a:no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0:47</a:t>
            </a:r>
            <a:endParaRPr lang="en-US" sz="1100" dirty="0"/>
          </a:p>
        </p:txBody>
      </p:sp>
      <p:sp>
        <p:nvSpPr>
          <p:cNvPr id="17" name="Text 15"/>
          <p:cNvSpPr/>
          <p:nvPr/>
        </p:nvSpPr>
        <p:spPr>
          <a:xfrm>
            <a:off x="1691640" y="3794760"/>
            <a:ext cx="9646920" cy="560070"/>
          </a:xfrm>
          <a:prstGeom prst="rect">
            <a:avLst/>
          </a:prstGeom>
          <a:noFill/>
          <a:ln/>
        </p:spPr>
        <p:txBody>
          <a:bodyPr wrap="square" rtlCol="0" anchor="ctr">
            <a:spAutoFit/>
          </a:bodyPr>
          <a:lstStyle/>
          <a:p>
            <a:pPr indent="0" marL="0">
              <a:buNone/>
            </a:pPr>
            <a:r>
              <a:rPr lang="en-US" sz="1100" dirty="0">
                <a:solidFill>
                  <a:srgbClr val="1A1A1A"/>
                </a:solidFill>
                <a:latin typeface="Calibri" pitchFamily="34" charset="0"/>
                <a:ea typeface="Calibri" pitchFamily="34" charset="-122"/>
                <a:cs typeface="Calibri" pitchFamily="34" charset="-120"/>
              </a:rPr>
              <a:t>Lab 1 (worked, participatory): copy the notebook to Drive and mount Drive (this is how work survives Colab wiping the session), Gemini key into Colab Secrets, then load the 154 sonnets and make a first chart: love across the sequence. Count the whole corpus three ways, one bar chart per stop list, and watch the answer change; then count word pairs, the first n-grams (She Giggles is a bigram count). Then the AI loop, solo: ask, predict, run, interrogate. The error drill lands here, cheat sheet in hand.</a:t>
            </a:r>
            <a:endParaRPr lang="en-US" sz="1100" dirty="0"/>
          </a:p>
        </p:txBody>
      </p:sp>
      <p:sp>
        <p:nvSpPr>
          <p:cNvPr id="18" name="Shape 16"/>
          <p:cNvSpPr/>
          <p:nvPr/>
        </p:nvSpPr>
        <p:spPr>
          <a:xfrm>
            <a:off x="640080" y="4373118"/>
            <a:ext cx="868680" cy="450342"/>
          </a:xfrm>
          <a:prstGeom prst="roundRect">
            <a:avLst>
              <a:gd name="adj" fmla="val 12183"/>
            </a:avLst>
          </a:prstGeom>
          <a:solidFill>
            <a:srgbClr val="7A3B2E"/>
          </a:solidFill>
          <a:ln/>
        </p:spPr>
      </p:sp>
      <p:sp>
        <p:nvSpPr>
          <p:cNvPr id="19" name="Text 17"/>
          <p:cNvSpPr/>
          <p:nvPr/>
        </p:nvSpPr>
        <p:spPr>
          <a:xfrm>
            <a:off x="640080" y="4373118"/>
            <a:ext cx="868680" cy="450342"/>
          </a:xfrm>
          <a:prstGeom prst="rect">
            <a:avLst/>
          </a:prstGeom>
          <a:no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1:20</a:t>
            </a:r>
            <a:endParaRPr lang="en-US" sz="1100" dirty="0"/>
          </a:p>
        </p:txBody>
      </p:sp>
      <p:sp>
        <p:nvSpPr>
          <p:cNvPr id="20" name="Text 18"/>
          <p:cNvSpPr/>
          <p:nvPr/>
        </p:nvSpPr>
        <p:spPr>
          <a:xfrm>
            <a:off x="1691640" y="4354830"/>
            <a:ext cx="9646920" cy="560070"/>
          </a:xfrm>
          <a:prstGeom prst="rect">
            <a:avLst/>
          </a:prstGeom>
          <a:noFill/>
          <a:ln/>
        </p:spPr>
        <p:txBody>
          <a:bodyPr wrap="square" rtlCol="0" anchor="ctr">
            <a:spAutoFit/>
          </a:bodyPr>
          <a:lstStyle/>
          <a:p>
            <a:pPr indent="0" marL="0">
              <a:buNone/>
            </a:pPr>
            <a:r>
              <a:rPr lang="en-US" sz="1100" dirty="0">
                <a:solidFill>
                  <a:srgbClr val="1A1A1A"/>
                </a:solidFill>
                <a:latin typeface="Calibri" pitchFamily="34" charset="0"/>
                <a:ea typeface="Calibri" pitchFamily="34" charset="-122"/>
                <a:cs typeface="Calibri" pitchFamily="34" charset="-120"/>
              </a:rPr>
              <a:t>Break</a:t>
            </a:r>
            <a:endParaRPr lang="en-US" sz="1100" dirty="0"/>
          </a:p>
        </p:txBody>
      </p:sp>
      <p:sp>
        <p:nvSpPr>
          <p:cNvPr id="21" name="Shape 19"/>
          <p:cNvSpPr/>
          <p:nvPr/>
        </p:nvSpPr>
        <p:spPr>
          <a:xfrm>
            <a:off x="640080" y="4933188"/>
            <a:ext cx="868680" cy="450342"/>
          </a:xfrm>
          <a:prstGeom prst="roundRect">
            <a:avLst>
              <a:gd name="adj" fmla="val 12183"/>
            </a:avLst>
          </a:prstGeom>
          <a:solidFill>
            <a:srgbClr val="7A3B2E"/>
          </a:solidFill>
          <a:ln/>
        </p:spPr>
      </p:sp>
      <p:sp>
        <p:nvSpPr>
          <p:cNvPr id="22" name="Text 20"/>
          <p:cNvSpPr/>
          <p:nvPr/>
        </p:nvSpPr>
        <p:spPr>
          <a:xfrm>
            <a:off x="640080" y="4933188"/>
            <a:ext cx="868680" cy="450342"/>
          </a:xfrm>
          <a:prstGeom prst="rect">
            <a:avLst/>
          </a:prstGeom>
          <a:no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1:30</a:t>
            </a:r>
            <a:endParaRPr lang="en-US" sz="1100" dirty="0"/>
          </a:p>
        </p:txBody>
      </p:sp>
      <p:sp>
        <p:nvSpPr>
          <p:cNvPr id="23" name="Text 21"/>
          <p:cNvSpPr/>
          <p:nvPr/>
        </p:nvSpPr>
        <p:spPr>
          <a:xfrm>
            <a:off x="1691640" y="4914900"/>
            <a:ext cx="9646920" cy="560070"/>
          </a:xfrm>
          <a:prstGeom prst="rect">
            <a:avLst/>
          </a:prstGeom>
          <a:noFill/>
          <a:ln/>
        </p:spPr>
        <p:txBody>
          <a:bodyPr wrap="square" rtlCol="0" anchor="ctr">
            <a:spAutoFit/>
          </a:bodyPr>
          <a:lstStyle/>
          <a:p>
            <a:pPr indent="0" marL="0">
              <a:buNone/>
            </a:pPr>
            <a:r>
              <a:rPr lang="en-US" sz="1100" dirty="0">
                <a:solidFill>
                  <a:srgbClr val="1A1A1A"/>
                </a:solidFill>
                <a:latin typeface="Calibri" pitchFamily="34" charset="0"/>
                <a:ea typeface="Calibri" pitchFamily="34" charset="-122"/>
                <a:cs typeface="Calibri" pitchFamily="34" charset="-120"/>
              </a:rPr>
              <a:t>Lab 2 (worked): count pixels. The manifest is the first CSV (rows are paintings, columns are the Met's choices); a dozen paintings download live from the Met API and rank darkest to brightest in a grid, and the corpus palette is a bar chart of defined color ranges. The manifest's messy dates set the missing-data trap: forced to numbers, half become NaN, and the average quietly drops the older half of the corpus. The after-class half, the boundary experiment and Sonnet 130's bag against the poem itself, is this week's guided homework. Image projects begin here.</a:t>
            </a:r>
            <a:endParaRPr lang="en-US" sz="1100" dirty="0"/>
          </a:p>
        </p:txBody>
      </p:sp>
      <p:sp>
        <p:nvSpPr>
          <p:cNvPr id="24" name="Shape 22"/>
          <p:cNvSpPr/>
          <p:nvPr/>
        </p:nvSpPr>
        <p:spPr>
          <a:xfrm>
            <a:off x="640080" y="5493258"/>
            <a:ext cx="868680" cy="450342"/>
          </a:xfrm>
          <a:prstGeom prst="roundRect">
            <a:avLst>
              <a:gd name="adj" fmla="val 12183"/>
            </a:avLst>
          </a:prstGeom>
          <a:solidFill>
            <a:srgbClr val="7A3B2E"/>
          </a:solidFill>
          <a:ln/>
        </p:spPr>
      </p:sp>
      <p:sp>
        <p:nvSpPr>
          <p:cNvPr id="25" name="Text 23"/>
          <p:cNvSpPr/>
          <p:nvPr/>
        </p:nvSpPr>
        <p:spPr>
          <a:xfrm>
            <a:off x="640080" y="5493258"/>
            <a:ext cx="868680" cy="450342"/>
          </a:xfrm>
          <a:prstGeom prst="rect">
            <a:avLst/>
          </a:prstGeom>
          <a:no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1:52</a:t>
            </a:r>
            <a:endParaRPr lang="en-US" sz="1100" dirty="0"/>
          </a:p>
        </p:txBody>
      </p:sp>
      <p:sp>
        <p:nvSpPr>
          <p:cNvPr id="26" name="Text 24"/>
          <p:cNvSpPr/>
          <p:nvPr/>
        </p:nvSpPr>
        <p:spPr>
          <a:xfrm>
            <a:off x="1691640" y="5474970"/>
            <a:ext cx="9646920" cy="560070"/>
          </a:xfrm>
          <a:prstGeom prst="rect">
            <a:avLst/>
          </a:prstGeom>
          <a:noFill/>
          <a:ln/>
        </p:spPr>
        <p:txBody>
          <a:bodyPr wrap="square" rtlCol="0" anchor="ctr">
            <a:spAutoFit/>
          </a:bodyPr>
          <a:lstStyle/>
          <a:p>
            <a:pPr indent="0" marL="0">
              <a:buNone/>
            </a:pPr>
            <a:r>
              <a:rPr lang="en-US" sz="1100" dirty="0">
                <a:solidFill>
                  <a:srgbClr val="1A1A1A"/>
                </a:solidFill>
                <a:latin typeface="Calibri" pitchFamily="34" charset="0"/>
                <a:ea typeface="Calibri" pitchFamily="34" charset="-122"/>
                <a:cs typeface="Calibri" pitchFamily="34" charset="-120"/>
              </a:rPr>
              <a:t>Preview of the methods ahead; the weekly routines introduced. First check-out.</a:t>
            </a:r>
            <a:endParaRPr lang="en-US" sz="11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640080"/>
            <a:ext cx="10058400" cy="731520"/>
          </a:xfrm>
          <a:prstGeom prst="rect">
            <a:avLst/>
          </a:prstGeom>
          <a:noFill/>
          <a:ln/>
        </p:spPr>
        <p:txBody>
          <a:bodyPr wrap="square" rtlCol="0" anchor="ctr"/>
          <a:lstStyle/>
          <a:p>
            <a:pPr indent="0" marL="0">
              <a:buNone/>
            </a:pPr>
            <a:r>
              <a:rPr lang="en-US" sz="3000" b="1" dirty="0">
                <a:solidFill>
                  <a:srgbClr val="1A1A1A"/>
                </a:solidFill>
                <a:latin typeface="Cambria" pitchFamily="34" charset="0"/>
                <a:ea typeface="Cambria" pitchFamily="34" charset="-122"/>
                <a:cs typeface="Cambria" pitchFamily="34" charset="-120"/>
              </a:rPr>
              <a:t>Reading &amp; homework</a:t>
            </a:r>
            <a:endParaRPr lang="en-US" sz="3000" dirty="0"/>
          </a:p>
        </p:txBody>
      </p:sp>
      <p:sp>
        <p:nvSpPr>
          <p:cNvPr id="3" name="Shape 1"/>
          <p:cNvSpPr/>
          <p:nvPr/>
        </p:nvSpPr>
        <p:spPr>
          <a:xfrm>
            <a:off x="640080" y="1673352"/>
            <a:ext cx="219456" cy="219456"/>
          </a:xfrm>
          <a:prstGeom prst="ellipse">
            <a:avLst/>
          </a:prstGeom>
          <a:solidFill>
            <a:srgbClr val="7A3B2E"/>
          </a:solidFill>
          <a:ln/>
        </p:spPr>
      </p:sp>
      <p:sp>
        <p:nvSpPr>
          <p:cNvPr id="4" name="Text 2"/>
          <p:cNvSpPr/>
          <p:nvPr/>
        </p:nvSpPr>
        <p:spPr>
          <a:xfrm>
            <a:off x="1051560" y="1600200"/>
            <a:ext cx="10424160" cy="365760"/>
          </a:xfrm>
          <a:prstGeom prst="rect">
            <a:avLst/>
          </a:prstGeom>
          <a:noFill/>
          <a:ln/>
        </p:spPr>
        <p:txBody>
          <a:bodyPr wrap="square" rtlCol="0" anchor="ctr"/>
          <a:lstStyle/>
          <a:p>
            <a:pPr indent="0" marL="0">
              <a:buNone/>
            </a:pPr>
            <a:r>
              <a:rPr lang="en-US" sz="1500" b="1" dirty="0">
                <a:solidFill>
                  <a:srgbClr val="7A3B2E"/>
                </a:solidFill>
                <a:latin typeface="Calibri" pitchFamily="34" charset="0"/>
                <a:ea typeface="Calibri" pitchFamily="34" charset="-122"/>
                <a:cs typeface="Calibri" pitchFamily="34" charset="-120"/>
              </a:rPr>
              <a:t>Reading</a:t>
            </a:r>
            <a:endParaRPr lang="en-US" sz="1500" dirty="0"/>
          </a:p>
        </p:txBody>
      </p:sp>
      <p:sp>
        <p:nvSpPr>
          <p:cNvPr id="5" name="Text 3"/>
          <p:cNvSpPr/>
          <p:nvPr/>
        </p:nvSpPr>
        <p:spPr>
          <a:xfrm>
            <a:off x="1051560" y="1984248"/>
            <a:ext cx="10424160" cy="731520"/>
          </a:xfrm>
          <a:prstGeom prst="rect">
            <a:avLst/>
          </a:prstGeom>
          <a:noFill/>
          <a:ln/>
        </p:spPr>
        <p:txBody>
          <a:bodyPr wrap="square" rtlCol="0" anchor="t">
            <a:spAutoFit/>
          </a:bodyPr>
          <a:lstStyle/>
          <a:p>
            <a:pPr indent="0" marL="0">
              <a:buNone/>
            </a:pPr>
            <a:r>
              <a:rPr lang="en-US" sz="1400" dirty="0">
                <a:solidFill>
                  <a:srgbClr val="1A1A1A"/>
                </a:solidFill>
                <a:latin typeface="Calibri" pitchFamily="34" charset="0"/>
                <a:ea typeface="Calibri" pitchFamily="34" charset="-122"/>
                <a:cs typeface="Calibri" pitchFamily="34" charset="-120"/>
              </a:rPr>
              <a:t>Bollen et al., the cognitive-distortions hockey stick (PNAS 2021), with the Schmidt et al. critique</a:t>
            </a:r>
            <a:endParaRPr lang="en-US" sz="1400" dirty="0"/>
          </a:p>
        </p:txBody>
      </p:sp>
      <p:sp>
        <p:nvSpPr>
          <p:cNvPr id="6" name="Shape 4"/>
          <p:cNvSpPr/>
          <p:nvPr/>
        </p:nvSpPr>
        <p:spPr>
          <a:xfrm>
            <a:off x="640080" y="2633472"/>
            <a:ext cx="219456" cy="219456"/>
          </a:xfrm>
          <a:prstGeom prst="ellipse">
            <a:avLst/>
          </a:prstGeom>
          <a:solidFill>
            <a:srgbClr val="3F6F5F"/>
          </a:solidFill>
          <a:ln/>
        </p:spPr>
      </p:sp>
      <p:sp>
        <p:nvSpPr>
          <p:cNvPr id="7" name="Text 5"/>
          <p:cNvSpPr/>
          <p:nvPr/>
        </p:nvSpPr>
        <p:spPr>
          <a:xfrm>
            <a:off x="1051560" y="2560320"/>
            <a:ext cx="10424160" cy="365760"/>
          </a:xfrm>
          <a:prstGeom prst="rect">
            <a:avLst/>
          </a:prstGeom>
          <a:noFill/>
          <a:ln/>
        </p:spPr>
        <p:txBody>
          <a:bodyPr wrap="square" rtlCol="0" anchor="ctr"/>
          <a:lstStyle/>
          <a:p>
            <a:pPr indent="0" marL="0">
              <a:buNone/>
            </a:pPr>
            <a:r>
              <a:rPr lang="en-US" sz="1500" b="1" dirty="0">
                <a:solidFill>
                  <a:srgbClr val="3F6F5F"/>
                </a:solidFill>
                <a:latin typeface="Calibri" pitchFamily="34" charset="0"/>
                <a:ea typeface="Calibri" pitchFamily="34" charset="-122"/>
                <a:cs typeface="Calibri" pitchFamily="34" charset="-120"/>
              </a:rPr>
              <a:t>Supplement</a:t>
            </a:r>
            <a:endParaRPr lang="en-US" sz="1500" dirty="0"/>
          </a:p>
        </p:txBody>
      </p:sp>
      <p:sp>
        <p:nvSpPr>
          <p:cNvPr id="8" name="Text 6"/>
          <p:cNvSpPr/>
          <p:nvPr/>
        </p:nvSpPr>
        <p:spPr>
          <a:xfrm>
            <a:off x="1051560" y="2944368"/>
            <a:ext cx="10424160" cy="731520"/>
          </a:xfrm>
          <a:prstGeom prst="rect">
            <a:avLst/>
          </a:prstGeom>
          <a:noFill/>
          <a:ln/>
        </p:spPr>
        <p:txBody>
          <a:bodyPr wrap="square" rtlCol="0" anchor="t">
            <a:spAutoFit/>
          </a:bodyPr>
          <a:lstStyle/>
          <a:p>
            <a:pPr indent="0" marL="0">
              <a:buNone/>
            </a:pPr>
            <a:r>
              <a:rPr lang="en-US" sz="1400" dirty="0">
                <a:solidFill>
                  <a:srgbClr val="1A1A1A"/>
                </a:solidFill>
                <a:latin typeface="Calibri" pitchFamily="34" charset="0"/>
                <a:ea typeface="Calibri" pitchFamily="34" charset="-122"/>
                <a:cs typeface="Calibri" pitchFamily="34" charset="-120"/>
              </a:rPr>
              <a:t>Robin Sloan, Writing with the machine; Drucker, Humanities Approaches to Graphical Display (DHQ 2011), the case that all data is capta</a:t>
            </a:r>
            <a:endParaRPr lang="en-US" sz="1400" dirty="0"/>
          </a:p>
        </p:txBody>
      </p:sp>
      <p:sp>
        <p:nvSpPr>
          <p:cNvPr id="9" name="Shape 7"/>
          <p:cNvSpPr/>
          <p:nvPr/>
        </p:nvSpPr>
        <p:spPr>
          <a:xfrm>
            <a:off x="640080" y="3593592"/>
            <a:ext cx="219456" cy="219456"/>
          </a:xfrm>
          <a:prstGeom prst="ellipse">
            <a:avLst/>
          </a:prstGeom>
          <a:solidFill>
            <a:srgbClr val="B9852F"/>
          </a:solidFill>
          <a:ln/>
        </p:spPr>
      </p:sp>
      <p:sp>
        <p:nvSpPr>
          <p:cNvPr id="10" name="Text 8"/>
          <p:cNvSpPr/>
          <p:nvPr/>
        </p:nvSpPr>
        <p:spPr>
          <a:xfrm>
            <a:off x="1051560" y="3520440"/>
            <a:ext cx="10424160" cy="365760"/>
          </a:xfrm>
          <a:prstGeom prst="rect">
            <a:avLst/>
          </a:prstGeom>
          <a:noFill/>
          <a:ln/>
        </p:spPr>
        <p:txBody>
          <a:bodyPr wrap="square" rtlCol="0" anchor="ctr"/>
          <a:lstStyle/>
          <a:p>
            <a:pPr indent="0" marL="0">
              <a:buNone/>
            </a:pPr>
            <a:r>
              <a:rPr lang="en-US" sz="1500" b="1" dirty="0">
                <a:solidFill>
                  <a:srgbClr val="B9852F"/>
                </a:solidFill>
                <a:latin typeface="Calibri" pitchFamily="34" charset="0"/>
                <a:ea typeface="Calibri" pitchFamily="34" charset="-122"/>
                <a:cs typeface="Calibri" pitchFamily="34" charset="-120"/>
              </a:rPr>
              <a:t>Deeper (optional)</a:t>
            </a:r>
            <a:endParaRPr lang="en-US" sz="1500" dirty="0"/>
          </a:p>
        </p:txBody>
      </p:sp>
      <p:sp>
        <p:nvSpPr>
          <p:cNvPr id="11" name="Text 9"/>
          <p:cNvSpPr/>
          <p:nvPr/>
        </p:nvSpPr>
        <p:spPr>
          <a:xfrm>
            <a:off x="1051560" y="3904488"/>
            <a:ext cx="10424160" cy="731520"/>
          </a:xfrm>
          <a:prstGeom prst="rect">
            <a:avLst/>
          </a:prstGeom>
          <a:noFill/>
          <a:ln/>
        </p:spPr>
        <p:txBody>
          <a:bodyPr wrap="square" rtlCol="0" anchor="t">
            <a:spAutoFit/>
          </a:bodyPr>
          <a:lstStyle/>
          <a:p>
            <a:pPr indent="0" marL="0">
              <a:buNone/>
            </a:pPr>
            <a:r>
              <a:rPr lang="en-US" sz="1400" dirty="0">
                <a:solidFill>
                  <a:srgbClr val="1A1A1A"/>
                </a:solidFill>
                <a:latin typeface="Calibri" pitchFamily="34" charset="0"/>
                <a:ea typeface="Calibri" pitchFamily="34" charset="-122"/>
                <a:cs typeface="Calibri" pitchFamily="34" charset="-120"/>
              </a:rPr>
              <a:t>Moretti, Conjectures on World Literature (NLR 2000), the founding argument for reading culture at scale</a:t>
            </a:r>
            <a:endParaRPr lang="en-US" sz="1400" dirty="0"/>
          </a:p>
        </p:txBody>
      </p:sp>
      <p:sp>
        <p:nvSpPr>
          <p:cNvPr id="12" name="Shape 10"/>
          <p:cNvSpPr/>
          <p:nvPr/>
        </p:nvSpPr>
        <p:spPr>
          <a:xfrm>
            <a:off x="640080" y="4553712"/>
            <a:ext cx="219456" cy="219456"/>
          </a:xfrm>
          <a:prstGeom prst="ellipse">
            <a:avLst/>
          </a:prstGeom>
          <a:solidFill>
            <a:srgbClr val="3F6F5F"/>
          </a:solidFill>
          <a:ln/>
        </p:spPr>
      </p:sp>
      <p:sp>
        <p:nvSpPr>
          <p:cNvPr id="13" name="Text 11"/>
          <p:cNvSpPr/>
          <p:nvPr/>
        </p:nvSpPr>
        <p:spPr>
          <a:xfrm>
            <a:off x="1051560" y="4480560"/>
            <a:ext cx="10424160" cy="365760"/>
          </a:xfrm>
          <a:prstGeom prst="rect">
            <a:avLst/>
          </a:prstGeom>
          <a:noFill/>
          <a:ln/>
        </p:spPr>
        <p:txBody>
          <a:bodyPr wrap="square" rtlCol="0" anchor="ctr"/>
          <a:lstStyle/>
          <a:p>
            <a:pPr indent="0" marL="0">
              <a:buNone/>
            </a:pPr>
            <a:r>
              <a:rPr lang="en-US" sz="1500" b="1" dirty="0">
                <a:solidFill>
                  <a:srgbClr val="3F6F5F"/>
                </a:solidFill>
                <a:latin typeface="Calibri" pitchFamily="34" charset="0"/>
                <a:ea typeface="Calibri" pitchFamily="34" charset="-122"/>
                <a:cs typeface="Calibri" pitchFamily="34" charset="-120"/>
              </a:rPr>
              <a:t>Sketch</a:t>
            </a:r>
            <a:endParaRPr lang="en-US" sz="1500" dirty="0"/>
          </a:p>
        </p:txBody>
      </p:sp>
      <p:sp>
        <p:nvSpPr>
          <p:cNvPr id="14" name="Text 12"/>
          <p:cNvSpPr/>
          <p:nvPr/>
        </p:nvSpPr>
        <p:spPr>
          <a:xfrm>
            <a:off x="1051560" y="4864608"/>
            <a:ext cx="10424160" cy="731520"/>
          </a:xfrm>
          <a:prstGeom prst="rect">
            <a:avLst/>
          </a:prstGeom>
          <a:noFill/>
          <a:ln/>
        </p:spPr>
        <p:txBody>
          <a:bodyPr wrap="square" rtlCol="0" anchor="t">
            <a:spAutoFit/>
          </a:bodyPr>
          <a:lstStyle/>
          <a:p>
            <a:pPr indent="0" marL="0">
              <a:buNone/>
            </a:pPr>
            <a:r>
              <a:rPr lang="en-US" sz="1400" dirty="0">
                <a:solidFill>
                  <a:srgbClr val="1A1A1A"/>
                </a:solidFill>
                <a:latin typeface="Calibri" pitchFamily="34" charset="0"/>
                <a:ea typeface="Calibri" pitchFamily="34" charset="-122"/>
                <a:cs typeface="Calibri" pitchFamily="34" charset="-120"/>
              </a:rPr>
              <a:t>A favorite Pudding piece and what it counted; the question from your life it inspires; the notebook's after-class half (~20 minutes).</a:t>
            </a:r>
            <a:endParaRPr lang="en-US" sz="1400" dirty="0"/>
          </a:p>
        </p:txBody>
      </p:sp>
      <p:sp>
        <p:nvSpPr>
          <p:cNvPr id="15" name="Shape 13"/>
          <p:cNvSpPr/>
          <p:nvPr/>
        </p:nvSpPr>
        <p:spPr>
          <a:xfrm>
            <a:off x="640080" y="5513832"/>
            <a:ext cx="219456" cy="219456"/>
          </a:xfrm>
          <a:prstGeom prst="ellipse">
            <a:avLst/>
          </a:prstGeom>
          <a:solidFill>
            <a:srgbClr val="7A3B2E"/>
          </a:solidFill>
          <a:ln/>
        </p:spPr>
      </p:sp>
      <p:sp>
        <p:nvSpPr>
          <p:cNvPr id="16" name="Text 14"/>
          <p:cNvSpPr/>
          <p:nvPr/>
        </p:nvSpPr>
        <p:spPr>
          <a:xfrm>
            <a:off x="1051560" y="5440680"/>
            <a:ext cx="10424160" cy="365760"/>
          </a:xfrm>
          <a:prstGeom prst="rect">
            <a:avLst/>
          </a:prstGeom>
          <a:noFill/>
          <a:ln/>
        </p:spPr>
        <p:txBody>
          <a:bodyPr wrap="square" rtlCol="0" anchor="ctr"/>
          <a:lstStyle/>
          <a:p>
            <a:pPr indent="0" marL="0">
              <a:buNone/>
            </a:pPr>
            <a:r>
              <a:rPr lang="en-US" sz="1500" b="1" dirty="0">
                <a:solidFill>
                  <a:srgbClr val="7A3B2E"/>
                </a:solidFill>
                <a:latin typeface="Calibri" pitchFamily="34" charset="0"/>
                <a:ea typeface="Calibri" pitchFamily="34" charset="-122"/>
                <a:cs typeface="Calibri" pitchFamily="34" charset="-120"/>
              </a:rPr>
              <a:t>Check (AI closed)</a:t>
            </a:r>
            <a:endParaRPr lang="en-US" sz="1500" dirty="0"/>
          </a:p>
        </p:txBody>
      </p:sp>
      <p:sp>
        <p:nvSpPr>
          <p:cNvPr id="17" name="Text 15"/>
          <p:cNvSpPr/>
          <p:nvPr/>
        </p:nvSpPr>
        <p:spPr>
          <a:xfrm>
            <a:off x="1051560" y="5824728"/>
            <a:ext cx="10424160" cy="731520"/>
          </a:xfrm>
          <a:prstGeom prst="rect">
            <a:avLst/>
          </a:prstGeom>
          <a:noFill/>
          <a:ln/>
        </p:spPr>
        <p:txBody>
          <a:bodyPr wrap="square" rtlCol="0" anchor="t">
            <a:spAutoFit/>
          </a:bodyPr>
          <a:lstStyle/>
          <a:p>
            <a:pPr indent="0" marL="0">
              <a:buNone/>
            </a:pPr>
            <a:r>
              <a:rPr lang="en-US" sz="1400" dirty="0">
                <a:solidFill>
                  <a:srgbClr val="1A1A1A"/>
                </a:solidFill>
                <a:latin typeface="Calibri" pitchFamily="34" charset="0"/>
                <a:ea typeface="Calibri" pitchFamily="34" charset="-122"/>
                <a:cs typeface="Calibri" pitchFamily="34" charset="-120"/>
              </a:rPr>
              <a:t>Trace it: one written sentence predicting what your cell does before you run it. (Competency 1.)</a:t>
            </a:r>
            <a:endParaRPr lang="en-US" sz="14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640080"/>
            <a:ext cx="10058400" cy="320040"/>
          </a:xfrm>
          <a:prstGeom prst="rect">
            <a:avLst/>
          </a:prstGeom>
          <a:noFill/>
          <a:ln/>
        </p:spPr>
        <p:txBody>
          <a:bodyPr wrap="square" rtlCol="0" anchor="ctr"/>
          <a:lstStyle/>
          <a:p>
            <a:pPr indent="0" marL="0">
              <a:buNone/>
            </a:pPr>
            <a:r>
              <a:rPr lang="en-US" sz="1300" b="1" spc="300" kern="0" dirty="0">
                <a:solidFill>
                  <a:srgbClr val="7A3B2E"/>
                </a:solidFill>
                <a:latin typeface="Calibri" pitchFamily="34" charset="0"/>
                <a:ea typeface="Calibri" pitchFamily="34" charset="-122"/>
                <a:cs typeface="Calibri" pitchFamily="34" charset="-120"/>
              </a:rPr>
              <a:t>HOW THIS WEEK CONNECTS</a:t>
            </a:r>
            <a:endParaRPr lang="en-US" sz="1300" dirty="0"/>
          </a:p>
        </p:txBody>
      </p:sp>
      <p:sp>
        <p:nvSpPr>
          <p:cNvPr id="3" name="Text 1"/>
          <p:cNvSpPr/>
          <p:nvPr/>
        </p:nvSpPr>
        <p:spPr>
          <a:xfrm>
            <a:off x="640080" y="987552"/>
            <a:ext cx="10058400" cy="640080"/>
          </a:xfrm>
          <a:prstGeom prst="rect">
            <a:avLst/>
          </a:prstGeom>
          <a:noFill/>
          <a:ln/>
        </p:spPr>
        <p:txBody>
          <a:bodyPr wrap="square" rtlCol="0" anchor="ctr"/>
          <a:lstStyle/>
          <a:p>
            <a:pPr indent="0" marL="0">
              <a:buNone/>
            </a:pPr>
            <a:r>
              <a:rPr lang="en-US" sz="2800" b="1" dirty="0">
                <a:solidFill>
                  <a:srgbClr val="1A1A1A"/>
                </a:solidFill>
                <a:latin typeface="Cambria" pitchFamily="34" charset="0"/>
                <a:ea typeface="Cambria" pitchFamily="34" charset="-122"/>
                <a:cs typeface="Cambria" pitchFamily="34" charset="-120"/>
              </a:rPr>
              <a:t>The course's through-lines</a:t>
            </a:r>
            <a:endParaRPr lang="en-US" sz="2800" dirty="0"/>
          </a:p>
        </p:txBody>
      </p:sp>
      <p:sp>
        <p:nvSpPr>
          <p:cNvPr id="4" name="Shape 2"/>
          <p:cNvSpPr/>
          <p:nvPr/>
        </p:nvSpPr>
        <p:spPr>
          <a:xfrm>
            <a:off x="640080" y="2057400"/>
            <a:ext cx="457200" cy="457200"/>
          </a:xfrm>
          <a:prstGeom prst="roundRect">
            <a:avLst>
              <a:gd name="adj" fmla="val 16000"/>
            </a:avLst>
          </a:prstGeom>
          <a:solidFill>
            <a:srgbClr val="7A3B2E"/>
          </a:solidFill>
          <a:ln/>
        </p:spPr>
      </p:sp>
      <p:sp>
        <p:nvSpPr>
          <p:cNvPr id="5" name="Text 3"/>
          <p:cNvSpPr/>
          <p:nvPr/>
        </p:nvSpPr>
        <p:spPr>
          <a:xfrm>
            <a:off x="640080" y="2057400"/>
            <a:ext cx="457200" cy="457200"/>
          </a:xfrm>
          <a:prstGeom prst="rect">
            <a:avLst/>
          </a:prstGeom>
          <a:noFill/>
          <a:ln/>
        </p:spPr>
        <p:txBody>
          <a:bodyPr wrap="square" rtlCol="0" anchor="ctr"/>
          <a:lstStyle/>
          <a:p>
            <a:pPr algn="ctr" indent="0" marL="0">
              <a:buNone/>
            </a:pPr>
            <a:r>
              <a:rPr lang="en-US" sz="2000" b="1" dirty="0">
                <a:solidFill>
                  <a:srgbClr val="FFFFFF"/>
                </a:solidFill>
                <a:latin typeface="Cambria" pitchFamily="34" charset="0"/>
                <a:ea typeface="Cambria" pitchFamily="34" charset="-122"/>
                <a:cs typeface="Cambria" pitchFamily="34" charset="-120"/>
              </a:rPr>
              <a:t>1</a:t>
            </a:r>
            <a:endParaRPr lang="en-US" sz="2000" dirty="0"/>
          </a:p>
        </p:txBody>
      </p:sp>
      <p:sp>
        <p:nvSpPr>
          <p:cNvPr id="6" name="Text 4"/>
          <p:cNvSpPr/>
          <p:nvPr/>
        </p:nvSpPr>
        <p:spPr>
          <a:xfrm>
            <a:off x="1371600" y="2020824"/>
            <a:ext cx="10332720" cy="411480"/>
          </a:xfrm>
          <a:prstGeom prst="rect">
            <a:avLst/>
          </a:prstGeom>
          <a:noFill/>
          <a:ln/>
        </p:spPr>
        <p:txBody>
          <a:bodyPr wrap="square" rtlCol="0" anchor="ctr"/>
          <a:lstStyle/>
          <a:p>
            <a:pPr indent="0" marL="0">
              <a:buNone/>
            </a:pPr>
            <a:r>
              <a:rPr lang="en-US" sz="1900" b="1" dirty="0">
                <a:solidFill>
                  <a:srgbClr val="7A3B2E"/>
                </a:solidFill>
                <a:latin typeface="Cambria" pitchFamily="34" charset="0"/>
                <a:ea typeface="Cambria" pitchFamily="34" charset="-122"/>
                <a:cs typeface="Cambria" pitchFamily="34" charset="-120"/>
              </a:rPr>
              <a:t>Read work critically</a:t>
            </a:r>
            <a:endParaRPr lang="en-US" sz="1900" dirty="0"/>
          </a:p>
        </p:txBody>
      </p:sp>
      <p:sp>
        <p:nvSpPr>
          <p:cNvPr id="7" name="Text 5"/>
          <p:cNvSpPr/>
          <p:nvPr/>
        </p:nvSpPr>
        <p:spPr>
          <a:xfrm>
            <a:off x="1371600" y="2441448"/>
            <a:ext cx="10332720" cy="914400"/>
          </a:xfrm>
          <a:prstGeom prst="rect">
            <a:avLst/>
          </a:prstGeom>
          <a:noFill/>
          <a:ln/>
        </p:spPr>
        <p:txBody>
          <a:bodyPr wrap="square" rtlCol="0" anchor="t">
            <a:spAutoFit/>
          </a:bodyPr>
          <a:lstStyle/>
          <a:p>
            <a:pPr indent="0" marL="0">
              <a:lnSpc>
                <a:spcPct val="112000"/>
              </a:lnSpc>
              <a:buNone/>
            </a:pPr>
            <a:r>
              <a:rPr lang="en-US" sz="1450" dirty="0">
                <a:solidFill>
                  <a:srgbClr val="1A1A1A"/>
                </a:solidFill>
                <a:latin typeface="Calibri" pitchFamily="34" charset="0"/>
                <a:ea typeface="Calibri" pitchFamily="34" charset="-122"/>
                <a:cs typeface="Calibri" pitchFamily="34" charset="-120"/>
              </a:rPr>
              <a:t>She Giggles, He Gallops is excellent and its choices are debatable. Admiring and questioning at once is the habit the course is built on.</a:t>
            </a:r>
            <a:endParaRPr lang="en-US" sz="1450" dirty="0"/>
          </a:p>
        </p:txBody>
      </p:sp>
      <p:sp>
        <p:nvSpPr>
          <p:cNvPr id="8" name="Shape 6"/>
          <p:cNvSpPr/>
          <p:nvPr/>
        </p:nvSpPr>
        <p:spPr>
          <a:xfrm>
            <a:off x="640080" y="3520440"/>
            <a:ext cx="457200" cy="457200"/>
          </a:xfrm>
          <a:prstGeom prst="roundRect">
            <a:avLst>
              <a:gd name="adj" fmla="val 16000"/>
            </a:avLst>
          </a:prstGeom>
          <a:solidFill>
            <a:srgbClr val="3F6F5F"/>
          </a:solidFill>
          <a:ln/>
        </p:spPr>
      </p:sp>
      <p:sp>
        <p:nvSpPr>
          <p:cNvPr id="9" name="Text 7"/>
          <p:cNvSpPr/>
          <p:nvPr/>
        </p:nvSpPr>
        <p:spPr>
          <a:xfrm>
            <a:off x="640080" y="3520440"/>
            <a:ext cx="457200" cy="457200"/>
          </a:xfrm>
          <a:prstGeom prst="rect">
            <a:avLst/>
          </a:prstGeom>
          <a:noFill/>
          <a:ln/>
        </p:spPr>
        <p:txBody>
          <a:bodyPr wrap="square" rtlCol="0" anchor="ctr"/>
          <a:lstStyle/>
          <a:p>
            <a:pPr algn="ctr" indent="0" marL="0">
              <a:buNone/>
            </a:pPr>
            <a:r>
              <a:rPr lang="en-US" sz="2000" b="1" dirty="0">
                <a:solidFill>
                  <a:srgbClr val="FFFFFF"/>
                </a:solidFill>
                <a:latin typeface="Cambria" pitchFamily="34" charset="0"/>
                <a:ea typeface="Cambria" pitchFamily="34" charset="-122"/>
                <a:cs typeface="Cambria" pitchFamily="34" charset="-120"/>
              </a:rPr>
              <a:t>2</a:t>
            </a:r>
            <a:endParaRPr lang="en-US" sz="2000" dirty="0"/>
          </a:p>
        </p:txBody>
      </p:sp>
      <p:sp>
        <p:nvSpPr>
          <p:cNvPr id="10" name="Text 8"/>
          <p:cNvSpPr/>
          <p:nvPr/>
        </p:nvSpPr>
        <p:spPr>
          <a:xfrm>
            <a:off x="1371600" y="3483864"/>
            <a:ext cx="10332720" cy="411480"/>
          </a:xfrm>
          <a:prstGeom prst="rect">
            <a:avLst/>
          </a:prstGeom>
          <a:noFill/>
          <a:ln/>
        </p:spPr>
        <p:txBody>
          <a:bodyPr wrap="square" rtlCol="0" anchor="ctr"/>
          <a:lstStyle/>
          <a:p>
            <a:pPr indent="0" marL="0">
              <a:buNone/>
            </a:pPr>
            <a:r>
              <a:rPr lang="en-US" sz="1900" b="1" dirty="0">
                <a:solidFill>
                  <a:srgbClr val="3F6F5F"/>
                </a:solidFill>
                <a:latin typeface="Cambria" pitchFamily="34" charset="0"/>
                <a:ea typeface="Cambria" pitchFamily="34" charset="-122"/>
                <a:cs typeface="Cambria" pitchFamily="34" charset="-120"/>
              </a:rPr>
              <a:t>Make something real</a:t>
            </a:r>
            <a:endParaRPr lang="en-US" sz="1900" dirty="0"/>
          </a:p>
        </p:txBody>
      </p:sp>
      <p:sp>
        <p:nvSpPr>
          <p:cNvPr id="11" name="Text 9"/>
          <p:cNvSpPr/>
          <p:nvPr/>
        </p:nvSpPr>
        <p:spPr>
          <a:xfrm>
            <a:off x="1371600" y="3904488"/>
            <a:ext cx="10332720" cy="914400"/>
          </a:xfrm>
          <a:prstGeom prst="rect">
            <a:avLst/>
          </a:prstGeom>
          <a:noFill/>
          <a:ln/>
        </p:spPr>
        <p:txBody>
          <a:bodyPr wrap="square" rtlCol="0" anchor="t">
            <a:spAutoFit/>
          </a:bodyPr>
          <a:lstStyle/>
          <a:p>
            <a:pPr indent="0" marL="0">
              <a:lnSpc>
                <a:spcPct val="112000"/>
              </a:lnSpc>
              <a:buNone/>
            </a:pPr>
            <a:r>
              <a:rPr lang="en-US" sz="1450" dirty="0">
                <a:solidFill>
                  <a:srgbClr val="1A1A1A"/>
                </a:solidFill>
                <a:latin typeface="Calibri" pitchFamily="34" charset="0"/>
                <a:ea typeface="Calibri" pitchFamily="34" charset="-122"/>
                <a:cs typeface="Calibri" pitchFamily="34" charset="-120"/>
              </a:rPr>
              <a:t>A complete investigation by the first break, before any theory.</a:t>
            </a:r>
            <a:endParaRPr lang="en-US" sz="1450" dirty="0"/>
          </a:p>
        </p:txBody>
      </p:sp>
      <p:sp>
        <p:nvSpPr>
          <p:cNvPr id="12" name="Shape 10"/>
          <p:cNvSpPr/>
          <p:nvPr/>
        </p:nvSpPr>
        <p:spPr>
          <a:xfrm>
            <a:off x="640080" y="4983480"/>
            <a:ext cx="457200" cy="457200"/>
          </a:xfrm>
          <a:prstGeom prst="roundRect">
            <a:avLst>
              <a:gd name="adj" fmla="val 16000"/>
            </a:avLst>
          </a:prstGeom>
          <a:solidFill>
            <a:srgbClr val="B9852F"/>
          </a:solidFill>
          <a:ln/>
        </p:spPr>
      </p:sp>
      <p:sp>
        <p:nvSpPr>
          <p:cNvPr id="13" name="Text 11"/>
          <p:cNvSpPr/>
          <p:nvPr/>
        </p:nvSpPr>
        <p:spPr>
          <a:xfrm>
            <a:off x="640080" y="4983480"/>
            <a:ext cx="457200" cy="457200"/>
          </a:xfrm>
          <a:prstGeom prst="rect">
            <a:avLst/>
          </a:prstGeom>
          <a:noFill/>
          <a:ln/>
        </p:spPr>
        <p:txBody>
          <a:bodyPr wrap="square" rtlCol="0" anchor="ctr"/>
          <a:lstStyle/>
          <a:p>
            <a:pPr algn="ctr" indent="0" marL="0">
              <a:buNone/>
            </a:pPr>
            <a:r>
              <a:rPr lang="en-US" sz="2000" b="1" dirty="0">
                <a:solidFill>
                  <a:srgbClr val="FFFFFF"/>
                </a:solidFill>
                <a:latin typeface="Cambria" pitchFamily="34" charset="0"/>
                <a:ea typeface="Cambria" pitchFamily="34" charset="-122"/>
                <a:cs typeface="Cambria" pitchFamily="34" charset="-120"/>
              </a:rPr>
              <a:t>3</a:t>
            </a:r>
            <a:endParaRPr lang="en-US" sz="2000" dirty="0"/>
          </a:p>
        </p:txBody>
      </p:sp>
      <p:sp>
        <p:nvSpPr>
          <p:cNvPr id="14" name="Text 12"/>
          <p:cNvSpPr/>
          <p:nvPr/>
        </p:nvSpPr>
        <p:spPr>
          <a:xfrm>
            <a:off x="1371600" y="4946904"/>
            <a:ext cx="10332720" cy="411480"/>
          </a:xfrm>
          <a:prstGeom prst="rect">
            <a:avLst/>
          </a:prstGeom>
          <a:noFill/>
          <a:ln/>
        </p:spPr>
        <p:txBody>
          <a:bodyPr wrap="square" rtlCol="0" anchor="ctr"/>
          <a:lstStyle/>
          <a:p>
            <a:pPr indent="0" marL="0">
              <a:buNone/>
            </a:pPr>
            <a:r>
              <a:rPr lang="en-US" sz="1900" b="1" dirty="0">
                <a:solidFill>
                  <a:srgbClr val="B9852F"/>
                </a:solidFill>
                <a:latin typeface="Cambria" pitchFamily="34" charset="0"/>
                <a:ea typeface="Cambria" pitchFamily="34" charset="-122"/>
                <a:cs typeface="Cambria" pitchFamily="34" charset="-120"/>
              </a:rPr>
              <a:t>Images are culture too</a:t>
            </a:r>
            <a:endParaRPr lang="en-US" sz="1900" dirty="0"/>
          </a:p>
        </p:txBody>
      </p:sp>
      <p:sp>
        <p:nvSpPr>
          <p:cNvPr id="15" name="Text 13"/>
          <p:cNvSpPr/>
          <p:nvPr/>
        </p:nvSpPr>
        <p:spPr>
          <a:xfrm>
            <a:off x="1371600" y="5367528"/>
            <a:ext cx="10332720" cy="914400"/>
          </a:xfrm>
          <a:prstGeom prst="rect">
            <a:avLst/>
          </a:prstGeom>
          <a:noFill/>
          <a:ln/>
        </p:spPr>
        <p:txBody>
          <a:bodyPr wrap="square" rtlCol="0" anchor="t">
            <a:spAutoFit/>
          </a:bodyPr>
          <a:lstStyle/>
          <a:p>
            <a:pPr indent="0" marL="0">
              <a:lnSpc>
                <a:spcPct val="112000"/>
              </a:lnSpc>
              <a:buNone/>
            </a:pPr>
            <a:r>
              <a:rPr lang="en-US" sz="1450" dirty="0">
                <a:solidFill>
                  <a:srgbClr val="1A1A1A"/>
                </a:solidFill>
                <a:latin typeface="Calibri" pitchFamily="34" charset="0"/>
                <a:ea typeface="Calibri" pitchFamily="34" charset="-122"/>
                <a:cs typeface="Calibri" pitchFamily="34" charset="-120"/>
              </a:rPr>
              <a:t>A picture is numbers: you counted pixels on day one, and images continue as a co-equal corpus through all ten weeks.</a:t>
            </a:r>
            <a:endParaRPr lang="en-US" sz="14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4E261D"/>
        </a:solidFill>
      </p:bgPr>
    </p:bg>
    <p:spTree>
      <p:nvGrpSpPr>
        <p:cNvPr id="1" name=""/>
        <p:cNvGrpSpPr/>
        <p:nvPr/>
      </p:nvGrpSpPr>
      <p:grpSpPr>
        <a:xfrm>
          <a:off x="0" y="0"/>
          <a:ext cx="0" cy="0"/>
          <a:chOff x="0" y="0"/>
          <a:chExt cx="0" cy="0"/>
        </a:xfrm>
      </p:grpSpPr>
      <p:sp>
        <p:nvSpPr>
          <p:cNvPr id="2" name="Text 0"/>
          <p:cNvSpPr/>
          <p:nvPr/>
        </p:nvSpPr>
        <p:spPr>
          <a:xfrm>
            <a:off x="640080" y="1005840"/>
            <a:ext cx="8229600" cy="320040"/>
          </a:xfrm>
          <a:prstGeom prst="rect">
            <a:avLst/>
          </a:prstGeom>
          <a:noFill/>
          <a:ln/>
        </p:spPr>
        <p:txBody>
          <a:bodyPr wrap="square" rtlCol="0" anchor="ctr"/>
          <a:lstStyle/>
          <a:p>
            <a:pPr indent="0" marL="0">
              <a:buNone/>
            </a:pPr>
            <a:r>
              <a:rPr lang="en-US" sz="1300" b="1" spc="300" kern="0" dirty="0">
                <a:solidFill>
                  <a:srgbClr val="B9852F"/>
                </a:solidFill>
                <a:latin typeface="Calibri" pitchFamily="34" charset="0"/>
                <a:ea typeface="Calibri" pitchFamily="34" charset="-122"/>
                <a:cs typeface="Calibri" pitchFamily="34" charset="-120"/>
              </a:rPr>
              <a:t>THE CHECK, AI CLOSED</a:t>
            </a:r>
            <a:endParaRPr lang="en-US" sz="1300" dirty="0"/>
          </a:p>
        </p:txBody>
      </p:sp>
      <p:sp>
        <p:nvSpPr>
          <p:cNvPr id="3" name="Text 1"/>
          <p:cNvSpPr/>
          <p:nvPr/>
        </p:nvSpPr>
        <p:spPr>
          <a:xfrm>
            <a:off x="640080" y="1645920"/>
            <a:ext cx="8686800" cy="3108960"/>
          </a:xfrm>
          <a:prstGeom prst="rect">
            <a:avLst/>
          </a:prstGeom>
          <a:noFill/>
          <a:ln/>
        </p:spPr>
        <p:txBody>
          <a:bodyPr wrap="square" rtlCol="0" anchor="t">
            <a:spAutoFit/>
          </a:bodyPr>
          <a:lstStyle/>
          <a:p>
            <a:pPr indent="0" marL="0">
              <a:lnSpc>
                <a:spcPct val="115000"/>
              </a:lnSpc>
              <a:buNone/>
            </a:pPr>
            <a:r>
              <a:rPr lang="en-US" sz="2600" dirty="0">
                <a:solidFill>
                  <a:srgbClr val="FFFFFF"/>
                </a:solidFill>
                <a:latin typeface="Cambria" pitchFamily="34" charset="0"/>
                <a:ea typeface="Cambria" pitchFamily="34" charset="-122"/>
                <a:cs typeface="Cambria" pitchFamily="34" charset="-120"/>
              </a:rPr>
              <a:t>Trace it: one written sentence predicting what your cell does before you run it. (Competency 1.)</a:t>
            </a:r>
            <a:endParaRPr lang="en-US" sz="2600" dirty="0"/>
          </a:p>
        </p:txBody>
      </p:sp>
      <p:sp>
        <p:nvSpPr>
          <p:cNvPr id="4" name="Text 2"/>
          <p:cNvSpPr/>
          <p:nvPr/>
        </p:nvSpPr>
        <p:spPr>
          <a:xfrm>
            <a:off x="640080" y="6126480"/>
            <a:ext cx="7315200" cy="365760"/>
          </a:xfrm>
          <a:prstGeom prst="rect">
            <a:avLst/>
          </a:prstGeom>
          <a:noFill/>
          <a:ln/>
        </p:spPr>
        <p:txBody>
          <a:bodyPr wrap="square" rtlCol="0" anchor="ctr"/>
          <a:lstStyle/>
          <a:p>
            <a:pPr indent="0" marL="0">
              <a:buNone/>
            </a:pPr>
            <a:r>
              <a:rPr lang="en-US" sz="1200" dirty="0">
                <a:solidFill>
                  <a:srgbClr val="E8DCD6"/>
                </a:solidFill>
                <a:latin typeface="Calibri" pitchFamily="34" charset="0"/>
                <a:ea typeface="Calibri" pitchFamily="34" charset="-122"/>
                <a:cs typeface="Calibri" pitchFamily="34" charset="-120"/>
              </a:rPr>
              <a:t>Culture as Data  ·  Week 1</a:t>
            </a:r>
            <a:endParaRPr lang="en-US" sz="1200" dirty="0"/>
          </a:p>
        </p:txBody>
      </p:sp>
      <p:sp>
        <p:nvSpPr>
          <p:cNvPr id="5" name="Shape 3"/>
          <p:cNvSpPr/>
          <p:nvPr/>
        </p:nvSpPr>
        <p:spPr>
          <a:xfrm>
            <a:off x="11006176" y="4841304"/>
            <a:ext cx="70992" cy="70992"/>
          </a:xfrm>
          <a:prstGeom prst="ellipse">
            <a:avLst/>
          </a:prstGeom>
          <a:solidFill>
            <a:srgbClr val="7A3B2E"/>
          </a:solidFill>
          <a:ln/>
        </p:spPr>
      </p:sp>
      <p:sp>
        <p:nvSpPr>
          <p:cNvPr id="6" name="Shape 4"/>
          <p:cNvSpPr/>
          <p:nvPr/>
        </p:nvSpPr>
        <p:spPr>
          <a:xfrm>
            <a:off x="10333730" y="5139734"/>
            <a:ext cx="51926" cy="51926"/>
          </a:xfrm>
          <a:prstGeom prst="ellipse">
            <a:avLst/>
          </a:prstGeom>
          <a:solidFill>
            <a:srgbClr val="3F6F5F"/>
          </a:solidFill>
          <a:ln/>
        </p:spPr>
      </p:sp>
      <p:sp>
        <p:nvSpPr>
          <p:cNvPr id="7" name="Shape 5"/>
          <p:cNvSpPr/>
          <p:nvPr/>
        </p:nvSpPr>
        <p:spPr>
          <a:xfrm>
            <a:off x="9655357" y="4517202"/>
            <a:ext cx="66260" cy="66260"/>
          </a:xfrm>
          <a:prstGeom prst="ellipse">
            <a:avLst/>
          </a:prstGeom>
          <a:solidFill>
            <a:srgbClr val="B9852F"/>
          </a:solidFill>
          <a:ln/>
        </p:spPr>
      </p:sp>
      <p:sp>
        <p:nvSpPr>
          <p:cNvPr id="8" name="Shape 6"/>
          <p:cNvSpPr/>
          <p:nvPr/>
        </p:nvSpPr>
        <p:spPr>
          <a:xfrm>
            <a:off x="10037857" y="5434969"/>
            <a:ext cx="81992" cy="81992"/>
          </a:xfrm>
          <a:prstGeom prst="ellipse">
            <a:avLst/>
          </a:prstGeom>
          <a:solidFill>
            <a:srgbClr val="7A3B2E"/>
          </a:solidFill>
          <a:ln/>
        </p:spPr>
      </p:sp>
      <p:sp>
        <p:nvSpPr>
          <p:cNvPr id="9" name="Shape 7"/>
          <p:cNvSpPr/>
          <p:nvPr/>
        </p:nvSpPr>
        <p:spPr>
          <a:xfrm>
            <a:off x="9987711" y="5142214"/>
            <a:ext cx="67117" cy="67117"/>
          </a:xfrm>
          <a:prstGeom prst="ellipse">
            <a:avLst/>
          </a:prstGeom>
          <a:solidFill>
            <a:srgbClr val="3F6F5F"/>
          </a:solidFill>
          <a:ln/>
        </p:spPr>
      </p:sp>
      <p:sp>
        <p:nvSpPr>
          <p:cNvPr id="10" name="Shape 8"/>
          <p:cNvSpPr/>
          <p:nvPr/>
        </p:nvSpPr>
        <p:spPr>
          <a:xfrm>
            <a:off x="10571718" y="6100197"/>
            <a:ext cx="99359" cy="99359"/>
          </a:xfrm>
          <a:prstGeom prst="ellipse">
            <a:avLst/>
          </a:prstGeom>
          <a:solidFill>
            <a:srgbClr val="B9852F"/>
          </a:solidFill>
          <a:ln/>
        </p:spPr>
      </p:sp>
      <p:sp>
        <p:nvSpPr>
          <p:cNvPr id="11" name="Shape 9"/>
          <p:cNvSpPr/>
          <p:nvPr/>
        </p:nvSpPr>
        <p:spPr>
          <a:xfrm>
            <a:off x="10296359" y="5558099"/>
            <a:ext cx="91849" cy="91849"/>
          </a:xfrm>
          <a:prstGeom prst="ellipse">
            <a:avLst/>
          </a:prstGeom>
          <a:solidFill>
            <a:srgbClr val="7A3B2E"/>
          </a:solidFill>
          <a:ln/>
        </p:spPr>
      </p:sp>
      <p:sp>
        <p:nvSpPr>
          <p:cNvPr id="12" name="Shape 10"/>
          <p:cNvSpPr/>
          <p:nvPr/>
        </p:nvSpPr>
        <p:spPr>
          <a:xfrm>
            <a:off x="10228433" y="5977179"/>
            <a:ext cx="67449" cy="67449"/>
          </a:xfrm>
          <a:prstGeom prst="ellipse">
            <a:avLst/>
          </a:prstGeom>
          <a:solidFill>
            <a:srgbClr val="3F6F5F"/>
          </a:solidFill>
          <a:ln/>
        </p:spPr>
      </p:sp>
      <p:sp>
        <p:nvSpPr>
          <p:cNvPr id="13" name="Shape 11"/>
          <p:cNvSpPr/>
          <p:nvPr/>
        </p:nvSpPr>
        <p:spPr>
          <a:xfrm>
            <a:off x="11434740" y="4606617"/>
            <a:ext cx="49018" cy="49018"/>
          </a:xfrm>
          <a:prstGeom prst="ellipse">
            <a:avLst/>
          </a:prstGeom>
          <a:solidFill>
            <a:srgbClr val="B9852F"/>
          </a:solidFill>
          <a:ln/>
        </p:spPr>
      </p:sp>
      <p:sp>
        <p:nvSpPr>
          <p:cNvPr id="14" name="Shape 12"/>
          <p:cNvSpPr/>
          <p:nvPr/>
        </p:nvSpPr>
        <p:spPr>
          <a:xfrm>
            <a:off x="9861440" y="5645034"/>
            <a:ext cx="59416" cy="59416"/>
          </a:xfrm>
          <a:prstGeom prst="ellipse">
            <a:avLst/>
          </a:prstGeom>
          <a:solidFill>
            <a:srgbClr val="7A3B2E"/>
          </a:solidFill>
          <a:ln/>
        </p:spPr>
      </p:sp>
      <p:sp>
        <p:nvSpPr>
          <p:cNvPr id="15" name="Shape 13"/>
          <p:cNvSpPr/>
          <p:nvPr/>
        </p:nvSpPr>
        <p:spPr>
          <a:xfrm>
            <a:off x="9135654" y="4604249"/>
            <a:ext cx="66639" cy="66639"/>
          </a:xfrm>
          <a:prstGeom prst="ellipse">
            <a:avLst/>
          </a:prstGeom>
          <a:solidFill>
            <a:srgbClr val="3F6F5F"/>
          </a:solidFill>
          <a:ln/>
        </p:spPr>
      </p:sp>
      <p:sp>
        <p:nvSpPr>
          <p:cNvPr id="16" name="Shape 14"/>
          <p:cNvSpPr/>
          <p:nvPr/>
        </p:nvSpPr>
        <p:spPr>
          <a:xfrm>
            <a:off x="10324181" y="5682882"/>
            <a:ext cx="93546" cy="93546"/>
          </a:xfrm>
          <a:prstGeom prst="ellipse">
            <a:avLst/>
          </a:prstGeom>
          <a:solidFill>
            <a:srgbClr val="B9852F"/>
          </a:solidFill>
          <a:ln/>
        </p:spPr>
      </p:sp>
      <p:sp>
        <p:nvSpPr>
          <p:cNvPr id="17" name="Shape 15"/>
          <p:cNvSpPr/>
          <p:nvPr/>
        </p:nvSpPr>
        <p:spPr>
          <a:xfrm>
            <a:off x="9373182" y="6130114"/>
            <a:ext cx="53271" cy="53271"/>
          </a:xfrm>
          <a:prstGeom prst="ellipse">
            <a:avLst/>
          </a:prstGeom>
          <a:solidFill>
            <a:srgbClr val="7A3B2E"/>
          </a:solidFill>
          <a:ln/>
        </p:spPr>
      </p:sp>
      <p:sp>
        <p:nvSpPr>
          <p:cNvPr id="18" name="Shape 16"/>
          <p:cNvSpPr/>
          <p:nvPr/>
        </p:nvSpPr>
        <p:spPr>
          <a:xfrm>
            <a:off x="9909776" y="4932484"/>
            <a:ext cx="78401" cy="78401"/>
          </a:xfrm>
          <a:prstGeom prst="ellipse">
            <a:avLst/>
          </a:prstGeom>
          <a:solidFill>
            <a:srgbClr val="3F6F5F"/>
          </a:solidFill>
          <a:ln/>
        </p:spPr>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20</Slides>
  <Notes>20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20</vt:i4>
      </vt:variant>
    </vt:vector>
  </HeadingPairs>
  <TitlesOfParts>
    <vt:vector size="2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2026-07-12T22:29:19Z</dcterms:created>
  <dcterms:modified xsi:type="dcterms:W3CDTF">2026-07-12T22:29:19Z</dcterms:modified>
</cp:coreProperties>
</file>