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261D"/>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CULTURE AS DATA</a:t>
            </a:r>
            <a:endParaRPr lang="en-US" sz="1300" dirty="0"/>
          </a:p>
        </p:txBody>
      </p:sp>
      <p:sp>
        <p:nvSpPr>
          <p:cNvPr id="3" name="Text 1"/>
          <p:cNvSpPr/>
          <p:nvPr/>
        </p:nvSpPr>
        <p:spPr>
          <a:xfrm>
            <a:off x="640080" y="1554480"/>
            <a:ext cx="5486400" cy="548640"/>
          </a:xfrm>
          <a:prstGeom prst="rect">
            <a:avLst/>
          </a:prstGeom>
          <a:noFill/>
          <a:ln/>
        </p:spPr>
        <p:txBody>
          <a:bodyPr wrap="square" rtlCol="0" anchor="ctr"/>
          <a:lstStyle/>
          <a:p>
            <a:pPr indent="0" marL="0">
              <a:buNone/>
            </a:pPr>
            <a:r>
              <a:rPr lang="en-US" sz="2000" dirty="0">
                <a:solidFill>
                  <a:srgbClr val="E8DCD6"/>
                </a:solidFill>
                <a:latin typeface="Calibri" pitchFamily="34" charset="0"/>
                <a:ea typeface="Calibri" pitchFamily="34" charset="-122"/>
                <a:cs typeface="Calibri" pitchFamily="34" charset="-120"/>
              </a:rPr>
              <a:t>Week 1</a:t>
            </a:r>
            <a:endParaRPr lang="en-US" sz="2000" dirty="0"/>
          </a:p>
        </p:txBody>
      </p:sp>
      <p:sp>
        <p:nvSpPr>
          <p:cNvPr id="4" name="Text 2"/>
          <p:cNvSpPr/>
          <p:nvPr/>
        </p:nvSpPr>
        <p:spPr>
          <a:xfrm>
            <a:off x="640080" y="2011680"/>
            <a:ext cx="8961120" cy="1828800"/>
          </a:xfrm>
          <a:prstGeom prst="rect">
            <a:avLst/>
          </a:prstGeom>
          <a:noFill/>
          <a:ln/>
        </p:spPr>
        <p:txBody>
          <a:bodyPr wrap="square" rtlCol="0" anchor="t">
            <a:spAutoFit/>
          </a:bodyPr>
          <a:lstStyle/>
          <a:p>
            <a:pPr indent="0" marL="0">
              <a:buNone/>
            </a:pPr>
            <a:r>
              <a:rPr lang="en-US" sz="4000" b="1" dirty="0">
                <a:solidFill>
                  <a:srgbClr val="FFFFFF"/>
                </a:solidFill>
                <a:latin typeface="Cambria" pitchFamily="34" charset="0"/>
                <a:ea typeface="Cambria" pitchFamily="34" charset="-122"/>
                <a:cs typeface="Cambria" pitchFamily="34" charset="-120"/>
              </a:rPr>
              <a:t>Your First Investigation</a:t>
            </a:r>
            <a:endParaRPr lang="en-US" sz="4000" dirty="0"/>
          </a:p>
        </p:txBody>
      </p:sp>
      <p:sp>
        <p:nvSpPr>
          <p:cNvPr id="5" name="Text 3"/>
          <p:cNvSpPr/>
          <p:nvPr/>
        </p:nvSpPr>
        <p:spPr>
          <a:xfrm>
            <a:off x="640080" y="4114800"/>
            <a:ext cx="7680960" cy="1463040"/>
          </a:xfrm>
          <a:prstGeom prst="rect">
            <a:avLst/>
          </a:prstGeom>
          <a:noFill/>
          <a:ln/>
        </p:spPr>
        <p:txBody>
          <a:bodyPr wrap="square" rtlCol="0" anchor="t">
            <a:spAutoFit/>
          </a:bodyPr>
          <a:lstStyle/>
          <a:p>
            <a:pPr indent="0" marL="0">
              <a:buNone/>
            </a:pPr>
            <a:r>
              <a:rPr lang="en-US" sz="1600" i="1" dirty="0">
                <a:solidFill>
                  <a:srgbClr val="E8DCD6"/>
                </a:solidFill>
                <a:latin typeface="Calibri" pitchFamily="34" charset="0"/>
                <a:ea typeface="Calibri" pitchFamily="34" charset="-122"/>
                <a:cs typeface="Calibri" pitchFamily="34" charset="-120"/>
              </a:rPr>
              <a:t>By the mid-session break you will have loaded a real dataset, asked a question of it, and produced a chart. By the end you will have counted culture in three forms: rows, words, and pixels.</a:t>
            </a:r>
            <a:endParaRPr lang="en-US" sz="1600" dirty="0"/>
          </a:p>
        </p:txBody>
      </p:sp>
      <p:sp>
        <p:nvSpPr>
          <p:cNvPr id="6" name="Text 4"/>
          <p:cNvSpPr/>
          <p:nvPr/>
        </p:nvSpPr>
        <p:spPr>
          <a:xfrm>
            <a:off x="640080" y="6035040"/>
            <a:ext cx="10058400" cy="365760"/>
          </a:xfrm>
          <a:prstGeom prst="rect">
            <a:avLst/>
          </a:prstGeom>
          <a:noFill/>
          <a:ln/>
        </p:spPr>
        <p:txBody>
          <a:bodyPr wrap="square" rtlCol="0" anchor="ctr"/>
          <a:lstStyle/>
          <a:p>
            <a:pPr indent="0" marL="0">
              <a:buNone/>
            </a:pPr>
            <a:r>
              <a:rPr lang="en-US" sz="1200" dirty="0">
                <a:solidFill>
                  <a:srgbClr val="B9852F"/>
                </a:solidFill>
                <a:latin typeface="Calibri" pitchFamily="34" charset="0"/>
                <a:ea typeface="Calibri" pitchFamily="34" charset="-122"/>
                <a:cs typeface="Calibri" pitchFamily="34" charset="-120"/>
              </a:rPr>
              <a:t>Tool / method:  Counting: rows, words, pixels</a:t>
            </a:r>
            <a:endParaRPr lang="en-US" sz="1200" dirty="0"/>
          </a:p>
        </p:txBody>
      </p:sp>
      <p:sp>
        <p:nvSpPr>
          <p:cNvPr id="7" name="Shape 5"/>
          <p:cNvSpPr/>
          <p:nvPr/>
        </p:nvSpPr>
        <p:spPr>
          <a:xfrm>
            <a:off x="11299837" y="2060592"/>
            <a:ext cx="98334" cy="98334"/>
          </a:xfrm>
          <a:prstGeom prst="ellipse">
            <a:avLst/>
          </a:prstGeom>
          <a:solidFill>
            <a:srgbClr val="7A3B2E"/>
          </a:solidFill>
          <a:ln/>
        </p:spPr>
      </p:sp>
      <p:sp>
        <p:nvSpPr>
          <p:cNvPr id="8" name="Shape 6"/>
          <p:cNvSpPr/>
          <p:nvPr/>
        </p:nvSpPr>
        <p:spPr>
          <a:xfrm>
            <a:off x="10981525" y="1616354"/>
            <a:ext cx="85279" cy="85279"/>
          </a:xfrm>
          <a:prstGeom prst="ellipse">
            <a:avLst/>
          </a:prstGeom>
          <a:solidFill>
            <a:srgbClr val="3F6F5F"/>
          </a:solidFill>
          <a:ln/>
        </p:spPr>
      </p:sp>
      <p:sp>
        <p:nvSpPr>
          <p:cNvPr id="9" name="Shape 7"/>
          <p:cNvSpPr/>
          <p:nvPr/>
        </p:nvSpPr>
        <p:spPr>
          <a:xfrm>
            <a:off x="10504464" y="733755"/>
            <a:ext cx="84289" cy="84289"/>
          </a:xfrm>
          <a:prstGeom prst="ellipse">
            <a:avLst/>
          </a:prstGeom>
          <a:solidFill>
            <a:srgbClr val="B9852F"/>
          </a:solidFill>
          <a:ln/>
        </p:spPr>
      </p:sp>
      <p:sp>
        <p:nvSpPr>
          <p:cNvPr id="10" name="Shape 8"/>
          <p:cNvSpPr/>
          <p:nvPr/>
        </p:nvSpPr>
        <p:spPr>
          <a:xfrm>
            <a:off x="11011653" y="1874054"/>
            <a:ext cx="63360" cy="63360"/>
          </a:xfrm>
          <a:prstGeom prst="ellipse">
            <a:avLst/>
          </a:prstGeom>
          <a:solidFill>
            <a:srgbClr val="7A3B2E"/>
          </a:solidFill>
          <a:ln/>
        </p:spPr>
      </p:sp>
      <p:sp>
        <p:nvSpPr>
          <p:cNvPr id="11" name="Shape 9"/>
          <p:cNvSpPr/>
          <p:nvPr/>
        </p:nvSpPr>
        <p:spPr>
          <a:xfrm>
            <a:off x="10902891" y="2286431"/>
            <a:ext cx="100216" cy="100216"/>
          </a:xfrm>
          <a:prstGeom prst="ellipse">
            <a:avLst/>
          </a:prstGeom>
          <a:solidFill>
            <a:srgbClr val="3F6F5F"/>
          </a:solidFill>
          <a:ln/>
        </p:spPr>
      </p:sp>
      <p:sp>
        <p:nvSpPr>
          <p:cNvPr id="12" name="Shape 10"/>
          <p:cNvSpPr/>
          <p:nvPr/>
        </p:nvSpPr>
        <p:spPr>
          <a:xfrm>
            <a:off x="11321180" y="957427"/>
            <a:ext cx="53126" cy="53126"/>
          </a:xfrm>
          <a:prstGeom prst="ellipse">
            <a:avLst/>
          </a:prstGeom>
          <a:solidFill>
            <a:srgbClr val="B9852F"/>
          </a:solidFill>
          <a:ln/>
        </p:spPr>
      </p:sp>
      <p:sp>
        <p:nvSpPr>
          <p:cNvPr id="13" name="Shape 11"/>
          <p:cNvSpPr/>
          <p:nvPr/>
        </p:nvSpPr>
        <p:spPr>
          <a:xfrm>
            <a:off x="10666318" y="2085661"/>
            <a:ext cx="54676" cy="54676"/>
          </a:xfrm>
          <a:prstGeom prst="ellipse">
            <a:avLst/>
          </a:prstGeom>
          <a:solidFill>
            <a:srgbClr val="7A3B2E"/>
          </a:solidFill>
          <a:ln/>
        </p:spPr>
      </p:sp>
      <p:sp>
        <p:nvSpPr>
          <p:cNvPr id="14" name="Shape 12"/>
          <p:cNvSpPr/>
          <p:nvPr/>
        </p:nvSpPr>
        <p:spPr>
          <a:xfrm>
            <a:off x="10081307" y="1182953"/>
            <a:ext cx="72863" cy="72863"/>
          </a:xfrm>
          <a:prstGeom prst="ellipse">
            <a:avLst/>
          </a:prstGeom>
          <a:solidFill>
            <a:srgbClr val="3F6F5F"/>
          </a:solidFill>
          <a:ln/>
        </p:spPr>
      </p:sp>
      <p:sp>
        <p:nvSpPr>
          <p:cNvPr id="15" name="Shape 13"/>
          <p:cNvSpPr/>
          <p:nvPr/>
        </p:nvSpPr>
        <p:spPr>
          <a:xfrm>
            <a:off x="10709146" y="710563"/>
            <a:ext cx="75683" cy="75683"/>
          </a:xfrm>
          <a:prstGeom prst="ellipse">
            <a:avLst/>
          </a:prstGeom>
          <a:solidFill>
            <a:srgbClr val="B9852F"/>
          </a:solidFill>
          <a:ln/>
        </p:spPr>
      </p:sp>
      <p:sp>
        <p:nvSpPr>
          <p:cNvPr id="16" name="Shape 14"/>
          <p:cNvSpPr/>
          <p:nvPr/>
        </p:nvSpPr>
        <p:spPr>
          <a:xfrm>
            <a:off x="10949634" y="1392392"/>
            <a:ext cx="85996" cy="85996"/>
          </a:xfrm>
          <a:prstGeom prst="ellipse">
            <a:avLst/>
          </a:prstGeom>
          <a:solidFill>
            <a:srgbClr val="7A3B2E"/>
          </a:solidFill>
          <a:ln/>
        </p:spPr>
      </p:sp>
      <p:sp>
        <p:nvSpPr>
          <p:cNvPr id="17" name="Shape 15"/>
          <p:cNvSpPr/>
          <p:nvPr/>
        </p:nvSpPr>
        <p:spPr>
          <a:xfrm>
            <a:off x="9202573" y="2214980"/>
            <a:ext cx="71798" cy="71798"/>
          </a:xfrm>
          <a:prstGeom prst="ellipse">
            <a:avLst/>
          </a:prstGeom>
          <a:solidFill>
            <a:srgbClr val="3F6F5F"/>
          </a:solidFill>
          <a:ln/>
        </p:spPr>
      </p:sp>
      <p:sp>
        <p:nvSpPr>
          <p:cNvPr id="18" name="Shape 16"/>
          <p:cNvSpPr/>
          <p:nvPr/>
        </p:nvSpPr>
        <p:spPr>
          <a:xfrm>
            <a:off x="9354161" y="2164865"/>
            <a:ext cx="55949" cy="55949"/>
          </a:xfrm>
          <a:prstGeom prst="ellipse">
            <a:avLst/>
          </a:prstGeom>
          <a:solidFill>
            <a:srgbClr val="B9852F"/>
          </a:solidFill>
          <a:ln/>
        </p:spPr>
      </p:sp>
      <p:sp>
        <p:nvSpPr>
          <p:cNvPr id="19" name="Shape 17"/>
          <p:cNvSpPr/>
          <p:nvPr/>
        </p:nvSpPr>
        <p:spPr>
          <a:xfrm>
            <a:off x="9804200" y="1965949"/>
            <a:ext cx="61309" cy="61309"/>
          </a:xfrm>
          <a:prstGeom prst="ellipse">
            <a:avLst/>
          </a:prstGeom>
          <a:solidFill>
            <a:srgbClr val="7A3B2E"/>
          </a:solidFill>
          <a:ln/>
        </p:spPr>
      </p:sp>
      <p:sp>
        <p:nvSpPr>
          <p:cNvPr id="20" name="Shape 18"/>
          <p:cNvSpPr/>
          <p:nvPr/>
        </p:nvSpPr>
        <p:spPr>
          <a:xfrm>
            <a:off x="8952489" y="2342131"/>
            <a:ext cx="55874" cy="55874"/>
          </a:xfrm>
          <a:prstGeom prst="ellipse">
            <a:avLst/>
          </a:prstGeom>
          <a:solidFill>
            <a:srgbClr val="3F6F5F"/>
          </a:solidFill>
          <a:ln/>
        </p:spPr>
      </p:sp>
      <p:sp>
        <p:nvSpPr>
          <p:cNvPr id="21" name="Shape 19"/>
          <p:cNvSpPr/>
          <p:nvPr/>
        </p:nvSpPr>
        <p:spPr>
          <a:xfrm>
            <a:off x="10685227" y="2279952"/>
            <a:ext cx="62504" cy="62504"/>
          </a:xfrm>
          <a:prstGeom prst="ellipse">
            <a:avLst/>
          </a:prstGeom>
          <a:solidFill>
            <a:srgbClr val="B9852F"/>
          </a:solidFill>
          <a:ln/>
        </p:spPr>
      </p:sp>
      <p:sp>
        <p:nvSpPr>
          <p:cNvPr id="22" name="Shape 20"/>
          <p:cNvSpPr/>
          <p:nvPr/>
        </p:nvSpPr>
        <p:spPr>
          <a:xfrm>
            <a:off x="10659016" y="765951"/>
            <a:ext cx="49196" cy="49196"/>
          </a:xfrm>
          <a:prstGeom prst="ellipse">
            <a:avLst/>
          </a:prstGeom>
          <a:solidFill>
            <a:srgbClr val="7A3B2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1371600"/>
            <a:ext cx="2377440" cy="2377440"/>
          </a:xfrm>
          <a:prstGeom prst="ellipse">
            <a:avLst/>
          </a:prstGeom>
          <a:solidFill>
            <a:srgbClr val="F4EEE8"/>
          </a:solidFill>
          <a:ln/>
        </p:spPr>
      </p:sp>
      <p:sp>
        <p:nvSpPr>
          <p:cNvPr id="3" name="Shape 1"/>
          <p:cNvSpPr/>
          <p:nvPr/>
        </p:nvSpPr>
        <p:spPr>
          <a:xfrm>
            <a:off x="1325880" y="2423160"/>
            <a:ext cx="146304" cy="146304"/>
          </a:xfrm>
          <a:prstGeom prst="ellipse">
            <a:avLst/>
          </a:prstGeom>
          <a:solidFill>
            <a:srgbClr val="7A3B2E"/>
          </a:solidFill>
          <a:ln/>
        </p:spPr>
      </p:sp>
      <p:sp>
        <p:nvSpPr>
          <p:cNvPr id="4" name="Shape 2"/>
          <p:cNvSpPr/>
          <p:nvPr/>
        </p:nvSpPr>
        <p:spPr>
          <a:xfrm>
            <a:off x="1563624" y="2514600"/>
            <a:ext cx="146304" cy="146304"/>
          </a:xfrm>
          <a:prstGeom prst="ellipse">
            <a:avLst/>
          </a:prstGeom>
          <a:solidFill>
            <a:srgbClr val="3F6F5F"/>
          </a:solidFill>
          <a:ln/>
        </p:spPr>
      </p:sp>
      <p:sp>
        <p:nvSpPr>
          <p:cNvPr id="5" name="Shape 3"/>
          <p:cNvSpPr/>
          <p:nvPr/>
        </p:nvSpPr>
        <p:spPr>
          <a:xfrm>
            <a:off x="1801368" y="2423160"/>
            <a:ext cx="146304" cy="146304"/>
          </a:xfrm>
          <a:prstGeom prst="ellipse">
            <a:avLst/>
          </a:prstGeom>
          <a:solidFill>
            <a:srgbClr val="B9852F"/>
          </a:solidFill>
          <a:ln/>
        </p:spPr>
      </p:sp>
      <p:sp>
        <p:nvSpPr>
          <p:cNvPr id="6" name="Text 4"/>
          <p:cNvSpPr/>
          <p:nvPr/>
        </p:nvSpPr>
        <p:spPr>
          <a:xfrm>
            <a:off x="3657600" y="914400"/>
            <a:ext cx="7315200" cy="32004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LOOK AT THIS</a:t>
            </a:r>
            <a:endParaRPr lang="en-US" sz="1300" dirty="0"/>
          </a:p>
        </p:txBody>
      </p:sp>
      <p:sp>
        <p:nvSpPr>
          <p:cNvPr id="7" name="Text 5"/>
          <p:cNvSpPr/>
          <p:nvPr/>
        </p:nvSpPr>
        <p:spPr>
          <a:xfrm>
            <a:off x="3657600" y="1280160"/>
            <a:ext cx="786384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study we open with</a:t>
            </a:r>
            <a:endParaRPr lang="en-US" sz="3000" dirty="0"/>
          </a:p>
        </p:txBody>
      </p:sp>
      <p:sp>
        <p:nvSpPr>
          <p:cNvPr id="8" name="Text 6"/>
          <p:cNvSpPr/>
          <p:nvPr/>
        </p:nvSpPr>
        <p:spPr>
          <a:xfrm>
            <a:off x="3657600" y="2286000"/>
            <a:ext cx="7863840" cy="3291840"/>
          </a:xfrm>
          <a:prstGeom prst="rect">
            <a:avLst/>
          </a:prstGeom>
          <a:noFill/>
          <a:ln/>
        </p:spPr>
        <p:txBody>
          <a:bodyPr wrap="square" rtlCol="0" anchor="t">
            <a:spAutoFit/>
          </a:bodyPr>
          <a:lstStyle/>
          <a:p>
            <a:pPr indent="0" marL="0">
              <a:lnSpc>
                <a:spcPct val="115000"/>
              </a:lnSpc>
              <a:buNone/>
            </a:pPr>
            <a:r>
              <a:rPr lang="en-US" sz="1900" dirty="0">
                <a:solidFill>
                  <a:srgbClr val="1A1A1A"/>
                </a:solidFill>
                <a:latin typeface="Calibri" pitchFamily="34" charset="0"/>
                <a:ea typeface="Calibri" pitchFamily="34" charset="-122"/>
                <a:cs typeface="Calibri" pitchFamily="34" charset="-120"/>
              </a:rPr>
              <a:t>The Pudding, "She Giggles, He Gallops" (2017): across ~2,000 film screenplays, the stage-direction verbs split by gender, women snuggle and giggle, men gallop and stride. The interactive presentation makes the pattern unmistakable.</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822960"/>
            <a:ext cx="7315200" cy="320040"/>
          </a:xfrm>
          <a:prstGeom prst="rect">
            <a:avLst/>
          </a:prstGeom>
          <a:noFill/>
          <a:ln/>
        </p:spPr>
        <p:txBody>
          <a:bodyPr wrap="square" rtlCol="0" anchor="ctr"/>
          <a:lstStyle/>
          <a:p>
            <a:pPr indent="0" marL="0">
              <a:buNone/>
            </a:pPr>
            <a:r>
              <a:rPr lang="en-US" sz="1300" b="1" spc="300" kern="0" dirty="0">
                <a:solidFill>
                  <a:srgbClr val="7A3B2E"/>
                </a:solidFill>
                <a:latin typeface="Calibri" pitchFamily="34" charset="0"/>
                <a:ea typeface="Calibri" pitchFamily="34" charset="-122"/>
                <a:cs typeface="Calibri" pitchFamily="34" charset="-120"/>
              </a:rPr>
              <a:t>QUESTION IT</a:t>
            </a:r>
            <a:endParaRPr lang="en-US" sz="1300" dirty="0"/>
          </a:p>
        </p:txBody>
      </p:sp>
      <p:sp>
        <p:nvSpPr>
          <p:cNvPr id="3" name="Text 1"/>
          <p:cNvSpPr/>
          <p:nvPr/>
        </p:nvSpPr>
        <p:spPr>
          <a:xfrm>
            <a:off x="640080" y="1188720"/>
            <a:ext cx="10881360" cy="914400"/>
          </a:xfrm>
          <a:prstGeom prst="rect">
            <a:avLst/>
          </a:prstGeom>
          <a:noFill/>
          <a:ln/>
        </p:spPr>
        <p:txBody>
          <a:bodyPr wrap="square" rtlCol="0" anchor="ctr">
            <a:spAutoFit/>
          </a:bodyPr>
          <a:lstStyle/>
          <a:p>
            <a:pPr indent="0" marL="0">
              <a:buNone/>
            </a:pPr>
            <a:r>
              <a:rPr lang="en-US" sz="2600" b="1" dirty="0">
                <a:solidFill>
                  <a:srgbClr val="1A1A1A"/>
                </a:solidFill>
                <a:latin typeface="Cambria" pitchFamily="34" charset="0"/>
                <a:ea typeface="Cambria" pitchFamily="34" charset="-122"/>
                <a:cs typeface="Cambria" pitchFamily="34" charset="-120"/>
              </a:rPr>
              <a:t>What did they choose, and where might it be wrong?</a:t>
            </a:r>
            <a:endParaRPr lang="en-US" sz="2600" dirty="0"/>
          </a:p>
        </p:txBody>
      </p:sp>
      <p:sp>
        <p:nvSpPr>
          <p:cNvPr id="4" name="Shape 2"/>
          <p:cNvSpPr/>
          <p:nvPr/>
        </p:nvSpPr>
        <p:spPr>
          <a:xfrm>
            <a:off x="640080" y="2468880"/>
            <a:ext cx="256032" cy="256032"/>
          </a:xfrm>
          <a:prstGeom prst="ellipse">
            <a:avLst/>
          </a:prstGeom>
          <a:solidFill>
            <a:srgbClr val="B9852F"/>
          </a:solidFill>
          <a:ln/>
        </p:spPr>
      </p:sp>
      <p:sp>
        <p:nvSpPr>
          <p:cNvPr id="5" name="Text 3"/>
          <p:cNvSpPr/>
          <p:nvPr/>
        </p:nvSpPr>
        <p:spPr>
          <a:xfrm>
            <a:off x="1097280" y="2286000"/>
            <a:ext cx="10241280" cy="3657600"/>
          </a:xfrm>
          <a:prstGeom prst="rect">
            <a:avLst/>
          </a:prstGeom>
          <a:noFill/>
          <a:ln/>
        </p:spPr>
        <p:txBody>
          <a:bodyPr wrap="square" rtlCol="0" anchor="t">
            <a:spAutoFit/>
          </a:bodyPr>
          <a:lstStyle/>
          <a:p>
            <a:pPr indent="0" marL="0">
              <a:lnSpc>
                <a:spcPct val="120000"/>
              </a:lnSpc>
              <a:buNone/>
            </a:pPr>
            <a:r>
              <a:rPr lang="en-US" sz="2000" dirty="0">
                <a:solidFill>
                  <a:srgbClr val="1A1A1A"/>
                </a:solidFill>
                <a:latin typeface="Calibri" pitchFamily="34" charset="0"/>
                <a:ea typeface="Calibri" pitchFamily="34" charset="-122"/>
                <a:cs typeface="Calibri" pitchFamily="34" charset="-120"/>
              </a:rPr>
              <a:t>The 2,000 screenplays skew toward what was produced and digitized: is that "film," or a sample of it? Whose choice is a gendered verb: the writer's, the character's, or the genre's? Counting shows the split, not the cause. The visualization's own choices deserve the same scrutiny as the data.</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B2E"/>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7A3B2E"/>
                </a:solidFill>
                <a:latin typeface="Calibri" pitchFamily="34" charset="0"/>
                <a:ea typeface="Calibri" pitchFamily="34" charset="-122"/>
                <a:cs typeface="Calibri" pitchFamily="34" charset="-120"/>
              </a:rPr>
              <a:t>WEEK 1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Why this course: the stakes</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Machines already read culture at scale: the feed ranking what you see, the moderation filter, the model trained on scraped art and prose. That reading shapes which culture reaches you, and it happens without you.</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Reading culture with machines produces real knowledge and real mistakes, and the two look identical until someone checks. Learning to check is the course.</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Ten weeks from now, you do the reading: a question you chose, a corpus you built, a published finding anyone can verify.</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The whole method in one sentence: it is all counting and weighting, and you can learn to read both.</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3F6F5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3F6F5F"/>
                </a:solidFill>
                <a:latin typeface="Calibri" pitchFamily="34" charset="0"/>
                <a:ea typeface="Calibri" pitchFamily="34" charset="-122"/>
                <a:cs typeface="Calibri" pitchFamily="34" charset="-120"/>
              </a:rPr>
              <a:t>WEEK 1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What counting culture has found</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813816"/>
          </a:xfrm>
          <a:prstGeom prst="rect">
            <a:avLst/>
          </a:prstGeom>
          <a:noFill/>
          <a:ln/>
        </p:spPr>
        <p:txBody>
          <a:bodyPr wrap="square" rtlCol="0" anchor="t">
            <a:spAutoFit/>
          </a:bodyPr>
          <a:lstStyle/>
          <a:p>
            <a:pPr indent="0" marL="0">
              <a:lnSpc>
                <a:spcPct val="112000"/>
              </a:lnSpc>
              <a:buNone/>
            </a:pPr>
            <a:r>
              <a:rPr lang="en-US" sz="1500" dirty="0">
                <a:solidFill>
                  <a:srgbClr val="1A1A1A"/>
                </a:solidFill>
                <a:latin typeface="Calibri" pitchFamily="34" charset="0"/>
                <a:ea typeface="Calibri" pitchFamily="34" charset="-122"/>
                <a:cs typeface="Calibri" pitchFamily="34" charset="-120"/>
              </a:rPr>
              <a:t>In the stage directions of 2,000 film scripts: women snuggle, giggle, and sob; men strap, gallop, and kill. 85% of the screenwriters were men (The Pudding, 2017).</a:t>
            </a:r>
            <a:endParaRPr lang="en-US" sz="1500" dirty="0"/>
          </a:p>
        </p:txBody>
      </p:sp>
      <p:sp>
        <p:nvSpPr>
          <p:cNvPr id="7" name="Shape 5"/>
          <p:cNvSpPr/>
          <p:nvPr/>
        </p:nvSpPr>
        <p:spPr>
          <a:xfrm>
            <a:off x="640080" y="3145536"/>
            <a:ext cx="201168" cy="201168"/>
          </a:xfrm>
          <a:prstGeom prst="ellipse">
            <a:avLst/>
          </a:prstGeom>
          <a:solidFill>
            <a:srgbClr val="3F6F5F"/>
          </a:solidFill>
          <a:ln/>
        </p:spPr>
      </p:sp>
      <p:sp>
        <p:nvSpPr>
          <p:cNvPr id="8" name="Text 6"/>
          <p:cNvSpPr/>
          <p:nvPr/>
        </p:nvSpPr>
        <p:spPr>
          <a:xfrm>
            <a:off x="1097280" y="3054096"/>
            <a:ext cx="10607040" cy="813816"/>
          </a:xfrm>
          <a:prstGeom prst="rect">
            <a:avLst/>
          </a:prstGeom>
          <a:noFill/>
          <a:ln/>
        </p:spPr>
        <p:txBody>
          <a:bodyPr wrap="square" rtlCol="0" anchor="t">
            <a:spAutoFit/>
          </a:bodyPr>
          <a:lstStyle/>
          <a:p>
            <a:pPr indent="0" marL="0">
              <a:lnSpc>
                <a:spcPct val="112000"/>
              </a:lnSpc>
              <a:buNone/>
            </a:pPr>
            <a:r>
              <a:rPr lang="en-US" sz="1500" dirty="0">
                <a:solidFill>
                  <a:srgbClr val="1A1A1A"/>
                </a:solidFill>
                <a:latin typeface="Calibri" pitchFamily="34" charset="0"/>
                <a:ea typeface="Calibri" pitchFamily="34" charset="-122"/>
                <a:cs typeface="Calibri" pitchFamily="34" charset="-120"/>
              </a:rPr>
              <a:t>Across 17,000 Hot 100 songs, the biggest revolution in American pop was not the Beatles in 1964; it was hip-hop in 1991 (Mauch et al., 2015).</a:t>
            </a:r>
            <a:endParaRPr lang="en-US" sz="1500" dirty="0"/>
          </a:p>
        </p:txBody>
      </p:sp>
      <p:sp>
        <p:nvSpPr>
          <p:cNvPr id="9" name="Shape 7"/>
          <p:cNvSpPr/>
          <p:nvPr/>
        </p:nvSpPr>
        <p:spPr>
          <a:xfrm>
            <a:off x="640080" y="3959352"/>
            <a:ext cx="201168" cy="201168"/>
          </a:xfrm>
          <a:prstGeom prst="ellipse">
            <a:avLst/>
          </a:prstGeom>
          <a:solidFill>
            <a:srgbClr val="B9852F"/>
          </a:solidFill>
          <a:ln/>
        </p:spPr>
      </p:sp>
      <p:sp>
        <p:nvSpPr>
          <p:cNvPr id="10" name="Text 8"/>
          <p:cNvSpPr/>
          <p:nvPr/>
        </p:nvSpPr>
        <p:spPr>
          <a:xfrm>
            <a:off x="1097280" y="3867912"/>
            <a:ext cx="10607040" cy="813816"/>
          </a:xfrm>
          <a:prstGeom prst="rect">
            <a:avLst/>
          </a:prstGeom>
          <a:noFill/>
          <a:ln/>
        </p:spPr>
        <p:txBody>
          <a:bodyPr wrap="square" rtlCol="0" anchor="t">
            <a:spAutoFit/>
          </a:bodyPr>
          <a:lstStyle/>
          <a:p>
            <a:pPr indent="0" marL="0">
              <a:lnSpc>
                <a:spcPct val="112000"/>
              </a:lnSpc>
              <a:buNone/>
            </a:pPr>
            <a:r>
              <a:rPr lang="en-US" sz="1500" dirty="0">
                <a:solidFill>
                  <a:srgbClr val="1A1A1A"/>
                </a:solidFill>
                <a:latin typeface="Calibri" pitchFamily="34" charset="0"/>
                <a:ea typeface="Calibri" pitchFamily="34" charset="-122"/>
                <a:cs typeface="Calibri" pitchFamily="34" charset="-120"/>
              </a:rPr>
              <a:t>Counting small words like 'the' and 'of' unmasked Robert Galbraith as J.K. Rowling within days (Juola, 2013).</a:t>
            </a:r>
            <a:endParaRPr lang="en-US" sz="1500" dirty="0"/>
          </a:p>
        </p:txBody>
      </p:sp>
      <p:sp>
        <p:nvSpPr>
          <p:cNvPr id="11" name="Shape 9"/>
          <p:cNvSpPr/>
          <p:nvPr/>
        </p:nvSpPr>
        <p:spPr>
          <a:xfrm>
            <a:off x="640080" y="4773168"/>
            <a:ext cx="201168" cy="201168"/>
          </a:xfrm>
          <a:prstGeom prst="ellipse">
            <a:avLst/>
          </a:prstGeom>
          <a:solidFill>
            <a:srgbClr val="7A3B2E"/>
          </a:solidFill>
          <a:ln/>
        </p:spPr>
      </p:sp>
      <p:sp>
        <p:nvSpPr>
          <p:cNvPr id="12" name="Text 10"/>
          <p:cNvSpPr/>
          <p:nvPr/>
        </p:nvSpPr>
        <p:spPr>
          <a:xfrm>
            <a:off x="1097280" y="4681728"/>
            <a:ext cx="10607040" cy="813816"/>
          </a:xfrm>
          <a:prstGeom prst="rect">
            <a:avLst/>
          </a:prstGeom>
          <a:noFill/>
          <a:ln/>
        </p:spPr>
        <p:txBody>
          <a:bodyPr wrap="square" rtlCol="0" anchor="t">
            <a:spAutoFit/>
          </a:bodyPr>
          <a:lstStyle/>
          <a:p>
            <a:pPr indent="0" marL="0">
              <a:lnSpc>
                <a:spcPct val="112000"/>
              </a:lnSpc>
              <a:buNone/>
            </a:pPr>
            <a:r>
              <a:rPr lang="en-US" sz="1500" dirty="0">
                <a:solidFill>
                  <a:srgbClr val="1A1A1A"/>
                </a:solidFill>
                <a:latin typeface="Calibri" pitchFamily="34" charset="0"/>
                <a:ea typeface="Calibri" pitchFamily="34" charset="-122"/>
                <a:cs typeface="Calibri" pitchFamily="34" charset="-120"/>
              </a:rPr>
              <a:t>A model trained on Google News completes 'man is to computer programmer as woman is to...' with 'homemaker' (Bolukbasi et al., 2016).</a:t>
            </a:r>
            <a:endParaRPr lang="en-US" sz="1500" dirty="0"/>
          </a:p>
        </p:txBody>
      </p:sp>
      <p:sp>
        <p:nvSpPr>
          <p:cNvPr id="13" name="Shape 11"/>
          <p:cNvSpPr/>
          <p:nvPr/>
        </p:nvSpPr>
        <p:spPr>
          <a:xfrm>
            <a:off x="640080" y="5586984"/>
            <a:ext cx="201168" cy="201168"/>
          </a:xfrm>
          <a:prstGeom prst="ellipse">
            <a:avLst/>
          </a:prstGeom>
          <a:solidFill>
            <a:srgbClr val="3F6F5F"/>
          </a:solidFill>
          <a:ln/>
        </p:spPr>
      </p:sp>
      <p:sp>
        <p:nvSpPr>
          <p:cNvPr id="14" name="Text 12"/>
          <p:cNvSpPr/>
          <p:nvPr/>
        </p:nvSpPr>
        <p:spPr>
          <a:xfrm>
            <a:off x="1097280" y="5495544"/>
            <a:ext cx="10607040" cy="813816"/>
          </a:xfrm>
          <a:prstGeom prst="rect">
            <a:avLst/>
          </a:prstGeom>
          <a:noFill/>
          <a:ln/>
        </p:spPr>
        <p:txBody>
          <a:bodyPr wrap="square" rtlCol="0" anchor="t">
            <a:spAutoFit/>
          </a:bodyPr>
          <a:lstStyle/>
          <a:p>
            <a:pPr indent="0" marL="0">
              <a:lnSpc>
                <a:spcPct val="112000"/>
              </a:lnSpc>
              <a:buNone/>
            </a:pPr>
            <a:r>
              <a:rPr lang="en-US" sz="1500" dirty="0">
                <a:solidFill>
                  <a:srgbClr val="1A1A1A"/>
                </a:solidFill>
                <a:latin typeface="Calibri" pitchFamily="34" charset="0"/>
                <a:ea typeface="Calibri" pitchFamily="34" charset="-122"/>
                <a:cs typeface="Calibri" pitchFamily="34" charset="-120"/>
              </a:rPr>
              <a:t>An AI portrait sold at Christie's for $432,500; the training data was other people's paintings (2018). Every one of these is a count, and every one has arguable choices. Both halves are the course.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852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B9852F"/>
                </a:solidFill>
                <a:latin typeface="Calibri" pitchFamily="34" charset="0"/>
                <a:ea typeface="Calibri" pitchFamily="34" charset="-122"/>
                <a:cs typeface="Calibri" pitchFamily="34" charset="-120"/>
              </a:rPr>
              <a:t>WEEK 1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Four words, used all term</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Corpus: the pile you study. 500 announcements, 2,000 screenplays, 10,000 album covers.</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Method: the counting or weighting you run on the corpus.</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Model: any simplification that turns culture into numbers. A word count is already one.</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Embedding: a few hundred numbers that place an item on a map of meaning. Week 5.</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B2E"/>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7A3B2E"/>
                </a:solidFill>
                <a:latin typeface="Calibri" pitchFamily="34" charset="0"/>
                <a:ea typeface="Calibri" pitchFamily="34" charset="-122"/>
                <a:cs typeface="Calibri" pitchFamily="34" charset="-120"/>
              </a:rPr>
              <a:t>WEEK 1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What is data? A CSV, and Drucker's caveat</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813816"/>
          </a:xfrm>
          <a:prstGeom prst="rect">
            <a:avLst/>
          </a:prstGeom>
          <a:noFill/>
          <a:ln/>
        </p:spPr>
        <p:txBody>
          <a:bodyPr wrap="square" rtlCol="0" anchor="t">
            <a:spAutoFit/>
          </a:bodyPr>
          <a:lstStyle/>
          <a:p>
            <a:pPr indent="0" marL="0">
              <a:lnSpc>
                <a:spcPct val="112000"/>
              </a:lnSpc>
              <a:buNone/>
            </a:pPr>
            <a:r>
              <a:rPr lang="en-US" sz="1500" dirty="0">
                <a:solidFill>
                  <a:srgbClr val="1A1A1A"/>
                </a:solidFill>
                <a:latin typeface="Calibri" pitchFamily="34" charset="0"/>
                <a:ea typeface="Calibri" pitchFamily="34" charset="-122"/>
                <a:cs typeface="Calibri" pitchFamily="34" charset="-120"/>
              </a:rPr>
              <a:t>Data is anything made countable: rows in a table, words in a headline, numbers in a pixel. The making is the part to watch.</a:t>
            </a:r>
            <a:endParaRPr lang="en-US" sz="1500" dirty="0"/>
          </a:p>
        </p:txBody>
      </p:sp>
      <p:sp>
        <p:nvSpPr>
          <p:cNvPr id="7" name="Shape 5"/>
          <p:cNvSpPr/>
          <p:nvPr/>
        </p:nvSpPr>
        <p:spPr>
          <a:xfrm>
            <a:off x="640080" y="3145536"/>
            <a:ext cx="201168" cy="201168"/>
          </a:xfrm>
          <a:prstGeom prst="ellipse">
            <a:avLst/>
          </a:prstGeom>
          <a:solidFill>
            <a:srgbClr val="3F6F5F"/>
          </a:solidFill>
          <a:ln/>
        </p:spPr>
      </p:sp>
      <p:sp>
        <p:nvSpPr>
          <p:cNvPr id="8" name="Text 6"/>
          <p:cNvSpPr/>
          <p:nvPr/>
        </p:nvSpPr>
        <p:spPr>
          <a:xfrm>
            <a:off x="1097280" y="3054096"/>
            <a:ext cx="10607040" cy="813816"/>
          </a:xfrm>
          <a:prstGeom prst="rect">
            <a:avLst/>
          </a:prstGeom>
          <a:noFill/>
          <a:ln/>
        </p:spPr>
        <p:txBody>
          <a:bodyPr wrap="square" rtlCol="0" anchor="t">
            <a:spAutoFit/>
          </a:bodyPr>
          <a:lstStyle/>
          <a:p>
            <a:pPr indent="0" marL="0">
              <a:lnSpc>
                <a:spcPct val="112000"/>
              </a:lnSpc>
              <a:buNone/>
            </a:pPr>
            <a:r>
              <a:rPr lang="en-US" sz="1500" dirty="0">
                <a:solidFill>
                  <a:srgbClr val="1A1A1A"/>
                </a:solidFill>
                <a:latin typeface="Calibri" pitchFamily="34" charset="0"/>
                <a:ea typeface="Calibri" pitchFamily="34" charset="-122"/>
                <a:cs typeface="Calibri" pitchFamily="34" charset="-120"/>
              </a:rPr>
              <a:t>A CSV is the plainest container: one row per observation, one column per recorded fact, a first line naming the columns. Ours has four columns and 7,835 rows, and opens in anything.</a:t>
            </a:r>
            <a:endParaRPr lang="en-US" sz="1500" dirty="0"/>
          </a:p>
        </p:txBody>
      </p:sp>
      <p:sp>
        <p:nvSpPr>
          <p:cNvPr id="9" name="Shape 7"/>
          <p:cNvSpPr/>
          <p:nvPr/>
        </p:nvSpPr>
        <p:spPr>
          <a:xfrm>
            <a:off x="640080" y="3959352"/>
            <a:ext cx="201168" cy="201168"/>
          </a:xfrm>
          <a:prstGeom prst="ellipse">
            <a:avLst/>
          </a:prstGeom>
          <a:solidFill>
            <a:srgbClr val="B9852F"/>
          </a:solidFill>
          <a:ln/>
        </p:spPr>
      </p:sp>
      <p:sp>
        <p:nvSpPr>
          <p:cNvPr id="10" name="Text 8"/>
          <p:cNvSpPr/>
          <p:nvPr/>
        </p:nvSpPr>
        <p:spPr>
          <a:xfrm>
            <a:off x="1097280" y="3867912"/>
            <a:ext cx="10607040" cy="813816"/>
          </a:xfrm>
          <a:prstGeom prst="rect">
            <a:avLst/>
          </a:prstGeom>
          <a:noFill/>
          <a:ln/>
        </p:spPr>
        <p:txBody>
          <a:bodyPr wrap="square" rtlCol="0" anchor="t">
            <a:spAutoFit/>
          </a:bodyPr>
          <a:lstStyle/>
          <a:p>
            <a:pPr indent="0" marL="0">
              <a:lnSpc>
                <a:spcPct val="112000"/>
              </a:lnSpc>
              <a:buNone/>
            </a:pPr>
            <a:r>
              <a:rPr lang="en-US" sz="1500" dirty="0">
                <a:solidFill>
                  <a:srgbClr val="1A1A1A"/>
                </a:solidFill>
                <a:latin typeface="Calibri" pitchFamily="34" charset="0"/>
                <a:ea typeface="Calibri" pitchFamily="34" charset="-122"/>
                <a:cs typeface="Calibri" pitchFamily="34" charset="-120"/>
              </a:rPr>
              <a:t>Johanna Drucker's correction: data ("the given") is the wrong word; capta ("the taken") is honest. Nothing is simply given - someone chose what to record.</a:t>
            </a:r>
            <a:endParaRPr lang="en-US" sz="1500" dirty="0"/>
          </a:p>
        </p:txBody>
      </p:sp>
      <p:sp>
        <p:nvSpPr>
          <p:cNvPr id="11" name="Shape 9"/>
          <p:cNvSpPr/>
          <p:nvPr/>
        </p:nvSpPr>
        <p:spPr>
          <a:xfrm>
            <a:off x="640080" y="4773168"/>
            <a:ext cx="201168" cy="201168"/>
          </a:xfrm>
          <a:prstGeom prst="ellipse">
            <a:avLst/>
          </a:prstGeom>
          <a:solidFill>
            <a:srgbClr val="7A3B2E"/>
          </a:solidFill>
          <a:ln/>
        </p:spPr>
      </p:sp>
      <p:sp>
        <p:nvSpPr>
          <p:cNvPr id="12" name="Text 10"/>
          <p:cNvSpPr/>
          <p:nvPr/>
        </p:nvSpPr>
        <p:spPr>
          <a:xfrm>
            <a:off x="1097280" y="4681728"/>
            <a:ext cx="10607040" cy="813816"/>
          </a:xfrm>
          <a:prstGeom prst="rect">
            <a:avLst/>
          </a:prstGeom>
          <a:noFill/>
          <a:ln/>
        </p:spPr>
        <p:txBody>
          <a:bodyPr wrap="square" rtlCol="0" anchor="t">
            <a:spAutoFit/>
          </a:bodyPr>
          <a:lstStyle/>
          <a:p>
            <a:pPr indent="0" marL="0">
              <a:lnSpc>
                <a:spcPct val="112000"/>
              </a:lnSpc>
              <a:buNone/>
            </a:pPr>
            <a:r>
              <a:rPr lang="en-US" sz="1500" dirty="0">
                <a:solidFill>
                  <a:srgbClr val="1A1A1A"/>
                </a:solidFill>
                <a:latin typeface="Calibri" pitchFamily="34" charset="0"/>
                <a:ea typeface="Calibri" pitchFamily="34" charset="-122"/>
                <a:cs typeface="Calibri" pitchFamily="34" charset="-120"/>
              </a:rPr>
              <a:t>The four columns are those choices. There is a name status for the bride and none for the groom; ages but no occupations; no field a same-sex couple could use for most of the period.</a:t>
            </a:r>
            <a:endParaRPr lang="en-US" sz="1500" dirty="0"/>
          </a:p>
        </p:txBody>
      </p:sp>
      <p:sp>
        <p:nvSpPr>
          <p:cNvPr id="13" name="Shape 11"/>
          <p:cNvSpPr/>
          <p:nvPr/>
        </p:nvSpPr>
        <p:spPr>
          <a:xfrm>
            <a:off x="640080" y="5586984"/>
            <a:ext cx="201168" cy="201168"/>
          </a:xfrm>
          <a:prstGeom prst="ellipse">
            <a:avLst/>
          </a:prstGeom>
          <a:solidFill>
            <a:srgbClr val="3F6F5F"/>
          </a:solidFill>
          <a:ln/>
        </p:spPr>
      </p:sp>
      <p:sp>
        <p:nvSpPr>
          <p:cNvPr id="14" name="Text 12"/>
          <p:cNvSpPr/>
          <p:nvPr/>
        </p:nvSpPr>
        <p:spPr>
          <a:xfrm>
            <a:off x="1097280" y="5495544"/>
            <a:ext cx="10607040" cy="813816"/>
          </a:xfrm>
          <a:prstGeom prst="rect">
            <a:avLst/>
          </a:prstGeom>
          <a:noFill/>
          <a:ln/>
        </p:spPr>
        <p:txBody>
          <a:bodyPr wrap="square" rtlCol="0" anchor="t">
            <a:spAutoFit/>
          </a:bodyPr>
          <a:lstStyle/>
          <a:p>
            <a:pPr indent="0" marL="0">
              <a:lnSpc>
                <a:spcPct val="112000"/>
              </a:lnSpc>
              <a:buNone/>
            </a:pPr>
            <a:r>
              <a:rPr lang="en-US" sz="1500" dirty="0">
                <a:solidFill>
                  <a:srgbClr val="1A1A1A"/>
                </a:solidFill>
                <a:latin typeface="Calibri" pitchFamily="34" charset="0"/>
                <a:ea typeface="Calibri" pitchFamily="34" charset="-122"/>
                <a:cs typeface="Calibri" pitchFamily="34" charset="-120"/>
              </a:rPr>
              <a:t>Discussion, in pairs: what did the makers of this table take, and what did they leave? That question is the course, asked of every corpus from now on.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3F6F5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3F6F5F"/>
                </a:solidFill>
                <a:latin typeface="Calibri" pitchFamily="34" charset="0"/>
                <a:ea typeface="Calibri" pitchFamily="34" charset="-122"/>
                <a:cs typeface="Calibri" pitchFamily="34" charset="-120"/>
              </a:rPr>
              <a:t>WEEK 1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The Drive routine (every week, without exception)</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Colab wipes its machine when you idle. Your mounted Drive folder is what survives.</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Copy the notebook to Drive, mount Drive, save everything to the one project folder.</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Your Week-4 corpus has to be alive in Week 5. This ritual is how.</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Gemini key goes in Colab Secrets. Never pasted into code.</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852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B9852F"/>
                </a:solidFill>
                <a:latin typeface="Calibri" pitchFamily="34" charset="0"/>
                <a:ea typeface="Calibri" pitchFamily="34" charset="-122"/>
                <a:cs typeface="Calibri" pitchFamily="34" charset="-120"/>
              </a:rPr>
              <a:t>WEEK 1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When code fails (it will, today, deliberately)</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Read the last line of the traceback first. It names the problem.</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Paste it to the AI: "this errored, fix it and tell me what went wrong."</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Try twice, then ask a human. In that order.</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Keep the cheat sheet at hand. No one memorizes error messages; everyone reads them.</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B2E"/>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7A3B2E"/>
                </a:solidFill>
                <a:latin typeface="Calibri" pitchFamily="34" charset="0"/>
                <a:ea typeface="Calibri" pitchFamily="34" charset="-122"/>
                <a:cs typeface="Calibri" pitchFamily="34" charset="-120"/>
              </a:rPr>
              <a:t>WEEK 1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The after-class half: defining a color, and what every bag loses</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What counts as red? A boundary you set on the hue wheel. Shift it twenty degrees and paintings change category without changing a pixel: defining the ranges is the analysis, the same decision as the stop-word list.</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Two sentences with identical word-bags can mean opposite things: "the critics loved it, the public did not" and its reversal count the same. Order, negation, and who-did-what are the casualties.</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A painting and its shuffled pixels share the brightness, the average color, and the palette. Composition is to images what word order is to sentences.</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The loss is the trade counting makes for scale. Name it on day one; Week 5's embeddings exist to recover some of it.</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3F6F5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3F6F5F"/>
                </a:solidFill>
                <a:latin typeface="Calibri" pitchFamily="34" charset="0"/>
                <a:ea typeface="Calibri" pitchFamily="34" charset="-122"/>
                <a:cs typeface="Calibri" pitchFamily="34" charset="-120"/>
              </a:rPr>
              <a:t>WEEK 1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Counting, three shapes</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Rows: what share of brides kept their name, year by year. One groupby, one chart.</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Words: the top words of a lyric are "the, and, you" until you remove stop-words. That removal is your first modeling choice.</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Pixels: rank 200 Met thumbnails darkest to brightest from average luminance.</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The same technique three times, each containing a decision.</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73152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Three modes today</a:t>
            </a:r>
            <a:endParaRPr lang="en-US" sz="3000" dirty="0"/>
          </a:p>
        </p:txBody>
      </p:sp>
      <p:sp>
        <p:nvSpPr>
          <p:cNvPr id="3" name="Text 1"/>
          <p:cNvSpPr/>
          <p:nvPr/>
        </p:nvSpPr>
        <p:spPr>
          <a:xfrm>
            <a:off x="640080" y="1417320"/>
            <a:ext cx="10058400" cy="365760"/>
          </a:xfrm>
          <a:prstGeom prst="rect">
            <a:avLst/>
          </a:prstGeom>
          <a:noFill/>
          <a:ln/>
        </p:spPr>
        <p:txBody>
          <a:bodyPr wrap="square" rtlCol="0" anchor="ctr"/>
          <a:lstStyle/>
          <a:p>
            <a:pPr indent="0" marL="0">
              <a:buNone/>
            </a:pPr>
            <a:r>
              <a:rPr lang="en-US" sz="1400" i="1" dirty="0">
                <a:solidFill>
                  <a:srgbClr val="6B6B63"/>
                </a:solidFill>
                <a:latin typeface="Calibri" pitchFamily="34" charset="0"/>
                <a:ea typeface="Calibri" pitchFamily="34" charset="-122"/>
                <a:cs typeface="Calibri" pitchFamily="34" charset="-120"/>
              </a:rPr>
              <a:t>about a third of the session each</a:t>
            </a:r>
            <a:endParaRPr lang="en-US" sz="1400" dirty="0"/>
          </a:p>
        </p:txBody>
      </p:sp>
      <p:sp>
        <p:nvSpPr>
          <p:cNvPr id="4" name="Shape 2"/>
          <p:cNvSpPr/>
          <p:nvPr/>
        </p:nvSpPr>
        <p:spPr>
          <a:xfrm>
            <a:off x="640080" y="2194560"/>
            <a:ext cx="3383280" cy="3291840"/>
          </a:xfrm>
          <a:prstGeom prst="roundRect">
            <a:avLst>
              <a:gd name="adj" fmla="val 3333"/>
            </a:avLst>
          </a:prstGeom>
          <a:solidFill>
            <a:srgbClr val="F4EEE8"/>
          </a:solidFill>
          <a:ln/>
        </p:spPr>
      </p:sp>
      <p:sp>
        <p:nvSpPr>
          <p:cNvPr id="5" name="Shape 3"/>
          <p:cNvSpPr/>
          <p:nvPr/>
        </p:nvSpPr>
        <p:spPr>
          <a:xfrm>
            <a:off x="1051560" y="2606040"/>
            <a:ext cx="548640" cy="548640"/>
          </a:xfrm>
          <a:prstGeom prst="ellipse">
            <a:avLst/>
          </a:prstGeom>
          <a:solidFill>
            <a:srgbClr val="7A3B2E"/>
          </a:solidFill>
          <a:ln/>
        </p:spPr>
      </p:sp>
      <p:sp>
        <p:nvSpPr>
          <p:cNvPr id="6" name="Text 4"/>
          <p:cNvSpPr/>
          <p:nvPr/>
        </p:nvSpPr>
        <p:spPr>
          <a:xfrm>
            <a:off x="10058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Lecture / demo</a:t>
            </a:r>
            <a:endParaRPr lang="en-US" sz="2100" dirty="0"/>
          </a:p>
        </p:txBody>
      </p:sp>
      <p:sp>
        <p:nvSpPr>
          <p:cNvPr id="7" name="Text 5"/>
          <p:cNvSpPr/>
          <p:nvPr/>
        </p:nvSpPr>
        <p:spPr>
          <a:xfrm>
            <a:off x="10058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Counting: rows, words, pixels</a:t>
            </a:r>
            <a:endParaRPr lang="en-US" sz="1500" dirty="0"/>
          </a:p>
        </p:txBody>
      </p:sp>
      <p:sp>
        <p:nvSpPr>
          <p:cNvPr id="8" name="Shape 6"/>
          <p:cNvSpPr/>
          <p:nvPr/>
        </p:nvSpPr>
        <p:spPr>
          <a:xfrm>
            <a:off x="4526280" y="2194560"/>
            <a:ext cx="3383280" cy="3291840"/>
          </a:xfrm>
          <a:prstGeom prst="roundRect">
            <a:avLst>
              <a:gd name="adj" fmla="val 3333"/>
            </a:avLst>
          </a:prstGeom>
          <a:solidFill>
            <a:srgbClr val="F4EEE8"/>
          </a:solidFill>
          <a:ln/>
        </p:spPr>
      </p:sp>
      <p:sp>
        <p:nvSpPr>
          <p:cNvPr id="9" name="Shape 7"/>
          <p:cNvSpPr/>
          <p:nvPr/>
        </p:nvSpPr>
        <p:spPr>
          <a:xfrm>
            <a:off x="4937760" y="2606040"/>
            <a:ext cx="548640" cy="548640"/>
          </a:xfrm>
          <a:prstGeom prst="ellipse">
            <a:avLst/>
          </a:prstGeom>
          <a:solidFill>
            <a:srgbClr val="3F6F5F"/>
          </a:solidFill>
          <a:ln/>
        </p:spPr>
      </p:sp>
      <p:sp>
        <p:nvSpPr>
          <p:cNvPr id="10" name="Text 8"/>
          <p:cNvSpPr/>
          <p:nvPr/>
        </p:nvSpPr>
        <p:spPr>
          <a:xfrm>
            <a:off x="48920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Workshop</a:t>
            </a:r>
            <a:endParaRPr lang="en-US" sz="2100" dirty="0"/>
          </a:p>
        </p:txBody>
      </p:sp>
      <p:sp>
        <p:nvSpPr>
          <p:cNvPr id="11" name="Text 9"/>
          <p:cNvSpPr/>
          <p:nvPr/>
        </p:nvSpPr>
        <p:spPr>
          <a:xfrm>
            <a:off x="48920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Build hands-on on your own data.</a:t>
            </a:r>
            <a:endParaRPr lang="en-US" sz="1500" dirty="0"/>
          </a:p>
        </p:txBody>
      </p:sp>
      <p:sp>
        <p:nvSpPr>
          <p:cNvPr id="12" name="Shape 10"/>
          <p:cNvSpPr/>
          <p:nvPr/>
        </p:nvSpPr>
        <p:spPr>
          <a:xfrm>
            <a:off x="8412480" y="2194560"/>
            <a:ext cx="3383280" cy="3291840"/>
          </a:xfrm>
          <a:prstGeom prst="roundRect">
            <a:avLst>
              <a:gd name="adj" fmla="val 3333"/>
            </a:avLst>
          </a:prstGeom>
          <a:solidFill>
            <a:srgbClr val="F4EEE8"/>
          </a:solidFill>
          <a:ln/>
        </p:spPr>
      </p:sp>
      <p:sp>
        <p:nvSpPr>
          <p:cNvPr id="13" name="Shape 11"/>
          <p:cNvSpPr/>
          <p:nvPr/>
        </p:nvSpPr>
        <p:spPr>
          <a:xfrm>
            <a:off x="8823960" y="2606040"/>
            <a:ext cx="548640" cy="548640"/>
          </a:xfrm>
          <a:prstGeom prst="ellipse">
            <a:avLst/>
          </a:prstGeom>
          <a:solidFill>
            <a:srgbClr val="B9852F"/>
          </a:solidFill>
          <a:ln/>
        </p:spPr>
      </p:sp>
      <p:sp>
        <p:nvSpPr>
          <p:cNvPr id="14" name="Text 12"/>
          <p:cNvSpPr/>
          <p:nvPr/>
        </p:nvSpPr>
        <p:spPr>
          <a:xfrm>
            <a:off x="87782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Discussion</a:t>
            </a:r>
            <a:endParaRPr lang="en-US" sz="2100" dirty="0"/>
          </a:p>
        </p:txBody>
      </p:sp>
      <p:sp>
        <p:nvSpPr>
          <p:cNvPr id="15" name="Text 13"/>
          <p:cNvSpPr/>
          <p:nvPr/>
        </p:nvSpPr>
        <p:spPr>
          <a:xfrm>
            <a:off x="87782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Interrogate the study, debate it, or critique each other's work.</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session</a:t>
            </a:r>
            <a:endParaRPr lang="en-US" sz="3000" dirty="0"/>
          </a:p>
        </p:txBody>
      </p:sp>
      <p:sp>
        <p:nvSpPr>
          <p:cNvPr id="3" name="Shape 1"/>
          <p:cNvSpPr/>
          <p:nvPr/>
        </p:nvSpPr>
        <p:spPr>
          <a:xfrm>
            <a:off x="640080" y="1572768"/>
            <a:ext cx="868680" cy="450342"/>
          </a:xfrm>
          <a:prstGeom prst="roundRect">
            <a:avLst>
              <a:gd name="adj" fmla="val 12183"/>
            </a:avLst>
          </a:prstGeom>
          <a:solidFill>
            <a:srgbClr val="7A3B2E"/>
          </a:solidFill>
          <a:ln/>
        </p:spPr>
      </p:sp>
      <p:sp>
        <p:nvSpPr>
          <p:cNvPr id="4" name="Text 2"/>
          <p:cNvSpPr/>
          <p:nvPr/>
        </p:nvSpPr>
        <p:spPr>
          <a:xfrm>
            <a:off x="640080" y="1572768"/>
            <a:ext cx="868680" cy="45034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0:00</a:t>
            </a:r>
            <a:endParaRPr lang="en-US" sz="1100" dirty="0"/>
          </a:p>
        </p:txBody>
      </p:sp>
      <p:sp>
        <p:nvSpPr>
          <p:cNvPr id="5" name="Text 3"/>
          <p:cNvSpPr/>
          <p:nvPr/>
        </p:nvSpPr>
        <p:spPr>
          <a:xfrm>
            <a:off x="1691640" y="1554480"/>
            <a:ext cx="9646920" cy="560070"/>
          </a:xfrm>
          <a:prstGeom prst="rect">
            <a:avLst/>
          </a:prstGeom>
          <a:noFill/>
          <a:ln/>
        </p:spPr>
        <p:txBody>
          <a:bodyPr wrap="square" rtlCol="0" anchor="ctr">
            <a:spAutoFit/>
          </a:bodyPr>
          <a:lstStyle/>
          <a:p>
            <a:pPr indent="0" marL="0">
              <a:buNone/>
            </a:pPr>
            <a:r>
              <a:rPr lang="en-US" sz="1100" dirty="0">
                <a:solidFill>
                  <a:srgbClr val="1A1A1A"/>
                </a:solidFill>
                <a:latin typeface="Calibri" pitchFamily="34" charset="0"/>
                <a:ea typeface="Calibri" pitchFamily="34" charset="-122"/>
                <a:cs typeface="Calibri" pitchFamily="34" charset="-120"/>
              </a:rPr>
              <a:t>Introductions and working agreements, demonstrated in practice. Today's live coding deliberately includes real mistakes.</a:t>
            </a:r>
            <a:endParaRPr lang="en-US" sz="1100" dirty="0"/>
          </a:p>
        </p:txBody>
      </p:sp>
      <p:sp>
        <p:nvSpPr>
          <p:cNvPr id="6" name="Shape 4"/>
          <p:cNvSpPr/>
          <p:nvPr/>
        </p:nvSpPr>
        <p:spPr>
          <a:xfrm>
            <a:off x="640080" y="2132838"/>
            <a:ext cx="868680" cy="450342"/>
          </a:xfrm>
          <a:prstGeom prst="roundRect">
            <a:avLst>
              <a:gd name="adj" fmla="val 12183"/>
            </a:avLst>
          </a:prstGeom>
          <a:solidFill>
            <a:srgbClr val="7A3B2E"/>
          </a:solidFill>
          <a:ln/>
        </p:spPr>
      </p:sp>
      <p:sp>
        <p:nvSpPr>
          <p:cNvPr id="7" name="Text 5"/>
          <p:cNvSpPr/>
          <p:nvPr/>
        </p:nvSpPr>
        <p:spPr>
          <a:xfrm>
            <a:off x="640080" y="2132838"/>
            <a:ext cx="868680" cy="45034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0:10</a:t>
            </a:r>
            <a:endParaRPr lang="en-US" sz="1100" dirty="0"/>
          </a:p>
        </p:txBody>
      </p:sp>
      <p:sp>
        <p:nvSpPr>
          <p:cNvPr id="8" name="Text 6"/>
          <p:cNvSpPr/>
          <p:nvPr/>
        </p:nvSpPr>
        <p:spPr>
          <a:xfrm>
            <a:off x="1691640" y="2114550"/>
            <a:ext cx="9646920" cy="560070"/>
          </a:xfrm>
          <a:prstGeom prst="rect">
            <a:avLst/>
          </a:prstGeom>
          <a:noFill/>
          <a:ln/>
        </p:spPr>
        <p:txBody>
          <a:bodyPr wrap="square" rtlCol="0" anchor="ctr">
            <a:spAutoFit/>
          </a:bodyPr>
          <a:lstStyle/>
          <a:p>
            <a:pPr indent="0" marL="0">
              <a:buNone/>
            </a:pPr>
            <a:r>
              <a:rPr lang="en-US" sz="1100" dirty="0">
                <a:solidFill>
                  <a:srgbClr val="1A1A1A"/>
                </a:solidFill>
                <a:latin typeface="Calibri" pitchFamily="34" charset="0"/>
                <a:ea typeface="Calibri" pitchFamily="34" charset="-122"/>
                <a:cs typeface="Calibri" pitchFamily="34" charset="-120"/>
              </a:rPr>
              <a:t>Lecture, the stakes: machines already read culture at scale, the feed ranking what you see, the moderation filter, the model trained on scraped art and prose, and that reading happens without you. Counting culture has produced real knowledge (the screenplay verb split, the Rowling unmasking, pop music's 1991 revolution) and real mistakes, and both look identical until someone checks. In ten weeks you do the reading yourself and publish something checkable.</a:t>
            </a:r>
            <a:endParaRPr lang="en-US" sz="1100" dirty="0"/>
          </a:p>
        </p:txBody>
      </p:sp>
      <p:sp>
        <p:nvSpPr>
          <p:cNvPr id="9" name="Shape 7"/>
          <p:cNvSpPr/>
          <p:nvPr/>
        </p:nvSpPr>
        <p:spPr>
          <a:xfrm>
            <a:off x="640080" y="2692908"/>
            <a:ext cx="868680" cy="450342"/>
          </a:xfrm>
          <a:prstGeom prst="roundRect">
            <a:avLst>
              <a:gd name="adj" fmla="val 12183"/>
            </a:avLst>
          </a:prstGeom>
          <a:solidFill>
            <a:srgbClr val="7A3B2E"/>
          </a:solidFill>
          <a:ln/>
        </p:spPr>
      </p:sp>
      <p:sp>
        <p:nvSpPr>
          <p:cNvPr id="10" name="Text 8"/>
          <p:cNvSpPr/>
          <p:nvPr/>
        </p:nvSpPr>
        <p:spPr>
          <a:xfrm>
            <a:off x="640080" y="2692908"/>
            <a:ext cx="868680" cy="45034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0:28</a:t>
            </a:r>
            <a:endParaRPr lang="en-US" sz="1100" dirty="0"/>
          </a:p>
        </p:txBody>
      </p:sp>
      <p:sp>
        <p:nvSpPr>
          <p:cNvPr id="11" name="Text 9"/>
          <p:cNvSpPr/>
          <p:nvPr/>
        </p:nvSpPr>
        <p:spPr>
          <a:xfrm>
            <a:off x="1691640" y="2674620"/>
            <a:ext cx="9646920" cy="560070"/>
          </a:xfrm>
          <a:prstGeom prst="rect">
            <a:avLst/>
          </a:prstGeom>
          <a:noFill/>
          <a:ln/>
        </p:spPr>
        <p:txBody>
          <a:bodyPr wrap="square" rtlCol="0" anchor="ctr">
            <a:spAutoFit/>
          </a:bodyPr>
          <a:lstStyle/>
          <a:p>
            <a:pPr indent="0" marL="0">
              <a:buNone/>
            </a:pPr>
            <a:r>
              <a:rPr lang="en-US" sz="1100" dirty="0">
                <a:solidFill>
                  <a:srgbClr val="1A1A1A"/>
                </a:solidFill>
                <a:latin typeface="Calibri" pitchFamily="34" charset="0"/>
                <a:ea typeface="Calibri" pitchFamily="34" charset="-122"/>
                <a:cs typeface="Calibri" pitchFamily="34" charset="-120"/>
              </a:rPr>
              <a:t>Look at This, then Question It: She Giggles, He Gallops.</a:t>
            </a:r>
            <a:endParaRPr lang="en-US" sz="1100" dirty="0"/>
          </a:p>
        </p:txBody>
      </p:sp>
      <p:sp>
        <p:nvSpPr>
          <p:cNvPr id="12" name="Shape 10"/>
          <p:cNvSpPr/>
          <p:nvPr/>
        </p:nvSpPr>
        <p:spPr>
          <a:xfrm>
            <a:off x="640080" y="3252978"/>
            <a:ext cx="868680" cy="450342"/>
          </a:xfrm>
          <a:prstGeom prst="roundRect">
            <a:avLst>
              <a:gd name="adj" fmla="val 12183"/>
            </a:avLst>
          </a:prstGeom>
          <a:solidFill>
            <a:srgbClr val="7A3B2E"/>
          </a:solidFill>
          <a:ln/>
        </p:spPr>
      </p:sp>
      <p:sp>
        <p:nvSpPr>
          <p:cNvPr id="13" name="Text 11"/>
          <p:cNvSpPr/>
          <p:nvPr/>
        </p:nvSpPr>
        <p:spPr>
          <a:xfrm>
            <a:off x="640080" y="3252978"/>
            <a:ext cx="868680" cy="45034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0:35</a:t>
            </a:r>
            <a:endParaRPr lang="en-US" sz="1100" dirty="0"/>
          </a:p>
        </p:txBody>
      </p:sp>
      <p:sp>
        <p:nvSpPr>
          <p:cNvPr id="14" name="Text 12"/>
          <p:cNvSpPr/>
          <p:nvPr/>
        </p:nvSpPr>
        <p:spPr>
          <a:xfrm>
            <a:off x="1691640" y="3234690"/>
            <a:ext cx="9646920" cy="560070"/>
          </a:xfrm>
          <a:prstGeom prst="rect">
            <a:avLst/>
          </a:prstGeom>
          <a:noFill/>
          <a:ln/>
        </p:spPr>
        <p:txBody>
          <a:bodyPr wrap="square" rtlCol="0" anchor="ctr">
            <a:spAutoFit/>
          </a:bodyPr>
          <a:lstStyle/>
          <a:p>
            <a:pPr indent="0" marL="0">
              <a:buNone/>
            </a:pPr>
            <a:r>
              <a:rPr lang="en-US" sz="1100" dirty="0">
                <a:solidFill>
                  <a:srgbClr val="1A1A1A"/>
                </a:solidFill>
                <a:latin typeface="Calibri" pitchFamily="34" charset="0"/>
                <a:ea typeface="Calibri" pitchFamily="34" charset="-122"/>
                <a:cs typeface="Calibri" pitchFamily="34" charset="-120"/>
              </a:rPr>
              <a:t>The vocabulary and the map (no code): corpus, method, model, embedding, plus what data itself is. A CSV, anatomized on screen (rows are observations, columns are recorded facts), and Drucker's correction: data is capta, taken not given. Two minutes in pairs: what did the makers of the wedding table take, and what did they leave out? The deliverable, shown: a web essay on a runnable notebook.</a:t>
            </a:r>
            <a:endParaRPr lang="en-US" sz="1100" dirty="0"/>
          </a:p>
        </p:txBody>
      </p:sp>
      <p:sp>
        <p:nvSpPr>
          <p:cNvPr id="15" name="Shape 13"/>
          <p:cNvSpPr/>
          <p:nvPr/>
        </p:nvSpPr>
        <p:spPr>
          <a:xfrm>
            <a:off x="640080" y="3813048"/>
            <a:ext cx="868680" cy="450342"/>
          </a:xfrm>
          <a:prstGeom prst="roundRect">
            <a:avLst>
              <a:gd name="adj" fmla="val 12183"/>
            </a:avLst>
          </a:prstGeom>
          <a:solidFill>
            <a:srgbClr val="7A3B2E"/>
          </a:solidFill>
          <a:ln/>
        </p:spPr>
      </p:sp>
      <p:sp>
        <p:nvSpPr>
          <p:cNvPr id="16" name="Text 14"/>
          <p:cNvSpPr/>
          <p:nvPr/>
        </p:nvSpPr>
        <p:spPr>
          <a:xfrm>
            <a:off x="640080" y="3813048"/>
            <a:ext cx="868680" cy="45034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0:47</a:t>
            </a:r>
            <a:endParaRPr lang="en-US" sz="1100" dirty="0"/>
          </a:p>
        </p:txBody>
      </p:sp>
      <p:sp>
        <p:nvSpPr>
          <p:cNvPr id="17" name="Text 15"/>
          <p:cNvSpPr/>
          <p:nvPr/>
        </p:nvSpPr>
        <p:spPr>
          <a:xfrm>
            <a:off x="1691640" y="3794760"/>
            <a:ext cx="9646920" cy="560070"/>
          </a:xfrm>
          <a:prstGeom prst="rect">
            <a:avLst/>
          </a:prstGeom>
          <a:noFill/>
          <a:ln/>
        </p:spPr>
        <p:txBody>
          <a:bodyPr wrap="square" rtlCol="0" anchor="ctr">
            <a:spAutoFit/>
          </a:bodyPr>
          <a:lstStyle/>
          <a:p>
            <a:pPr indent="0" marL="0">
              <a:buNone/>
            </a:pPr>
            <a:r>
              <a:rPr lang="en-US" sz="1100" dirty="0">
                <a:solidFill>
                  <a:srgbClr val="1A1A1A"/>
                </a:solidFill>
                <a:latin typeface="Calibri" pitchFamily="34" charset="0"/>
                <a:ea typeface="Calibri" pitchFamily="34" charset="-122"/>
                <a:cs typeface="Calibri" pitchFamily="34" charset="-120"/>
              </a:rPr>
              <a:t>Lab 1 (worked, participatory): copy the notebook to Drive and mount Drive into the runtime (this is how your corpus and results survive Colab wiping the session, everything saving to one project folder), put a Gemini key in Colab Secrets, load NYT wedding data, make a first chart. Hand out the common-errors cheat sheet. Then solo with a partner: draft three questions, pick one, have the AI write the code, run it, chart it. Write one sentence predicting your cell before you run it.</a:t>
            </a:r>
            <a:endParaRPr lang="en-US" sz="1100" dirty="0"/>
          </a:p>
        </p:txBody>
      </p:sp>
      <p:sp>
        <p:nvSpPr>
          <p:cNvPr id="18" name="Shape 16"/>
          <p:cNvSpPr/>
          <p:nvPr/>
        </p:nvSpPr>
        <p:spPr>
          <a:xfrm>
            <a:off x="640080" y="4373118"/>
            <a:ext cx="868680" cy="450342"/>
          </a:xfrm>
          <a:prstGeom prst="roundRect">
            <a:avLst>
              <a:gd name="adj" fmla="val 12183"/>
            </a:avLst>
          </a:prstGeom>
          <a:solidFill>
            <a:srgbClr val="7A3B2E"/>
          </a:solidFill>
          <a:ln/>
        </p:spPr>
      </p:sp>
      <p:sp>
        <p:nvSpPr>
          <p:cNvPr id="19" name="Text 17"/>
          <p:cNvSpPr/>
          <p:nvPr/>
        </p:nvSpPr>
        <p:spPr>
          <a:xfrm>
            <a:off x="640080" y="4373118"/>
            <a:ext cx="868680" cy="45034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1:20</a:t>
            </a:r>
            <a:endParaRPr lang="en-US" sz="1100" dirty="0"/>
          </a:p>
        </p:txBody>
      </p:sp>
      <p:sp>
        <p:nvSpPr>
          <p:cNvPr id="20" name="Text 18"/>
          <p:cNvSpPr/>
          <p:nvPr/>
        </p:nvSpPr>
        <p:spPr>
          <a:xfrm>
            <a:off x="1691640" y="4354830"/>
            <a:ext cx="9646920" cy="560070"/>
          </a:xfrm>
          <a:prstGeom prst="rect">
            <a:avLst/>
          </a:prstGeom>
          <a:noFill/>
          <a:ln/>
        </p:spPr>
        <p:txBody>
          <a:bodyPr wrap="square" rtlCol="0" anchor="ctr">
            <a:spAutoFit/>
          </a:bodyPr>
          <a:lstStyle/>
          <a:p>
            <a:pPr indent="0" marL="0">
              <a:buNone/>
            </a:pPr>
            <a:r>
              <a:rPr lang="en-US" sz="1100" dirty="0">
                <a:solidFill>
                  <a:srgbClr val="1A1A1A"/>
                </a:solidFill>
                <a:latin typeface="Calibri" pitchFamily="34" charset="0"/>
                <a:ea typeface="Calibri" pitchFamily="34" charset="-122"/>
                <a:cs typeface="Calibri" pitchFamily="34" charset="-120"/>
              </a:rPr>
              <a:t>Break</a:t>
            </a:r>
            <a:endParaRPr lang="en-US" sz="1100" dirty="0"/>
          </a:p>
        </p:txBody>
      </p:sp>
      <p:sp>
        <p:nvSpPr>
          <p:cNvPr id="21" name="Shape 19"/>
          <p:cNvSpPr/>
          <p:nvPr/>
        </p:nvSpPr>
        <p:spPr>
          <a:xfrm>
            <a:off x="640080" y="4933188"/>
            <a:ext cx="868680" cy="450342"/>
          </a:xfrm>
          <a:prstGeom prst="roundRect">
            <a:avLst>
              <a:gd name="adj" fmla="val 12183"/>
            </a:avLst>
          </a:prstGeom>
          <a:solidFill>
            <a:srgbClr val="7A3B2E"/>
          </a:solidFill>
          <a:ln/>
        </p:spPr>
      </p:sp>
      <p:sp>
        <p:nvSpPr>
          <p:cNvPr id="22" name="Text 20"/>
          <p:cNvSpPr/>
          <p:nvPr/>
        </p:nvSpPr>
        <p:spPr>
          <a:xfrm>
            <a:off x="640080" y="4933188"/>
            <a:ext cx="868680" cy="45034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1:30</a:t>
            </a:r>
            <a:endParaRPr lang="en-US" sz="1100" dirty="0"/>
          </a:p>
        </p:txBody>
      </p:sp>
      <p:sp>
        <p:nvSpPr>
          <p:cNvPr id="23" name="Text 21"/>
          <p:cNvSpPr/>
          <p:nvPr/>
        </p:nvSpPr>
        <p:spPr>
          <a:xfrm>
            <a:off x="1691640" y="4914900"/>
            <a:ext cx="9646920" cy="560070"/>
          </a:xfrm>
          <a:prstGeom prst="rect">
            <a:avLst/>
          </a:prstGeom>
          <a:noFill/>
          <a:ln/>
        </p:spPr>
        <p:txBody>
          <a:bodyPr wrap="square" rtlCol="0" anchor="ctr">
            <a:spAutoFit/>
          </a:bodyPr>
          <a:lstStyle/>
          <a:p>
            <a:pPr indent="0" marL="0">
              <a:buNone/>
            </a:pPr>
            <a:r>
              <a:rPr lang="en-US" sz="1100" dirty="0">
                <a:solidFill>
                  <a:srgbClr val="1A1A1A"/>
                </a:solidFill>
                <a:latin typeface="Calibri" pitchFamily="34" charset="0"/>
                <a:ea typeface="Calibri" pitchFamily="34" charset="-122"/>
                <a:cs typeface="Calibri" pitchFamily="34" charset="-120"/>
              </a:rPr>
              <a:t>Lab 2 (worked): count words, then pixels. The real headlines' top words (stop-words dominate until removed, the first counting decision), then the Met image corpus ranked darkest to brightest by average brightness. The notebook's after-class half, defined color ranges and what every bag throws away, is this week's guided homework. Image projects begin here.</a:t>
            </a:r>
            <a:endParaRPr lang="en-US" sz="1100" dirty="0"/>
          </a:p>
        </p:txBody>
      </p:sp>
      <p:sp>
        <p:nvSpPr>
          <p:cNvPr id="24" name="Shape 22"/>
          <p:cNvSpPr/>
          <p:nvPr/>
        </p:nvSpPr>
        <p:spPr>
          <a:xfrm>
            <a:off x="640080" y="5493258"/>
            <a:ext cx="868680" cy="450342"/>
          </a:xfrm>
          <a:prstGeom prst="roundRect">
            <a:avLst>
              <a:gd name="adj" fmla="val 12183"/>
            </a:avLst>
          </a:prstGeom>
          <a:solidFill>
            <a:srgbClr val="7A3B2E"/>
          </a:solidFill>
          <a:ln/>
        </p:spPr>
      </p:sp>
      <p:sp>
        <p:nvSpPr>
          <p:cNvPr id="25" name="Text 23"/>
          <p:cNvSpPr/>
          <p:nvPr/>
        </p:nvSpPr>
        <p:spPr>
          <a:xfrm>
            <a:off x="640080" y="5493258"/>
            <a:ext cx="868680" cy="450342"/>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1:52</a:t>
            </a:r>
            <a:endParaRPr lang="en-US" sz="1100" dirty="0"/>
          </a:p>
        </p:txBody>
      </p:sp>
      <p:sp>
        <p:nvSpPr>
          <p:cNvPr id="26" name="Text 24"/>
          <p:cNvSpPr/>
          <p:nvPr/>
        </p:nvSpPr>
        <p:spPr>
          <a:xfrm>
            <a:off x="1691640" y="5474970"/>
            <a:ext cx="9646920" cy="560070"/>
          </a:xfrm>
          <a:prstGeom prst="rect">
            <a:avLst/>
          </a:prstGeom>
          <a:noFill/>
          <a:ln/>
        </p:spPr>
        <p:txBody>
          <a:bodyPr wrap="square" rtlCol="0" anchor="ctr">
            <a:spAutoFit/>
          </a:bodyPr>
          <a:lstStyle/>
          <a:p>
            <a:pPr indent="0" marL="0">
              <a:buNone/>
            </a:pPr>
            <a:r>
              <a:rPr lang="en-US" sz="1100" dirty="0">
                <a:solidFill>
                  <a:srgbClr val="1A1A1A"/>
                </a:solidFill>
                <a:latin typeface="Calibri" pitchFamily="34" charset="0"/>
                <a:ea typeface="Calibri" pitchFamily="34" charset="-122"/>
                <a:cs typeface="Calibri" pitchFamily="34" charset="-120"/>
              </a:rPr>
              <a:t>Preview of the methods ahead; the weekly routines introduced. First check-out.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Reading &amp; homework</a:t>
            </a:r>
            <a:endParaRPr lang="en-US" sz="3000" dirty="0"/>
          </a:p>
        </p:txBody>
      </p:sp>
      <p:sp>
        <p:nvSpPr>
          <p:cNvPr id="3" name="Shape 1"/>
          <p:cNvSpPr/>
          <p:nvPr/>
        </p:nvSpPr>
        <p:spPr>
          <a:xfrm>
            <a:off x="640080" y="1673352"/>
            <a:ext cx="219456" cy="219456"/>
          </a:xfrm>
          <a:prstGeom prst="ellipse">
            <a:avLst/>
          </a:prstGeom>
          <a:solidFill>
            <a:srgbClr val="7A3B2E"/>
          </a:solidFill>
          <a:ln/>
        </p:spPr>
      </p:sp>
      <p:sp>
        <p:nvSpPr>
          <p:cNvPr id="4" name="Text 2"/>
          <p:cNvSpPr/>
          <p:nvPr/>
        </p:nvSpPr>
        <p:spPr>
          <a:xfrm>
            <a:off x="1051560" y="1600200"/>
            <a:ext cx="10424160" cy="365760"/>
          </a:xfrm>
          <a:prstGeom prst="rect">
            <a:avLst/>
          </a:prstGeom>
          <a:noFill/>
          <a:ln/>
        </p:spPr>
        <p:txBody>
          <a:bodyPr wrap="square" rtlCol="0" anchor="ctr"/>
          <a:lstStyle/>
          <a:p>
            <a:pPr indent="0" marL="0">
              <a:buNone/>
            </a:pPr>
            <a:r>
              <a:rPr lang="en-US" sz="1500" b="1" dirty="0">
                <a:solidFill>
                  <a:srgbClr val="7A3B2E"/>
                </a:solidFill>
                <a:latin typeface="Calibri" pitchFamily="34" charset="0"/>
                <a:ea typeface="Calibri" pitchFamily="34" charset="-122"/>
                <a:cs typeface="Calibri" pitchFamily="34" charset="-120"/>
              </a:rPr>
              <a:t>Reading</a:t>
            </a:r>
            <a:endParaRPr lang="en-US" sz="1500" dirty="0"/>
          </a:p>
        </p:txBody>
      </p:sp>
      <p:sp>
        <p:nvSpPr>
          <p:cNvPr id="5" name="Text 3"/>
          <p:cNvSpPr/>
          <p:nvPr/>
        </p:nvSpPr>
        <p:spPr>
          <a:xfrm>
            <a:off x="1051560" y="198424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Bollen et al., the cognitive-distortions hockey stick (PNAS 2021), with the Schmidt et al. critique</a:t>
            </a:r>
            <a:endParaRPr lang="en-US" sz="1400" dirty="0"/>
          </a:p>
        </p:txBody>
      </p:sp>
      <p:sp>
        <p:nvSpPr>
          <p:cNvPr id="6" name="Shape 4"/>
          <p:cNvSpPr/>
          <p:nvPr/>
        </p:nvSpPr>
        <p:spPr>
          <a:xfrm>
            <a:off x="640080" y="2633472"/>
            <a:ext cx="219456" cy="219456"/>
          </a:xfrm>
          <a:prstGeom prst="ellipse">
            <a:avLst/>
          </a:prstGeom>
          <a:solidFill>
            <a:srgbClr val="3F6F5F"/>
          </a:solidFill>
          <a:ln/>
        </p:spPr>
      </p:sp>
      <p:sp>
        <p:nvSpPr>
          <p:cNvPr id="7" name="Text 5"/>
          <p:cNvSpPr/>
          <p:nvPr/>
        </p:nvSpPr>
        <p:spPr>
          <a:xfrm>
            <a:off x="1051560" y="2560320"/>
            <a:ext cx="10424160" cy="365760"/>
          </a:xfrm>
          <a:prstGeom prst="rect">
            <a:avLst/>
          </a:prstGeom>
          <a:noFill/>
          <a:ln/>
        </p:spPr>
        <p:txBody>
          <a:bodyPr wrap="square" rtlCol="0" anchor="ctr"/>
          <a:lstStyle/>
          <a:p>
            <a:pPr indent="0" marL="0">
              <a:buNone/>
            </a:pPr>
            <a:r>
              <a:rPr lang="en-US" sz="1500" b="1" dirty="0">
                <a:solidFill>
                  <a:srgbClr val="3F6F5F"/>
                </a:solidFill>
                <a:latin typeface="Calibri" pitchFamily="34" charset="0"/>
                <a:ea typeface="Calibri" pitchFamily="34" charset="-122"/>
                <a:cs typeface="Calibri" pitchFamily="34" charset="-120"/>
              </a:rPr>
              <a:t>Supplement</a:t>
            </a:r>
            <a:endParaRPr lang="en-US" sz="1500" dirty="0"/>
          </a:p>
        </p:txBody>
      </p:sp>
      <p:sp>
        <p:nvSpPr>
          <p:cNvPr id="8" name="Text 6"/>
          <p:cNvSpPr/>
          <p:nvPr/>
        </p:nvSpPr>
        <p:spPr>
          <a:xfrm>
            <a:off x="1051560" y="294436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Robin Sloan, Writing with the machine; Drucker, Humanities Approaches to Graphical Display (DHQ 2011), the case that all data is capta</a:t>
            </a:r>
            <a:endParaRPr lang="en-US" sz="1400" dirty="0"/>
          </a:p>
        </p:txBody>
      </p:sp>
      <p:sp>
        <p:nvSpPr>
          <p:cNvPr id="9" name="Shape 7"/>
          <p:cNvSpPr/>
          <p:nvPr/>
        </p:nvSpPr>
        <p:spPr>
          <a:xfrm>
            <a:off x="640080" y="3593592"/>
            <a:ext cx="219456" cy="219456"/>
          </a:xfrm>
          <a:prstGeom prst="ellipse">
            <a:avLst/>
          </a:prstGeom>
          <a:solidFill>
            <a:srgbClr val="B9852F"/>
          </a:solidFill>
          <a:ln/>
        </p:spPr>
      </p:sp>
      <p:sp>
        <p:nvSpPr>
          <p:cNvPr id="10" name="Text 8"/>
          <p:cNvSpPr/>
          <p:nvPr/>
        </p:nvSpPr>
        <p:spPr>
          <a:xfrm>
            <a:off x="1051560" y="3520440"/>
            <a:ext cx="10424160" cy="365760"/>
          </a:xfrm>
          <a:prstGeom prst="rect">
            <a:avLst/>
          </a:prstGeom>
          <a:noFill/>
          <a:ln/>
        </p:spPr>
        <p:txBody>
          <a:bodyPr wrap="square" rtlCol="0" anchor="ctr"/>
          <a:lstStyle/>
          <a:p>
            <a:pPr indent="0" marL="0">
              <a:buNone/>
            </a:pPr>
            <a:r>
              <a:rPr lang="en-US" sz="1500" b="1" dirty="0">
                <a:solidFill>
                  <a:srgbClr val="B9852F"/>
                </a:solidFill>
                <a:latin typeface="Calibri" pitchFamily="34" charset="0"/>
                <a:ea typeface="Calibri" pitchFamily="34" charset="-122"/>
                <a:cs typeface="Calibri" pitchFamily="34" charset="-120"/>
              </a:rPr>
              <a:t>Deeper (optional)</a:t>
            </a:r>
            <a:endParaRPr lang="en-US" sz="1500" dirty="0"/>
          </a:p>
        </p:txBody>
      </p:sp>
      <p:sp>
        <p:nvSpPr>
          <p:cNvPr id="11" name="Text 9"/>
          <p:cNvSpPr/>
          <p:nvPr/>
        </p:nvSpPr>
        <p:spPr>
          <a:xfrm>
            <a:off x="1051560" y="390448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Moretti, Conjectures on World Literature (NLR 2000), the founding argument for reading culture at scale</a:t>
            </a:r>
            <a:endParaRPr lang="en-US" sz="1400" dirty="0"/>
          </a:p>
        </p:txBody>
      </p:sp>
      <p:sp>
        <p:nvSpPr>
          <p:cNvPr id="12" name="Shape 10"/>
          <p:cNvSpPr/>
          <p:nvPr/>
        </p:nvSpPr>
        <p:spPr>
          <a:xfrm>
            <a:off x="640080" y="4553712"/>
            <a:ext cx="219456" cy="219456"/>
          </a:xfrm>
          <a:prstGeom prst="ellipse">
            <a:avLst/>
          </a:prstGeom>
          <a:solidFill>
            <a:srgbClr val="3F6F5F"/>
          </a:solidFill>
          <a:ln/>
        </p:spPr>
      </p:sp>
      <p:sp>
        <p:nvSpPr>
          <p:cNvPr id="13" name="Text 11"/>
          <p:cNvSpPr/>
          <p:nvPr/>
        </p:nvSpPr>
        <p:spPr>
          <a:xfrm>
            <a:off x="1051560" y="4480560"/>
            <a:ext cx="10424160" cy="365760"/>
          </a:xfrm>
          <a:prstGeom prst="rect">
            <a:avLst/>
          </a:prstGeom>
          <a:noFill/>
          <a:ln/>
        </p:spPr>
        <p:txBody>
          <a:bodyPr wrap="square" rtlCol="0" anchor="ctr"/>
          <a:lstStyle/>
          <a:p>
            <a:pPr indent="0" marL="0">
              <a:buNone/>
            </a:pPr>
            <a:r>
              <a:rPr lang="en-US" sz="1500" b="1" dirty="0">
                <a:solidFill>
                  <a:srgbClr val="3F6F5F"/>
                </a:solidFill>
                <a:latin typeface="Calibri" pitchFamily="34" charset="0"/>
                <a:ea typeface="Calibri" pitchFamily="34" charset="-122"/>
                <a:cs typeface="Calibri" pitchFamily="34" charset="-120"/>
              </a:rPr>
              <a:t>Sketch</a:t>
            </a:r>
            <a:endParaRPr lang="en-US" sz="1500" dirty="0"/>
          </a:p>
        </p:txBody>
      </p:sp>
      <p:sp>
        <p:nvSpPr>
          <p:cNvPr id="14" name="Text 12"/>
          <p:cNvSpPr/>
          <p:nvPr/>
        </p:nvSpPr>
        <p:spPr>
          <a:xfrm>
            <a:off x="1051560" y="486460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One question from your life, answerable with data (three sentences), plus the notebook's after-class half (~20 minutes).</a:t>
            </a:r>
            <a:endParaRPr lang="en-US" sz="1400" dirty="0"/>
          </a:p>
        </p:txBody>
      </p:sp>
      <p:sp>
        <p:nvSpPr>
          <p:cNvPr id="15" name="Shape 13"/>
          <p:cNvSpPr/>
          <p:nvPr/>
        </p:nvSpPr>
        <p:spPr>
          <a:xfrm>
            <a:off x="640080" y="5513832"/>
            <a:ext cx="219456" cy="219456"/>
          </a:xfrm>
          <a:prstGeom prst="ellipse">
            <a:avLst/>
          </a:prstGeom>
          <a:solidFill>
            <a:srgbClr val="7A3B2E"/>
          </a:solidFill>
          <a:ln/>
        </p:spPr>
      </p:sp>
      <p:sp>
        <p:nvSpPr>
          <p:cNvPr id="16" name="Text 14"/>
          <p:cNvSpPr/>
          <p:nvPr/>
        </p:nvSpPr>
        <p:spPr>
          <a:xfrm>
            <a:off x="1051560" y="5440680"/>
            <a:ext cx="10424160" cy="365760"/>
          </a:xfrm>
          <a:prstGeom prst="rect">
            <a:avLst/>
          </a:prstGeom>
          <a:noFill/>
          <a:ln/>
        </p:spPr>
        <p:txBody>
          <a:bodyPr wrap="square" rtlCol="0" anchor="ctr"/>
          <a:lstStyle/>
          <a:p>
            <a:pPr indent="0" marL="0">
              <a:buNone/>
            </a:pPr>
            <a:r>
              <a:rPr lang="en-US" sz="1500" b="1" dirty="0">
                <a:solidFill>
                  <a:srgbClr val="7A3B2E"/>
                </a:solidFill>
                <a:latin typeface="Calibri" pitchFamily="34" charset="0"/>
                <a:ea typeface="Calibri" pitchFamily="34" charset="-122"/>
                <a:cs typeface="Calibri" pitchFamily="34" charset="-120"/>
              </a:rPr>
              <a:t>Check (AI closed)</a:t>
            </a:r>
            <a:endParaRPr lang="en-US" sz="1500" dirty="0"/>
          </a:p>
        </p:txBody>
      </p:sp>
      <p:sp>
        <p:nvSpPr>
          <p:cNvPr id="17" name="Text 15"/>
          <p:cNvSpPr/>
          <p:nvPr/>
        </p:nvSpPr>
        <p:spPr>
          <a:xfrm>
            <a:off x="1051560" y="582472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Trace it: one written sentence predicting what your cell does before you run it. (Competency 1.)</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320040"/>
          </a:xfrm>
          <a:prstGeom prst="rect">
            <a:avLst/>
          </a:prstGeom>
          <a:noFill/>
          <a:ln/>
        </p:spPr>
        <p:txBody>
          <a:bodyPr wrap="square" rtlCol="0" anchor="ctr"/>
          <a:lstStyle/>
          <a:p>
            <a:pPr indent="0" marL="0">
              <a:buNone/>
            </a:pPr>
            <a:r>
              <a:rPr lang="en-US" sz="1300" b="1" spc="300" kern="0" dirty="0">
                <a:solidFill>
                  <a:srgbClr val="7A3B2E"/>
                </a:solidFill>
                <a:latin typeface="Calibri" pitchFamily="34" charset="0"/>
                <a:ea typeface="Calibri" pitchFamily="34" charset="-122"/>
                <a:cs typeface="Calibri" pitchFamily="34" charset="-120"/>
              </a:rPr>
              <a:t>HOW THIS WEEK CONNECTS</a:t>
            </a:r>
            <a:endParaRPr lang="en-US" sz="1300" dirty="0"/>
          </a:p>
        </p:txBody>
      </p:sp>
      <p:sp>
        <p:nvSpPr>
          <p:cNvPr id="3" name="Text 1"/>
          <p:cNvSpPr/>
          <p:nvPr/>
        </p:nvSpPr>
        <p:spPr>
          <a:xfrm>
            <a:off x="640080" y="987552"/>
            <a:ext cx="10058400" cy="640080"/>
          </a:xfrm>
          <a:prstGeom prst="rect">
            <a:avLst/>
          </a:prstGeom>
          <a:noFill/>
          <a:ln/>
        </p:spPr>
        <p:txBody>
          <a:bodyPr wrap="square"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The course's through-lines</a:t>
            </a:r>
            <a:endParaRPr lang="en-US" sz="2800" dirty="0"/>
          </a:p>
        </p:txBody>
      </p:sp>
      <p:sp>
        <p:nvSpPr>
          <p:cNvPr id="4" name="Shape 2"/>
          <p:cNvSpPr/>
          <p:nvPr/>
        </p:nvSpPr>
        <p:spPr>
          <a:xfrm>
            <a:off x="640080" y="2057400"/>
            <a:ext cx="457200" cy="457200"/>
          </a:xfrm>
          <a:prstGeom prst="roundRect">
            <a:avLst>
              <a:gd name="adj" fmla="val 16000"/>
            </a:avLst>
          </a:prstGeom>
          <a:solidFill>
            <a:srgbClr val="7A3B2E"/>
          </a:solidFill>
          <a:ln/>
        </p:spPr>
      </p:sp>
      <p:sp>
        <p:nvSpPr>
          <p:cNvPr id="5" name="Text 3"/>
          <p:cNvSpPr/>
          <p:nvPr/>
        </p:nvSpPr>
        <p:spPr>
          <a:xfrm>
            <a:off x="640080" y="205740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371600" y="2020824"/>
            <a:ext cx="10332720" cy="411480"/>
          </a:xfrm>
          <a:prstGeom prst="rect">
            <a:avLst/>
          </a:prstGeom>
          <a:noFill/>
          <a:ln/>
        </p:spPr>
        <p:txBody>
          <a:bodyPr wrap="square" rtlCol="0" anchor="ctr"/>
          <a:lstStyle/>
          <a:p>
            <a:pPr indent="0" marL="0">
              <a:buNone/>
            </a:pPr>
            <a:r>
              <a:rPr lang="en-US" sz="1900" b="1" dirty="0">
                <a:solidFill>
                  <a:srgbClr val="7A3B2E"/>
                </a:solidFill>
                <a:latin typeface="Cambria" pitchFamily="34" charset="0"/>
                <a:ea typeface="Cambria" pitchFamily="34" charset="-122"/>
                <a:cs typeface="Cambria" pitchFamily="34" charset="-120"/>
              </a:rPr>
              <a:t>Read work critically</a:t>
            </a:r>
            <a:endParaRPr lang="en-US" sz="1900" dirty="0"/>
          </a:p>
        </p:txBody>
      </p:sp>
      <p:sp>
        <p:nvSpPr>
          <p:cNvPr id="7" name="Text 5"/>
          <p:cNvSpPr/>
          <p:nvPr/>
        </p:nvSpPr>
        <p:spPr>
          <a:xfrm>
            <a:off x="1371600" y="244144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She Giggles, He Gallops is excellent and its choices are debatable. Admiring and questioning at once is the habit the course is built on.</a:t>
            </a:r>
            <a:endParaRPr lang="en-US" sz="1450" dirty="0"/>
          </a:p>
        </p:txBody>
      </p:sp>
      <p:sp>
        <p:nvSpPr>
          <p:cNvPr id="8" name="Shape 6"/>
          <p:cNvSpPr/>
          <p:nvPr/>
        </p:nvSpPr>
        <p:spPr>
          <a:xfrm>
            <a:off x="640080" y="3520440"/>
            <a:ext cx="457200" cy="457200"/>
          </a:xfrm>
          <a:prstGeom prst="roundRect">
            <a:avLst>
              <a:gd name="adj" fmla="val 16000"/>
            </a:avLst>
          </a:prstGeom>
          <a:solidFill>
            <a:srgbClr val="3F6F5F"/>
          </a:solidFill>
          <a:ln/>
        </p:spPr>
      </p:sp>
      <p:sp>
        <p:nvSpPr>
          <p:cNvPr id="9" name="Text 7"/>
          <p:cNvSpPr/>
          <p:nvPr/>
        </p:nvSpPr>
        <p:spPr>
          <a:xfrm>
            <a:off x="640080" y="352044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371600" y="3483864"/>
            <a:ext cx="10332720" cy="411480"/>
          </a:xfrm>
          <a:prstGeom prst="rect">
            <a:avLst/>
          </a:prstGeom>
          <a:noFill/>
          <a:ln/>
        </p:spPr>
        <p:txBody>
          <a:bodyPr wrap="square" rtlCol="0" anchor="ctr"/>
          <a:lstStyle/>
          <a:p>
            <a:pPr indent="0" marL="0">
              <a:buNone/>
            </a:pPr>
            <a:r>
              <a:rPr lang="en-US" sz="1900" b="1" dirty="0">
                <a:solidFill>
                  <a:srgbClr val="3F6F5F"/>
                </a:solidFill>
                <a:latin typeface="Cambria" pitchFamily="34" charset="0"/>
                <a:ea typeface="Cambria" pitchFamily="34" charset="-122"/>
                <a:cs typeface="Cambria" pitchFamily="34" charset="-120"/>
              </a:rPr>
              <a:t>Make something real</a:t>
            </a:r>
            <a:endParaRPr lang="en-US" sz="1900" dirty="0"/>
          </a:p>
        </p:txBody>
      </p:sp>
      <p:sp>
        <p:nvSpPr>
          <p:cNvPr id="11" name="Text 9"/>
          <p:cNvSpPr/>
          <p:nvPr/>
        </p:nvSpPr>
        <p:spPr>
          <a:xfrm>
            <a:off x="1371600" y="390448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A complete investigation by the first break, before any theory.</a:t>
            </a:r>
            <a:endParaRPr lang="en-US" sz="1450" dirty="0"/>
          </a:p>
        </p:txBody>
      </p:sp>
      <p:sp>
        <p:nvSpPr>
          <p:cNvPr id="12" name="Shape 10"/>
          <p:cNvSpPr/>
          <p:nvPr/>
        </p:nvSpPr>
        <p:spPr>
          <a:xfrm>
            <a:off x="640080" y="4983480"/>
            <a:ext cx="457200" cy="457200"/>
          </a:xfrm>
          <a:prstGeom prst="roundRect">
            <a:avLst>
              <a:gd name="adj" fmla="val 16000"/>
            </a:avLst>
          </a:prstGeom>
          <a:solidFill>
            <a:srgbClr val="B9852F"/>
          </a:solidFill>
          <a:ln/>
        </p:spPr>
      </p:sp>
      <p:sp>
        <p:nvSpPr>
          <p:cNvPr id="13" name="Text 11"/>
          <p:cNvSpPr/>
          <p:nvPr/>
        </p:nvSpPr>
        <p:spPr>
          <a:xfrm>
            <a:off x="640080" y="498348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371600" y="4946904"/>
            <a:ext cx="10332720" cy="411480"/>
          </a:xfrm>
          <a:prstGeom prst="rect">
            <a:avLst/>
          </a:prstGeom>
          <a:noFill/>
          <a:ln/>
        </p:spPr>
        <p:txBody>
          <a:bodyPr wrap="square" rtlCol="0" anchor="ctr"/>
          <a:lstStyle/>
          <a:p>
            <a:pPr indent="0" marL="0">
              <a:buNone/>
            </a:pPr>
            <a:r>
              <a:rPr lang="en-US" sz="1900" b="1" dirty="0">
                <a:solidFill>
                  <a:srgbClr val="B9852F"/>
                </a:solidFill>
                <a:latin typeface="Cambria" pitchFamily="34" charset="0"/>
                <a:ea typeface="Cambria" pitchFamily="34" charset="-122"/>
                <a:cs typeface="Cambria" pitchFamily="34" charset="-120"/>
              </a:rPr>
              <a:t>Images are culture too</a:t>
            </a:r>
            <a:endParaRPr lang="en-US" sz="1900" dirty="0"/>
          </a:p>
        </p:txBody>
      </p:sp>
      <p:sp>
        <p:nvSpPr>
          <p:cNvPr id="15" name="Text 13"/>
          <p:cNvSpPr/>
          <p:nvPr/>
        </p:nvSpPr>
        <p:spPr>
          <a:xfrm>
            <a:off x="1371600" y="536752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A picture is numbers: you counted pixels on day one, and images continue as a co-equal corpus through all ten weeks.</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4E261D"/>
        </a:solidFill>
      </p:bgPr>
    </p:bg>
    <p:spTree>
      <p:nvGrpSpPr>
        <p:cNvPr id="1" name=""/>
        <p:cNvGrpSpPr/>
        <p:nvPr/>
      </p:nvGrpSpPr>
      <p:grpSpPr>
        <a:xfrm>
          <a:off x="0" y="0"/>
          <a:ext cx="0" cy="0"/>
          <a:chOff x="0" y="0"/>
          <a:chExt cx="0" cy="0"/>
        </a:xfrm>
      </p:grpSpPr>
      <p:sp>
        <p:nvSpPr>
          <p:cNvPr id="2" name="Text 0"/>
          <p:cNvSpPr/>
          <p:nvPr/>
        </p:nvSpPr>
        <p:spPr>
          <a:xfrm>
            <a:off x="640080" y="1005840"/>
            <a:ext cx="8229600" cy="32004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THE CHECK, AI CLOSED</a:t>
            </a:r>
            <a:endParaRPr lang="en-US" sz="1300" dirty="0"/>
          </a:p>
        </p:txBody>
      </p:sp>
      <p:sp>
        <p:nvSpPr>
          <p:cNvPr id="3" name="Text 1"/>
          <p:cNvSpPr/>
          <p:nvPr/>
        </p:nvSpPr>
        <p:spPr>
          <a:xfrm>
            <a:off x="640080" y="1645920"/>
            <a:ext cx="8686800" cy="3108960"/>
          </a:xfrm>
          <a:prstGeom prst="rect">
            <a:avLst/>
          </a:prstGeom>
          <a:noFill/>
          <a:ln/>
        </p:spPr>
        <p:txBody>
          <a:bodyPr wrap="square" rtlCol="0" anchor="t">
            <a:spAutoFit/>
          </a:bodyPr>
          <a:lstStyle/>
          <a:p>
            <a:pPr indent="0" marL="0">
              <a:lnSpc>
                <a:spcPct val="115000"/>
              </a:lnSpc>
              <a:buNone/>
            </a:pPr>
            <a:r>
              <a:rPr lang="en-US" sz="2600" dirty="0">
                <a:solidFill>
                  <a:srgbClr val="FFFFFF"/>
                </a:solidFill>
                <a:latin typeface="Cambria" pitchFamily="34" charset="0"/>
                <a:ea typeface="Cambria" pitchFamily="34" charset="-122"/>
                <a:cs typeface="Cambria" pitchFamily="34" charset="-120"/>
              </a:rPr>
              <a:t>Trace it: one written sentence predicting what your cell does before you run it. (Competency 1.)</a:t>
            </a:r>
            <a:endParaRPr lang="en-US" sz="2600" dirty="0"/>
          </a:p>
        </p:txBody>
      </p:sp>
      <p:sp>
        <p:nvSpPr>
          <p:cNvPr id="4" name="Text 2"/>
          <p:cNvSpPr/>
          <p:nvPr/>
        </p:nvSpPr>
        <p:spPr>
          <a:xfrm>
            <a:off x="640080" y="6126480"/>
            <a:ext cx="7315200" cy="365760"/>
          </a:xfrm>
          <a:prstGeom prst="rect">
            <a:avLst/>
          </a:prstGeom>
          <a:noFill/>
          <a:ln/>
        </p:spPr>
        <p:txBody>
          <a:bodyPr wrap="square" rtlCol="0" anchor="ctr"/>
          <a:lstStyle/>
          <a:p>
            <a:pPr indent="0" marL="0">
              <a:buNone/>
            </a:pPr>
            <a:r>
              <a:rPr lang="en-US" sz="1200" dirty="0">
                <a:solidFill>
                  <a:srgbClr val="E8DCD6"/>
                </a:solidFill>
                <a:latin typeface="Calibri" pitchFamily="34" charset="0"/>
                <a:ea typeface="Calibri" pitchFamily="34" charset="-122"/>
                <a:cs typeface="Calibri" pitchFamily="34" charset="-120"/>
              </a:rPr>
              <a:t>Culture as Data  ·  Week 1</a:t>
            </a:r>
            <a:endParaRPr lang="en-US" sz="1200" dirty="0"/>
          </a:p>
        </p:txBody>
      </p:sp>
      <p:sp>
        <p:nvSpPr>
          <p:cNvPr id="5" name="Shape 3"/>
          <p:cNvSpPr/>
          <p:nvPr/>
        </p:nvSpPr>
        <p:spPr>
          <a:xfrm>
            <a:off x="11006176" y="4841304"/>
            <a:ext cx="70992" cy="70992"/>
          </a:xfrm>
          <a:prstGeom prst="ellipse">
            <a:avLst/>
          </a:prstGeom>
          <a:solidFill>
            <a:srgbClr val="7A3B2E"/>
          </a:solidFill>
          <a:ln/>
        </p:spPr>
      </p:sp>
      <p:sp>
        <p:nvSpPr>
          <p:cNvPr id="6" name="Shape 4"/>
          <p:cNvSpPr/>
          <p:nvPr/>
        </p:nvSpPr>
        <p:spPr>
          <a:xfrm>
            <a:off x="10333730" y="5139734"/>
            <a:ext cx="51926" cy="51926"/>
          </a:xfrm>
          <a:prstGeom prst="ellipse">
            <a:avLst/>
          </a:prstGeom>
          <a:solidFill>
            <a:srgbClr val="3F6F5F"/>
          </a:solidFill>
          <a:ln/>
        </p:spPr>
      </p:sp>
      <p:sp>
        <p:nvSpPr>
          <p:cNvPr id="7" name="Shape 5"/>
          <p:cNvSpPr/>
          <p:nvPr/>
        </p:nvSpPr>
        <p:spPr>
          <a:xfrm>
            <a:off x="9655357" y="4517202"/>
            <a:ext cx="66260" cy="66260"/>
          </a:xfrm>
          <a:prstGeom prst="ellipse">
            <a:avLst/>
          </a:prstGeom>
          <a:solidFill>
            <a:srgbClr val="B9852F"/>
          </a:solidFill>
          <a:ln/>
        </p:spPr>
      </p:sp>
      <p:sp>
        <p:nvSpPr>
          <p:cNvPr id="8" name="Shape 6"/>
          <p:cNvSpPr/>
          <p:nvPr/>
        </p:nvSpPr>
        <p:spPr>
          <a:xfrm>
            <a:off x="10037857" y="5434969"/>
            <a:ext cx="81992" cy="81992"/>
          </a:xfrm>
          <a:prstGeom prst="ellipse">
            <a:avLst/>
          </a:prstGeom>
          <a:solidFill>
            <a:srgbClr val="7A3B2E"/>
          </a:solidFill>
          <a:ln/>
        </p:spPr>
      </p:sp>
      <p:sp>
        <p:nvSpPr>
          <p:cNvPr id="9" name="Shape 7"/>
          <p:cNvSpPr/>
          <p:nvPr/>
        </p:nvSpPr>
        <p:spPr>
          <a:xfrm>
            <a:off x="9987711" y="5142214"/>
            <a:ext cx="67117" cy="67117"/>
          </a:xfrm>
          <a:prstGeom prst="ellipse">
            <a:avLst/>
          </a:prstGeom>
          <a:solidFill>
            <a:srgbClr val="3F6F5F"/>
          </a:solidFill>
          <a:ln/>
        </p:spPr>
      </p:sp>
      <p:sp>
        <p:nvSpPr>
          <p:cNvPr id="10" name="Shape 8"/>
          <p:cNvSpPr/>
          <p:nvPr/>
        </p:nvSpPr>
        <p:spPr>
          <a:xfrm>
            <a:off x="10571718" y="6100197"/>
            <a:ext cx="99359" cy="99359"/>
          </a:xfrm>
          <a:prstGeom prst="ellipse">
            <a:avLst/>
          </a:prstGeom>
          <a:solidFill>
            <a:srgbClr val="B9852F"/>
          </a:solidFill>
          <a:ln/>
        </p:spPr>
      </p:sp>
      <p:sp>
        <p:nvSpPr>
          <p:cNvPr id="11" name="Shape 9"/>
          <p:cNvSpPr/>
          <p:nvPr/>
        </p:nvSpPr>
        <p:spPr>
          <a:xfrm>
            <a:off x="10296359" y="5558099"/>
            <a:ext cx="91849" cy="91849"/>
          </a:xfrm>
          <a:prstGeom prst="ellipse">
            <a:avLst/>
          </a:prstGeom>
          <a:solidFill>
            <a:srgbClr val="7A3B2E"/>
          </a:solidFill>
          <a:ln/>
        </p:spPr>
      </p:sp>
      <p:sp>
        <p:nvSpPr>
          <p:cNvPr id="12" name="Shape 10"/>
          <p:cNvSpPr/>
          <p:nvPr/>
        </p:nvSpPr>
        <p:spPr>
          <a:xfrm>
            <a:off x="10228433" y="5977179"/>
            <a:ext cx="67449" cy="67449"/>
          </a:xfrm>
          <a:prstGeom prst="ellipse">
            <a:avLst/>
          </a:prstGeom>
          <a:solidFill>
            <a:srgbClr val="3F6F5F"/>
          </a:solidFill>
          <a:ln/>
        </p:spPr>
      </p:sp>
      <p:sp>
        <p:nvSpPr>
          <p:cNvPr id="13" name="Shape 11"/>
          <p:cNvSpPr/>
          <p:nvPr/>
        </p:nvSpPr>
        <p:spPr>
          <a:xfrm>
            <a:off x="11434740" y="4606617"/>
            <a:ext cx="49018" cy="49018"/>
          </a:xfrm>
          <a:prstGeom prst="ellipse">
            <a:avLst/>
          </a:prstGeom>
          <a:solidFill>
            <a:srgbClr val="B9852F"/>
          </a:solidFill>
          <a:ln/>
        </p:spPr>
      </p:sp>
      <p:sp>
        <p:nvSpPr>
          <p:cNvPr id="14" name="Shape 12"/>
          <p:cNvSpPr/>
          <p:nvPr/>
        </p:nvSpPr>
        <p:spPr>
          <a:xfrm>
            <a:off x="9861440" y="5645034"/>
            <a:ext cx="59416" cy="59416"/>
          </a:xfrm>
          <a:prstGeom prst="ellipse">
            <a:avLst/>
          </a:prstGeom>
          <a:solidFill>
            <a:srgbClr val="7A3B2E"/>
          </a:solidFill>
          <a:ln/>
        </p:spPr>
      </p:sp>
      <p:sp>
        <p:nvSpPr>
          <p:cNvPr id="15" name="Shape 13"/>
          <p:cNvSpPr/>
          <p:nvPr/>
        </p:nvSpPr>
        <p:spPr>
          <a:xfrm>
            <a:off x="9135654" y="4604249"/>
            <a:ext cx="66639" cy="66639"/>
          </a:xfrm>
          <a:prstGeom prst="ellipse">
            <a:avLst/>
          </a:prstGeom>
          <a:solidFill>
            <a:srgbClr val="3F6F5F"/>
          </a:solidFill>
          <a:ln/>
        </p:spPr>
      </p:sp>
      <p:sp>
        <p:nvSpPr>
          <p:cNvPr id="16" name="Shape 14"/>
          <p:cNvSpPr/>
          <p:nvPr/>
        </p:nvSpPr>
        <p:spPr>
          <a:xfrm>
            <a:off x="10324181" y="5682882"/>
            <a:ext cx="93546" cy="93546"/>
          </a:xfrm>
          <a:prstGeom prst="ellipse">
            <a:avLst/>
          </a:prstGeom>
          <a:solidFill>
            <a:srgbClr val="B9852F"/>
          </a:solidFill>
          <a:ln/>
        </p:spPr>
      </p:sp>
      <p:sp>
        <p:nvSpPr>
          <p:cNvPr id="17" name="Shape 15"/>
          <p:cNvSpPr/>
          <p:nvPr/>
        </p:nvSpPr>
        <p:spPr>
          <a:xfrm>
            <a:off x="9373182" y="6130114"/>
            <a:ext cx="53271" cy="53271"/>
          </a:xfrm>
          <a:prstGeom prst="ellipse">
            <a:avLst/>
          </a:prstGeom>
          <a:solidFill>
            <a:srgbClr val="7A3B2E"/>
          </a:solidFill>
          <a:ln/>
        </p:spPr>
      </p:sp>
      <p:sp>
        <p:nvSpPr>
          <p:cNvPr id="18" name="Shape 16"/>
          <p:cNvSpPr/>
          <p:nvPr/>
        </p:nvSpPr>
        <p:spPr>
          <a:xfrm>
            <a:off x="9909776" y="4932484"/>
            <a:ext cx="78401" cy="78401"/>
          </a:xfrm>
          <a:prstGeom prst="ellipse">
            <a:avLst/>
          </a:prstGeom>
          <a:solidFill>
            <a:srgbClr val="3F6F5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2026-07-08T04:50:04Z</dcterms:created>
  <dcterms:modified xsi:type="dcterms:W3CDTF">2026-07-08T04:50:04Z</dcterms:modified>
</cp:coreProperties>
</file>