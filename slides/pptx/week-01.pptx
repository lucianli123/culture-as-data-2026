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pnas.org/doi/10.1073/pnas.2102061118" TargetMode="External" /><Relationship Id="rId3" Type="http://schemas.openxmlformats.org/officeDocument/2006/relationships/hyperlink" Target="https://www.pnas.org/doi/10.1073/pnas.2115010118" TargetMode="External" /><Relationship Id="rId4" Type="http://schemas.openxmlformats.org/officeDocument/2006/relationships/hyperlink" Target="https://www.robinsloan.com/notes/writing-with-the-machin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1: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First</a:t>
            </a:r>
            <a:r>
              <a:rPr/>
              <a:t> </a:t>
            </a:r>
            <a:r>
              <a:rPr/>
              <a:t>Investigation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r>
              <a:rPr/>
              <a:t>Culture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draft</a:t>
            </a:r>
            <a:r>
              <a:rPr/>
              <a:t> </a:t>
            </a:r>
            <a:r>
              <a:rPr/>
              <a:t>slides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1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First</a:t>
            </a:r>
            <a:r>
              <a:rPr/>
              <a:t> </a:t>
            </a:r>
            <a:r>
              <a:rPr/>
              <a:t>Investigation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1270000" indent="0">
              <a:buNone/>
            </a:pPr>
            <a:r>
              <a:rPr sz="2000"/>
              <a:t>By the break you’ll have loaded a real dataset, asked it a question, and produced your first chart. A complete investigation, end to end, on day one.</a:t>
            </a:r>
          </a:p>
          <a:p>
            <a:pPr lvl="0" marL="0" indent="0">
              <a:buNone/>
            </a:pPr>
            <a:r>
              <a:rPr i="1"/>
              <a:t>Tool / method: Culture as data itself (the ladder starts next week) · Competencies: 1,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Look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Pudding, “Pockets” (2018), women’s jeans pockets are measurably smaller, and one chart lands the argument.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</a:t>
            </a:r>
            <a:r>
              <a:rPr/>
              <a:t> </a:t>
            </a:r>
            <a:r>
              <a:rPr/>
              <a:t>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80 pairs from a handful of brands: is that “women’s pockets,” or a slice? And look at the chart itself, not just the data, what does it put front and center?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Three</a:t>
            </a:r>
            <a:r>
              <a:rPr/>
              <a:t> </a:t>
            </a:r>
            <a:r>
              <a:rPr/>
              <a:t>modes</a:t>
            </a:r>
            <a:r>
              <a:rPr/>
              <a:t> </a:t>
            </a:r>
            <a:r>
              <a:rPr/>
              <a:t>today</a:t>
            </a:r>
            <a:r>
              <a:rPr/>
              <a:t> </a:t>
            </a:r>
            <a:r>
              <a:rPr/>
              <a:t>(about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third</a:t>
            </a:r>
            <a:r>
              <a:rPr/>
              <a:t> </a:t>
            </a:r>
            <a:r>
              <a:rPr/>
              <a:t>each)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Lecture / demo:</a:t>
            </a:r>
            <a:r>
              <a:rPr/>
              <a:t> Culture as data itself (the ladder starts next week)</a:t>
            </a:r>
          </a:p>
          <a:p>
            <a:pPr lvl="1"/>
            <a:r>
              <a:rPr b="1"/>
              <a:t>Workshop:</a:t>
            </a:r>
            <a:r>
              <a:rPr/>
              <a:t> build hands-on on your own data</a:t>
            </a:r>
          </a:p>
          <a:p>
            <a:pPr lvl="1"/>
            <a:r>
              <a:rPr b="1"/>
              <a:t>Discussion:</a:t>
            </a:r>
            <a:r>
              <a:rPr/>
              <a:t> the study above, interrogate it, debate it, or critique each other’s work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0:00</a:t>
            </a:r>
            <a:r>
              <a:rPr/>
              <a:t> Setting the room: the social rules, demonstrated by the instructor breaking one and being corrected. Today’s live coding includes real mistakes on purpose.</a:t>
            </a:r>
          </a:p>
          <a:p>
            <a:pPr lvl="1"/>
            <a:r>
              <a:rPr b="1"/>
              <a:t>0:12</a:t>
            </a:r>
            <a:r>
              <a:rPr/>
              <a:t> Look at This, then Question It: Pockets.</a:t>
            </a:r>
          </a:p>
          <a:p>
            <a:pPr lvl="1"/>
            <a:r>
              <a:rPr b="1"/>
              <a:t>0:17</a:t>
            </a:r>
            <a:r>
              <a:rPr/>
              <a:t> Pre-train the vocabulary (no code): corpus, method, model, embedding, in plain language with pictures. The course map and the deliverable.</a:t>
            </a:r>
          </a:p>
          <a:p>
            <a:pPr lvl="1"/>
            <a:r>
              <a:rPr b="1"/>
              <a:t>0:32</a:t>
            </a:r>
            <a:r>
              <a:rPr/>
              <a:t> Lab 1 (worked, participatory): copy the notebook to Drive and mount Drive into the runtime (this is how your corpus and results survive Colab wiping the session, everything saving to one project folder), put a Gemini key in Colab Secrets, load NYT wedding data, make a first chart. Hand out the common-errors cheat sheet. Then solo with a partner: draft three questions, pick one, have the AI write the code, run it, chart it. Write one sentence predicting your cell before you run it.</a:t>
            </a:r>
          </a:p>
          <a:p>
            <a:pPr lvl="1"/>
            <a:r>
              <a:rPr b="1"/>
              <a:t>1:10</a:t>
            </a:r>
            <a:r>
              <a:rPr/>
              <a:t> Break</a:t>
            </a:r>
          </a:p>
          <a:p>
            <a:pPr lvl="1"/>
            <a:r>
              <a:rPr b="1"/>
              <a:t>1:20</a:t>
            </a:r>
            <a:r>
              <a:rPr/>
              <a:t> Lab 2 (worked): ~200 Met Museum objects with thumbnails. Plot the collection by century; notice what the catalog does not record.</a:t>
            </a:r>
          </a:p>
          <a:p>
            <a:pPr lvl="1"/>
            <a:r>
              <a:rPr b="1"/>
              <a:t>1:50</a:t>
            </a:r>
            <a:r>
              <a:rPr/>
              <a:t> Teaser of the ladder ahead; the standing rituals named. First check-out.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Reading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Reading:</a:t>
            </a:r>
            <a:r>
              <a:rPr/>
              <a:t> </a:t>
            </a:r>
            <a:r>
              <a:rPr>
                <a:hlinkClick r:id="rId2"/>
              </a:rPr>
              <a:t>Bollen et al., the cognitive-distortions hockey stick (PNAS 2021)</a:t>
            </a:r>
            <a:r>
              <a:rPr/>
              <a:t>, with the </a:t>
            </a:r>
            <a:r>
              <a:rPr>
                <a:hlinkClick r:id="rId3"/>
              </a:rPr>
              <a:t>Schmidt et al. critique</a:t>
            </a:r>
          </a:p>
          <a:p>
            <a:pPr lvl="1"/>
            <a:r>
              <a:rPr b="1"/>
              <a:t>Supplement:</a:t>
            </a:r>
            <a:r>
              <a:rPr/>
              <a:t> </a:t>
            </a:r>
            <a:r>
              <a:rPr>
                <a:hlinkClick r:id="rId4"/>
              </a:rPr>
              <a:t>Robin Sloan, Writing with the machine</a:t>
            </a:r>
          </a:p>
          <a:p>
            <a:pPr lvl="1"/>
            <a:r>
              <a:rPr b="1"/>
              <a:t>Sketch:</a:t>
            </a:r>
            <a:r>
              <a:rPr/>
              <a:t> One question from your life answerable with text or image data; three sentences.</a:t>
            </a:r>
          </a:p>
          <a:p>
            <a:pPr lvl="1"/>
            <a:r>
              <a:rPr b="1"/>
              <a:t>Check (AI closed):</a:t>
            </a:r>
            <a:r>
              <a:rPr/>
              <a:t> Trace it: one written sentence predicting what your cell does before you run it. (Competency 1.)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1: Your First Investigation</dc:title>
  <dc:creator/>
  <cp:keywords/>
  <dcterms:created xsi:type="dcterms:W3CDTF">2026-06-29T04:13:50Z</dcterms:created>
  <dcterms:modified xsi:type="dcterms:W3CDTF">2026-06-29T04:13:50Z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revealjs</vt:lpwstr>
  </property>
  <property fmtid="{D5CDD505-2E9C-101B-9397-08002B2CF9AE}" pid="3" name="subtitle">
    <vt:lpwstr>Culture as Data · draft slides</vt:lpwstr>
  </property>
</Properties>
</file>