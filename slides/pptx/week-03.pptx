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CULTURE AS DATA</a:t>
            </a:r>
            <a:endParaRPr lang="en-US" sz="1300" dirty="0"/>
          </a:p>
        </p:txBody>
      </p:sp>
      <p:sp>
        <p:nvSpPr>
          <p:cNvPr id="3" name="Text 1"/>
          <p:cNvSpPr/>
          <p:nvPr/>
        </p:nvSpPr>
        <p:spPr>
          <a:xfrm>
            <a:off x="640080" y="1554480"/>
            <a:ext cx="5486400" cy="548640"/>
          </a:xfrm>
          <a:prstGeom prst="rect">
            <a:avLst/>
          </a:prstGeom>
          <a:noFill/>
          <a:ln/>
        </p:spPr>
        <p:txBody>
          <a:bodyPr wrap="square" rtlCol="0" anchor="ctr"/>
          <a:lstStyle/>
          <a:p>
            <a:pPr indent="0" marL="0">
              <a:buNone/>
            </a:pPr>
            <a:r>
              <a:rPr lang="en-US" sz="2000" dirty="0">
                <a:solidFill>
                  <a:srgbClr val="E8DCD6"/>
                </a:solidFill>
                <a:latin typeface="Calibri" pitchFamily="34" charset="0"/>
                <a:ea typeface="Calibri" pitchFamily="34" charset="-122"/>
                <a:cs typeface="Calibri" pitchFamily="34" charset="-120"/>
              </a:rPr>
              <a:t>Week 3</a:t>
            </a:r>
            <a:endParaRPr lang="en-US" sz="2000" dirty="0"/>
          </a:p>
        </p:txBody>
      </p:sp>
      <p:sp>
        <p:nvSpPr>
          <p:cNvPr id="4" name="Text 2"/>
          <p:cNvSpPr/>
          <p:nvPr/>
        </p:nvSpPr>
        <p:spPr>
          <a:xfrm>
            <a:off x="640080" y="2011680"/>
            <a:ext cx="8961120" cy="1828800"/>
          </a:xfrm>
          <a:prstGeom prst="rect">
            <a:avLst/>
          </a:prstGeom>
          <a:noFill/>
          <a:ln/>
        </p:spPr>
        <p:txBody>
          <a:bodyPr wrap="square" rtlCol="0" anchor="t">
            <a:spAutoFit/>
          </a:bodyPr>
          <a:lstStyle/>
          <a:p>
            <a:pPr indent="0" marL="0">
              <a:buNone/>
            </a:pPr>
            <a:r>
              <a:rPr lang="en-US" sz="4000" b="1" dirty="0">
                <a:solidFill>
                  <a:srgbClr val="FFFFFF"/>
                </a:solidFill>
                <a:latin typeface="Cambria" pitchFamily="34" charset="0"/>
                <a:ea typeface="Cambria" pitchFamily="34" charset="-122"/>
                <a:cs typeface="Cambria" pitchFamily="34" charset="-120"/>
              </a:rPr>
              <a:t>Classification: Counting with Weights</a:t>
            </a:r>
            <a:endParaRPr lang="en-US" sz="4000" dirty="0"/>
          </a:p>
        </p:txBody>
      </p:sp>
      <p:sp>
        <p:nvSpPr>
          <p:cNvPr id="5" name="Text 3"/>
          <p:cNvSpPr/>
          <p:nvPr/>
        </p:nvSpPr>
        <p:spPr>
          <a:xfrm>
            <a:off x="640080" y="4114800"/>
            <a:ext cx="7680960" cy="1463040"/>
          </a:xfrm>
          <a:prstGeom prst="rect">
            <a:avLst/>
          </a:prstGeom>
          <a:noFill/>
          <a:ln/>
        </p:spPr>
        <p:txBody>
          <a:bodyPr wrap="square" rtlCol="0" anchor="t">
            <a:spAutoFit/>
          </a:bodyPr>
          <a:lstStyle/>
          <a:p>
            <a:pPr indent="0" marL="0">
              <a:buNone/>
            </a:pPr>
            <a:r>
              <a:rPr lang="en-US" sz="1600" i="1" dirty="0">
                <a:solidFill>
                  <a:srgbClr val="E8DCD6"/>
                </a:solidFill>
                <a:latin typeface="Calibri" pitchFamily="34" charset="0"/>
                <a:ea typeface="Calibri" pitchFamily="34" charset="-122"/>
                <a:cs typeface="Calibri" pitchFamily="34" charset="-120"/>
              </a:rPr>
              <a:t>Argue out the genre article that made this method famous, watch a model get built in practice (and mis-built), then build your own in a group: a logistic regression you can read, doubt, and defend.</a:t>
            </a:r>
            <a:endParaRPr lang="en-US" sz="16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B9852F"/>
                </a:solidFill>
                <a:latin typeface="Calibri" pitchFamily="34" charset="0"/>
                <a:ea typeface="Calibri" pitchFamily="34" charset="-122"/>
                <a:cs typeface="Calibri" pitchFamily="34" charset="-120"/>
              </a:rPr>
              <a:t>Tool / method:  Modelling in practice. Fit a logistic regression, read it, break it</a:t>
            </a:r>
            <a:endParaRPr lang="en-US" sz="1200" dirty="0"/>
          </a:p>
        </p:txBody>
      </p:sp>
      <p:sp>
        <p:nvSpPr>
          <p:cNvPr id="7" name="Shape 5"/>
          <p:cNvSpPr/>
          <p:nvPr/>
        </p:nvSpPr>
        <p:spPr>
          <a:xfrm>
            <a:off x="11163829" y="1812694"/>
            <a:ext cx="91155" cy="91155"/>
          </a:xfrm>
          <a:prstGeom prst="ellipse">
            <a:avLst/>
          </a:prstGeom>
          <a:solidFill>
            <a:srgbClr val="7A3B2E"/>
          </a:solidFill>
          <a:ln/>
        </p:spPr>
      </p:sp>
      <p:sp>
        <p:nvSpPr>
          <p:cNvPr id="8" name="Shape 6"/>
          <p:cNvSpPr/>
          <p:nvPr/>
        </p:nvSpPr>
        <p:spPr>
          <a:xfrm>
            <a:off x="10739684" y="1655335"/>
            <a:ext cx="67855" cy="67855"/>
          </a:xfrm>
          <a:prstGeom prst="ellipse">
            <a:avLst/>
          </a:prstGeom>
          <a:solidFill>
            <a:srgbClr val="3F6F5F"/>
          </a:solidFill>
          <a:ln/>
        </p:spPr>
      </p:sp>
      <p:sp>
        <p:nvSpPr>
          <p:cNvPr id="9" name="Shape 7"/>
          <p:cNvSpPr/>
          <p:nvPr/>
        </p:nvSpPr>
        <p:spPr>
          <a:xfrm>
            <a:off x="10918790" y="2121334"/>
            <a:ext cx="53573" cy="53573"/>
          </a:xfrm>
          <a:prstGeom prst="ellipse">
            <a:avLst/>
          </a:prstGeom>
          <a:solidFill>
            <a:srgbClr val="B9852F"/>
          </a:solidFill>
          <a:ln/>
        </p:spPr>
      </p:sp>
      <p:sp>
        <p:nvSpPr>
          <p:cNvPr id="10" name="Shape 8"/>
          <p:cNvSpPr/>
          <p:nvPr/>
        </p:nvSpPr>
        <p:spPr>
          <a:xfrm>
            <a:off x="10100945" y="2197232"/>
            <a:ext cx="71167" cy="71167"/>
          </a:xfrm>
          <a:prstGeom prst="ellipse">
            <a:avLst/>
          </a:prstGeom>
          <a:solidFill>
            <a:srgbClr val="7A3B2E"/>
          </a:solidFill>
          <a:ln/>
        </p:spPr>
      </p:sp>
      <p:sp>
        <p:nvSpPr>
          <p:cNvPr id="11" name="Shape 9"/>
          <p:cNvSpPr/>
          <p:nvPr/>
        </p:nvSpPr>
        <p:spPr>
          <a:xfrm>
            <a:off x="9429150" y="869568"/>
            <a:ext cx="88634" cy="88634"/>
          </a:xfrm>
          <a:prstGeom prst="ellipse">
            <a:avLst/>
          </a:prstGeom>
          <a:solidFill>
            <a:srgbClr val="3F6F5F"/>
          </a:solidFill>
          <a:ln/>
        </p:spPr>
      </p:sp>
      <p:sp>
        <p:nvSpPr>
          <p:cNvPr id="12" name="Shape 10"/>
          <p:cNvSpPr/>
          <p:nvPr/>
        </p:nvSpPr>
        <p:spPr>
          <a:xfrm>
            <a:off x="10046406" y="2336963"/>
            <a:ext cx="73971" cy="73971"/>
          </a:xfrm>
          <a:prstGeom prst="ellipse">
            <a:avLst/>
          </a:prstGeom>
          <a:solidFill>
            <a:srgbClr val="B9852F"/>
          </a:solidFill>
          <a:ln/>
        </p:spPr>
      </p:sp>
      <p:sp>
        <p:nvSpPr>
          <p:cNvPr id="13" name="Shape 11"/>
          <p:cNvSpPr/>
          <p:nvPr/>
        </p:nvSpPr>
        <p:spPr>
          <a:xfrm>
            <a:off x="10352511" y="2111235"/>
            <a:ext cx="50036" cy="50036"/>
          </a:xfrm>
          <a:prstGeom prst="ellipse">
            <a:avLst/>
          </a:prstGeom>
          <a:solidFill>
            <a:srgbClr val="7A3B2E"/>
          </a:solidFill>
          <a:ln/>
        </p:spPr>
      </p:sp>
      <p:sp>
        <p:nvSpPr>
          <p:cNvPr id="14" name="Shape 12"/>
          <p:cNvSpPr/>
          <p:nvPr/>
        </p:nvSpPr>
        <p:spPr>
          <a:xfrm>
            <a:off x="11490466" y="916287"/>
            <a:ext cx="94555" cy="94555"/>
          </a:xfrm>
          <a:prstGeom prst="ellipse">
            <a:avLst/>
          </a:prstGeom>
          <a:solidFill>
            <a:srgbClr val="3F6F5F"/>
          </a:solidFill>
          <a:ln/>
        </p:spPr>
      </p:sp>
      <p:sp>
        <p:nvSpPr>
          <p:cNvPr id="15" name="Shape 13"/>
          <p:cNvSpPr/>
          <p:nvPr/>
        </p:nvSpPr>
        <p:spPr>
          <a:xfrm>
            <a:off x="9116871" y="1213376"/>
            <a:ext cx="65794" cy="65794"/>
          </a:xfrm>
          <a:prstGeom prst="ellipse">
            <a:avLst/>
          </a:prstGeom>
          <a:solidFill>
            <a:srgbClr val="B9852F"/>
          </a:solidFill>
          <a:ln/>
        </p:spPr>
      </p:sp>
      <p:sp>
        <p:nvSpPr>
          <p:cNvPr id="16" name="Shape 14"/>
          <p:cNvSpPr/>
          <p:nvPr/>
        </p:nvSpPr>
        <p:spPr>
          <a:xfrm>
            <a:off x="9861127" y="1989044"/>
            <a:ext cx="96343" cy="96343"/>
          </a:xfrm>
          <a:prstGeom prst="ellipse">
            <a:avLst/>
          </a:prstGeom>
          <a:solidFill>
            <a:srgbClr val="7A3B2E"/>
          </a:solidFill>
          <a:ln/>
        </p:spPr>
      </p:sp>
      <p:sp>
        <p:nvSpPr>
          <p:cNvPr id="17" name="Shape 15"/>
          <p:cNvSpPr/>
          <p:nvPr/>
        </p:nvSpPr>
        <p:spPr>
          <a:xfrm>
            <a:off x="9379832" y="2229830"/>
            <a:ext cx="99332" cy="99332"/>
          </a:xfrm>
          <a:prstGeom prst="ellipse">
            <a:avLst/>
          </a:prstGeom>
          <a:solidFill>
            <a:srgbClr val="3F6F5F"/>
          </a:solidFill>
          <a:ln/>
        </p:spPr>
      </p:sp>
      <p:sp>
        <p:nvSpPr>
          <p:cNvPr id="18" name="Shape 16"/>
          <p:cNvSpPr/>
          <p:nvPr/>
        </p:nvSpPr>
        <p:spPr>
          <a:xfrm>
            <a:off x="11559187" y="922274"/>
            <a:ext cx="97623" cy="97623"/>
          </a:xfrm>
          <a:prstGeom prst="ellipse">
            <a:avLst/>
          </a:prstGeom>
          <a:solidFill>
            <a:srgbClr val="B9852F"/>
          </a:solidFill>
          <a:ln/>
        </p:spPr>
      </p:sp>
      <p:sp>
        <p:nvSpPr>
          <p:cNvPr id="19" name="Shape 17"/>
          <p:cNvSpPr/>
          <p:nvPr/>
        </p:nvSpPr>
        <p:spPr>
          <a:xfrm>
            <a:off x="9312593" y="2264997"/>
            <a:ext cx="59210" cy="59210"/>
          </a:xfrm>
          <a:prstGeom prst="ellipse">
            <a:avLst/>
          </a:prstGeom>
          <a:solidFill>
            <a:srgbClr val="7A3B2E"/>
          </a:solidFill>
          <a:ln/>
        </p:spPr>
      </p:sp>
      <p:sp>
        <p:nvSpPr>
          <p:cNvPr id="20" name="Shape 18"/>
          <p:cNvSpPr/>
          <p:nvPr/>
        </p:nvSpPr>
        <p:spPr>
          <a:xfrm>
            <a:off x="9269448" y="1769818"/>
            <a:ext cx="61818" cy="61818"/>
          </a:xfrm>
          <a:prstGeom prst="ellipse">
            <a:avLst/>
          </a:prstGeom>
          <a:solidFill>
            <a:srgbClr val="3F6F5F"/>
          </a:solidFill>
          <a:ln/>
        </p:spPr>
      </p:sp>
      <p:sp>
        <p:nvSpPr>
          <p:cNvPr id="21" name="Shape 19"/>
          <p:cNvSpPr/>
          <p:nvPr/>
        </p:nvSpPr>
        <p:spPr>
          <a:xfrm>
            <a:off x="9829553" y="1897998"/>
            <a:ext cx="73444" cy="73444"/>
          </a:xfrm>
          <a:prstGeom prst="ellipse">
            <a:avLst/>
          </a:prstGeom>
          <a:solidFill>
            <a:srgbClr val="B9852F"/>
          </a:solidFill>
          <a:ln/>
        </p:spPr>
      </p:sp>
      <p:sp>
        <p:nvSpPr>
          <p:cNvPr id="22" name="Shape 20"/>
          <p:cNvSpPr/>
          <p:nvPr/>
        </p:nvSpPr>
        <p:spPr>
          <a:xfrm>
            <a:off x="9392708" y="1636076"/>
            <a:ext cx="62082" cy="62082"/>
          </a:xfrm>
          <a:prstGeom prst="ellipse">
            <a:avLst/>
          </a:prstGeom>
          <a:solidFill>
            <a:srgbClr val="7A3B2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371600"/>
            <a:ext cx="2377440" cy="2377440"/>
          </a:xfrm>
          <a:prstGeom prst="ellipse">
            <a:avLst/>
          </a:prstGeom>
          <a:solidFill>
            <a:srgbClr val="F4EEE8"/>
          </a:solidFill>
          <a:ln/>
        </p:spPr>
      </p:sp>
      <p:sp>
        <p:nvSpPr>
          <p:cNvPr id="3" name="Shape 1"/>
          <p:cNvSpPr/>
          <p:nvPr/>
        </p:nvSpPr>
        <p:spPr>
          <a:xfrm>
            <a:off x="1325880" y="2423160"/>
            <a:ext cx="146304" cy="146304"/>
          </a:xfrm>
          <a:prstGeom prst="ellipse">
            <a:avLst/>
          </a:prstGeom>
          <a:solidFill>
            <a:srgbClr val="7A3B2E"/>
          </a:solidFill>
          <a:ln/>
        </p:spPr>
      </p:sp>
      <p:sp>
        <p:nvSpPr>
          <p:cNvPr id="4" name="Shape 2"/>
          <p:cNvSpPr/>
          <p:nvPr/>
        </p:nvSpPr>
        <p:spPr>
          <a:xfrm>
            <a:off x="1563624" y="2514600"/>
            <a:ext cx="146304" cy="146304"/>
          </a:xfrm>
          <a:prstGeom prst="ellipse">
            <a:avLst/>
          </a:prstGeom>
          <a:solidFill>
            <a:srgbClr val="3F6F5F"/>
          </a:solidFill>
          <a:ln/>
        </p:spPr>
      </p:sp>
      <p:sp>
        <p:nvSpPr>
          <p:cNvPr id="5" name="Shape 3"/>
          <p:cNvSpPr/>
          <p:nvPr/>
        </p:nvSpPr>
        <p:spPr>
          <a:xfrm>
            <a:off x="1801368" y="2423160"/>
            <a:ext cx="146304" cy="146304"/>
          </a:xfrm>
          <a:prstGeom prst="ellipse">
            <a:avLst/>
          </a:prstGeom>
          <a:solidFill>
            <a:srgbClr val="B9852F"/>
          </a:solidFill>
          <a:ln/>
        </p:spPr>
      </p:sp>
      <p:sp>
        <p:nvSpPr>
          <p:cNvPr id="6" name="Text 4"/>
          <p:cNvSpPr/>
          <p:nvPr/>
        </p:nvSpPr>
        <p:spPr>
          <a:xfrm>
            <a:off x="3657600" y="914400"/>
            <a:ext cx="73152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LOOK AT THIS</a:t>
            </a:r>
            <a:endParaRPr lang="en-US" sz="1300" dirty="0"/>
          </a:p>
        </p:txBody>
      </p:sp>
      <p:sp>
        <p:nvSpPr>
          <p:cNvPr id="7" name="Text 5"/>
          <p:cNvSpPr/>
          <p:nvPr/>
        </p:nvSpPr>
        <p:spPr>
          <a:xfrm>
            <a:off x="3657600" y="1280160"/>
            <a:ext cx="786384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study we open with</a:t>
            </a:r>
            <a:endParaRPr lang="en-US" sz="3000" dirty="0"/>
          </a:p>
        </p:txBody>
      </p:sp>
      <p:sp>
        <p:nvSpPr>
          <p:cNvPr id="8" name="Text 6"/>
          <p:cNvSpPr/>
          <p:nvPr/>
        </p:nvSpPr>
        <p:spPr>
          <a:xfrm>
            <a:off x="3657600" y="2286000"/>
            <a:ext cx="7863840" cy="3291840"/>
          </a:xfrm>
          <a:prstGeom prst="rect">
            <a:avLst/>
          </a:prstGeom>
          <a:noFill/>
          <a:ln/>
        </p:spPr>
        <p:txBody>
          <a:bodyPr wrap="square" rtlCol="0" anchor="t">
            <a:spAutoFit/>
          </a:bodyPr>
          <a:lstStyle/>
          <a:p>
            <a:pPr indent="0" marL="0">
              <a:lnSpc>
                <a:spcPct val="115000"/>
              </a:lnSpc>
              <a:buNone/>
            </a:pPr>
            <a:r>
              <a:rPr lang="en-US" sz="1900" dirty="0">
                <a:solidFill>
                  <a:srgbClr val="1A1A1A"/>
                </a:solidFill>
                <a:latin typeface="Calibri" pitchFamily="34" charset="0"/>
                <a:ea typeface="Calibri" pitchFamily="34" charset="-122"/>
                <a:cs typeface="Calibri" pitchFamily="34" charset="-120"/>
              </a:rPr>
              <a:t>Ted Underwood's genre prediction (Distant Horizons, 2019; "The Life Cycles of Genres," 2016): a logistic regression, the exact tool of today's group work, trained to recognize detective fiction and science fiction across a century of novels.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73152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QUESTION IT</a:t>
            </a:r>
            <a:endParaRPr lang="en-US" sz="1300" dirty="0"/>
          </a:p>
        </p:txBody>
      </p:sp>
      <p:sp>
        <p:nvSpPr>
          <p:cNvPr id="3" name="Text 1"/>
          <p:cNvSpPr/>
          <p:nvPr/>
        </p:nvSpPr>
        <p:spPr>
          <a:xfrm>
            <a:off x="640080" y="1188720"/>
            <a:ext cx="10881360" cy="914400"/>
          </a:xfrm>
          <a:prstGeom prst="rect">
            <a:avLst/>
          </a:prstGeom>
          <a:noFill/>
          <a:ln/>
        </p:spPr>
        <p:txBody>
          <a:bodyPr wrap="square" rtlCol="0" anchor="ctr">
            <a:spAutoFit/>
          </a:bodyPr>
          <a:lstStyle/>
          <a:p>
            <a:pPr indent="0" marL="0">
              <a:buNone/>
            </a:pPr>
            <a:r>
              <a:rPr lang="en-US" sz="2600" b="1" dirty="0">
                <a:solidFill>
                  <a:srgbClr val="1A1A1A"/>
                </a:solidFill>
                <a:latin typeface="Cambria" pitchFamily="34" charset="0"/>
                <a:ea typeface="Cambria" pitchFamily="34" charset="-122"/>
                <a:cs typeface="Cambria" pitchFamily="34" charset="-120"/>
              </a:rPr>
              <a:t>What did they choose, and where might it be wrong?</a:t>
            </a:r>
            <a:endParaRPr lang="en-US" sz="2600" dirty="0"/>
          </a:p>
        </p:txBody>
      </p:sp>
      <p:sp>
        <p:nvSpPr>
          <p:cNvPr id="4" name="Shape 2"/>
          <p:cNvSpPr/>
          <p:nvPr/>
        </p:nvSpPr>
        <p:spPr>
          <a:xfrm>
            <a:off x="640080" y="2468880"/>
            <a:ext cx="256032" cy="256032"/>
          </a:xfrm>
          <a:prstGeom prst="ellipse">
            <a:avLst/>
          </a:prstGeom>
          <a:solidFill>
            <a:srgbClr val="B9852F"/>
          </a:solidFill>
          <a:ln/>
        </p:spPr>
      </p:sp>
      <p:sp>
        <p:nvSpPr>
          <p:cNvPr id="5" name="Text 3"/>
          <p:cNvSpPr/>
          <p:nvPr/>
        </p:nvSpPr>
        <p:spPr>
          <a:xfrm>
            <a:off x="1097280" y="2286000"/>
            <a:ext cx="10241280" cy="3657600"/>
          </a:xfrm>
          <a:prstGeom prst="rect">
            <a:avLst/>
          </a:prstGeom>
          <a:noFill/>
          <a:ln/>
        </p:spPr>
        <p:txBody>
          <a:bodyPr wrap="square" rtlCol="0" anchor="t">
            <a:spAutoFit/>
          </a:bodyPr>
          <a:lstStyle/>
          <a:p>
            <a:pPr indent="0" marL="0">
              <a:lnSpc>
                <a:spcPct val="120000"/>
              </a:lnSpc>
              <a:buNone/>
            </a:pPr>
            <a:r>
              <a:rPr lang="en-US" sz="2000" dirty="0">
                <a:solidFill>
                  <a:srgbClr val="1A1A1A"/>
                </a:solidFill>
                <a:latin typeface="Calibri" pitchFamily="34" charset="0"/>
                <a:ea typeface="Calibri" pitchFamily="34" charset="-122"/>
                <a:cs typeface="Calibri" pitchFamily="34" charset="-120"/>
              </a:rPr>
              <a:t>What counts as science fiction is a choice built into the training labels. And the model's most famous error, misreading Pynchon's The Crying of Lot 49, a detective-fiction spoof, shows genre boundaries are real but fuzzy. A classifier's mistakes teach as much as its successes; yours will too.</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3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Discussion: The Life Cycles of Genres</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You read the article. The room argues it, not the instructor. Four questions on the board, thirty-five minutes.</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What did Underwood actually count, and who decided which novels were detective fiction?</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Pynchon misread (The Crying of Lot 49, a detective-fiction spoof) is the best thing in the paper: genre boundaries are real but fuzzy, and the error is what shows it.</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Carry this into the second hour: where would YOUR classifier fail, and what would the failure teach?</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3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Modelling in practice, built live</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Features, weights, a fit, and a score you would believe. That is the whole object.</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Every word casts a vote, for or against; the model adds the votes and learns the weights from labeled examples.</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Held out or it doesn't count. Score against a baseline that always guesses the bigger pile, or the number means nothing.</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Read the signed weights: the most positive and most negative words are the model's mind on the table.</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3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What goes wrong in practice</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Scoring on the training rows: that measures memory, not reading.</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An imbalanced pair flattering itself, and a leaked giveaway feature you never meant to hand it.</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No 'neither' box: hand it Shakespeare and it answers confidently anyway.</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Teachable Machine, sixty seconds: orange cats and brown dogs. Bias is not a ghost in the machine, it is the training set, and you assembled it.</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3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Group work: your model, your call</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Threes, one screen, rotating driver / reader / skeptic. The notebook has stations, not answers.</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Pick two piles, build features, fit, judge against the baseline, read the weights, break it.</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Then change ONE decision (min_df, tf-idf, bigrams, C, class_weight) and fit again: several models side by side is the point.</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Does the accuracy move, and do the top words change more than the accuracy does?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3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Report back, then Week 4</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Ninety seconds a group: your pair, baseline vs. best, your two word lists, one caveat you would put in writing.</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Sort your top words into topic, register, and community habit. That sort is the finding; the accuracy is not.</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methods menu in one slide: counting, classification, embeddings (W5), annotation (W7), plus optional add-ons.</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corpus-existence rule: bring a screenshot of 50 loadable rows of your data to Week 4. No proof, no pitch.</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Three modes today</a:t>
            </a:r>
            <a:endParaRPr lang="en-US" sz="3000" dirty="0"/>
          </a:p>
        </p:txBody>
      </p:sp>
      <p:sp>
        <p:nvSpPr>
          <p:cNvPr id="3" name="Text 1"/>
          <p:cNvSpPr/>
          <p:nvPr/>
        </p:nvSpPr>
        <p:spPr>
          <a:xfrm>
            <a:off x="640080" y="1417320"/>
            <a:ext cx="10058400" cy="365760"/>
          </a:xfrm>
          <a:prstGeom prst="rect">
            <a:avLst/>
          </a:prstGeom>
          <a:noFill/>
          <a:ln/>
        </p:spPr>
        <p:txBody>
          <a:bodyPr wrap="square" rtlCol="0" anchor="ctr"/>
          <a:lstStyle/>
          <a:p>
            <a:pPr indent="0" marL="0">
              <a:buNone/>
            </a:pPr>
            <a:r>
              <a:rPr lang="en-US" sz="1400" i="1" dirty="0">
                <a:solidFill>
                  <a:srgbClr val="6B6B63"/>
                </a:solidFill>
                <a:latin typeface="Calibri" pitchFamily="34" charset="0"/>
                <a:ea typeface="Calibri" pitchFamily="34" charset="-122"/>
                <a:cs typeface="Calibri" pitchFamily="34" charset="-120"/>
              </a:rPr>
              <a:t>about a third of the session each</a:t>
            </a:r>
            <a:endParaRPr lang="en-US" sz="1400" dirty="0"/>
          </a:p>
        </p:txBody>
      </p:sp>
      <p:sp>
        <p:nvSpPr>
          <p:cNvPr id="4" name="Shape 2"/>
          <p:cNvSpPr/>
          <p:nvPr/>
        </p:nvSpPr>
        <p:spPr>
          <a:xfrm>
            <a:off x="640080" y="2194560"/>
            <a:ext cx="3383280" cy="3291840"/>
          </a:xfrm>
          <a:prstGeom prst="roundRect">
            <a:avLst>
              <a:gd name="adj" fmla="val 3333"/>
            </a:avLst>
          </a:prstGeom>
          <a:solidFill>
            <a:srgbClr val="F4EEE8"/>
          </a:solidFill>
          <a:ln/>
        </p:spPr>
      </p:sp>
      <p:sp>
        <p:nvSpPr>
          <p:cNvPr id="5" name="Shape 3"/>
          <p:cNvSpPr/>
          <p:nvPr/>
        </p:nvSpPr>
        <p:spPr>
          <a:xfrm>
            <a:off x="1051560" y="2606040"/>
            <a:ext cx="548640" cy="548640"/>
          </a:xfrm>
          <a:prstGeom prst="ellipse">
            <a:avLst/>
          </a:prstGeom>
          <a:solidFill>
            <a:srgbClr val="7A3B2E"/>
          </a:solidFill>
          <a:ln/>
        </p:spPr>
      </p:sp>
      <p:sp>
        <p:nvSpPr>
          <p:cNvPr id="6" name="Text 4"/>
          <p:cNvSpPr/>
          <p:nvPr/>
        </p:nvSpPr>
        <p:spPr>
          <a:xfrm>
            <a:off x="10058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Lecture / demo</a:t>
            </a:r>
            <a:endParaRPr lang="en-US" sz="2100" dirty="0"/>
          </a:p>
        </p:txBody>
      </p:sp>
      <p:sp>
        <p:nvSpPr>
          <p:cNvPr id="7" name="Text 5"/>
          <p:cNvSpPr/>
          <p:nvPr/>
        </p:nvSpPr>
        <p:spPr>
          <a:xfrm>
            <a:off x="10058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Modelling in practice. Fit a logistic regression, read it, break it</a:t>
            </a:r>
            <a:endParaRPr lang="en-US" sz="1500" dirty="0"/>
          </a:p>
        </p:txBody>
      </p:sp>
      <p:sp>
        <p:nvSpPr>
          <p:cNvPr id="8" name="Shape 6"/>
          <p:cNvSpPr/>
          <p:nvPr/>
        </p:nvSpPr>
        <p:spPr>
          <a:xfrm>
            <a:off x="4526280" y="2194560"/>
            <a:ext cx="3383280" cy="3291840"/>
          </a:xfrm>
          <a:prstGeom prst="roundRect">
            <a:avLst>
              <a:gd name="adj" fmla="val 3333"/>
            </a:avLst>
          </a:prstGeom>
          <a:solidFill>
            <a:srgbClr val="F4EEE8"/>
          </a:solidFill>
          <a:ln/>
        </p:spPr>
      </p:sp>
      <p:sp>
        <p:nvSpPr>
          <p:cNvPr id="9" name="Shape 7"/>
          <p:cNvSpPr/>
          <p:nvPr/>
        </p:nvSpPr>
        <p:spPr>
          <a:xfrm>
            <a:off x="4937760" y="2606040"/>
            <a:ext cx="548640" cy="548640"/>
          </a:xfrm>
          <a:prstGeom prst="ellipse">
            <a:avLst/>
          </a:prstGeom>
          <a:solidFill>
            <a:srgbClr val="3F6F5F"/>
          </a:solidFill>
          <a:ln/>
        </p:spPr>
      </p:sp>
      <p:sp>
        <p:nvSpPr>
          <p:cNvPr id="10" name="Text 8"/>
          <p:cNvSpPr/>
          <p:nvPr/>
        </p:nvSpPr>
        <p:spPr>
          <a:xfrm>
            <a:off x="48920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Workshop</a:t>
            </a:r>
            <a:endParaRPr lang="en-US" sz="2100" dirty="0"/>
          </a:p>
        </p:txBody>
      </p:sp>
      <p:sp>
        <p:nvSpPr>
          <p:cNvPr id="11" name="Text 9"/>
          <p:cNvSpPr/>
          <p:nvPr/>
        </p:nvSpPr>
        <p:spPr>
          <a:xfrm>
            <a:off x="48920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Build hands-on on your own data.</a:t>
            </a:r>
            <a:endParaRPr lang="en-US" sz="1500" dirty="0"/>
          </a:p>
        </p:txBody>
      </p:sp>
      <p:sp>
        <p:nvSpPr>
          <p:cNvPr id="12" name="Shape 10"/>
          <p:cNvSpPr/>
          <p:nvPr/>
        </p:nvSpPr>
        <p:spPr>
          <a:xfrm>
            <a:off x="8412480" y="2194560"/>
            <a:ext cx="3383280" cy="3291840"/>
          </a:xfrm>
          <a:prstGeom prst="roundRect">
            <a:avLst>
              <a:gd name="adj" fmla="val 3333"/>
            </a:avLst>
          </a:prstGeom>
          <a:solidFill>
            <a:srgbClr val="F4EEE8"/>
          </a:solidFill>
          <a:ln/>
        </p:spPr>
      </p:sp>
      <p:sp>
        <p:nvSpPr>
          <p:cNvPr id="13" name="Shape 11"/>
          <p:cNvSpPr/>
          <p:nvPr/>
        </p:nvSpPr>
        <p:spPr>
          <a:xfrm>
            <a:off x="8823960" y="2606040"/>
            <a:ext cx="548640" cy="548640"/>
          </a:xfrm>
          <a:prstGeom prst="ellipse">
            <a:avLst/>
          </a:prstGeom>
          <a:solidFill>
            <a:srgbClr val="B9852F"/>
          </a:solidFill>
          <a:ln/>
        </p:spPr>
      </p:sp>
      <p:sp>
        <p:nvSpPr>
          <p:cNvPr id="14" name="Text 12"/>
          <p:cNvSpPr/>
          <p:nvPr/>
        </p:nvSpPr>
        <p:spPr>
          <a:xfrm>
            <a:off x="87782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Discussion</a:t>
            </a:r>
            <a:endParaRPr lang="en-US" sz="2100" dirty="0"/>
          </a:p>
        </p:txBody>
      </p:sp>
      <p:sp>
        <p:nvSpPr>
          <p:cNvPr id="15" name="Text 13"/>
          <p:cNvSpPr/>
          <p:nvPr/>
        </p:nvSpPr>
        <p:spPr>
          <a:xfrm>
            <a:off x="87782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Interrogate the study, debate it, or critique each other's work.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session</a:t>
            </a:r>
            <a:endParaRPr lang="en-US" sz="3000" dirty="0"/>
          </a:p>
        </p:txBody>
      </p:sp>
      <p:sp>
        <p:nvSpPr>
          <p:cNvPr id="3" name="Shape 1"/>
          <p:cNvSpPr/>
          <p:nvPr/>
        </p:nvSpPr>
        <p:spPr>
          <a:xfrm>
            <a:off x="640080" y="1572768"/>
            <a:ext cx="868680" cy="457200"/>
          </a:xfrm>
          <a:prstGeom prst="roundRect">
            <a:avLst>
              <a:gd name="adj" fmla="val 12000"/>
            </a:avLst>
          </a:prstGeom>
          <a:solidFill>
            <a:srgbClr val="7A3B2E"/>
          </a:solidFill>
          <a:ln/>
        </p:spPr>
      </p:sp>
      <p:sp>
        <p:nvSpPr>
          <p:cNvPr id="4" name="Text 2"/>
          <p:cNvSpPr/>
          <p:nvPr/>
        </p:nvSpPr>
        <p:spPr>
          <a:xfrm>
            <a:off x="640080" y="157276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0:00</a:t>
            </a:r>
            <a:endParaRPr lang="en-US" sz="1100" dirty="0"/>
          </a:p>
        </p:txBody>
      </p:sp>
      <p:sp>
        <p:nvSpPr>
          <p:cNvPr id="5" name="Text 3"/>
          <p:cNvSpPr/>
          <p:nvPr/>
        </p:nvSpPr>
        <p:spPr>
          <a:xfrm>
            <a:off x="1691640" y="155448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Warm-up and retrieval: last week's shuffle test in one sentence, and one thing you still don't trust about it.</a:t>
            </a:r>
            <a:endParaRPr lang="en-US" sz="1250" dirty="0"/>
          </a:p>
        </p:txBody>
      </p:sp>
      <p:sp>
        <p:nvSpPr>
          <p:cNvPr id="6" name="Shape 4"/>
          <p:cNvSpPr/>
          <p:nvPr/>
        </p:nvSpPr>
        <p:spPr>
          <a:xfrm>
            <a:off x="640080" y="2139696"/>
            <a:ext cx="868680" cy="457200"/>
          </a:xfrm>
          <a:prstGeom prst="roundRect">
            <a:avLst>
              <a:gd name="adj" fmla="val 12000"/>
            </a:avLst>
          </a:prstGeom>
          <a:solidFill>
            <a:srgbClr val="7A3B2E"/>
          </a:solidFill>
          <a:ln/>
        </p:spPr>
      </p:sp>
      <p:sp>
        <p:nvSpPr>
          <p:cNvPr id="7" name="Text 5"/>
          <p:cNvSpPr/>
          <p:nvPr/>
        </p:nvSpPr>
        <p:spPr>
          <a:xfrm>
            <a:off x="640080" y="2139696"/>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0:05</a:t>
            </a:r>
            <a:endParaRPr lang="en-US" sz="1100" dirty="0"/>
          </a:p>
        </p:txBody>
      </p:sp>
      <p:sp>
        <p:nvSpPr>
          <p:cNvPr id="8" name="Text 6"/>
          <p:cNvSpPr/>
          <p:nvPr/>
        </p:nvSpPr>
        <p:spPr>
          <a:xfrm>
            <a:off x="1691640" y="2121408"/>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Discussion, Underwood's "The Life Cycles of Genres," read for today. The room argues it out, not the instructor: what exactly did he count, who decided which novels were detective fiction, and what does the model's misread of Pynchon's The Crying of Lot 49 show about genre boundaries? Then the transfer question every group carries into the second hour: where would YOUR classifier fail, and what would that failure teach?</a:t>
            </a:r>
            <a:endParaRPr lang="en-US" sz="1250" dirty="0"/>
          </a:p>
        </p:txBody>
      </p:sp>
      <p:sp>
        <p:nvSpPr>
          <p:cNvPr id="9" name="Shape 7"/>
          <p:cNvSpPr/>
          <p:nvPr/>
        </p:nvSpPr>
        <p:spPr>
          <a:xfrm>
            <a:off x="640080" y="2706624"/>
            <a:ext cx="868680" cy="457200"/>
          </a:xfrm>
          <a:prstGeom prst="roundRect">
            <a:avLst>
              <a:gd name="adj" fmla="val 12000"/>
            </a:avLst>
          </a:prstGeom>
          <a:solidFill>
            <a:srgbClr val="7A3B2E"/>
          </a:solidFill>
          <a:ln/>
        </p:spPr>
      </p:sp>
      <p:sp>
        <p:nvSpPr>
          <p:cNvPr id="10" name="Text 8"/>
          <p:cNvSpPr/>
          <p:nvPr/>
        </p:nvSpPr>
        <p:spPr>
          <a:xfrm>
            <a:off x="640080" y="2706624"/>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0:40</a:t>
            </a:r>
            <a:endParaRPr lang="en-US" sz="1100" dirty="0"/>
          </a:p>
        </p:txBody>
      </p:sp>
      <p:sp>
        <p:nvSpPr>
          <p:cNvPr id="11" name="Text 9"/>
          <p:cNvSpPr/>
          <p:nvPr/>
        </p:nvSpPr>
        <p:spPr>
          <a:xfrm>
            <a:off x="1691640" y="2688336"/>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Lecture, modelling in practice: a model is features, weights, a fit, and a score you would believe. Built live on screen, mistakes included, in this order, turn text into a matrix, split off data the model never sees, fit it, compare the score against a baseline that always guesses the bigger pile, then read the signed weights. Then what goes wrong in practice: scoring on the training rows, an imbalanced pair flattering itself, a leaked giveaway feature, and the model with no "neither" box. Teachable Machine's orange cats and brown dogs is the sixty-second version of all of it; the bias is the training set, and you assembled it.</a:t>
            </a:r>
            <a:endParaRPr lang="en-US" sz="1250" dirty="0"/>
          </a:p>
        </p:txBody>
      </p:sp>
      <p:sp>
        <p:nvSpPr>
          <p:cNvPr id="12" name="Shape 10"/>
          <p:cNvSpPr/>
          <p:nvPr/>
        </p:nvSpPr>
        <p:spPr>
          <a:xfrm>
            <a:off x="640080" y="3273552"/>
            <a:ext cx="868680" cy="457200"/>
          </a:xfrm>
          <a:prstGeom prst="roundRect">
            <a:avLst>
              <a:gd name="adj" fmla="val 12000"/>
            </a:avLst>
          </a:prstGeom>
          <a:solidFill>
            <a:srgbClr val="7A3B2E"/>
          </a:solidFill>
          <a:ln/>
        </p:spPr>
      </p:sp>
      <p:sp>
        <p:nvSpPr>
          <p:cNvPr id="13" name="Text 11"/>
          <p:cNvSpPr/>
          <p:nvPr/>
        </p:nvSpPr>
        <p:spPr>
          <a:xfrm>
            <a:off x="640080" y="3273552"/>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1:05</a:t>
            </a:r>
            <a:endParaRPr lang="en-US" sz="1100" dirty="0"/>
          </a:p>
        </p:txBody>
      </p:sp>
      <p:sp>
        <p:nvSpPr>
          <p:cNvPr id="14" name="Text 12"/>
          <p:cNvSpPr/>
          <p:nvPr/>
        </p:nvSpPr>
        <p:spPr>
          <a:xfrm>
            <a:off x="1691640" y="3255264"/>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Break</a:t>
            </a:r>
            <a:endParaRPr lang="en-US" sz="1250" dirty="0"/>
          </a:p>
        </p:txBody>
      </p:sp>
      <p:sp>
        <p:nvSpPr>
          <p:cNvPr id="15" name="Shape 13"/>
          <p:cNvSpPr/>
          <p:nvPr/>
        </p:nvSpPr>
        <p:spPr>
          <a:xfrm>
            <a:off x="640080" y="3840480"/>
            <a:ext cx="868680" cy="457200"/>
          </a:xfrm>
          <a:prstGeom prst="roundRect">
            <a:avLst>
              <a:gd name="adj" fmla="val 12000"/>
            </a:avLst>
          </a:prstGeom>
          <a:solidFill>
            <a:srgbClr val="7A3B2E"/>
          </a:solidFill>
          <a:ln/>
        </p:spPr>
      </p:sp>
      <p:sp>
        <p:nvSpPr>
          <p:cNvPr id="16" name="Text 14"/>
          <p:cNvSpPr/>
          <p:nvPr/>
        </p:nvSpPr>
        <p:spPr>
          <a:xfrm>
            <a:off x="640080" y="3840480"/>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1:15</a:t>
            </a:r>
            <a:endParaRPr lang="en-US" sz="1100" dirty="0"/>
          </a:p>
        </p:txBody>
      </p:sp>
      <p:sp>
        <p:nvSpPr>
          <p:cNvPr id="17" name="Text 15"/>
          <p:cNvSpPr/>
          <p:nvPr/>
        </p:nvSpPr>
        <p:spPr>
          <a:xfrm>
            <a:off x="1691640" y="3822192"/>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Group work in Colab, threes, one screen, rotating driver / reader / skeptic. The blank notebook (week03_modeling_TOGETHER) has stations, not answers: pick your two piles, build the features, fit it, judge it against the baseline, read its mind, break it with something from neither pile, then change ONE modelling decision (min_df, tf-idf, bigrams, C, class_weight) and fit again. Several models, side by side, is the point: does the accuracy move, and do the top words change more than the accuracy does?</a:t>
            </a:r>
            <a:endParaRPr lang="en-US" sz="1250" dirty="0"/>
          </a:p>
        </p:txBody>
      </p:sp>
      <p:sp>
        <p:nvSpPr>
          <p:cNvPr id="18" name="Shape 16"/>
          <p:cNvSpPr/>
          <p:nvPr/>
        </p:nvSpPr>
        <p:spPr>
          <a:xfrm>
            <a:off x="640080" y="4407408"/>
            <a:ext cx="868680" cy="457200"/>
          </a:xfrm>
          <a:prstGeom prst="roundRect">
            <a:avLst>
              <a:gd name="adj" fmla="val 12000"/>
            </a:avLst>
          </a:prstGeom>
          <a:solidFill>
            <a:srgbClr val="7A3B2E"/>
          </a:solidFill>
          <a:ln/>
        </p:spPr>
      </p:sp>
      <p:sp>
        <p:nvSpPr>
          <p:cNvPr id="19" name="Text 17"/>
          <p:cNvSpPr/>
          <p:nvPr/>
        </p:nvSpPr>
        <p:spPr>
          <a:xfrm>
            <a:off x="640080" y="440740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1:47</a:t>
            </a:r>
            <a:endParaRPr lang="en-US" sz="1100" dirty="0"/>
          </a:p>
        </p:txBody>
      </p:sp>
      <p:sp>
        <p:nvSpPr>
          <p:cNvPr id="20" name="Text 18"/>
          <p:cNvSpPr/>
          <p:nvPr/>
        </p:nvSpPr>
        <p:spPr>
          <a:xfrm>
            <a:off x="1691640" y="438912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Report-backs, ninety seconds a group: the pair you chose, baseline against best, your two word lists sorted into topic / register / habit, and the one caveat you would put in writing. Then the two things Week 4 needs, the methods menu in one slide (counting, classification, embeddings in Week 5, annotation in Week 7, plus the optional add-ons) and the corpus-existence rule, no proof no pitch. Gemini-free check and check-out.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Reading &amp; homework</a:t>
            </a:r>
            <a:endParaRPr lang="en-US" sz="3000" dirty="0"/>
          </a:p>
        </p:txBody>
      </p:sp>
      <p:sp>
        <p:nvSpPr>
          <p:cNvPr id="3" name="Shape 1"/>
          <p:cNvSpPr/>
          <p:nvPr/>
        </p:nvSpPr>
        <p:spPr>
          <a:xfrm>
            <a:off x="640080" y="1673352"/>
            <a:ext cx="219456" cy="219456"/>
          </a:xfrm>
          <a:prstGeom prst="ellipse">
            <a:avLst/>
          </a:prstGeom>
          <a:solidFill>
            <a:srgbClr val="7A3B2E"/>
          </a:solidFill>
          <a:ln/>
        </p:spPr>
      </p:sp>
      <p:sp>
        <p:nvSpPr>
          <p:cNvPr id="4" name="Text 2"/>
          <p:cNvSpPr/>
          <p:nvPr/>
        </p:nvSpPr>
        <p:spPr>
          <a:xfrm>
            <a:off x="1051560" y="160020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Reading</a:t>
            </a:r>
            <a:endParaRPr lang="en-US" sz="1500" dirty="0"/>
          </a:p>
        </p:txBody>
      </p:sp>
      <p:sp>
        <p:nvSpPr>
          <p:cNvPr id="5" name="Text 3"/>
          <p:cNvSpPr/>
          <p:nvPr/>
        </p:nvSpPr>
        <p:spPr>
          <a:xfrm>
            <a:off x="1051560" y="198424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Underwood, The Life Cycles of Genres (2016), the article the session discusses: read the argument and the figures, skim the model tables</a:t>
            </a:r>
            <a:endParaRPr lang="en-US" sz="1400" dirty="0"/>
          </a:p>
        </p:txBody>
      </p:sp>
      <p:sp>
        <p:nvSpPr>
          <p:cNvPr id="6" name="Shape 4"/>
          <p:cNvSpPr/>
          <p:nvPr/>
        </p:nvSpPr>
        <p:spPr>
          <a:xfrm>
            <a:off x="640080" y="2633472"/>
            <a:ext cx="219456" cy="219456"/>
          </a:xfrm>
          <a:prstGeom prst="ellipse">
            <a:avLst/>
          </a:prstGeom>
          <a:solidFill>
            <a:srgbClr val="3F6F5F"/>
          </a:solidFill>
          <a:ln/>
        </p:spPr>
      </p:sp>
      <p:sp>
        <p:nvSpPr>
          <p:cNvPr id="7" name="Text 5"/>
          <p:cNvSpPr/>
          <p:nvPr/>
        </p:nvSpPr>
        <p:spPr>
          <a:xfrm>
            <a:off x="1051560" y="256032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Supplement</a:t>
            </a:r>
            <a:endParaRPr lang="en-US" sz="1500" dirty="0"/>
          </a:p>
        </p:txBody>
      </p:sp>
      <p:sp>
        <p:nvSpPr>
          <p:cNvPr id="8" name="Text 6"/>
          <p:cNvSpPr/>
          <p:nvPr/>
        </p:nvSpPr>
        <p:spPr>
          <a:xfrm>
            <a:off x="1051560" y="294436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Mullen, America's Public Bible (intro + a verse), the same tool as finished scholarship you can poke at; Robinson, Trump's tweets: the Android/iPhone split (2016), distinctive words unmasking who typed; Juola's Rowling unmasking</a:t>
            </a:r>
            <a:endParaRPr lang="en-US" sz="1400" dirty="0"/>
          </a:p>
        </p:txBody>
      </p:sp>
      <p:sp>
        <p:nvSpPr>
          <p:cNvPr id="9" name="Shape 7"/>
          <p:cNvSpPr/>
          <p:nvPr/>
        </p:nvSpPr>
        <p:spPr>
          <a:xfrm>
            <a:off x="640080" y="3593592"/>
            <a:ext cx="219456" cy="219456"/>
          </a:xfrm>
          <a:prstGeom prst="ellipse">
            <a:avLst/>
          </a:prstGeom>
          <a:solidFill>
            <a:srgbClr val="B9852F"/>
          </a:solidFill>
          <a:ln/>
        </p:spPr>
      </p:sp>
      <p:sp>
        <p:nvSpPr>
          <p:cNvPr id="10" name="Text 8"/>
          <p:cNvSpPr/>
          <p:nvPr/>
        </p:nvSpPr>
        <p:spPr>
          <a:xfrm>
            <a:off x="1051560" y="3520440"/>
            <a:ext cx="10424160" cy="365760"/>
          </a:xfrm>
          <a:prstGeom prst="rect">
            <a:avLst/>
          </a:prstGeom>
          <a:noFill/>
          <a:ln/>
        </p:spPr>
        <p:txBody>
          <a:bodyPr wrap="square" rtlCol="0" anchor="ctr"/>
          <a:lstStyle/>
          <a:p>
            <a:pPr indent="0" marL="0">
              <a:buNone/>
            </a:pPr>
            <a:r>
              <a:rPr lang="en-US" sz="1500" b="1" dirty="0">
                <a:solidFill>
                  <a:srgbClr val="B9852F"/>
                </a:solidFill>
                <a:latin typeface="Calibri" pitchFamily="34" charset="0"/>
                <a:ea typeface="Calibri" pitchFamily="34" charset="-122"/>
                <a:cs typeface="Calibri" pitchFamily="34" charset="-120"/>
              </a:rPr>
              <a:t>Deeper (optional)</a:t>
            </a:r>
            <a:endParaRPr lang="en-US" sz="1500" dirty="0"/>
          </a:p>
        </p:txBody>
      </p:sp>
      <p:sp>
        <p:nvSpPr>
          <p:cNvPr id="11" name="Text 9"/>
          <p:cNvSpPr/>
          <p:nvPr/>
        </p:nvSpPr>
        <p:spPr>
          <a:xfrm>
            <a:off x="1051560" y="390448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Underwood, Distant Horizons (2019), chapter 2, the book-length version of today's article, with the Pynchon misread in context</a:t>
            </a:r>
            <a:endParaRPr lang="en-US" sz="1400" dirty="0"/>
          </a:p>
        </p:txBody>
      </p:sp>
      <p:sp>
        <p:nvSpPr>
          <p:cNvPr id="12" name="Shape 10"/>
          <p:cNvSpPr/>
          <p:nvPr/>
        </p:nvSpPr>
        <p:spPr>
          <a:xfrm>
            <a:off x="640080" y="4553712"/>
            <a:ext cx="219456" cy="219456"/>
          </a:xfrm>
          <a:prstGeom prst="ellipse">
            <a:avLst/>
          </a:prstGeom>
          <a:solidFill>
            <a:srgbClr val="3F6F5F"/>
          </a:solidFill>
          <a:ln/>
        </p:spPr>
      </p:sp>
      <p:sp>
        <p:nvSpPr>
          <p:cNvPr id="13" name="Text 11"/>
          <p:cNvSpPr/>
          <p:nvPr/>
        </p:nvSpPr>
        <p:spPr>
          <a:xfrm>
            <a:off x="1051560" y="448056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Sketch</a:t>
            </a:r>
            <a:endParaRPr lang="en-US" sz="1500" dirty="0"/>
          </a:p>
        </p:txBody>
      </p:sp>
      <p:sp>
        <p:nvSpPr>
          <p:cNvPr id="14" name="Text 12"/>
          <p:cNvSpPr/>
          <p:nvPr/>
        </p:nvSpPr>
        <p:spPr>
          <a:xfrm>
            <a:off x="1051560" y="486460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Take one of the group-work models to a labeled set you care about; screenshot its five most positive and negative words.</a:t>
            </a:r>
            <a:endParaRPr lang="en-US" sz="1400" dirty="0"/>
          </a:p>
        </p:txBody>
      </p:sp>
      <p:sp>
        <p:nvSpPr>
          <p:cNvPr id="15" name="Shape 13"/>
          <p:cNvSpPr/>
          <p:nvPr/>
        </p:nvSpPr>
        <p:spPr>
          <a:xfrm>
            <a:off x="640080" y="5513832"/>
            <a:ext cx="219456" cy="219456"/>
          </a:xfrm>
          <a:prstGeom prst="ellipse">
            <a:avLst/>
          </a:prstGeom>
          <a:solidFill>
            <a:srgbClr val="7A3B2E"/>
          </a:solidFill>
          <a:ln/>
        </p:spPr>
      </p:sp>
      <p:sp>
        <p:nvSpPr>
          <p:cNvPr id="16" name="Text 14"/>
          <p:cNvSpPr/>
          <p:nvPr/>
        </p:nvSpPr>
        <p:spPr>
          <a:xfrm>
            <a:off x="1051560" y="544068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Check (AI closed)</a:t>
            </a:r>
            <a:endParaRPr lang="en-US" sz="1500" dirty="0"/>
          </a:p>
        </p:txBody>
      </p:sp>
      <p:sp>
        <p:nvSpPr>
          <p:cNvPr id="17" name="Text 15"/>
          <p:cNvSpPr/>
          <p:nvPr/>
        </p:nvSpPr>
        <p:spPr>
          <a:xfrm>
            <a:off x="1051560" y="582472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Explain it: read your classifier's top weights aloud, and name one input where it would fail and why. (Competencies 4, 5.)</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HOW THIS WEEK CONNECTS</a:t>
            </a:r>
            <a:endParaRPr lang="en-US" sz="1300" dirty="0"/>
          </a:p>
        </p:txBody>
      </p:sp>
      <p:sp>
        <p:nvSpPr>
          <p:cNvPr id="3" name="Text 1"/>
          <p:cNvSpPr/>
          <p:nvPr/>
        </p:nvSpPr>
        <p:spPr>
          <a:xfrm>
            <a:off x="640080" y="987552"/>
            <a:ext cx="100584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The course's through-lines</a:t>
            </a:r>
            <a:endParaRPr lang="en-US" sz="2800" dirty="0"/>
          </a:p>
        </p:txBody>
      </p:sp>
      <p:sp>
        <p:nvSpPr>
          <p:cNvPr id="4" name="Shape 2"/>
          <p:cNvSpPr/>
          <p:nvPr/>
        </p:nvSpPr>
        <p:spPr>
          <a:xfrm>
            <a:off x="640080" y="2057400"/>
            <a:ext cx="457200" cy="457200"/>
          </a:xfrm>
          <a:prstGeom prst="roundRect">
            <a:avLst>
              <a:gd name="adj" fmla="val 16000"/>
            </a:avLst>
          </a:prstGeom>
          <a:solidFill>
            <a:srgbClr val="7A3B2E"/>
          </a:solidFill>
          <a:ln/>
        </p:spPr>
      </p:sp>
      <p:sp>
        <p:nvSpPr>
          <p:cNvPr id="5" name="Text 3"/>
          <p:cNvSpPr/>
          <p:nvPr/>
        </p:nvSpPr>
        <p:spPr>
          <a:xfrm>
            <a:off x="640080" y="2057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2020824"/>
            <a:ext cx="10332720" cy="411480"/>
          </a:xfrm>
          <a:prstGeom prst="rect">
            <a:avLst/>
          </a:prstGeom>
          <a:noFill/>
          <a:ln/>
        </p:spPr>
        <p:txBody>
          <a:bodyPr wrap="square" rtlCol="0" anchor="ctr"/>
          <a:lstStyle/>
          <a:p>
            <a:pPr indent="0" marL="0">
              <a:buNone/>
            </a:pPr>
            <a:r>
              <a:rPr lang="en-US" sz="1900" b="1" dirty="0">
                <a:solidFill>
                  <a:srgbClr val="7A3B2E"/>
                </a:solidFill>
                <a:latin typeface="Cambria" pitchFamily="34" charset="0"/>
                <a:ea typeface="Cambria" pitchFamily="34" charset="-122"/>
                <a:cs typeface="Cambria" pitchFamily="34" charset="-120"/>
              </a:rPr>
              <a:t>The reader you can see</a:t>
            </a:r>
            <a:endParaRPr lang="en-US" sz="1900" dirty="0"/>
          </a:p>
        </p:txBody>
      </p:sp>
      <p:sp>
        <p:nvSpPr>
          <p:cNvPr id="7" name="Text 5"/>
          <p:cNvSpPr/>
          <p:nvPr/>
        </p:nvSpPr>
        <p:spPr>
          <a:xfrm>
            <a:off x="1371600" y="244144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The transparent classifier: read its signed weights and see exactly what it learned. Week 7 introduces the opaque counterpart.</a:t>
            </a:r>
            <a:endParaRPr lang="en-US" sz="1450" dirty="0"/>
          </a:p>
        </p:txBody>
      </p:sp>
      <p:sp>
        <p:nvSpPr>
          <p:cNvPr id="8" name="Shape 6"/>
          <p:cNvSpPr/>
          <p:nvPr/>
        </p:nvSpPr>
        <p:spPr>
          <a:xfrm>
            <a:off x="640080" y="3520440"/>
            <a:ext cx="457200" cy="457200"/>
          </a:xfrm>
          <a:prstGeom prst="roundRect">
            <a:avLst>
              <a:gd name="adj" fmla="val 16000"/>
            </a:avLst>
          </a:prstGeom>
          <a:solidFill>
            <a:srgbClr val="3F6F5F"/>
          </a:solidFill>
          <a:ln/>
        </p:spPr>
      </p:sp>
      <p:sp>
        <p:nvSpPr>
          <p:cNvPr id="9" name="Text 7"/>
          <p:cNvSpPr/>
          <p:nvPr/>
        </p:nvSpPr>
        <p:spPr>
          <a:xfrm>
            <a:off x="640080" y="35204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3483864"/>
            <a:ext cx="10332720" cy="411480"/>
          </a:xfrm>
          <a:prstGeom prst="rect">
            <a:avLst/>
          </a:prstGeom>
          <a:noFill/>
          <a:ln/>
        </p:spPr>
        <p:txBody>
          <a:bodyPr wrap="square" rtlCol="0" anchor="ctr"/>
          <a:lstStyle/>
          <a:p>
            <a:pPr indent="0" marL="0">
              <a:buNone/>
            </a:pPr>
            <a:r>
              <a:rPr lang="en-US" sz="1900" b="1" dirty="0">
                <a:solidFill>
                  <a:srgbClr val="3F6F5F"/>
                </a:solidFill>
                <a:latin typeface="Cambria" pitchFamily="34" charset="0"/>
                <a:ea typeface="Cambria" pitchFamily="34" charset="-122"/>
                <a:cs typeface="Cambria" pitchFamily="34" charset="-120"/>
              </a:rPr>
              <a:t>One model is a result, several are an argument</a:t>
            </a:r>
            <a:endParaRPr lang="en-US" sz="1900" dirty="0"/>
          </a:p>
        </p:txBody>
      </p:sp>
      <p:sp>
        <p:nvSpPr>
          <p:cNvPr id="11" name="Text 9"/>
          <p:cNvSpPr/>
          <p:nvPr/>
        </p:nvSpPr>
        <p:spPr>
          <a:xfrm>
            <a:off x="1371600" y="390448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Change one decision at a time and refit. What moves, and what doesn't, is the finding.</a:t>
            </a:r>
            <a:endParaRPr lang="en-US" sz="1450" dirty="0"/>
          </a:p>
        </p:txBody>
      </p:sp>
      <p:sp>
        <p:nvSpPr>
          <p:cNvPr id="12" name="Shape 10"/>
          <p:cNvSpPr/>
          <p:nvPr/>
        </p:nvSpPr>
        <p:spPr>
          <a:xfrm>
            <a:off x="640080" y="4983480"/>
            <a:ext cx="457200" cy="457200"/>
          </a:xfrm>
          <a:prstGeom prst="roundRect">
            <a:avLst>
              <a:gd name="adj" fmla="val 16000"/>
            </a:avLst>
          </a:prstGeom>
          <a:solidFill>
            <a:srgbClr val="B9852F"/>
          </a:solidFill>
          <a:ln/>
        </p:spPr>
      </p:sp>
      <p:sp>
        <p:nvSpPr>
          <p:cNvPr id="13" name="Text 11"/>
          <p:cNvSpPr/>
          <p:nvPr/>
        </p:nvSpPr>
        <p:spPr>
          <a:xfrm>
            <a:off x="640080" y="49834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4946904"/>
            <a:ext cx="10332720" cy="411480"/>
          </a:xfrm>
          <a:prstGeom prst="rect">
            <a:avLst/>
          </a:prstGeom>
          <a:noFill/>
          <a:ln/>
        </p:spPr>
        <p:txBody>
          <a:bodyPr wrap="square" rtlCol="0" anchor="ctr"/>
          <a:lstStyle/>
          <a:p>
            <a:pPr indent="0" marL="0">
              <a:buNone/>
            </a:pPr>
            <a:r>
              <a:rPr lang="en-US" sz="1900" b="1" dirty="0">
                <a:solidFill>
                  <a:srgbClr val="B9852F"/>
                </a:solidFill>
                <a:latin typeface="Cambria" pitchFamily="34" charset="0"/>
                <a:ea typeface="Cambria" pitchFamily="34" charset="-122"/>
                <a:cs typeface="Cambria" pitchFamily="34" charset="-120"/>
              </a:rPr>
              <a:t>Every choice is a choice</a:t>
            </a:r>
            <a:endParaRPr lang="en-US" sz="1900" dirty="0"/>
          </a:p>
        </p:txBody>
      </p:sp>
      <p:sp>
        <p:nvSpPr>
          <p:cNvPr id="15" name="Text 13"/>
          <p:cNvSpPr/>
          <p:nvPr/>
        </p:nvSpPr>
        <p:spPr>
          <a:xfrm>
            <a:off x="1371600" y="536752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What counts as a label, which words you hand it, and what you compare the score against decide what it learns.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1005840"/>
            <a:ext cx="82296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THE CHECK, AI CLOSED</a:t>
            </a:r>
            <a:endParaRPr lang="en-US" sz="1300" dirty="0"/>
          </a:p>
        </p:txBody>
      </p:sp>
      <p:sp>
        <p:nvSpPr>
          <p:cNvPr id="3" name="Text 1"/>
          <p:cNvSpPr/>
          <p:nvPr/>
        </p:nvSpPr>
        <p:spPr>
          <a:xfrm>
            <a:off x="640080" y="1645920"/>
            <a:ext cx="8686800" cy="3108960"/>
          </a:xfrm>
          <a:prstGeom prst="rect">
            <a:avLst/>
          </a:prstGeom>
          <a:noFill/>
          <a:ln/>
        </p:spPr>
        <p:txBody>
          <a:bodyPr wrap="square" rtlCol="0" anchor="t">
            <a:spAutoFit/>
          </a:bodyPr>
          <a:lstStyle/>
          <a:p>
            <a:pPr indent="0" marL="0">
              <a:lnSpc>
                <a:spcPct val="115000"/>
              </a:lnSpc>
              <a:buNone/>
            </a:pPr>
            <a:r>
              <a:rPr lang="en-US" sz="2600" dirty="0">
                <a:solidFill>
                  <a:srgbClr val="FFFFFF"/>
                </a:solidFill>
                <a:latin typeface="Cambria" pitchFamily="34" charset="0"/>
                <a:ea typeface="Cambria" pitchFamily="34" charset="-122"/>
                <a:cs typeface="Cambria" pitchFamily="34" charset="-120"/>
              </a:rPr>
              <a:t>Explain it: read your classifier's top weights aloud, and name one input where it would fail and why. (Competencies 4, 5.)</a:t>
            </a:r>
            <a:endParaRPr lang="en-US" sz="2600" dirty="0"/>
          </a:p>
        </p:txBody>
      </p:sp>
      <p:sp>
        <p:nvSpPr>
          <p:cNvPr id="4" name="Text 2"/>
          <p:cNvSpPr/>
          <p:nvPr/>
        </p:nvSpPr>
        <p:spPr>
          <a:xfrm>
            <a:off x="640080" y="6126480"/>
            <a:ext cx="7315200" cy="365760"/>
          </a:xfrm>
          <a:prstGeom prst="rect">
            <a:avLst/>
          </a:prstGeom>
          <a:noFill/>
          <a:ln/>
        </p:spPr>
        <p:txBody>
          <a:bodyPr wrap="square" rtlCol="0" anchor="ctr"/>
          <a:lstStyle/>
          <a:p>
            <a:pPr indent="0" marL="0">
              <a:buNone/>
            </a:pPr>
            <a:r>
              <a:rPr lang="en-US" sz="1200" dirty="0">
                <a:solidFill>
                  <a:srgbClr val="E8DCD6"/>
                </a:solidFill>
                <a:latin typeface="Calibri" pitchFamily="34" charset="0"/>
                <a:ea typeface="Calibri" pitchFamily="34" charset="-122"/>
                <a:cs typeface="Calibri" pitchFamily="34" charset="-120"/>
              </a:rPr>
              <a:t>Culture as Data  ·  Week 3</a:t>
            </a:r>
            <a:endParaRPr lang="en-US" sz="1200" dirty="0"/>
          </a:p>
        </p:txBody>
      </p:sp>
      <p:sp>
        <p:nvSpPr>
          <p:cNvPr id="5" name="Shape 3"/>
          <p:cNvSpPr/>
          <p:nvPr/>
        </p:nvSpPr>
        <p:spPr>
          <a:xfrm>
            <a:off x="11585519" y="5894876"/>
            <a:ext cx="88881" cy="88881"/>
          </a:xfrm>
          <a:prstGeom prst="ellipse">
            <a:avLst/>
          </a:prstGeom>
          <a:solidFill>
            <a:srgbClr val="7A3B2E"/>
          </a:solidFill>
          <a:ln/>
        </p:spPr>
      </p:sp>
      <p:sp>
        <p:nvSpPr>
          <p:cNvPr id="6" name="Shape 4"/>
          <p:cNvSpPr/>
          <p:nvPr/>
        </p:nvSpPr>
        <p:spPr>
          <a:xfrm>
            <a:off x="9802810" y="5665127"/>
            <a:ext cx="90728" cy="90728"/>
          </a:xfrm>
          <a:prstGeom prst="ellipse">
            <a:avLst/>
          </a:prstGeom>
          <a:solidFill>
            <a:srgbClr val="3F6F5F"/>
          </a:solidFill>
          <a:ln/>
        </p:spPr>
      </p:sp>
      <p:sp>
        <p:nvSpPr>
          <p:cNvPr id="7" name="Shape 5"/>
          <p:cNvSpPr/>
          <p:nvPr/>
        </p:nvSpPr>
        <p:spPr>
          <a:xfrm>
            <a:off x="9863295" y="5190056"/>
            <a:ext cx="74159" cy="74159"/>
          </a:xfrm>
          <a:prstGeom prst="ellipse">
            <a:avLst/>
          </a:prstGeom>
          <a:solidFill>
            <a:srgbClr val="B9852F"/>
          </a:solidFill>
          <a:ln/>
        </p:spPr>
      </p:sp>
      <p:sp>
        <p:nvSpPr>
          <p:cNvPr id="8" name="Shape 6"/>
          <p:cNvSpPr/>
          <p:nvPr/>
        </p:nvSpPr>
        <p:spPr>
          <a:xfrm>
            <a:off x="10273453" y="5193564"/>
            <a:ext cx="62036" cy="62036"/>
          </a:xfrm>
          <a:prstGeom prst="ellipse">
            <a:avLst/>
          </a:prstGeom>
          <a:solidFill>
            <a:srgbClr val="7A3B2E"/>
          </a:solidFill>
          <a:ln/>
        </p:spPr>
      </p:sp>
      <p:sp>
        <p:nvSpPr>
          <p:cNvPr id="9" name="Shape 7"/>
          <p:cNvSpPr/>
          <p:nvPr/>
        </p:nvSpPr>
        <p:spPr>
          <a:xfrm>
            <a:off x="9539765" y="4662190"/>
            <a:ext cx="77217" cy="77217"/>
          </a:xfrm>
          <a:prstGeom prst="ellipse">
            <a:avLst/>
          </a:prstGeom>
          <a:solidFill>
            <a:srgbClr val="3F6F5F"/>
          </a:solidFill>
          <a:ln/>
        </p:spPr>
      </p:sp>
      <p:sp>
        <p:nvSpPr>
          <p:cNvPr id="10" name="Shape 8"/>
          <p:cNvSpPr/>
          <p:nvPr/>
        </p:nvSpPr>
        <p:spPr>
          <a:xfrm>
            <a:off x="11289350" y="6057195"/>
            <a:ext cx="87700" cy="87700"/>
          </a:xfrm>
          <a:prstGeom prst="ellipse">
            <a:avLst/>
          </a:prstGeom>
          <a:solidFill>
            <a:srgbClr val="B9852F"/>
          </a:solidFill>
          <a:ln/>
        </p:spPr>
      </p:sp>
      <p:sp>
        <p:nvSpPr>
          <p:cNvPr id="11" name="Shape 9"/>
          <p:cNvSpPr/>
          <p:nvPr/>
        </p:nvSpPr>
        <p:spPr>
          <a:xfrm>
            <a:off x="11468368" y="4890398"/>
            <a:ext cx="61479" cy="61479"/>
          </a:xfrm>
          <a:prstGeom prst="ellipse">
            <a:avLst/>
          </a:prstGeom>
          <a:solidFill>
            <a:srgbClr val="7A3B2E"/>
          </a:solidFill>
          <a:ln/>
        </p:spPr>
      </p:sp>
      <p:sp>
        <p:nvSpPr>
          <p:cNvPr id="12" name="Shape 10"/>
          <p:cNvSpPr/>
          <p:nvPr/>
        </p:nvSpPr>
        <p:spPr>
          <a:xfrm>
            <a:off x="11143620" y="5360419"/>
            <a:ext cx="76279" cy="76279"/>
          </a:xfrm>
          <a:prstGeom prst="ellipse">
            <a:avLst/>
          </a:prstGeom>
          <a:solidFill>
            <a:srgbClr val="3F6F5F"/>
          </a:solidFill>
          <a:ln/>
        </p:spPr>
      </p:sp>
      <p:sp>
        <p:nvSpPr>
          <p:cNvPr id="13" name="Shape 11"/>
          <p:cNvSpPr/>
          <p:nvPr/>
        </p:nvSpPr>
        <p:spPr>
          <a:xfrm>
            <a:off x="11381905" y="4716438"/>
            <a:ext cx="100097" cy="100097"/>
          </a:xfrm>
          <a:prstGeom prst="ellipse">
            <a:avLst/>
          </a:prstGeom>
          <a:solidFill>
            <a:srgbClr val="B9852F"/>
          </a:solidFill>
          <a:ln/>
        </p:spPr>
      </p:sp>
      <p:sp>
        <p:nvSpPr>
          <p:cNvPr id="14" name="Shape 12"/>
          <p:cNvSpPr/>
          <p:nvPr/>
        </p:nvSpPr>
        <p:spPr>
          <a:xfrm>
            <a:off x="10689703" y="5419716"/>
            <a:ext cx="46063" cy="46063"/>
          </a:xfrm>
          <a:prstGeom prst="ellipse">
            <a:avLst/>
          </a:prstGeom>
          <a:solidFill>
            <a:srgbClr val="7A3B2E"/>
          </a:solidFill>
          <a:ln/>
        </p:spPr>
      </p:sp>
      <p:sp>
        <p:nvSpPr>
          <p:cNvPr id="15" name="Shape 13"/>
          <p:cNvSpPr/>
          <p:nvPr/>
        </p:nvSpPr>
        <p:spPr>
          <a:xfrm>
            <a:off x="10133814" y="4719432"/>
            <a:ext cx="46767" cy="46767"/>
          </a:xfrm>
          <a:prstGeom prst="ellipse">
            <a:avLst/>
          </a:prstGeom>
          <a:solidFill>
            <a:srgbClr val="3F6F5F"/>
          </a:solidFill>
          <a:ln/>
        </p:spPr>
      </p:sp>
      <p:sp>
        <p:nvSpPr>
          <p:cNvPr id="16" name="Shape 14"/>
          <p:cNvSpPr/>
          <p:nvPr/>
        </p:nvSpPr>
        <p:spPr>
          <a:xfrm>
            <a:off x="10781039" y="5076847"/>
            <a:ext cx="70203" cy="70203"/>
          </a:xfrm>
          <a:prstGeom prst="ellipse">
            <a:avLst/>
          </a:prstGeom>
          <a:solidFill>
            <a:srgbClr val="B9852F"/>
          </a:solidFill>
          <a:ln/>
        </p:spPr>
      </p:sp>
      <p:sp>
        <p:nvSpPr>
          <p:cNvPr id="17" name="Shape 15"/>
          <p:cNvSpPr/>
          <p:nvPr/>
        </p:nvSpPr>
        <p:spPr>
          <a:xfrm>
            <a:off x="11137858" y="5478499"/>
            <a:ext cx="84369" cy="84369"/>
          </a:xfrm>
          <a:prstGeom prst="ellipse">
            <a:avLst/>
          </a:prstGeom>
          <a:solidFill>
            <a:srgbClr val="7A3B2E"/>
          </a:solidFill>
          <a:ln/>
        </p:spPr>
      </p:sp>
      <p:sp>
        <p:nvSpPr>
          <p:cNvPr id="18" name="Shape 16"/>
          <p:cNvSpPr/>
          <p:nvPr/>
        </p:nvSpPr>
        <p:spPr>
          <a:xfrm>
            <a:off x="9710749" y="4910930"/>
            <a:ext cx="57259" cy="57259"/>
          </a:xfrm>
          <a:prstGeom prst="ellipse">
            <a:avLst/>
          </a:prstGeom>
          <a:solidFill>
            <a:srgbClr val="3F6F5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2026-07-31T05:16:35Z</dcterms:created>
  <dcterms:modified xsi:type="dcterms:W3CDTF">2026-07-31T05:16:35Z</dcterms:modified>
</cp:coreProperties>
</file>