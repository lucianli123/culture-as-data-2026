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55448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3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40080" y="2011680"/>
            <a:ext cx="8961120" cy="18288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Classification: Counting with Weights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640080" y="411480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600" i="1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 a machine a bias in ten minutes, build a classifier and read the weights it learned, and preview the full menu of methods before next week's commitment.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60350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/ method:  Classification. Train a reader and read what it learned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11163829" y="1812694"/>
            <a:ext cx="91155" cy="91155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8" name="Shape 6"/>
          <p:cNvSpPr/>
          <p:nvPr/>
        </p:nvSpPr>
        <p:spPr>
          <a:xfrm>
            <a:off x="10739684" y="1655335"/>
            <a:ext cx="67855" cy="6785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9" name="Shape 7"/>
          <p:cNvSpPr/>
          <p:nvPr/>
        </p:nvSpPr>
        <p:spPr>
          <a:xfrm>
            <a:off x="10918790" y="2121334"/>
            <a:ext cx="53573" cy="53573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Shape 8"/>
          <p:cNvSpPr/>
          <p:nvPr/>
        </p:nvSpPr>
        <p:spPr>
          <a:xfrm>
            <a:off x="10100945" y="2197232"/>
            <a:ext cx="71167" cy="71167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1" name="Shape 9"/>
          <p:cNvSpPr/>
          <p:nvPr/>
        </p:nvSpPr>
        <p:spPr>
          <a:xfrm>
            <a:off x="9429150" y="869568"/>
            <a:ext cx="88634" cy="8863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2" name="Shape 10"/>
          <p:cNvSpPr/>
          <p:nvPr/>
        </p:nvSpPr>
        <p:spPr>
          <a:xfrm>
            <a:off x="10046406" y="2336963"/>
            <a:ext cx="73971" cy="73971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3" name="Shape 11"/>
          <p:cNvSpPr/>
          <p:nvPr/>
        </p:nvSpPr>
        <p:spPr>
          <a:xfrm>
            <a:off x="10352511" y="2111235"/>
            <a:ext cx="50036" cy="5003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4" name="Shape 12"/>
          <p:cNvSpPr/>
          <p:nvPr/>
        </p:nvSpPr>
        <p:spPr>
          <a:xfrm>
            <a:off x="11490466" y="916287"/>
            <a:ext cx="94555" cy="9455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5" name="Shape 13"/>
          <p:cNvSpPr/>
          <p:nvPr/>
        </p:nvSpPr>
        <p:spPr>
          <a:xfrm>
            <a:off x="9116871" y="1213376"/>
            <a:ext cx="65794" cy="6579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6" name="Shape 14"/>
          <p:cNvSpPr/>
          <p:nvPr/>
        </p:nvSpPr>
        <p:spPr>
          <a:xfrm>
            <a:off x="9861127" y="1989044"/>
            <a:ext cx="96343" cy="96343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7" name="Shape 15"/>
          <p:cNvSpPr/>
          <p:nvPr/>
        </p:nvSpPr>
        <p:spPr>
          <a:xfrm>
            <a:off x="9379832" y="2229830"/>
            <a:ext cx="99332" cy="99332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8" name="Shape 16"/>
          <p:cNvSpPr/>
          <p:nvPr/>
        </p:nvSpPr>
        <p:spPr>
          <a:xfrm>
            <a:off x="11559187" y="922274"/>
            <a:ext cx="97623" cy="97623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9" name="Shape 17"/>
          <p:cNvSpPr/>
          <p:nvPr/>
        </p:nvSpPr>
        <p:spPr>
          <a:xfrm>
            <a:off x="9312593" y="2264997"/>
            <a:ext cx="59210" cy="5921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20" name="Shape 18"/>
          <p:cNvSpPr/>
          <p:nvPr/>
        </p:nvSpPr>
        <p:spPr>
          <a:xfrm>
            <a:off x="9269448" y="1769818"/>
            <a:ext cx="61818" cy="6181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21" name="Shape 19"/>
          <p:cNvSpPr/>
          <p:nvPr/>
        </p:nvSpPr>
        <p:spPr>
          <a:xfrm>
            <a:off x="9829553" y="1897998"/>
            <a:ext cx="73444" cy="7344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22" name="Shape 20"/>
          <p:cNvSpPr/>
          <p:nvPr/>
        </p:nvSpPr>
        <p:spPr>
          <a:xfrm>
            <a:off x="9392708" y="1636076"/>
            <a:ext cx="62082" cy="62082"/>
          </a:xfrm>
          <a:prstGeom prst="ellipse">
            <a:avLst/>
          </a:prstGeom>
          <a:solidFill>
            <a:srgbClr val="7A3B2E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371600"/>
            <a:ext cx="2377440" cy="2377440"/>
          </a:xfrm>
          <a:prstGeom prst="ellipse">
            <a:avLst/>
          </a:prstGeom>
          <a:solidFill>
            <a:srgbClr val="F4EEE8"/>
          </a:solidFill>
          <a:ln/>
        </p:spPr>
      </p:sp>
      <p:sp>
        <p:nvSpPr>
          <p:cNvPr id="3" name="Shape 1"/>
          <p:cNvSpPr/>
          <p:nvPr/>
        </p:nvSpPr>
        <p:spPr>
          <a:xfrm>
            <a:off x="1325880" y="2423160"/>
            <a:ext cx="146304" cy="14630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Shape 2"/>
          <p:cNvSpPr/>
          <p:nvPr/>
        </p:nvSpPr>
        <p:spPr>
          <a:xfrm>
            <a:off x="1563624" y="2514600"/>
            <a:ext cx="146304" cy="14630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5" name="Shape 3"/>
          <p:cNvSpPr/>
          <p:nvPr/>
        </p:nvSpPr>
        <p:spPr>
          <a:xfrm>
            <a:off x="1801368" y="2423160"/>
            <a:ext cx="146304" cy="14630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6" name="Text 4"/>
          <p:cNvSpPr/>
          <p:nvPr/>
        </p:nvSpPr>
        <p:spPr>
          <a:xfrm>
            <a:off x="3657600" y="9144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THIS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0" y="1280160"/>
            <a:ext cx="7863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study we open with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3657600" y="2286000"/>
            <a:ext cx="7863840" cy="32918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Ted Underwood's genre prediction (Distant Horizons, 2019): a logistic regression, the exact tool of today's lab, trained to recognize detective fiction and science fiction across a century of novels.</a:t>
            </a:r>
            <a:endParaRPr lang="en-US" sz="1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IT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18872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did they choose, and where might it be wrong?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2468880"/>
            <a:ext cx="256032" cy="25603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0" y="2286000"/>
            <a:ext cx="10241280" cy="3657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counts as science fiction is a choice built into the training labels. And the model's most famous error, misreading Pynchon's The Crying of Lot 49, a detective-fiction spoof, shows genre boundaries are real but fuzzy. A classifier's mistakes teach as much as its successes; yours will too.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A3B2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3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Underwood's classifier, in detail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logistic regression, the exact tool of today's lab, trained on a century of novels to recognize detective fiction and science fiction.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Its most famous error is the lesson: it misreads Pynchon's The Crying of Lot 49, a novel critics call a detective-fiction spoof.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Genre boundaries are real but fuzzy, and the classifier's mistake is what shows it.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of every classifier, including yours: where does it fail, and what does the failure teach?</a:t>
            </a:r>
            <a:endParaRPr lang="en-US" sz="16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F6F5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3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classifier is counting with weights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word casts a vote, for or against. The model adds the votes.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means learning the weights from labeled examples.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signed weights: the most positive and most negative words are the model's mind on the table.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Spam filters have worked exactly this way for twenty years.</a:t>
            </a:r>
            <a:endParaRPr lang="en-US" sz="16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B9852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3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training set is the lesson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Teachable Machine, live: a cat/dog model trained only on orange cats and brown dogs.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room predicts what a black cat will do. Then watches it happen.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Bias is not a ghost in the machine. It is the training set, and you assembled it.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connection to remember: today's classifier is one neuron; stack many and you have Week 7's model.</a:t>
            </a:r>
            <a:endParaRPr lang="en-US" sz="16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A3B2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3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methods menu (before you commit)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Counting and keyness: differences and trends. Classification: sort and label at scale. Embeddings (W5): a map of meaning. Annotation (W7): the AI reads for you.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8328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9184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 add-ons where they fit: character networks, sentiment arcs, CLIP image search, a fine-tuned ModernBERT.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43484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34340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corpus-existence rule: bring a screenshot of 50 loadable rows of your data to Week 4. No proof, no pitch.</a:t>
            </a:r>
            <a:endParaRPr lang="en-US" sz="16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73152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modes today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4173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a third of the session each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5" name="Shape 3"/>
          <p:cNvSpPr/>
          <p:nvPr/>
        </p:nvSpPr>
        <p:spPr>
          <a:xfrm>
            <a:off x="1051560" y="2606040"/>
            <a:ext cx="548640" cy="54864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Lecture / demo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10058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Classification. Train a reader and read what it learned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262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9" name="Shape 7"/>
          <p:cNvSpPr/>
          <p:nvPr/>
        </p:nvSpPr>
        <p:spPr>
          <a:xfrm>
            <a:off x="4937760" y="2606040"/>
            <a:ext cx="548640" cy="548640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Text 8"/>
          <p:cNvSpPr/>
          <p:nvPr/>
        </p:nvSpPr>
        <p:spPr>
          <a:xfrm>
            <a:off x="48920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Workshop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48920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hands-on on your own data.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84124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13" name="Shape 11"/>
          <p:cNvSpPr/>
          <p:nvPr/>
        </p:nvSpPr>
        <p:spPr>
          <a:xfrm>
            <a:off x="8823960" y="2606040"/>
            <a:ext cx="548640" cy="54864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Text 12"/>
          <p:cNvSpPr/>
          <p:nvPr/>
        </p:nvSpPr>
        <p:spPr>
          <a:xfrm>
            <a:off x="87782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Discussion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87782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Interrogate the study, debate it, or critique each other's work.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session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572768"/>
            <a:ext cx="868680" cy="388112"/>
          </a:xfrm>
          <a:prstGeom prst="roundRect">
            <a:avLst>
              <a:gd name="adj" fmla="val 14136"/>
            </a:avLst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572768"/>
            <a:ext cx="868680" cy="388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0:00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691640" y="1554480"/>
            <a:ext cx="9646920" cy="49784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Warm-up + Look at This: Underwood's genre prediction.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" y="2070608"/>
            <a:ext cx="868680" cy="388112"/>
          </a:xfrm>
          <a:prstGeom prst="roundRect">
            <a:avLst>
              <a:gd name="adj" fmla="val 14136"/>
            </a:avLst>
          </a:prstGeom>
          <a:solidFill>
            <a:srgbClr val="7A3B2E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2070608"/>
            <a:ext cx="868680" cy="388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0:10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691640" y="2052320"/>
            <a:ext cx="9646920" cy="49784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Teachable Machine, instructor demo: a two-class image model trained live, then the reveal that it learned from only orange cats and brown dogs. The room predicts what a black cat will do, then sees it.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40080" y="2568448"/>
            <a:ext cx="868680" cy="388112"/>
          </a:xfrm>
          <a:prstGeom prst="roundRect">
            <a:avLst>
              <a:gd name="adj" fmla="val 14136"/>
            </a:avLst>
          </a:prstGeom>
          <a:solidFill>
            <a:srgbClr val="7A3B2E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2568448"/>
            <a:ext cx="868680" cy="388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0:22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691640" y="2550160"/>
            <a:ext cx="9646920" cy="49784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Counting with weights, the lab: each word casts a weighted vote; a logistic regression adds them up. Train it on a pop corpus, then read the signed coefficients: the model's reasoning, laid out in full.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40080" y="3066288"/>
            <a:ext cx="868680" cy="388112"/>
          </a:xfrm>
          <a:prstGeom prst="roundRect">
            <a:avLst>
              <a:gd name="adj" fmla="val 14136"/>
            </a:avLst>
          </a:prstGeom>
          <a:solidFill>
            <a:srgbClr val="7A3B2E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3066288"/>
            <a:ext cx="868680" cy="388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0:52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691640" y="3048000"/>
            <a:ext cx="9646920" cy="49784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short demonstration: the words that most predict "breakup song" or "this reviewer hated it."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40080" y="3564128"/>
            <a:ext cx="868680" cy="388112"/>
          </a:xfrm>
          <a:prstGeom prst="roundRect">
            <a:avLst>
              <a:gd name="adj" fmla="val 14136"/>
            </a:avLst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" y="3564128"/>
            <a:ext cx="868680" cy="388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0:57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691640" y="3545840"/>
            <a:ext cx="9646920" cy="49784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One-line bridge: that classifier is a neuron; stack many for a neural net, which is what's inside the Week 7 model. A quick TensorFlow Playground glance.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40080" y="4061968"/>
            <a:ext cx="868680" cy="388112"/>
          </a:xfrm>
          <a:prstGeom prst="roundRect">
            <a:avLst>
              <a:gd name="adj" fmla="val 14136"/>
            </a:avLst>
          </a:prstGeom>
          <a:solidFill>
            <a:srgbClr val="7A3B2E"/>
          </a:solidFill>
          <a:ln/>
        </p:spPr>
      </p:sp>
      <p:sp>
        <p:nvSpPr>
          <p:cNvPr id="19" name="Text 17"/>
          <p:cNvSpPr/>
          <p:nvPr/>
        </p:nvSpPr>
        <p:spPr>
          <a:xfrm>
            <a:off x="640080" y="4061968"/>
            <a:ext cx="868680" cy="388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1:00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691640" y="4043680"/>
            <a:ext cx="9646920" cy="49784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40080" y="4559808"/>
            <a:ext cx="868680" cy="388112"/>
          </a:xfrm>
          <a:prstGeom prst="roundRect">
            <a:avLst>
              <a:gd name="adj" fmla="val 14136"/>
            </a:avLst>
          </a:prstGeom>
          <a:solidFill>
            <a:srgbClr val="7A3B2E"/>
          </a:solidFill>
          <a:ln/>
        </p:spPr>
      </p:sp>
      <p:sp>
        <p:nvSpPr>
          <p:cNvPr id="22" name="Text 20"/>
          <p:cNvSpPr/>
          <p:nvPr/>
        </p:nvSpPr>
        <p:spPr>
          <a:xfrm>
            <a:off x="640080" y="4559808"/>
            <a:ext cx="868680" cy="388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1:10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1691640" y="4541520"/>
            <a:ext cx="9646920" cy="49784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Methods menu preview, so Week 4's choice is informed: counting, classification, embeddings (Week 5), and optional approaches (character networks for fiction; sentiment arcs for story projects, Jockers's Syuzhet reproducible in Python, whose own smoothing controversy is the built-in lesson to doubt the shape; CLIP image search for visual projects; and, for the technically comfortable, fine-tuning a small open model, ModernBERT, on your own labels).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40080" y="5057648"/>
            <a:ext cx="868680" cy="388112"/>
          </a:xfrm>
          <a:prstGeom prst="roundRect">
            <a:avLst>
              <a:gd name="adj" fmla="val 14136"/>
            </a:avLst>
          </a:prstGeom>
          <a:solidFill>
            <a:srgbClr val="7A3B2E"/>
          </a:solidFill>
          <a:ln/>
        </p:spPr>
      </p:sp>
      <p:sp>
        <p:nvSpPr>
          <p:cNvPr id="25" name="Text 23"/>
          <p:cNvSpPr/>
          <p:nvPr/>
        </p:nvSpPr>
        <p:spPr>
          <a:xfrm>
            <a:off x="640080" y="5057648"/>
            <a:ext cx="868680" cy="388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1:25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1691640" y="5039360"/>
            <a:ext cx="9646920" cy="49784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Pitch prep: what makes a tractable question, and the corpus-existence rule.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40080" y="5555488"/>
            <a:ext cx="868680" cy="388112"/>
          </a:xfrm>
          <a:prstGeom prst="roundRect">
            <a:avLst>
              <a:gd name="adj" fmla="val 14136"/>
            </a:avLst>
          </a:prstGeom>
          <a:solidFill>
            <a:srgbClr val="7A3B2E"/>
          </a:solidFill>
          <a:ln/>
        </p:spPr>
      </p:sp>
      <p:sp>
        <p:nvSpPr>
          <p:cNvPr id="28" name="Text 26"/>
          <p:cNvSpPr/>
          <p:nvPr/>
        </p:nvSpPr>
        <p:spPr>
          <a:xfrm>
            <a:off x="640080" y="5555488"/>
            <a:ext cx="868680" cy="388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1:45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1691640" y="5537200"/>
            <a:ext cx="9646920" cy="49784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Gemini-free check and check-out.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Reading &amp; homework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67335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1051560" y="160020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051560" y="198424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Mullen, America's Public Bible (intro + a verse)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263347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Text 5"/>
          <p:cNvSpPr/>
          <p:nvPr/>
        </p:nvSpPr>
        <p:spPr>
          <a:xfrm>
            <a:off x="1051560" y="256032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Supplement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051560" y="294436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Underwood on GPT-4 and fictional time; Juola's Rowling unmasking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" y="3593592"/>
            <a:ext cx="219456" cy="21945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51560" y="352044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Deeper (optional)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051560" y="390448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Underwood, The Life Cycles of Genres (2016), the full paper behind today's featured study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455371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Text 11"/>
          <p:cNvSpPr/>
          <p:nvPr/>
        </p:nvSpPr>
        <p:spPr>
          <a:xfrm>
            <a:off x="1051560" y="44805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051560" y="48646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a quick logistic regression on a labeled set; screenshot its five most positive and negative words.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40080" y="551383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1051560" y="544068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(AI closed)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051560" y="582472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it: read your classifier's top weights aloud, and name one input where it would fail and why. (Competencies 4, 5.)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THIS WEEK CONNECTS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987552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course's through-lines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205740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7A3B2E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20574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371600" y="202082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A3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reader you can see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371600" y="244144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transparent classifier: read its signed weights and see exactly what it learned. Week 7 introduces the opaque counterpart.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40080" y="35204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3F6F5F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35204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371600" y="348386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F6F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Bias comes from the training set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1371600" y="390448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Teachable Machine demonstration: a machine learns the prejudice of the data it is given.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640080" y="498348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B9852F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49834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371600" y="494690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985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choice is a choice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1371600" y="536752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counts as a label, and which words you hand it, decide what it learns.</a:t>
            </a:r>
            <a:endParaRPr lang="en-US" sz="14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0058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CHECK, AI CLOSED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645920"/>
            <a:ext cx="8686800" cy="31089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Explain it: read your classifier's top weights aloud, and name one input where it would fail and why. (Competencies 4, 5.)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61264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  ·  Week 3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11585519" y="5894876"/>
            <a:ext cx="88881" cy="88881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Shape 4"/>
          <p:cNvSpPr/>
          <p:nvPr/>
        </p:nvSpPr>
        <p:spPr>
          <a:xfrm>
            <a:off x="9802810" y="5665127"/>
            <a:ext cx="90728" cy="9072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Shape 5"/>
          <p:cNvSpPr/>
          <p:nvPr/>
        </p:nvSpPr>
        <p:spPr>
          <a:xfrm>
            <a:off x="9863295" y="5190056"/>
            <a:ext cx="74159" cy="74159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8" name="Shape 6"/>
          <p:cNvSpPr/>
          <p:nvPr/>
        </p:nvSpPr>
        <p:spPr>
          <a:xfrm>
            <a:off x="10273453" y="5193564"/>
            <a:ext cx="62036" cy="6203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9" name="Shape 7"/>
          <p:cNvSpPr/>
          <p:nvPr/>
        </p:nvSpPr>
        <p:spPr>
          <a:xfrm>
            <a:off x="9539765" y="4662190"/>
            <a:ext cx="77217" cy="7721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Shape 8"/>
          <p:cNvSpPr/>
          <p:nvPr/>
        </p:nvSpPr>
        <p:spPr>
          <a:xfrm>
            <a:off x="11289350" y="6057195"/>
            <a:ext cx="87700" cy="8770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1" name="Shape 9"/>
          <p:cNvSpPr/>
          <p:nvPr/>
        </p:nvSpPr>
        <p:spPr>
          <a:xfrm>
            <a:off x="11468368" y="4890398"/>
            <a:ext cx="61479" cy="61479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Shape 10"/>
          <p:cNvSpPr/>
          <p:nvPr/>
        </p:nvSpPr>
        <p:spPr>
          <a:xfrm>
            <a:off x="11143620" y="5360419"/>
            <a:ext cx="76279" cy="76279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Shape 11"/>
          <p:cNvSpPr/>
          <p:nvPr/>
        </p:nvSpPr>
        <p:spPr>
          <a:xfrm>
            <a:off x="11381905" y="4716438"/>
            <a:ext cx="100097" cy="100097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Shape 12"/>
          <p:cNvSpPr/>
          <p:nvPr/>
        </p:nvSpPr>
        <p:spPr>
          <a:xfrm>
            <a:off x="10689703" y="5419716"/>
            <a:ext cx="46063" cy="46063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5" name="Shape 13"/>
          <p:cNvSpPr/>
          <p:nvPr/>
        </p:nvSpPr>
        <p:spPr>
          <a:xfrm>
            <a:off x="10133814" y="4719432"/>
            <a:ext cx="46767" cy="4676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6" name="Shape 14"/>
          <p:cNvSpPr/>
          <p:nvPr/>
        </p:nvSpPr>
        <p:spPr>
          <a:xfrm>
            <a:off x="10781039" y="5076847"/>
            <a:ext cx="70203" cy="70203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7" name="Shape 15"/>
          <p:cNvSpPr/>
          <p:nvPr/>
        </p:nvSpPr>
        <p:spPr>
          <a:xfrm>
            <a:off x="11137858" y="5478499"/>
            <a:ext cx="84369" cy="84369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8" name="Shape 16"/>
          <p:cNvSpPr/>
          <p:nvPr/>
        </p:nvSpPr>
        <p:spPr>
          <a:xfrm>
            <a:off x="9710749" y="4910930"/>
            <a:ext cx="57259" cy="57259"/>
          </a:xfrm>
          <a:prstGeom prst="ellipse">
            <a:avLst/>
          </a:prstGeom>
          <a:solidFill>
            <a:srgbClr val="3F6F5F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2026-07-08T04:50:04Z</dcterms:created>
  <dcterms:modified xsi:type="dcterms:W3CDTF">2026-07-08T04:50:04Z</dcterms:modified>
</cp:coreProperties>
</file>