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mericaspublicbible.org/" TargetMode="External" /><Relationship Id="rId3" Type="http://schemas.openxmlformats.org/officeDocument/2006/relationships/hyperlink" Target="https://tedunderwood.com/2023/03/19/using-gpt-4-to-measure-the-passage-of-time-in-fiction/" TargetMode="External" /><Relationship Id="rId4" Type="http://schemas.openxmlformats.org/officeDocument/2006/relationships/hyperlink" Target="https://www.scientificamerican.com/article/how-a-computer-program-helped-show-jk-rowling-write-a-cuckoos-callin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Week</a:t>
            </a:r>
            <a:r>
              <a:rPr/>
              <a:t> </a:t>
            </a:r>
            <a:r>
              <a:rPr/>
              <a:t>3:</a:t>
            </a:r>
            <a:r>
              <a:rPr/>
              <a:t> </a:t>
            </a:r>
            <a:r>
              <a:rPr/>
              <a:t>Classification:</a:t>
            </a:r>
            <a:r>
              <a:rPr/>
              <a:t> </a:t>
            </a:r>
            <a:r>
              <a:rPr/>
              <a:t>Counting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Weights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r>
              <a:rPr/>
              <a:t>Culture</a:t>
            </a:r>
            <a:r>
              <a:rPr/>
              <a:t> </a:t>
            </a:r>
            <a:r>
              <a:rPr/>
              <a:t>as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·</a:t>
            </a:r>
            <a:r>
              <a:rPr/>
              <a:t> </a:t>
            </a:r>
            <a:r>
              <a:rPr/>
              <a:t>draft</a:t>
            </a:r>
            <a:r>
              <a:rPr/>
              <a:t> </a:t>
            </a:r>
            <a:r>
              <a:rPr/>
              <a:t>slides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marL="0" indent="0">
              <a:buNone/>
            </a:pPr>
            <a:r>
              <a:rPr/>
              <a:t>Week</a:t>
            </a:r>
            <a:r>
              <a:rPr/>
              <a:t> </a:t>
            </a:r>
            <a:r>
              <a:rPr/>
              <a:t>3</a:t>
            </a:r>
            <a:r>
              <a:rPr/>
              <a:t> </a:t>
            </a:r>
            <a:r>
              <a:rPr/>
              <a:t>·</a:t>
            </a:r>
            <a:r>
              <a:rPr/>
              <a:t> </a:t>
            </a:r>
            <a:r>
              <a:rPr/>
              <a:t>Classification:</a:t>
            </a:r>
            <a:r>
              <a:rPr/>
              <a:t> </a:t>
            </a:r>
            <a:r>
              <a:rPr/>
              <a:t>Counting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Weights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1270000" indent="0">
              <a:buNone/>
            </a:pPr>
            <a:r>
              <a:rPr sz="2000"/>
              <a:t>Teach a machine a bias in ten minutes, build a classifier and read its mind, and preview the full methods menu before next week’s commitment.</a:t>
            </a:r>
          </a:p>
          <a:p>
            <a:pPr lvl="0" marL="0" indent="0">
              <a:buNone/>
            </a:pPr>
            <a:r>
              <a:rPr i="1"/>
              <a:t>Tool / method: Classification. Train a reader and read what it learned · Competencies: 2, 4, 5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Look</a:t>
            </a:r>
            <a:r>
              <a:rPr/>
              <a:t> </a:t>
            </a:r>
            <a:r>
              <a:rPr/>
              <a:t>at</a:t>
            </a:r>
            <a:r>
              <a:rPr/>
              <a:t> </a:t>
            </a:r>
            <a:r>
              <a:rPr/>
              <a:t>This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Lincoln Mullen, America’s Public Bible (2023), a classifier that finds biblical quotations across millions of newspaper pages.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Question</a:t>
            </a:r>
            <a:r>
              <a:rPr/>
              <a:t> </a:t>
            </a:r>
            <a:r>
              <a:rPr/>
              <a:t>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What counts as a quotation, a four-word echo, a loose paraphrase?, is a definition the scholar chose, and it shapes every result. The model reads the same messy digitized text your own project will.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Three</a:t>
            </a:r>
            <a:r>
              <a:rPr/>
              <a:t> </a:t>
            </a:r>
            <a:r>
              <a:rPr/>
              <a:t>modes</a:t>
            </a:r>
            <a:r>
              <a:rPr/>
              <a:t> </a:t>
            </a:r>
            <a:r>
              <a:rPr/>
              <a:t>today</a:t>
            </a:r>
            <a:r>
              <a:rPr/>
              <a:t> </a:t>
            </a:r>
            <a:r>
              <a:rPr/>
              <a:t>(about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third</a:t>
            </a:r>
            <a:r>
              <a:rPr/>
              <a:t> </a:t>
            </a:r>
            <a:r>
              <a:rPr/>
              <a:t>each)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Lecture / demo:</a:t>
            </a:r>
            <a:r>
              <a:rPr/>
              <a:t> Classification. Train a reader and read what it learned</a:t>
            </a:r>
          </a:p>
          <a:p>
            <a:pPr lvl="1"/>
            <a:r>
              <a:rPr b="1"/>
              <a:t>Workshop:</a:t>
            </a:r>
            <a:r>
              <a:rPr/>
              <a:t> build hands-on on your own data</a:t>
            </a:r>
          </a:p>
          <a:p>
            <a:pPr lvl="1"/>
            <a:r>
              <a:rPr b="1"/>
              <a:t>Discussion:</a:t>
            </a:r>
            <a:r>
              <a:rPr/>
              <a:t> the study above, interrogate it, debate it, or critique each other’s work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</a:t>
            </a:r>
            <a:r>
              <a:rPr/>
              <a:t> </a:t>
            </a:r>
            <a:r>
              <a:rPr/>
              <a:t>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0:00</a:t>
            </a:r>
            <a:r>
              <a:rPr/>
              <a:t> Warm-up + Look at This: Mullen’s America’s Public Bible.</a:t>
            </a:r>
          </a:p>
          <a:p>
            <a:pPr lvl="1"/>
            <a:r>
              <a:rPr b="1"/>
              <a:t>0:10</a:t>
            </a:r>
            <a:r>
              <a:rPr/>
              <a:t> Teachable Machine, instructor demo: a two-class image model trained live, then the reveal that it learned from only orange cats and brown dogs. The room predicts what a black cat will do, then sees it.</a:t>
            </a:r>
          </a:p>
          <a:p>
            <a:pPr lvl="1"/>
            <a:r>
              <a:rPr b="1"/>
              <a:t>0:22</a:t>
            </a:r>
            <a:r>
              <a:rPr/>
              <a:t> Counting with weights, the lab: each word casts a weighted vote; a logistic regression adds them up. Train it on a pop corpus, then read the signed coefficients, its mind on the table.</a:t>
            </a:r>
          </a:p>
          <a:p>
            <a:pPr lvl="1"/>
            <a:r>
              <a:rPr b="1"/>
              <a:t>0:52</a:t>
            </a:r>
            <a:r>
              <a:rPr/>
              <a:t> Delight beat: the words that most predict “breakup song” or “this reviewer hated it.”</a:t>
            </a:r>
          </a:p>
          <a:p>
            <a:pPr lvl="1"/>
            <a:r>
              <a:rPr b="1"/>
              <a:t>0:57</a:t>
            </a:r>
            <a:r>
              <a:rPr/>
              <a:t> One-line bridge: that classifier is a neuron; stack many for a neural net, which is what’s inside the Week 7 model. A quick TensorFlow Playground glance.</a:t>
            </a:r>
          </a:p>
          <a:p>
            <a:pPr lvl="1"/>
            <a:r>
              <a:rPr b="1"/>
              <a:t>1:00</a:t>
            </a:r>
            <a:r>
              <a:rPr/>
              <a:t> Break</a:t>
            </a:r>
          </a:p>
          <a:p>
            <a:pPr lvl="1"/>
            <a:r>
              <a:rPr b="1"/>
              <a:t>1:10</a:t>
            </a:r>
            <a:r>
              <a:rPr/>
              <a:t> Methods menu preview, so Week 4’s choice is informed: counting, classification, embeddings (Week 5), and optional approaches (character networks for fiction; sentiment arcs for story projects, Jockers’s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</a:p>
          <a:p>
            <a:pPr lvl="1"/>
            <a:r>
              <a:rPr b="1"/>
              <a:t>1:25</a:t>
            </a:r>
            <a:r>
              <a:rPr/>
              <a:t> Pitch prep: what makes a tractable question, and the corpus-existence rule.</a:t>
            </a:r>
          </a:p>
          <a:p>
            <a:pPr lvl="1"/>
            <a:r>
              <a:rPr b="1"/>
              <a:t>1:45</a:t>
            </a:r>
            <a:r>
              <a:rPr/>
              <a:t> Gemini-free check and check-out.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Reading</a:t>
            </a:r>
            <a:r>
              <a:rPr/>
              <a:t> </a:t>
            </a:r>
            <a:r>
              <a:rPr/>
              <a:t>&amp;</a:t>
            </a:r>
            <a:r>
              <a:rPr/>
              <a:t> </a:t>
            </a:r>
            <a:r>
              <a:rPr/>
              <a:t>homework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/>
              <a:t>Reading:</a:t>
            </a:r>
            <a:r>
              <a:rPr/>
              <a:t> </a:t>
            </a:r>
            <a:r>
              <a:rPr>
                <a:hlinkClick r:id="rId2"/>
              </a:rPr>
              <a:t>Mullen, America’s Public Bible</a:t>
            </a:r>
            <a:r>
              <a:rPr/>
              <a:t> (intro + a verse)</a:t>
            </a:r>
          </a:p>
          <a:p>
            <a:pPr lvl="1"/>
            <a:r>
              <a:rPr b="1"/>
              <a:t>Supplement:</a:t>
            </a:r>
            <a:r>
              <a:rPr/>
              <a:t> </a:t>
            </a:r>
            <a:r>
              <a:rPr>
                <a:hlinkClick r:id="rId3"/>
              </a:rPr>
              <a:t>Underwood on GPT-4 and fictional time</a:t>
            </a:r>
            <a:r>
              <a:rPr/>
              <a:t>; </a:t>
            </a:r>
            <a:r>
              <a:rPr>
                <a:hlinkClick r:id="rId4"/>
              </a:rPr>
              <a:t>Juola’s Rowling unmasking</a:t>
            </a:r>
          </a:p>
          <a:p>
            <a:pPr lvl="1"/>
            <a:r>
              <a:rPr b="1"/>
              <a:t>Sketch:</a:t>
            </a:r>
            <a:r>
              <a:rPr/>
              <a:t> Train a quick logistic regression on a labeled set; screenshot its five most positive and negative words. Bring a corpus existence proof to Week 4.</a:t>
            </a:r>
          </a:p>
          <a:p>
            <a:pPr lvl="1"/>
            <a:r>
              <a:rPr b="1"/>
              <a:t>Check (AI closed):</a:t>
            </a:r>
            <a:r>
              <a:rPr/>
              <a:t> Explain it: read your classifier’s top weights aloud, and name one input where it would fail and why. (Competencies 4, 5.)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3: Classification: Counting with Weights</dc:title>
  <dc:creator/>
  <cp:keywords/>
  <dcterms:created xsi:type="dcterms:W3CDTF">2026-06-29T04:14:02Z</dcterms:created>
  <dcterms:modified xsi:type="dcterms:W3CDTF">2026-06-29T04:14:02Z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revealjs</vt:lpwstr>
  </property>
  <property fmtid="{D5CDD505-2E9C-101B-9397-08002B2CF9AE}" pid="3" name="subtitle">
    <vt:lpwstr>Culture as Data · draft slides</vt:lpwstr>
  </property>
</Properties>
</file>