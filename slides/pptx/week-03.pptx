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</p:sldIdLst>
  <p:notesMasterIdLst>
    <p:notesMasterId r:id="rId14"/>
  </p:notesMasterIdLst>
  <p:sldSz cx="12191695" cy="6858000"/>
  <p:notesSz cx="6858000" cy="12191695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notesMaster" Target="notesMasters/notesMaster1.xml"/><Relationship Id="rId15" Type="http://schemas.openxmlformats.org/officeDocument/2006/relationships/presProps" Target="presProps.xml"/><Relationship Id="rId16" Type="http://schemas.openxmlformats.org/officeDocument/2006/relationships/viewProps" Target="viewProps.xml"/><Relationship Id="rId17" Type="http://schemas.openxmlformats.org/officeDocument/2006/relationships/theme" Target="theme/theme1.xml"/><Relationship Id="rId18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4E261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02920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spc="300" kern="0" dirty="0">
                <a:solidFill>
                  <a:srgbClr val="B98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CULTURE AS DATA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640080" y="1554480"/>
            <a:ext cx="5486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rgbClr val="E8DC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Week 3</a:t>
            </a:r>
            <a:endParaRPr lang="en-US" sz="2000" dirty="0"/>
          </a:p>
        </p:txBody>
      </p:sp>
      <p:sp>
        <p:nvSpPr>
          <p:cNvPr id="4" name="Text 2"/>
          <p:cNvSpPr/>
          <p:nvPr/>
        </p:nvSpPr>
        <p:spPr>
          <a:xfrm>
            <a:off x="640080" y="2011680"/>
            <a:ext cx="8961120" cy="182880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buNone/>
            </a:pPr>
            <a:r>
              <a:rPr lang="en-US" sz="4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Classification: Counting with Weights</a:t>
            </a:r>
            <a:endParaRPr lang="en-US" sz="4000" dirty="0"/>
          </a:p>
        </p:txBody>
      </p:sp>
      <p:sp>
        <p:nvSpPr>
          <p:cNvPr id="5" name="Text 3"/>
          <p:cNvSpPr/>
          <p:nvPr/>
        </p:nvSpPr>
        <p:spPr>
          <a:xfrm>
            <a:off x="640080" y="4114800"/>
            <a:ext cx="7680960" cy="146304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buNone/>
            </a:pPr>
            <a:r>
              <a:rPr lang="en-US" sz="1600" i="1" dirty="0">
                <a:solidFill>
                  <a:srgbClr val="E8DC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Teach a machine a bias in ten minutes, build a classifier and read the weights it learned, and preview the full menu of methods before next week's commitment.</a:t>
            </a:r>
            <a:endParaRPr lang="en-US" sz="1600" dirty="0"/>
          </a:p>
        </p:txBody>
      </p:sp>
      <p:sp>
        <p:nvSpPr>
          <p:cNvPr id="6" name="Text 4"/>
          <p:cNvSpPr/>
          <p:nvPr/>
        </p:nvSpPr>
        <p:spPr>
          <a:xfrm>
            <a:off x="640080" y="6035040"/>
            <a:ext cx="10058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B98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Tool / method:  Classification. Train a reader and read what it learned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11163829" y="1812694"/>
            <a:ext cx="91155" cy="91155"/>
          </a:xfrm>
          <a:prstGeom prst="ellipse">
            <a:avLst/>
          </a:prstGeom>
          <a:solidFill>
            <a:srgbClr val="7A3B2E"/>
          </a:solidFill>
          <a:ln/>
        </p:spPr>
      </p:sp>
      <p:sp>
        <p:nvSpPr>
          <p:cNvPr id="8" name="Shape 6"/>
          <p:cNvSpPr/>
          <p:nvPr/>
        </p:nvSpPr>
        <p:spPr>
          <a:xfrm>
            <a:off x="10739684" y="1655335"/>
            <a:ext cx="67855" cy="67855"/>
          </a:xfrm>
          <a:prstGeom prst="ellipse">
            <a:avLst/>
          </a:prstGeom>
          <a:solidFill>
            <a:srgbClr val="3F6F5F"/>
          </a:solidFill>
          <a:ln/>
        </p:spPr>
      </p:sp>
      <p:sp>
        <p:nvSpPr>
          <p:cNvPr id="9" name="Shape 7"/>
          <p:cNvSpPr/>
          <p:nvPr/>
        </p:nvSpPr>
        <p:spPr>
          <a:xfrm>
            <a:off x="10918790" y="2121334"/>
            <a:ext cx="53573" cy="53573"/>
          </a:xfrm>
          <a:prstGeom prst="ellipse">
            <a:avLst/>
          </a:prstGeom>
          <a:solidFill>
            <a:srgbClr val="B9852F"/>
          </a:solidFill>
          <a:ln/>
        </p:spPr>
      </p:sp>
      <p:sp>
        <p:nvSpPr>
          <p:cNvPr id="10" name="Shape 8"/>
          <p:cNvSpPr/>
          <p:nvPr/>
        </p:nvSpPr>
        <p:spPr>
          <a:xfrm>
            <a:off x="10100945" y="2197232"/>
            <a:ext cx="71167" cy="71167"/>
          </a:xfrm>
          <a:prstGeom prst="ellipse">
            <a:avLst/>
          </a:prstGeom>
          <a:solidFill>
            <a:srgbClr val="7A3B2E"/>
          </a:solidFill>
          <a:ln/>
        </p:spPr>
      </p:sp>
      <p:sp>
        <p:nvSpPr>
          <p:cNvPr id="11" name="Shape 9"/>
          <p:cNvSpPr/>
          <p:nvPr/>
        </p:nvSpPr>
        <p:spPr>
          <a:xfrm>
            <a:off x="9429150" y="869568"/>
            <a:ext cx="88634" cy="88634"/>
          </a:xfrm>
          <a:prstGeom prst="ellipse">
            <a:avLst/>
          </a:prstGeom>
          <a:solidFill>
            <a:srgbClr val="3F6F5F"/>
          </a:solidFill>
          <a:ln/>
        </p:spPr>
      </p:sp>
      <p:sp>
        <p:nvSpPr>
          <p:cNvPr id="12" name="Shape 10"/>
          <p:cNvSpPr/>
          <p:nvPr/>
        </p:nvSpPr>
        <p:spPr>
          <a:xfrm>
            <a:off x="10046406" y="2336963"/>
            <a:ext cx="73971" cy="73971"/>
          </a:xfrm>
          <a:prstGeom prst="ellipse">
            <a:avLst/>
          </a:prstGeom>
          <a:solidFill>
            <a:srgbClr val="B9852F"/>
          </a:solidFill>
          <a:ln/>
        </p:spPr>
      </p:sp>
      <p:sp>
        <p:nvSpPr>
          <p:cNvPr id="13" name="Shape 11"/>
          <p:cNvSpPr/>
          <p:nvPr/>
        </p:nvSpPr>
        <p:spPr>
          <a:xfrm>
            <a:off x="10352511" y="2111235"/>
            <a:ext cx="50036" cy="50036"/>
          </a:xfrm>
          <a:prstGeom prst="ellipse">
            <a:avLst/>
          </a:prstGeom>
          <a:solidFill>
            <a:srgbClr val="7A3B2E"/>
          </a:solidFill>
          <a:ln/>
        </p:spPr>
      </p:sp>
      <p:sp>
        <p:nvSpPr>
          <p:cNvPr id="14" name="Shape 12"/>
          <p:cNvSpPr/>
          <p:nvPr/>
        </p:nvSpPr>
        <p:spPr>
          <a:xfrm>
            <a:off x="11490466" y="916287"/>
            <a:ext cx="94555" cy="94555"/>
          </a:xfrm>
          <a:prstGeom prst="ellipse">
            <a:avLst/>
          </a:prstGeom>
          <a:solidFill>
            <a:srgbClr val="3F6F5F"/>
          </a:solidFill>
          <a:ln/>
        </p:spPr>
      </p:sp>
      <p:sp>
        <p:nvSpPr>
          <p:cNvPr id="15" name="Shape 13"/>
          <p:cNvSpPr/>
          <p:nvPr/>
        </p:nvSpPr>
        <p:spPr>
          <a:xfrm>
            <a:off x="9116871" y="1213376"/>
            <a:ext cx="65794" cy="65794"/>
          </a:xfrm>
          <a:prstGeom prst="ellipse">
            <a:avLst/>
          </a:prstGeom>
          <a:solidFill>
            <a:srgbClr val="B9852F"/>
          </a:solidFill>
          <a:ln/>
        </p:spPr>
      </p:sp>
      <p:sp>
        <p:nvSpPr>
          <p:cNvPr id="16" name="Shape 14"/>
          <p:cNvSpPr/>
          <p:nvPr/>
        </p:nvSpPr>
        <p:spPr>
          <a:xfrm>
            <a:off x="9861127" y="1989044"/>
            <a:ext cx="96343" cy="96343"/>
          </a:xfrm>
          <a:prstGeom prst="ellipse">
            <a:avLst/>
          </a:prstGeom>
          <a:solidFill>
            <a:srgbClr val="7A3B2E"/>
          </a:solidFill>
          <a:ln/>
        </p:spPr>
      </p:sp>
      <p:sp>
        <p:nvSpPr>
          <p:cNvPr id="17" name="Shape 15"/>
          <p:cNvSpPr/>
          <p:nvPr/>
        </p:nvSpPr>
        <p:spPr>
          <a:xfrm>
            <a:off x="9379832" y="2229830"/>
            <a:ext cx="99332" cy="99332"/>
          </a:xfrm>
          <a:prstGeom prst="ellipse">
            <a:avLst/>
          </a:prstGeom>
          <a:solidFill>
            <a:srgbClr val="3F6F5F"/>
          </a:solidFill>
          <a:ln/>
        </p:spPr>
      </p:sp>
      <p:sp>
        <p:nvSpPr>
          <p:cNvPr id="18" name="Shape 16"/>
          <p:cNvSpPr/>
          <p:nvPr/>
        </p:nvSpPr>
        <p:spPr>
          <a:xfrm>
            <a:off x="11559187" y="922274"/>
            <a:ext cx="97623" cy="97623"/>
          </a:xfrm>
          <a:prstGeom prst="ellipse">
            <a:avLst/>
          </a:prstGeom>
          <a:solidFill>
            <a:srgbClr val="B9852F"/>
          </a:solidFill>
          <a:ln/>
        </p:spPr>
      </p:sp>
      <p:sp>
        <p:nvSpPr>
          <p:cNvPr id="19" name="Shape 17"/>
          <p:cNvSpPr/>
          <p:nvPr/>
        </p:nvSpPr>
        <p:spPr>
          <a:xfrm>
            <a:off x="9312593" y="2264997"/>
            <a:ext cx="59210" cy="59210"/>
          </a:xfrm>
          <a:prstGeom prst="ellipse">
            <a:avLst/>
          </a:prstGeom>
          <a:solidFill>
            <a:srgbClr val="7A3B2E"/>
          </a:solidFill>
          <a:ln/>
        </p:spPr>
      </p:sp>
      <p:sp>
        <p:nvSpPr>
          <p:cNvPr id="20" name="Shape 18"/>
          <p:cNvSpPr/>
          <p:nvPr/>
        </p:nvSpPr>
        <p:spPr>
          <a:xfrm>
            <a:off x="9269448" y="1769818"/>
            <a:ext cx="61818" cy="61818"/>
          </a:xfrm>
          <a:prstGeom prst="ellipse">
            <a:avLst/>
          </a:prstGeom>
          <a:solidFill>
            <a:srgbClr val="3F6F5F"/>
          </a:solidFill>
          <a:ln/>
        </p:spPr>
      </p:sp>
      <p:sp>
        <p:nvSpPr>
          <p:cNvPr id="21" name="Shape 19"/>
          <p:cNvSpPr/>
          <p:nvPr/>
        </p:nvSpPr>
        <p:spPr>
          <a:xfrm>
            <a:off x="9829553" y="1897998"/>
            <a:ext cx="73444" cy="73444"/>
          </a:xfrm>
          <a:prstGeom prst="ellipse">
            <a:avLst/>
          </a:prstGeom>
          <a:solidFill>
            <a:srgbClr val="B9852F"/>
          </a:solidFill>
          <a:ln/>
        </p:spPr>
      </p:sp>
      <p:sp>
        <p:nvSpPr>
          <p:cNvPr id="22" name="Shape 20"/>
          <p:cNvSpPr/>
          <p:nvPr/>
        </p:nvSpPr>
        <p:spPr>
          <a:xfrm>
            <a:off x="9392708" y="1636076"/>
            <a:ext cx="62082" cy="62082"/>
          </a:xfrm>
          <a:prstGeom prst="ellipse">
            <a:avLst/>
          </a:prstGeom>
          <a:solidFill>
            <a:srgbClr val="7A3B2E"/>
          </a:solidFill>
          <a:ln/>
        </p:spPr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40080" y="1371600"/>
            <a:ext cx="2377440" cy="2377440"/>
          </a:xfrm>
          <a:prstGeom prst="ellipse">
            <a:avLst/>
          </a:prstGeom>
          <a:solidFill>
            <a:srgbClr val="F4EEE8"/>
          </a:solidFill>
          <a:ln/>
        </p:spPr>
      </p:sp>
      <p:sp>
        <p:nvSpPr>
          <p:cNvPr id="3" name="Shape 1"/>
          <p:cNvSpPr/>
          <p:nvPr/>
        </p:nvSpPr>
        <p:spPr>
          <a:xfrm>
            <a:off x="1325880" y="2423160"/>
            <a:ext cx="146304" cy="146304"/>
          </a:xfrm>
          <a:prstGeom prst="ellipse">
            <a:avLst/>
          </a:prstGeom>
          <a:solidFill>
            <a:srgbClr val="7A3B2E"/>
          </a:solidFill>
          <a:ln/>
        </p:spPr>
      </p:sp>
      <p:sp>
        <p:nvSpPr>
          <p:cNvPr id="4" name="Shape 2"/>
          <p:cNvSpPr/>
          <p:nvPr/>
        </p:nvSpPr>
        <p:spPr>
          <a:xfrm>
            <a:off x="1563624" y="2514600"/>
            <a:ext cx="146304" cy="146304"/>
          </a:xfrm>
          <a:prstGeom prst="ellipse">
            <a:avLst/>
          </a:prstGeom>
          <a:solidFill>
            <a:srgbClr val="3F6F5F"/>
          </a:solidFill>
          <a:ln/>
        </p:spPr>
      </p:sp>
      <p:sp>
        <p:nvSpPr>
          <p:cNvPr id="5" name="Shape 3"/>
          <p:cNvSpPr/>
          <p:nvPr/>
        </p:nvSpPr>
        <p:spPr>
          <a:xfrm>
            <a:off x="1801368" y="2423160"/>
            <a:ext cx="146304" cy="146304"/>
          </a:xfrm>
          <a:prstGeom prst="ellipse">
            <a:avLst/>
          </a:prstGeom>
          <a:solidFill>
            <a:srgbClr val="B9852F"/>
          </a:solidFill>
          <a:ln/>
        </p:spPr>
      </p:sp>
      <p:sp>
        <p:nvSpPr>
          <p:cNvPr id="6" name="Text 4"/>
          <p:cNvSpPr/>
          <p:nvPr/>
        </p:nvSpPr>
        <p:spPr>
          <a:xfrm>
            <a:off x="3657600" y="914400"/>
            <a:ext cx="73152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spc="300" kern="0" dirty="0">
                <a:solidFill>
                  <a:srgbClr val="B98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LOOK AT THIS</a:t>
            </a:r>
            <a:endParaRPr lang="en-US" sz="1300" dirty="0"/>
          </a:p>
        </p:txBody>
      </p:sp>
      <p:sp>
        <p:nvSpPr>
          <p:cNvPr id="7" name="Text 5"/>
          <p:cNvSpPr/>
          <p:nvPr/>
        </p:nvSpPr>
        <p:spPr>
          <a:xfrm>
            <a:off x="3657600" y="1280160"/>
            <a:ext cx="786384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study we open with</a:t>
            </a:r>
            <a:endParaRPr lang="en-US" sz="3000" dirty="0"/>
          </a:p>
        </p:txBody>
      </p:sp>
      <p:sp>
        <p:nvSpPr>
          <p:cNvPr id="8" name="Text 6"/>
          <p:cNvSpPr/>
          <p:nvPr/>
        </p:nvSpPr>
        <p:spPr>
          <a:xfrm>
            <a:off x="3657600" y="2286000"/>
            <a:ext cx="7863840" cy="329184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lnSpc>
                <a:spcPct val="115000"/>
              </a:lnSpc>
              <a:buNone/>
            </a:pPr>
            <a:r>
              <a:rPr lang="en-US" sz="19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Ted Underwood's genre prediction (Distant Horizons, 2019): a logistic regression, the exact tool of today's lab, trained to recognize detective fiction and science fiction across a century of novels.</a:t>
            </a:r>
            <a:endParaRPr lang="en-US" sz="19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822960"/>
            <a:ext cx="73152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spc="300" kern="0" dirty="0">
                <a:solidFill>
                  <a:srgbClr val="7A3B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QUESTION IT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640080" y="1188720"/>
            <a:ext cx="10881360" cy="914400"/>
          </a:xfrm>
          <a:prstGeom prst="rect">
            <a:avLst/>
          </a:prstGeom>
          <a:noFill/>
          <a:ln/>
        </p:spPr>
        <p:txBody>
          <a:bodyPr wrap="square" rtlCol="0" anchor="ctr">
            <a:spAutoFit/>
          </a:bodyPr>
          <a:lstStyle/>
          <a:p>
            <a:pPr indent="0" marL="0">
              <a:buNone/>
            </a:pPr>
            <a:r>
              <a:rPr lang="en-US" sz="2600" b="1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What did they choose, and where might it be wrong?</a:t>
            </a:r>
            <a:endParaRPr lang="en-US" sz="2600" dirty="0"/>
          </a:p>
        </p:txBody>
      </p:sp>
      <p:sp>
        <p:nvSpPr>
          <p:cNvPr id="4" name="Shape 2"/>
          <p:cNvSpPr/>
          <p:nvPr/>
        </p:nvSpPr>
        <p:spPr>
          <a:xfrm>
            <a:off x="640080" y="2468880"/>
            <a:ext cx="256032" cy="256032"/>
          </a:xfrm>
          <a:prstGeom prst="ellipse">
            <a:avLst/>
          </a:prstGeom>
          <a:solidFill>
            <a:srgbClr val="B9852F"/>
          </a:solidFill>
          <a:ln/>
        </p:spPr>
      </p:sp>
      <p:sp>
        <p:nvSpPr>
          <p:cNvPr id="5" name="Text 3"/>
          <p:cNvSpPr/>
          <p:nvPr/>
        </p:nvSpPr>
        <p:spPr>
          <a:xfrm>
            <a:off x="1097280" y="2286000"/>
            <a:ext cx="10241280" cy="365760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lnSpc>
                <a:spcPct val="120000"/>
              </a:lnSpc>
              <a:buNone/>
            </a:pPr>
            <a:r>
              <a:rPr lang="en-US" sz="20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counts as science fiction is a choice built into the training labels. And the model's most famous error, misreading Pynchon's The Crying of Lot 49, a detective-fiction spoof, shows genre boundaries are real but fuzzy. A classifier's mistakes teach as much as its successes; yours will too.</a:t>
            </a:r>
            <a:endParaRPr lang="en-US" sz="20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7A3B2E"/>
          </a:solidFill>
          <a:ln/>
        </p:spPr>
      </p:sp>
      <p:sp>
        <p:nvSpPr>
          <p:cNvPr id="3" name="Text 1"/>
          <p:cNvSpPr/>
          <p:nvPr/>
        </p:nvSpPr>
        <p:spPr>
          <a:xfrm>
            <a:off x="640080" y="640080"/>
            <a:ext cx="100584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7A3B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WEEK 3 · KEY POINTS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640080" y="1005840"/>
            <a:ext cx="10881360" cy="91440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buNone/>
            </a:pPr>
            <a:r>
              <a:rPr lang="en-US" sz="3000" b="1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Underwood's classifier, in detail</a:t>
            </a:r>
            <a:endParaRPr lang="en-US" sz="3000" dirty="0"/>
          </a:p>
        </p:txBody>
      </p:sp>
      <p:sp>
        <p:nvSpPr>
          <p:cNvPr id="5" name="Shape 3"/>
          <p:cNvSpPr/>
          <p:nvPr/>
        </p:nvSpPr>
        <p:spPr>
          <a:xfrm>
            <a:off x="640080" y="2331720"/>
            <a:ext cx="201168" cy="201168"/>
          </a:xfrm>
          <a:prstGeom prst="ellipse">
            <a:avLst/>
          </a:prstGeom>
          <a:solidFill>
            <a:srgbClr val="7A3B2E"/>
          </a:solidFill>
          <a:ln/>
        </p:spPr>
      </p:sp>
      <p:sp>
        <p:nvSpPr>
          <p:cNvPr id="6" name="Text 4"/>
          <p:cNvSpPr/>
          <p:nvPr/>
        </p:nvSpPr>
        <p:spPr>
          <a:xfrm>
            <a:off x="1097280" y="2240280"/>
            <a:ext cx="10607040" cy="101727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lnSpc>
                <a:spcPct val="112000"/>
              </a:lnSpc>
              <a:buNone/>
            </a:pPr>
            <a:r>
              <a:rPr lang="en-US" sz="16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logistic regression, the exact tool of today's lab, trained on a century of novels to recognize detective fiction and science fiction.</a:t>
            </a:r>
            <a:endParaRPr lang="en-US" sz="1650" dirty="0"/>
          </a:p>
        </p:txBody>
      </p:sp>
      <p:sp>
        <p:nvSpPr>
          <p:cNvPr id="7" name="Shape 5"/>
          <p:cNvSpPr/>
          <p:nvPr/>
        </p:nvSpPr>
        <p:spPr>
          <a:xfrm>
            <a:off x="640080" y="3348990"/>
            <a:ext cx="201168" cy="201168"/>
          </a:xfrm>
          <a:prstGeom prst="ellipse">
            <a:avLst/>
          </a:prstGeom>
          <a:solidFill>
            <a:srgbClr val="3F6F5F"/>
          </a:solidFill>
          <a:ln/>
        </p:spPr>
      </p:sp>
      <p:sp>
        <p:nvSpPr>
          <p:cNvPr id="8" name="Text 6"/>
          <p:cNvSpPr/>
          <p:nvPr/>
        </p:nvSpPr>
        <p:spPr>
          <a:xfrm>
            <a:off x="1097280" y="3257550"/>
            <a:ext cx="10607040" cy="101727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lnSpc>
                <a:spcPct val="112000"/>
              </a:lnSpc>
              <a:buNone/>
            </a:pPr>
            <a:r>
              <a:rPr lang="en-US" sz="16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Its most famous error is the lesson: it misreads Pynchon's The Crying of Lot 49, a novel critics call a detective-fiction spoof.</a:t>
            </a:r>
            <a:endParaRPr lang="en-US" sz="1650" dirty="0"/>
          </a:p>
        </p:txBody>
      </p:sp>
      <p:sp>
        <p:nvSpPr>
          <p:cNvPr id="9" name="Shape 7"/>
          <p:cNvSpPr/>
          <p:nvPr/>
        </p:nvSpPr>
        <p:spPr>
          <a:xfrm>
            <a:off x="640080" y="4366260"/>
            <a:ext cx="201168" cy="201168"/>
          </a:xfrm>
          <a:prstGeom prst="ellipse">
            <a:avLst/>
          </a:prstGeom>
          <a:solidFill>
            <a:srgbClr val="B9852F"/>
          </a:solidFill>
          <a:ln/>
        </p:spPr>
      </p:sp>
      <p:sp>
        <p:nvSpPr>
          <p:cNvPr id="10" name="Text 8"/>
          <p:cNvSpPr/>
          <p:nvPr/>
        </p:nvSpPr>
        <p:spPr>
          <a:xfrm>
            <a:off x="1097280" y="4274820"/>
            <a:ext cx="10607040" cy="101727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lnSpc>
                <a:spcPct val="112000"/>
              </a:lnSpc>
              <a:buNone/>
            </a:pPr>
            <a:r>
              <a:rPr lang="en-US" sz="16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Genre boundaries are real but fuzzy, and the classifier's mistake is what shows it.</a:t>
            </a:r>
            <a:endParaRPr lang="en-US" sz="1650" dirty="0"/>
          </a:p>
        </p:txBody>
      </p:sp>
      <p:sp>
        <p:nvSpPr>
          <p:cNvPr id="11" name="Shape 9"/>
          <p:cNvSpPr/>
          <p:nvPr/>
        </p:nvSpPr>
        <p:spPr>
          <a:xfrm>
            <a:off x="640080" y="5383530"/>
            <a:ext cx="201168" cy="201168"/>
          </a:xfrm>
          <a:prstGeom prst="ellipse">
            <a:avLst/>
          </a:prstGeom>
          <a:solidFill>
            <a:srgbClr val="7A3B2E"/>
          </a:solidFill>
          <a:ln/>
        </p:spPr>
      </p:sp>
      <p:sp>
        <p:nvSpPr>
          <p:cNvPr id="12" name="Text 10"/>
          <p:cNvSpPr/>
          <p:nvPr/>
        </p:nvSpPr>
        <p:spPr>
          <a:xfrm>
            <a:off x="1097280" y="5292090"/>
            <a:ext cx="10607040" cy="101727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lnSpc>
                <a:spcPct val="112000"/>
              </a:lnSpc>
              <a:buNone/>
            </a:pPr>
            <a:r>
              <a:rPr lang="en-US" sz="16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Ask of every classifier, including yours: where does it fail, and what does the failure teach?</a:t>
            </a:r>
            <a:endParaRPr lang="en-US" sz="165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3F6F5F"/>
          </a:solidFill>
          <a:ln/>
        </p:spPr>
      </p:sp>
      <p:sp>
        <p:nvSpPr>
          <p:cNvPr id="3" name="Text 1"/>
          <p:cNvSpPr/>
          <p:nvPr/>
        </p:nvSpPr>
        <p:spPr>
          <a:xfrm>
            <a:off x="640080" y="640080"/>
            <a:ext cx="100584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3F6F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WEEK 3 · KEY POINTS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640080" y="1005840"/>
            <a:ext cx="10881360" cy="91440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buNone/>
            </a:pPr>
            <a:r>
              <a:rPr lang="en-US" sz="3000" b="1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 classifier is counting with weights</a:t>
            </a:r>
            <a:endParaRPr lang="en-US" sz="3000" dirty="0"/>
          </a:p>
        </p:txBody>
      </p:sp>
      <p:sp>
        <p:nvSpPr>
          <p:cNvPr id="5" name="Shape 3"/>
          <p:cNvSpPr/>
          <p:nvPr/>
        </p:nvSpPr>
        <p:spPr>
          <a:xfrm>
            <a:off x="640080" y="2331720"/>
            <a:ext cx="201168" cy="201168"/>
          </a:xfrm>
          <a:prstGeom prst="ellipse">
            <a:avLst/>
          </a:prstGeom>
          <a:solidFill>
            <a:srgbClr val="7A3B2E"/>
          </a:solidFill>
          <a:ln/>
        </p:spPr>
      </p:sp>
      <p:sp>
        <p:nvSpPr>
          <p:cNvPr id="6" name="Text 4"/>
          <p:cNvSpPr/>
          <p:nvPr/>
        </p:nvSpPr>
        <p:spPr>
          <a:xfrm>
            <a:off x="1097280" y="2240280"/>
            <a:ext cx="10607040" cy="101727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lnSpc>
                <a:spcPct val="112000"/>
              </a:lnSpc>
              <a:buNone/>
            </a:pPr>
            <a:r>
              <a:rPr lang="en-US" sz="16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word casts a vote, for or against. The model adds the votes.</a:t>
            </a:r>
            <a:endParaRPr lang="en-US" sz="1650" dirty="0"/>
          </a:p>
        </p:txBody>
      </p:sp>
      <p:sp>
        <p:nvSpPr>
          <p:cNvPr id="7" name="Shape 5"/>
          <p:cNvSpPr/>
          <p:nvPr/>
        </p:nvSpPr>
        <p:spPr>
          <a:xfrm>
            <a:off x="640080" y="3348990"/>
            <a:ext cx="201168" cy="201168"/>
          </a:xfrm>
          <a:prstGeom prst="ellipse">
            <a:avLst/>
          </a:prstGeom>
          <a:solidFill>
            <a:srgbClr val="3F6F5F"/>
          </a:solidFill>
          <a:ln/>
        </p:spPr>
      </p:sp>
      <p:sp>
        <p:nvSpPr>
          <p:cNvPr id="8" name="Text 6"/>
          <p:cNvSpPr/>
          <p:nvPr/>
        </p:nvSpPr>
        <p:spPr>
          <a:xfrm>
            <a:off x="1097280" y="3257550"/>
            <a:ext cx="10607040" cy="101727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lnSpc>
                <a:spcPct val="112000"/>
              </a:lnSpc>
              <a:buNone/>
            </a:pPr>
            <a:r>
              <a:rPr lang="en-US" sz="16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Training means learning the weights from labeled examples.</a:t>
            </a:r>
            <a:endParaRPr lang="en-US" sz="1650" dirty="0"/>
          </a:p>
        </p:txBody>
      </p:sp>
      <p:sp>
        <p:nvSpPr>
          <p:cNvPr id="9" name="Shape 7"/>
          <p:cNvSpPr/>
          <p:nvPr/>
        </p:nvSpPr>
        <p:spPr>
          <a:xfrm>
            <a:off x="640080" y="4366260"/>
            <a:ext cx="201168" cy="201168"/>
          </a:xfrm>
          <a:prstGeom prst="ellipse">
            <a:avLst/>
          </a:prstGeom>
          <a:solidFill>
            <a:srgbClr val="B9852F"/>
          </a:solidFill>
          <a:ln/>
        </p:spPr>
      </p:sp>
      <p:sp>
        <p:nvSpPr>
          <p:cNvPr id="10" name="Text 8"/>
          <p:cNvSpPr/>
          <p:nvPr/>
        </p:nvSpPr>
        <p:spPr>
          <a:xfrm>
            <a:off x="1097280" y="4274820"/>
            <a:ext cx="10607040" cy="101727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lnSpc>
                <a:spcPct val="112000"/>
              </a:lnSpc>
              <a:buNone/>
            </a:pPr>
            <a:r>
              <a:rPr lang="en-US" sz="16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Read the signed weights: the most positive and most negative words are the model's mind on the table.</a:t>
            </a:r>
            <a:endParaRPr lang="en-US" sz="1650" dirty="0"/>
          </a:p>
        </p:txBody>
      </p:sp>
      <p:sp>
        <p:nvSpPr>
          <p:cNvPr id="11" name="Shape 9"/>
          <p:cNvSpPr/>
          <p:nvPr/>
        </p:nvSpPr>
        <p:spPr>
          <a:xfrm>
            <a:off x="640080" y="5383530"/>
            <a:ext cx="201168" cy="201168"/>
          </a:xfrm>
          <a:prstGeom prst="ellipse">
            <a:avLst/>
          </a:prstGeom>
          <a:solidFill>
            <a:srgbClr val="7A3B2E"/>
          </a:solidFill>
          <a:ln/>
        </p:spPr>
      </p:sp>
      <p:sp>
        <p:nvSpPr>
          <p:cNvPr id="12" name="Text 10"/>
          <p:cNvSpPr/>
          <p:nvPr/>
        </p:nvSpPr>
        <p:spPr>
          <a:xfrm>
            <a:off x="1097280" y="5292090"/>
            <a:ext cx="10607040" cy="101727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lnSpc>
                <a:spcPct val="112000"/>
              </a:lnSpc>
              <a:buNone/>
            </a:pPr>
            <a:r>
              <a:rPr lang="en-US" sz="16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Spam filters have worked exactly this way for twenty years.</a:t>
            </a:r>
            <a:endParaRPr lang="en-US" sz="165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B9852F"/>
          </a:solidFill>
          <a:ln/>
        </p:spPr>
      </p:sp>
      <p:sp>
        <p:nvSpPr>
          <p:cNvPr id="3" name="Text 1"/>
          <p:cNvSpPr/>
          <p:nvPr/>
        </p:nvSpPr>
        <p:spPr>
          <a:xfrm>
            <a:off x="640080" y="640080"/>
            <a:ext cx="100584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B98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WEEK 3 · KEY POINTS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640080" y="1005840"/>
            <a:ext cx="10881360" cy="91440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buNone/>
            </a:pPr>
            <a:r>
              <a:rPr lang="en-US" sz="3000" b="1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training set is the lesson</a:t>
            </a:r>
            <a:endParaRPr lang="en-US" sz="3000" dirty="0"/>
          </a:p>
        </p:txBody>
      </p:sp>
      <p:sp>
        <p:nvSpPr>
          <p:cNvPr id="5" name="Shape 3"/>
          <p:cNvSpPr/>
          <p:nvPr/>
        </p:nvSpPr>
        <p:spPr>
          <a:xfrm>
            <a:off x="640080" y="2331720"/>
            <a:ext cx="201168" cy="201168"/>
          </a:xfrm>
          <a:prstGeom prst="ellipse">
            <a:avLst/>
          </a:prstGeom>
          <a:solidFill>
            <a:srgbClr val="7A3B2E"/>
          </a:solidFill>
          <a:ln/>
        </p:spPr>
      </p:sp>
      <p:sp>
        <p:nvSpPr>
          <p:cNvPr id="6" name="Text 4"/>
          <p:cNvSpPr/>
          <p:nvPr/>
        </p:nvSpPr>
        <p:spPr>
          <a:xfrm>
            <a:off x="1097280" y="2240280"/>
            <a:ext cx="10607040" cy="101727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lnSpc>
                <a:spcPct val="112000"/>
              </a:lnSpc>
              <a:buNone/>
            </a:pPr>
            <a:r>
              <a:rPr lang="en-US" sz="16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Teachable Machine, live: a cat/dog model trained only on orange cats and brown dogs.</a:t>
            </a:r>
            <a:endParaRPr lang="en-US" sz="1650" dirty="0"/>
          </a:p>
        </p:txBody>
      </p:sp>
      <p:sp>
        <p:nvSpPr>
          <p:cNvPr id="7" name="Shape 5"/>
          <p:cNvSpPr/>
          <p:nvPr/>
        </p:nvSpPr>
        <p:spPr>
          <a:xfrm>
            <a:off x="640080" y="3348990"/>
            <a:ext cx="201168" cy="201168"/>
          </a:xfrm>
          <a:prstGeom prst="ellipse">
            <a:avLst/>
          </a:prstGeom>
          <a:solidFill>
            <a:srgbClr val="3F6F5F"/>
          </a:solidFill>
          <a:ln/>
        </p:spPr>
      </p:sp>
      <p:sp>
        <p:nvSpPr>
          <p:cNvPr id="8" name="Text 6"/>
          <p:cNvSpPr/>
          <p:nvPr/>
        </p:nvSpPr>
        <p:spPr>
          <a:xfrm>
            <a:off x="1097280" y="3257550"/>
            <a:ext cx="10607040" cy="101727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lnSpc>
                <a:spcPct val="112000"/>
              </a:lnSpc>
              <a:buNone/>
            </a:pPr>
            <a:r>
              <a:rPr lang="en-US" sz="16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room predicts what a black cat will do. Then watches it happen.</a:t>
            </a:r>
            <a:endParaRPr lang="en-US" sz="1650" dirty="0"/>
          </a:p>
        </p:txBody>
      </p:sp>
      <p:sp>
        <p:nvSpPr>
          <p:cNvPr id="9" name="Shape 7"/>
          <p:cNvSpPr/>
          <p:nvPr/>
        </p:nvSpPr>
        <p:spPr>
          <a:xfrm>
            <a:off x="640080" y="4366260"/>
            <a:ext cx="201168" cy="201168"/>
          </a:xfrm>
          <a:prstGeom prst="ellipse">
            <a:avLst/>
          </a:prstGeom>
          <a:solidFill>
            <a:srgbClr val="B9852F"/>
          </a:solidFill>
          <a:ln/>
        </p:spPr>
      </p:sp>
      <p:sp>
        <p:nvSpPr>
          <p:cNvPr id="10" name="Text 8"/>
          <p:cNvSpPr/>
          <p:nvPr/>
        </p:nvSpPr>
        <p:spPr>
          <a:xfrm>
            <a:off x="1097280" y="4274820"/>
            <a:ext cx="10607040" cy="101727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lnSpc>
                <a:spcPct val="112000"/>
              </a:lnSpc>
              <a:buNone/>
            </a:pPr>
            <a:r>
              <a:rPr lang="en-US" sz="16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Bias is not a ghost in the machine. It is the training set, and you assembled it.</a:t>
            </a:r>
            <a:endParaRPr lang="en-US" sz="1650" dirty="0"/>
          </a:p>
        </p:txBody>
      </p:sp>
      <p:sp>
        <p:nvSpPr>
          <p:cNvPr id="11" name="Shape 9"/>
          <p:cNvSpPr/>
          <p:nvPr/>
        </p:nvSpPr>
        <p:spPr>
          <a:xfrm>
            <a:off x="640080" y="5383530"/>
            <a:ext cx="201168" cy="201168"/>
          </a:xfrm>
          <a:prstGeom prst="ellipse">
            <a:avLst/>
          </a:prstGeom>
          <a:solidFill>
            <a:srgbClr val="7A3B2E"/>
          </a:solidFill>
          <a:ln/>
        </p:spPr>
      </p:sp>
      <p:sp>
        <p:nvSpPr>
          <p:cNvPr id="12" name="Text 10"/>
          <p:cNvSpPr/>
          <p:nvPr/>
        </p:nvSpPr>
        <p:spPr>
          <a:xfrm>
            <a:off x="1097280" y="5292090"/>
            <a:ext cx="10607040" cy="101727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lnSpc>
                <a:spcPct val="112000"/>
              </a:lnSpc>
              <a:buNone/>
            </a:pPr>
            <a:r>
              <a:rPr lang="en-US" sz="16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One connection to remember: today's classifier is one neuron; stack many and you have Week 7's model.</a:t>
            </a:r>
            <a:endParaRPr lang="en-US" sz="165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7A3B2E"/>
          </a:solidFill>
          <a:ln/>
        </p:spPr>
      </p:sp>
      <p:sp>
        <p:nvSpPr>
          <p:cNvPr id="3" name="Text 1"/>
          <p:cNvSpPr/>
          <p:nvPr/>
        </p:nvSpPr>
        <p:spPr>
          <a:xfrm>
            <a:off x="640080" y="640080"/>
            <a:ext cx="100584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7A3B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WEEK 3 · KEY POINTS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640080" y="1005840"/>
            <a:ext cx="10881360" cy="91440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buNone/>
            </a:pPr>
            <a:r>
              <a:rPr lang="en-US" sz="3000" b="1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methods menu (before you commit)</a:t>
            </a:r>
            <a:endParaRPr lang="en-US" sz="3000" dirty="0"/>
          </a:p>
        </p:txBody>
      </p:sp>
      <p:sp>
        <p:nvSpPr>
          <p:cNvPr id="5" name="Shape 3"/>
          <p:cNvSpPr/>
          <p:nvPr/>
        </p:nvSpPr>
        <p:spPr>
          <a:xfrm>
            <a:off x="640080" y="2331720"/>
            <a:ext cx="201168" cy="201168"/>
          </a:xfrm>
          <a:prstGeom prst="ellipse">
            <a:avLst/>
          </a:prstGeom>
          <a:solidFill>
            <a:srgbClr val="7A3B2E"/>
          </a:solidFill>
          <a:ln/>
        </p:spPr>
      </p:sp>
      <p:sp>
        <p:nvSpPr>
          <p:cNvPr id="6" name="Text 4"/>
          <p:cNvSpPr/>
          <p:nvPr/>
        </p:nvSpPr>
        <p:spPr>
          <a:xfrm>
            <a:off x="1097280" y="2240280"/>
            <a:ext cx="10607040" cy="105156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lnSpc>
                <a:spcPct val="112000"/>
              </a:lnSpc>
              <a:buNone/>
            </a:pPr>
            <a:r>
              <a:rPr lang="en-US" sz="16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Counting and keyness: differences and trends. Classification: sort and label at scale. Embeddings (W5): a map of meaning. Annotation (W7): the AI reads for you.</a:t>
            </a:r>
            <a:endParaRPr lang="en-US" sz="1650" dirty="0"/>
          </a:p>
        </p:txBody>
      </p:sp>
      <p:sp>
        <p:nvSpPr>
          <p:cNvPr id="7" name="Shape 5"/>
          <p:cNvSpPr/>
          <p:nvPr/>
        </p:nvSpPr>
        <p:spPr>
          <a:xfrm>
            <a:off x="640080" y="3383280"/>
            <a:ext cx="201168" cy="201168"/>
          </a:xfrm>
          <a:prstGeom prst="ellipse">
            <a:avLst/>
          </a:prstGeom>
          <a:solidFill>
            <a:srgbClr val="3F6F5F"/>
          </a:solidFill>
          <a:ln/>
        </p:spPr>
      </p:sp>
      <p:sp>
        <p:nvSpPr>
          <p:cNvPr id="8" name="Text 6"/>
          <p:cNvSpPr/>
          <p:nvPr/>
        </p:nvSpPr>
        <p:spPr>
          <a:xfrm>
            <a:off x="1097280" y="3291840"/>
            <a:ext cx="10607040" cy="105156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lnSpc>
                <a:spcPct val="112000"/>
              </a:lnSpc>
              <a:buNone/>
            </a:pPr>
            <a:r>
              <a:rPr lang="en-US" sz="16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Optional add-ons where they fit: character networks, sentiment arcs, CLIP image search, a fine-tuned ModernBERT.</a:t>
            </a:r>
            <a:endParaRPr lang="en-US" sz="1650" dirty="0"/>
          </a:p>
        </p:txBody>
      </p:sp>
      <p:sp>
        <p:nvSpPr>
          <p:cNvPr id="9" name="Shape 7"/>
          <p:cNvSpPr/>
          <p:nvPr/>
        </p:nvSpPr>
        <p:spPr>
          <a:xfrm>
            <a:off x="640080" y="4434840"/>
            <a:ext cx="201168" cy="201168"/>
          </a:xfrm>
          <a:prstGeom prst="ellipse">
            <a:avLst/>
          </a:prstGeom>
          <a:solidFill>
            <a:srgbClr val="B9852F"/>
          </a:solidFill>
          <a:ln/>
        </p:spPr>
      </p:sp>
      <p:sp>
        <p:nvSpPr>
          <p:cNvPr id="10" name="Text 8"/>
          <p:cNvSpPr/>
          <p:nvPr/>
        </p:nvSpPr>
        <p:spPr>
          <a:xfrm>
            <a:off x="1097280" y="4343400"/>
            <a:ext cx="10607040" cy="105156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lnSpc>
                <a:spcPct val="112000"/>
              </a:lnSpc>
              <a:buNone/>
            </a:pPr>
            <a:r>
              <a:rPr lang="en-US" sz="16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corpus-existence rule: bring a screenshot of 50 loadable rows of your data to Week 4. No proof, no pitch.</a:t>
            </a:r>
            <a:endParaRPr lang="en-US" sz="165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731520"/>
            <a:ext cx="100584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Three modes today</a:t>
            </a:r>
            <a:endParaRPr lang="en-US" sz="3000" dirty="0"/>
          </a:p>
        </p:txBody>
      </p:sp>
      <p:sp>
        <p:nvSpPr>
          <p:cNvPr id="3" name="Text 1"/>
          <p:cNvSpPr/>
          <p:nvPr/>
        </p:nvSpPr>
        <p:spPr>
          <a:xfrm>
            <a:off x="640080" y="1417320"/>
            <a:ext cx="10058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6B6B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about a third of the session each</a:t>
            </a:r>
            <a:endParaRPr lang="en-US" sz="1400" dirty="0"/>
          </a:p>
        </p:txBody>
      </p:sp>
      <p:sp>
        <p:nvSpPr>
          <p:cNvPr id="4" name="Shape 2"/>
          <p:cNvSpPr/>
          <p:nvPr/>
        </p:nvSpPr>
        <p:spPr>
          <a:xfrm>
            <a:off x="640080" y="2194560"/>
            <a:ext cx="3383280" cy="3291840"/>
          </a:xfrm>
          <a:prstGeom prst="roundRect">
            <a:avLst>
              <a:gd name="adj" fmla="val 3333"/>
            </a:avLst>
          </a:prstGeom>
          <a:solidFill>
            <a:srgbClr val="F4EEE8"/>
          </a:solidFill>
          <a:ln/>
        </p:spPr>
      </p:sp>
      <p:sp>
        <p:nvSpPr>
          <p:cNvPr id="5" name="Shape 3"/>
          <p:cNvSpPr/>
          <p:nvPr/>
        </p:nvSpPr>
        <p:spPr>
          <a:xfrm>
            <a:off x="1051560" y="2606040"/>
            <a:ext cx="548640" cy="548640"/>
          </a:xfrm>
          <a:prstGeom prst="ellipse">
            <a:avLst/>
          </a:prstGeom>
          <a:solidFill>
            <a:srgbClr val="7A3B2E"/>
          </a:solidFill>
          <a:ln/>
        </p:spPr>
      </p:sp>
      <p:sp>
        <p:nvSpPr>
          <p:cNvPr id="6" name="Text 4"/>
          <p:cNvSpPr/>
          <p:nvPr/>
        </p:nvSpPr>
        <p:spPr>
          <a:xfrm>
            <a:off x="1005840" y="3383280"/>
            <a:ext cx="265176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100" b="1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Lecture / demo</a:t>
            </a:r>
            <a:endParaRPr lang="en-US" sz="2100" dirty="0"/>
          </a:p>
        </p:txBody>
      </p:sp>
      <p:sp>
        <p:nvSpPr>
          <p:cNvPr id="7" name="Text 5"/>
          <p:cNvSpPr/>
          <p:nvPr/>
        </p:nvSpPr>
        <p:spPr>
          <a:xfrm>
            <a:off x="1005840" y="3977640"/>
            <a:ext cx="2651760" cy="137160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lnSpc>
                <a:spcPct val="115000"/>
              </a:lnSpc>
              <a:buNone/>
            </a:pPr>
            <a:r>
              <a:rPr lang="en-US" sz="15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Classification. Train a reader and read what it learned</a:t>
            </a:r>
            <a:endParaRPr lang="en-US" sz="1500" dirty="0"/>
          </a:p>
        </p:txBody>
      </p:sp>
      <p:sp>
        <p:nvSpPr>
          <p:cNvPr id="8" name="Shape 6"/>
          <p:cNvSpPr/>
          <p:nvPr/>
        </p:nvSpPr>
        <p:spPr>
          <a:xfrm>
            <a:off x="4526280" y="2194560"/>
            <a:ext cx="3383280" cy="3291840"/>
          </a:xfrm>
          <a:prstGeom prst="roundRect">
            <a:avLst>
              <a:gd name="adj" fmla="val 3333"/>
            </a:avLst>
          </a:prstGeom>
          <a:solidFill>
            <a:srgbClr val="F4EEE8"/>
          </a:solidFill>
          <a:ln/>
        </p:spPr>
      </p:sp>
      <p:sp>
        <p:nvSpPr>
          <p:cNvPr id="9" name="Shape 7"/>
          <p:cNvSpPr/>
          <p:nvPr/>
        </p:nvSpPr>
        <p:spPr>
          <a:xfrm>
            <a:off x="4937760" y="2606040"/>
            <a:ext cx="548640" cy="548640"/>
          </a:xfrm>
          <a:prstGeom prst="ellipse">
            <a:avLst/>
          </a:prstGeom>
          <a:solidFill>
            <a:srgbClr val="3F6F5F"/>
          </a:solidFill>
          <a:ln/>
        </p:spPr>
      </p:sp>
      <p:sp>
        <p:nvSpPr>
          <p:cNvPr id="10" name="Text 8"/>
          <p:cNvSpPr/>
          <p:nvPr/>
        </p:nvSpPr>
        <p:spPr>
          <a:xfrm>
            <a:off x="4892040" y="3383280"/>
            <a:ext cx="265176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100" b="1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Workshop</a:t>
            </a:r>
            <a:endParaRPr lang="en-US" sz="2100" dirty="0"/>
          </a:p>
        </p:txBody>
      </p:sp>
      <p:sp>
        <p:nvSpPr>
          <p:cNvPr id="11" name="Text 9"/>
          <p:cNvSpPr/>
          <p:nvPr/>
        </p:nvSpPr>
        <p:spPr>
          <a:xfrm>
            <a:off x="4892040" y="3977640"/>
            <a:ext cx="2651760" cy="137160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lnSpc>
                <a:spcPct val="115000"/>
              </a:lnSpc>
              <a:buNone/>
            </a:pPr>
            <a:r>
              <a:rPr lang="en-US" sz="15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Build hands-on on your own data.</a:t>
            </a:r>
            <a:endParaRPr lang="en-US" sz="1500" dirty="0"/>
          </a:p>
        </p:txBody>
      </p:sp>
      <p:sp>
        <p:nvSpPr>
          <p:cNvPr id="12" name="Shape 10"/>
          <p:cNvSpPr/>
          <p:nvPr/>
        </p:nvSpPr>
        <p:spPr>
          <a:xfrm>
            <a:off x="8412480" y="2194560"/>
            <a:ext cx="3383280" cy="3291840"/>
          </a:xfrm>
          <a:prstGeom prst="roundRect">
            <a:avLst>
              <a:gd name="adj" fmla="val 3333"/>
            </a:avLst>
          </a:prstGeom>
          <a:solidFill>
            <a:srgbClr val="F4EEE8"/>
          </a:solidFill>
          <a:ln/>
        </p:spPr>
      </p:sp>
      <p:sp>
        <p:nvSpPr>
          <p:cNvPr id="13" name="Shape 11"/>
          <p:cNvSpPr/>
          <p:nvPr/>
        </p:nvSpPr>
        <p:spPr>
          <a:xfrm>
            <a:off x="8823960" y="2606040"/>
            <a:ext cx="548640" cy="548640"/>
          </a:xfrm>
          <a:prstGeom prst="ellipse">
            <a:avLst/>
          </a:prstGeom>
          <a:solidFill>
            <a:srgbClr val="B9852F"/>
          </a:solidFill>
          <a:ln/>
        </p:spPr>
      </p:sp>
      <p:sp>
        <p:nvSpPr>
          <p:cNvPr id="14" name="Text 12"/>
          <p:cNvSpPr/>
          <p:nvPr/>
        </p:nvSpPr>
        <p:spPr>
          <a:xfrm>
            <a:off x="8778240" y="3383280"/>
            <a:ext cx="265176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100" b="1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Discussion</a:t>
            </a:r>
            <a:endParaRPr lang="en-US" sz="2100" dirty="0"/>
          </a:p>
        </p:txBody>
      </p:sp>
      <p:sp>
        <p:nvSpPr>
          <p:cNvPr id="15" name="Text 13"/>
          <p:cNvSpPr/>
          <p:nvPr/>
        </p:nvSpPr>
        <p:spPr>
          <a:xfrm>
            <a:off x="8778240" y="3977640"/>
            <a:ext cx="2651760" cy="137160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lnSpc>
                <a:spcPct val="115000"/>
              </a:lnSpc>
              <a:buNone/>
            </a:pPr>
            <a:r>
              <a:rPr lang="en-US" sz="15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Interrogate the study, debate it, or critique each other's work.</a:t>
            </a:r>
            <a:endParaRPr lang="en-US" sz="15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640080"/>
            <a:ext cx="100584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session</a:t>
            </a:r>
            <a:endParaRPr lang="en-US" sz="3000" dirty="0"/>
          </a:p>
        </p:txBody>
      </p:sp>
      <p:sp>
        <p:nvSpPr>
          <p:cNvPr id="3" name="Shape 1"/>
          <p:cNvSpPr/>
          <p:nvPr/>
        </p:nvSpPr>
        <p:spPr>
          <a:xfrm>
            <a:off x="640080" y="1572768"/>
            <a:ext cx="868680" cy="388112"/>
          </a:xfrm>
          <a:prstGeom prst="roundRect">
            <a:avLst>
              <a:gd name="adj" fmla="val 14136"/>
            </a:avLst>
          </a:prstGeom>
          <a:solidFill>
            <a:srgbClr val="7A3B2E"/>
          </a:solidFill>
          <a:ln/>
        </p:spPr>
      </p:sp>
      <p:sp>
        <p:nvSpPr>
          <p:cNvPr id="4" name="Text 2"/>
          <p:cNvSpPr/>
          <p:nvPr/>
        </p:nvSpPr>
        <p:spPr>
          <a:xfrm>
            <a:off x="640080" y="1572768"/>
            <a:ext cx="868680" cy="3881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0:00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1691640" y="1554480"/>
            <a:ext cx="9646920" cy="497840"/>
          </a:xfrm>
          <a:prstGeom prst="rect">
            <a:avLst/>
          </a:prstGeom>
          <a:noFill/>
          <a:ln/>
        </p:spPr>
        <p:txBody>
          <a:bodyPr wrap="square" rtlCol="0" anchor="ctr">
            <a:spAutoFit/>
          </a:bodyPr>
          <a:lstStyle/>
          <a:p>
            <a:pPr indent="0" marL="0">
              <a:buNone/>
            </a:pPr>
            <a:r>
              <a:rPr lang="en-US" sz="11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Warm-up + Look at This: Underwood's genre prediction.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640080" y="2070608"/>
            <a:ext cx="868680" cy="388112"/>
          </a:xfrm>
          <a:prstGeom prst="roundRect">
            <a:avLst>
              <a:gd name="adj" fmla="val 14136"/>
            </a:avLst>
          </a:prstGeom>
          <a:solidFill>
            <a:srgbClr val="7A3B2E"/>
          </a:solidFill>
          <a:ln/>
        </p:spPr>
      </p:sp>
      <p:sp>
        <p:nvSpPr>
          <p:cNvPr id="7" name="Text 5"/>
          <p:cNvSpPr/>
          <p:nvPr/>
        </p:nvSpPr>
        <p:spPr>
          <a:xfrm>
            <a:off x="640080" y="2070608"/>
            <a:ext cx="868680" cy="3881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0:10</a:t>
            </a:r>
            <a:endParaRPr lang="en-US" sz="1100" dirty="0"/>
          </a:p>
        </p:txBody>
      </p:sp>
      <p:sp>
        <p:nvSpPr>
          <p:cNvPr id="8" name="Text 6"/>
          <p:cNvSpPr/>
          <p:nvPr/>
        </p:nvSpPr>
        <p:spPr>
          <a:xfrm>
            <a:off x="1691640" y="2052320"/>
            <a:ext cx="9646920" cy="497840"/>
          </a:xfrm>
          <a:prstGeom prst="rect">
            <a:avLst/>
          </a:prstGeom>
          <a:noFill/>
          <a:ln/>
        </p:spPr>
        <p:txBody>
          <a:bodyPr wrap="square" rtlCol="0" anchor="ctr">
            <a:spAutoFit/>
          </a:bodyPr>
          <a:lstStyle/>
          <a:p>
            <a:pPr indent="0" marL="0">
              <a:buNone/>
            </a:pPr>
            <a:r>
              <a:rPr lang="en-US" sz="11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Teachable Machine, instructor demo: a two-class image model trained live, then the reveal that it learned from only orange cats and brown dogs. The room predicts what a black cat will do, then sees it.</a:t>
            </a:r>
            <a:endParaRPr lang="en-US" sz="1100" dirty="0"/>
          </a:p>
        </p:txBody>
      </p:sp>
      <p:sp>
        <p:nvSpPr>
          <p:cNvPr id="9" name="Shape 7"/>
          <p:cNvSpPr/>
          <p:nvPr/>
        </p:nvSpPr>
        <p:spPr>
          <a:xfrm>
            <a:off x="640080" y="2568448"/>
            <a:ext cx="868680" cy="388112"/>
          </a:xfrm>
          <a:prstGeom prst="roundRect">
            <a:avLst>
              <a:gd name="adj" fmla="val 14136"/>
            </a:avLst>
          </a:prstGeom>
          <a:solidFill>
            <a:srgbClr val="7A3B2E"/>
          </a:solidFill>
          <a:ln/>
        </p:spPr>
      </p:sp>
      <p:sp>
        <p:nvSpPr>
          <p:cNvPr id="10" name="Text 8"/>
          <p:cNvSpPr/>
          <p:nvPr/>
        </p:nvSpPr>
        <p:spPr>
          <a:xfrm>
            <a:off x="640080" y="2568448"/>
            <a:ext cx="868680" cy="3881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0:22</a:t>
            </a:r>
            <a:endParaRPr lang="en-US" sz="1100" dirty="0"/>
          </a:p>
        </p:txBody>
      </p:sp>
      <p:sp>
        <p:nvSpPr>
          <p:cNvPr id="11" name="Text 9"/>
          <p:cNvSpPr/>
          <p:nvPr/>
        </p:nvSpPr>
        <p:spPr>
          <a:xfrm>
            <a:off x="1691640" y="2550160"/>
            <a:ext cx="9646920" cy="497840"/>
          </a:xfrm>
          <a:prstGeom prst="rect">
            <a:avLst/>
          </a:prstGeom>
          <a:noFill/>
          <a:ln/>
        </p:spPr>
        <p:txBody>
          <a:bodyPr wrap="square" rtlCol="0" anchor="ctr">
            <a:spAutoFit/>
          </a:bodyPr>
          <a:lstStyle/>
          <a:p>
            <a:pPr indent="0" marL="0">
              <a:buNone/>
            </a:pPr>
            <a:r>
              <a:rPr lang="en-US" sz="11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Counting with weights, the lab: each word casts a weighted vote; a logistic regression adds them up. Train it on a pop corpus, then read the signed coefficients: the model's reasoning, laid out in full.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640080" y="3066288"/>
            <a:ext cx="868680" cy="388112"/>
          </a:xfrm>
          <a:prstGeom prst="roundRect">
            <a:avLst>
              <a:gd name="adj" fmla="val 14136"/>
            </a:avLst>
          </a:prstGeom>
          <a:solidFill>
            <a:srgbClr val="7A3B2E"/>
          </a:solidFill>
          <a:ln/>
        </p:spPr>
      </p:sp>
      <p:sp>
        <p:nvSpPr>
          <p:cNvPr id="13" name="Text 11"/>
          <p:cNvSpPr/>
          <p:nvPr/>
        </p:nvSpPr>
        <p:spPr>
          <a:xfrm>
            <a:off x="640080" y="3066288"/>
            <a:ext cx="868680" cy="3881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0:52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1691640" y="3048000"/>
            <a:ext cx="9646920" cy="497840"/>
          </a:xfrm>
          <a:prstGeom prst="rect">
            <a:avLst/>
          </a:prstGeom>
          <a:noFill/>
          <a:ln/>
        </p:spPr>
        <p:txBody>
          <a:bodyPr wrap="square" rtlCol="0" anchor="ctr">
            <a:spAutoFit/>
          </a:bodyPr>
          <a:lstStyle/>
          <a:p>
            <a:pPr indent="0" marL="0">
              <a:buNone/>
            </a:pPr>
            <a:r>
              <a:rPr lang="en-US" sz="11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short demonstration: the words that most predict "breakup song" or "this reviewer hated it."</a:t>
            </a:r>
            <a:endParaRPr lang="en-US" sz="1100" dirty="0"/>
          </a:p>
        </p:txBody>
      </p:sp>
      <p:sp>
        <p:nvSpPr>
          <p:cNvPr id="15" name="Shape 13"/>
          <p:cNvSpPr/>
          <p:nvPr/>
        </p:nvSpPr>
        <p:spPr>
          <a:xfrm>
            <a:off x="640080" y="3564128"/>
            <a:ext cx="868680" cy="388112"/>
          </a:xfrm>
          <a:prstGeom prst="roundRect">
            <a:avLst>
              <a:gd name="adj" fmla="val 14136"/>
            </a:avLst>
          </a:prstGeom>
          <a:solidFill>
            <a:srgbClr val="7A3B2E"/>
          </a:solidFill>
          <a:ln/>
        </p:spPr>
      </p:sp>
      <p:sp>
        <p:nvSpPr>
          <p:cNvPr id="16" name="Text 14"/>
          <p:cNvSpPr/>
          <p:nvPr/>
        </p:nvSpPr>
        <p:spPr>
          <a:xfrm>
            <a:off x="640080" y="3564128"/>
            <a:ext cx="868680" cy="3881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0:57</a:t>
            </a:r>
            <a:endParaRPr lang="en-US" sz="1100" dirty="0"/>
          </a:p>
        </p:txBody>
      </p:sp>
      <p:sp>
        <p:nvSpPr>
          <p:cNvPr id="17" name="Text 15"/>
          <p:cNvSpPr/>
          <p:nvPr/>
        </p:nvSpPr>
        <p:spPr>
          <a:xfrm>
            <a:off x="1691640" y="3545840"/>
            <a:ext cx="9646920" cy="497840"/>
          </a:xfrm>
          <a:prstGeom prst="rect">
            <a:avLst/>
          </a:prstGeom>
          <a:noFill/>
          <a:ln/>
        </p:spPr>
        <p:txBody>
          <a:bodyPr wrap="square" rtlCol="0" anchor="ctr">
            <a:spAutoFit/>
          </a:bodyPr>
          <a:lstStyle/>
          <a:p>
            <a:pPr indent="0" marL="0">
              <a:buNone/>
            </a:pPr>
            <a:r>
              <a:rPr lang="en-US" sz="11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One-line bridge: that classifier is a neuron; stack many for a neural net, which is what's inside the Week 7 model. A quick TensorFlow Playground glance.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640080" y="4061968"/>
            <a:ext cx="868680" cy="388112"/>
          </a:xfrm>
          <a:prstGeom prst="roundRect">
            <a:avLst>
              <a:gd name="adj" fmla="val 14136"/>
            </a:avLst>
          </a:prstGeom>
          <a:solidFill>
            <a:srgbClr val="7A3B2E"/>
          </a:solidFill>
          <a:ln/>
        </p:spPr>
      </p:sp>
      <p:sp>
        <p:nvSpPr>
          <p:cNvPr id="19" name="Text 17"/>
          <p:cNvSpPr/>
          <p:nvPr/>
        </p:nvSpPr>
        <p:spPr>
          <a:xfrm>
            <a:off x="640080" y="4061968"/>
            <a:ext cx="868680" cy="3881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1:00</a:t>
            </a:r>
            <a:endParaRPr lang="en-US" sz="1100" dirty="0"/>
          </a:p>
        </p:txBody>
      </p:sp>
      <p:sp>
        <p:nvSpPr>
          <p:cNvPr id="20" name="Text 18"/>
          <p:cNvSpPr/>
          <p:nvPr/>
        </p:nvSpPr>
        <p:spPr>
          <a:xfrm>
            <a:off x="1691640" y="4043680"/>
            <a:ext cx="9646920" cy="497840"/>
          </a:xfrm>
          <a:prstGeom prst="rect">
            <a:avLst/>
          </a:prstGeom>
          <a:noFill/>
          <a:ln/>
        </p:spPr>
        <p:txBody>
          <a:bodyPr wrap="square" rtlCol="0" anchor="ctr">
            <a:spAutoFit/>
          </a:bodyPr>
          <a:lstStyle/>
          <a:p>
            <a:pPr indent="0" marL="0">
              <a:buNone/>
            </a:pPr>
            <a:r>
              <a:rPr lang="en-US" sz="11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Break</a:t>
            </a:r>
            <a:endParaRPr lang="en-US" sz="1100" dirty="0"/>
          </a:p>
        </p:txBody>
      </p:sp>
      <p:sp>
        <p:nvSpPr>
          <p:cNvPr id="21" name="Shape 19"/>
          <p:cNvSpPr/>
          <p:nvPr/>
        </p:nvSpPr>
        <p:spPr>
          <a:xfrm>
            <a:off x="640080" y="4559808"/>
            <a:ext cx="868680" cy="388112"/>
          </a:xfrm>
          <a:prstGeom prst="roundRect">
            <a:avLst>
              <a:gd name="adj" fmla="val 14136"/>
            </a:avLst>
          </a:prstGeom>
          <a:solidFill>
            <a:srgbClr val="7A3B2E"/>
          </a:solidFill>
          <a:ln/>
        </p:spPr>
      </p:sp>
      <p:sp>
        <p:nvSpPr>
          <p:cNvPr id="22" name="Text 20"/>
          <p:cNvSpPr/>
          <p:nvPr/>
        </p:nvSpPr>
        <p:spPr>
          <a:xfrm>
            <a:off x="640080" y="4559808"/>
            <a:ext cx="868680" cy="3881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1:10</a:t>
            </a:r>
            <a:endParaRPr lang="en-US" sz="1100" dirty="0"/>
          </a:p>
        </p:txBody>
      </p:sp>
      <p:sp>
        <p:nvSpPr>
          <p:cNvPr id="23" name="Text 21"/>
          <p:cNvSpPr/>
          <p:nvPr/>
        </p:nvSpPr>
        <p:spPr>
          <a:xfrm>
            <a:off x="1691640" y="4541520"/>
            <a:ext cx="9646920" cy="497840"/>
          </a:xfrm>
          <a:prstGeom prst="rect">
            <a:avLst/>
          </a:prstGeom>
          <a:noFill/>
          <a:ln/>
        </p:spPr>
        <p:txBody>
          <a:bodyPr wrap="square" rtlCol="0" anchor="ctr">
            <a:spAutoFit/>
          </a:bodyPr>
          <a:lstStyle/>
          <a:p>
            <a:pPr indent="0" marL="0">
              <a:buNone/>
            </a:pPr>
            <a:r>
              <a:rPr lang="en-US" sz="11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Methods menu preview, so Week 4's choice is informed: counting, classification, embeddings (Week 5), and optional approaches (character networks for fiction; sentiment arcs for story projects, Jockers's Syuzhet reproducible in Python, whose own smoothing controversy is the built-in lesson to doubt the shape; CLIP image search for visual projects; and, for the technically comfortable, fine-tuning a small open model, ModernBERT, on your own labels).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640080" y="5057648"/>
            <a:ext cx="868680" cy="388112"/>
          </a:xfrm>
          <a:prstGeom prst="roundRect">
            <a:avLst>
              <a:gd name="adj" fmla="val 14136"/>
            </a:avLst>
          </a:prstGeom>
          <a:solidFill>
            <a:srgbClr val="7A3B2E"/>
          </a:solidFill>
          <a:ln/>
        </p:spPr>
      </p:sp>
      <p:sp>
        <p:nvSpPr>
          <p:cNvPr id="25" name="Text 23"/>
          <p:cNvSpPr/>
          <p:nvPr/>
        </p:nvSpPr>
        <p:spPr>
          <a:xfrm>
            <a:off x="640080" y="5057648"/>
            <a:ext cx="868680" cy="3881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1:25</a:t>
            </a:r>
            <a:endParaRPr lang="en-US" sz="1100" dirty="0"/>
          </a:p>
        </p:txBody>
      </p:sp>
      <p:sp>
        <p:nvSpPr>
          <p:cNvPr id="26" name="Text 24"/>
          <p:cNvSpPr/>
          <p:nvPr/>
        </p:nvSpPr>
        <p:spPr>
          <a:xfrm>
            <a:off x="1691640" y="5039360"/>
            <a:ext cx="9646920" cy="497840"/>
          </a:xfrm>
          <a:prstGeom prst="rect">
            <a:avLst/>
          </a:prstGeom>
          <a:noFill/>
          <a:ln/>
        </p:spPr>
        <p:txBody>
          <a:bodyPr wrap="square" rtlCol="0" anchor="ctr">
            <a:spAutoFit/>
          </a:bodyPr>
          <a:lstStyle/>
          <a:p>
            <a:pPr indent="0" marL="0">
              <a:buNone/>
            </a:pPr>
            <a:r>
              <a:rPr lang="en-US" sz="11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Pitch prep: what makes a tractable question, and the corpus-existence rule.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640080" y="5555488"/>
            <a:ext cx="868680" cy="388112"/>
          </a:xfrm>
          <a:prstGeom prst="roundRect">
            <a:avLst>
              <a:gd name="adj" fmla="val 14136"/>
            </a:avLst>
          </a:prstGeom>
          <a:solidFill>
            <a:srgbClr val="7A3B2E"/>
          </a:solidFill>
          <a:ln/>
        </p:spPr>
      </p:sp>
      <p:sp>
        <p:nvSpPr>
          <p:cNvPr id="28" name="Text 26"/>
          <p:cNvSpPr/>
          <p:nvPr/>
        </p:nvSpPr>
        <p:spPr>
          <a:xfrm>
            <a:off x="640080" y="5555488"/>
            <a:ext cx="868680" cy="3881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1:45</a:t>
            </a:r>
            <a:endParaRPr lang="en-US" sz="1100" dirty="0"/>
          </a:p>
        </p:txBody>
      </p:sp>
      <p:sp>
        <p:nvSpPr>
          <p:cNvPr id="29" name="Text 27"/>
          <p:cNvSpPr/>
          <p:nvPr/>
        </p:nvSpPr>
        <p:spPr>
          <a:xfrm>
            <a:off x="1691640" y="5537200"/>
            <a:ext cx="9646920" cy="497840"/>
          </a:xfrm>
          <a:prstGeom prst="rect">
            <a:avLst/>
          </a:prstGeom>
          <a:noFill/>
          <a:ln/>
        </p:spPr>
        <p:txBody>
          <a:bodyPr wrap="square" rtlCol="0" anchor="ctr">
            <a:spAutoFit/>
          </a:bodyPr>
          <a:lstStyle/>
          <a:p>
            <a:pPr indent="0" marL="0">
              <a:buNone/>
            </a:pPr>
            <a:r>
              <a:rPr lang="en-US" sz="11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Gemini-free check and check-out.</a:t>
            </a:r>
            <a:endParaRPr lang="en-US" sz="11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640080"/>
            <a:ext cx="100584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Reading &amp; homework</a:t>
            </a:r>
            <a:endParaRPr lang="en-US" sz="3000" dirty="0"/>
          </a:p>
        </p:txBody>
      </p:sp>
      <p:sp>
        <p:nvSpPr>
          <p:cNvPr id="3" name="Shape 1"/>
          <p:cNvSpPr/>
          <p:nvPr/>
        </p:nvSpPr>
        <p:spPr>
          <a:xfrm>
            <a:off x="640080" y="1673352"/>
            <a:ext cx="219456" cy="219456"/>
          </a:xfrm>
          <a:prstGeom prst="ellipse">
            <a:avLst/>
          </a:prstGeom>
          <a:solidFill>
            <a:srgbClr val="7A3B2E"/>
          </a:solidFill>
          <a:ln/>
        </p:spPr>
      </p:sp>
      <p:sp>
        <p:nvSpPr>
          <p:cNvPr id="4" name="Text 2"/>
          <p:cNvSpPr/>
          <p:nvPr/>
        </p:nvSpPr>
        <p:spPr>
          <a:xfrm>
            <a:off x="1051560" y="1600200"/>
            <a:ext cx="104241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7A3B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Reading</a:t>
            </a:r>
            <a:endParaRPr lang="en-US" sz="1500" dirty="0"/>
          </a:p>
        </p:txBody>
      </p:sp>
      <p:sp>
        <p:nvSpPr>
          <p:cNvPr id="5" name="Text 3"/>
          <p:cNvSpPr/>
          <p:nvPr/>
        </p:nvSpPr>
        <p:spPr>
          <a:xfrm>
            <a:off x="1051560" y="1984248"/>
            <a:ext cx="10424160" cy="73152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buNone/>
            </a:pPr>
            <a:r>
              <a:rPr lang="en-US" sz="14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Mullen, America's Public Bible (intro + a verse)</a:t>
            </a: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640080" y="2633472"/>
            <a:ext cx="219456" cy="219456"/>
          </a:xfrm>
          <a:prstGeom prst="ellipse">
            <a:avLst/>
          </a:prstGeom>
          <a:solidFill>
            <a:srgbClr val="3F6F5F"/>
          </a:solidFill>
          <a:ln/>
        </p:spPr>
      </p:sp>
      <p:sp>
        <p:nvSpPr>
          <p:cNvPr id="7" name="Text 5"/>
          <p:cNvSpPr/>
          <p:nvPr/>
        </p:nvSpPr>
        <p:spPr>
          <a:xfrm>
            <a:off x="1051560" y="2560320"/>
            <a:ext cx="104241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3F6F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Supplement</a:t>
            </a:r>
            <a:endParaRPr lang="en-US" sz="1500" dirty="0"/>
          </a:p>
        </p:txBody>
      </p:sp>
      <p:sp>
        <p:nvSpPr>
          <p:cNvPr id="8" name="Text 6"/>
          <p:cNvSpPr/>
          <p:nvPr/>
        </p:nvSpPr>
        <p:spPr>
          <a:xfrm>
            <a:off x="1051560" y="2944368"/>
            <a:ext cx="10424160" cy="73152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buNone/>
            </a:pPr>
            <a:r>
              <a:rPr lang="en-US" sz="14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Underwood on GPT-4 and fictional time; Juola's Rowling unmasking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640080" y="3593592"/>
            <a:ext cx="219456" cy="219456"/>
          </a:xfrm>
          <a:prstGeom prst="ellipse">
            <a:avLst/>
          </a:prstGeom>
          <a:solidFill>
            <a:srgbClr val="B9852F"/>
          </a:solidFill>
          <a:ln/>
        </p:spPr>
      </p:sp>
      <p:sp>
        <p:nvSpPr>
          <p:cNvPr id="10" name="Text 8"/>
          <p:cNvSpPr/>
          <p:nvPr/>
        </p:nvSpPr>
        <p:spPr>
          <a:xfrm>
            <a:off x="1051560" y="3520440"/>
            <a:ext cx="104241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B98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Deeper (optional)</a:t>
            </a:r>
            <a:endParaRPr lang="en-US" sz="1500" dirty="0"/>
          </a:p>
        </p:txBody>
      </p:sp>
      <p:sp>
        <p:nvSpPr>
          <p:cNvPr id="11" name="Text 9"/>
          <p:cNvSpPr/>
          <p:nvPr/>
        </p:nvSpPr>
        <p:spPr>
          <a:xfrm>
            <a:off x="1051560" y="3904488"/>
            <a:ext cx="10424160" cy="73152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buNone/>
            </a:pPr>
            <a:r>
              <a:rPr lang="en-US" sz="14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Underwood, The Life Cycles of Genres (2016), the full paper behind today's featured study</a:t>
            </a:r>
            <a:endParaRPr lang="en-US" sz="1400" dirty="0"/>
          </a:p>
        </p:txBody>
      </p:sp>
      <p:sp>
        <p:nvSpPr>
          <p:cNvPr id="12" name="Shape 10"/>
          <p:cNvSpPr/>
          <p:nvPr/>
        </p:nvSpPr>
        <p:spPr>
          <a:xfrm>
            <a:off x="640080" y="4553712"/>
            <a:ext cx="219456" cy="219456"/>
          </a:xfrm>
          <a:prstGeom prst="ellipse">
            <a:avLst/>
          </a:prstGeom>
          <a:solidFill>
            <a:srgbClr val="3F6F5F"/>
          </a:solidFill>
          <a:ln/>
        </p:spPr>
      </p:sp>
      <p:sp>
        <p:nvSpPr>
          <p:cNvPr id="13" name="Text 11"/>
          <p:cNvSpPr/>
          <p:nvPr/>
        </p:nvSpPr>
        <p:spPr>
          <a:xfrm>
            <a:off x="1051560" y="4480560"/>
            <a:ext cx="104241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3F6F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Sketch</a:t>
            </a:r>
            <a:endParaRPr lang="en-US" sz="1500" dirty="0"/>
          </a:p>
        </p:txBody>
      </p:sp>
      <p:sp>
        <p:nvSpPr>
          <p:cNvPr id="14" name="Text 12"/>
          <p:cNvSpPr/>
          <p:nvPr/>
        </p:nvSpPr>
        <p:spPr>
          <a:xfrm>
            <a:off x="1051560" y="4864608"/>
            <a:ext cx="10424160" cy="73152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buNone/>
            </a:pPr>
            <a:r>
              <a:rPr lang="en-US" sz="14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Train a quick logistic regression on a labeled set; screenshot its five most positive and negative words.</a:t>
            </a:r>
            <a:endParaRPr lang="en-US" sz="1400" dirty="0"/>
          </a:p>
        </p:txBody>
      </p:sp>
      <p:sp>
        <p:nvSpPr>
          <p:cNvPr id="15" name="Shape 13"/>
          <p:cNvSpPr/>
          <p:nvPr/>
        </p:nvSpPr>
        <p:spPr>
          <a:xfrm>
            <a:off x="640080" y="5513832"/>
            <a:ext cx="219456" cy="219456"/>
          </a:xfrm>
          <a:prstGeom prst="ellipse">
            <a:avLst/>
          </a:prstGeom>
          <a:solidFill>
            <a:srgbClr val="7A3B2E"/>
          </a:solidFill>
          <a:ln/>
        </p:spPr>
      </p:sp>
      <p:sp>
        <p:nvSpPr>
          <p:cNvPr id="16" name="Text 14"/>
          <p:cNvSpPr/>
          <p:nvPr/>
        </p:nvSpPr>
        <p:spPr>
          <a:xfrm>
            <a:off x="1051560" y="5440680"/>
            <a:ext cx="104241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7A3B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Check (AI closed)</a:t>
            </a:r>
            <a:endParaRPr lang="en-US" sz="1500" dirty="0"/>
          </a:p>
        </p:txBody>
      </p:sp>
      <p:sp>
        <p:nvSpPr>
          <p:cNvPr id="17" name="Text 15"/>
          <p:cNvSpPr/>
          <p:nvPr/>
        </p:nvSpPr>
        <p:spPr>
          <a:xfrm>
            <a:off x="1051560" y="5824728"/>
            <a:ext cx="10424160" cy="73152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buNone/>
            </a:pPr>
            <a:r>
              <a:rPr lang="en-US" sz="14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Explain it: read your classifier's top weights aloud, and name one input where it would fail and why. (Competencies 4, 5.)</a:t>
            </a:r>
            <a:endParaRPr lang="en-US" sz="14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640080"/>
            <a:ext cx="100584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spc="300" kern="0" dirty="0">
                <a:solidFill>
                  <a:srgbClr val="7A3B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HOW THIS WEEK CONNECTS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640080" y="987552"/>
            <a:ext cx="100584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course's through-lines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640080" y="2057400"/>
            <a:ext cx="457200" cy="457200"/>
          </a:xfrm>
          <a:prstGeom prst="roundRect">
            <a:avLst>
              <a:gd name="adj" fmla="val 16000"/>
            </a:avLst>
          </a:prstGeom>
          <a:solidFill>
            <a:srgbClr val="7A3B2E"/>
          </a:solidFill>
          <a:ln/>
        </p:spPr>
      </p:sp>
      <p:sp>
        <p:nvSpPr>
          <p:cNvPr id="5" name="Text 3"/>
          <p:cNvSpPr/>
          <p:nvPr/>
        </p:nvSpPr>
        <p:spPr>
          <a:xfrm>
            <a:off x="640080" y="2057400"/>
            <a:ext cx="457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1371600" y="2020824"/>
            <a:ext cx="103327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7A3B2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reader you can see</a:t>
            </a:r>
            <a:endParaRPr lang="en-US" sz="1900" dirty="0"/>
          </a:p>
        </p:txBody>
      </p:sp>
      <p:sp>
        <p:nvSpPr>
          <p:cNvPr id="7" name="Text 5"/>
          <p:cNvSpPr/>
          <p:nvPr/>
        </p:nvSpPr>
        <p:spPr>
          <a:xfrm>
            <a:off x="1371600" y="2441448"/>
            <a:ext cx="10332720" cy="91440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lnSpc>
                <a:spcPct val="112000"/>
              </a:lnSpc>
              <a:buNone/>
            </a:pPr>
            <a:r>
              <a:rPr lang="en-US" sz="14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transparent classifier: read its signed weights and see exactly what it learned. Week 7 introduces the opaque counterpart.</a:t>
            </a:r>
            <a:endParaRPr lang="en-US" sz="1450" dirty="0"/>
          </a:p>
        </p:txBody>
      </p:sp>
      <p:sp>
        <p:nvSpPr>
          <p:cNvPr id="8" name="Shape 6"/>
          <p:cNvSpPr/>
          <p:nvPr/>
        </p:nvSpPr>
        <p:spPr>
          <a:xfrm>
            <a:off x="640080" y="3520440"/>
            <a:ext cx="457200" cy="457200"/>
          </a:xfrm>
          <a:prstGeom prst="roundRect">
            <a:avLst>
              <a:gd name="adj" fmla="val 16000"/>
            </a:avLst>
          </a:prstGeom>
          <a:solidFill>
            <a:srgbClr val="3F6F5F"/>
          </a:solidFill>
          <a:ln/>
        </p:spPr>
      </p:sp>
      <p:sp>
        <p:nvSpPr>
          <p:cNvPr id="9" name="Text 7"/>
          <p:cNvSpPr/>
          <p:nvPr/>
        </p:nvSpPr>
        <p:spPr>
          <a:xfrm>
            <a:off x="640080" y="3520440"/>
            <a:ext cx="457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</a:t>
            </a:r>
            <a:endParaRPr lang="en-US" sz="2000" dirty="0"/>
          </a:p>
        </p:txBody>
      </p:sp>
      <p:sp>
        <p:nvSpPr>
          <p:cNvPr id="10" name="Text 8"/>
          <p:cNvSpPr/>
          <p:nvPr/>
        </p:nvSpPr>
        <p:spPr>
          <a:xfrm>
            <a:off x="1371600" y="3483864"/>
            <a:ext cx="103327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3F6F5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Bias comes from the training set</a:t>
            </a:r>
            <a:endParaRPr lang="en-US" sz="1900" dirty="0"/>
          </a:p>
        </p:txBody>
      </p:sp>
      <p:sp>
        <p:nvSpPr>
          <p:cNvPr id="11" name="Text 9"/>
          <p:cNvSpPr/>
          <p:nvPr/>
        </p:nvSpPr>
        <p:spPr>
          <a:xfrm>
            <a:off x="1371600" y="3904488"/>
            <a:ext cx="10332720" cy="91440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lnSpc>
                <a:spcPct val="112000"/>
              </a:lnSpc>
              <a:buNone/>
            </a:pPr>
            <a:r>
              <a:rPr lang="en-US" sz="14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Teachable Machine demonstration: a machine learns the prejudice of the data it is given.</a:t>
            </a:r>
            <a:endParaRPr lang="en-US" sz="1450" dirty="0"/>
          </a:p>
        </p:txBody>
      </p:sp>
      <p:sp>
        <p:nvSpPr>
          <p:cNvPr id="12" name="Shape 10"/>
          <p:cNvSpPr/>
          <p:nvPr/>
        </p:nvSpPr>
        <p:spPr>
          <a:xfrm>
            <a:off x="640080" y="4983480"/>
            <a:ext cx="457200" cy="457200"/>
          </a:xfrm>
          <a:prstGeom prst="roundRect">
            <a:avLst>
              <a:gd name="adj" fmla="val 16000"/>
            </a:avLst>
          </a:prstGeom>
          <a:solidFill>
            <a:srgbClr val="B9852F"/>
          </a:solidFill>
          <a:ln/>
        </p:spPr>
      </p:sp>
      <p:sp>
        <p:nvSpPr>
          <p:cNvPr id="13" name="Text 11"/>
          <p:cNvSpPr/>
          <p:nvPr/>
        </p:nvSpPr>
        <p:spPr>
          <a:xfrm>
            <a:off x="640080" y="4983480"/>
            <a:ext cx="457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</a:t>
            </a:r>
            <a:endParaRPr lang="en-US" sz="2000" dirty="0"/>
          </a:p>
        </p:txBody>
      </p:sp>
      <p:sp>
        <p:nvSpPr>
          <p:cNvPr id="14" name="Text 12"/>
          <p:cNvSpPr/>
          <p:nvPr/>
        </p:nvSpPr>
        <p:spPr>
          <a:xfrm>
            <a:off x="1371600" y="4946904"/>
            <a:ext cx="103327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B9852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Every choice is a choice</a:t>
            </a:r>
            <a:endParaRPr lang="en-US" sz="1900" dirty="0"/>
          </a:p>
        </p:txBody>
      </p:sp>
      <p:sp>
        <p:nvSpPr>
          <p:cNvPr id="15" name="Text 13"/>
          <p:cNvSpPr/>
          <p:nvPr/>
        </p:nvSpPr>
        <p:spPr>
          <a:xfrm>
            <a:off x="1371600" y="5367528"/>
            <a:ext cx="10332720" cy="91440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lnSpc>
                <a:spcPct val="112000"/>
              </a:lnSpc>
              <a:buNone/>
            </a:pPr>
            <a:r>
              <a:rPr lang="en-US" sz="14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counts as a label, and which words you hand it, decide what it learns.</a:t>
            </a:r>
            <a:endParaRPr lang="en-US" sz="145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4E261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1005840"/>
            <a:ext cx="8229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spc="300" kern="0" dirty="0">
                <a:solidFill>
                  <a:srgbClr val="B98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CHECK, AI CLOSED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640080" y="1645920"/>
            <a:ext cx="8686800" cy="310896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lnSpc>
                <a:spcPct val="115000"/>
              </a:lnSpc>
              <a:buNone/>
            </a:pPr>
            <a:r>
              <a:rPr lang="en-US" sz="2600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Explain it: read your classifier's top weights aloud, and name one input where it would fail and why. (Competencies 4, 5.)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640080" y="6126480"/>
            <a:ext cx="7315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E8DC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Culture as Data  ·  Week 3</a:t>
            </a:r>
            <a:endParaRPr lang="en-US" sz="1200" dirty="0"/>
          </a:p>
        </p:txBody>
      </p:sp>
      <p:sp>
        <p:nvSpPr>
          <p:cNvPr id="5" name="Shape 3"/>
          <p:cNvSpPr/>
          <p:nvPr/>
        </p:nvSpPr>
        <p:spPr>
          <a:xfrm>
            <a:off x="11585519" y="5894876"/>
            <a:ext cx="88881" cy="88881"/>
          </a:xfrm>
          <a:prstGeom prst="ellipse">
            <a:avLst/>
          </a:prstGeom>
          <a:solidFill>
            <a:srgbClr val="7A3B2E"/>
          </a:solidFill>
          <a:ln/>
        </p:spPr>
      </p:sp>
      <p:sp>
        <p:nvSpPr>
          <p:cNvPr id="6" name="Shape 4"/>
          <p:cNvSpPr/>
          <p:nvPr/>
        </p:nvSpPr>
        <p:spPr>
          <a:xfrm>
            <a:off x="9802810" y="5665127"/>
            <a:ext cx="90728" cy="90728"/>
          </a:xfrm>
          <a:prstGeom prst="ellipse">
            <a:avLst/>
          </a:prstGeom>
          <a:solidFill>
            <a:srgbClr val="3F6F5F"/>
          </a:solidFill>
          <a:ln/>
        </p:spPr>
      </p:sp>
      <p:sp>
        <p:nvSpPr>
          <p:cNvPr id="7" name="Shape 5"/>
          <p:cNvSpPr/>
          <p:nvPr/>
        </p:nvSpPr>
        <p:spPr>
          <a:xfrm>
            <a:off x="9863295" y="5190056"/>
            <a:ext cx="74159" cy="74159"/>
          </a:xfrm>
          <a:prstGeom prst="ellipse">
            <a:avLst/>
          </a:prstGeom>
          <a:solidFill>
            <a:srgbClr val="B9852F"/>
          </a:solidFill>
          <a:ln/>
        </p:spPr>
      </p:sp>
      <p:sp>
        <p:nvSpPr>
          <p:cNvPr id="8" name="Shape 6"/>
          <p:cNvSpPr/>
          <p:nvPr/>
        </p:nvSpPr>
        <p:spPr>
          <a:xfrm>
            <a:off x="10273453" y="5193564"/>
            <a:ext cx="62036" cy="62036"/>
          </a:xfrm>
          <a:prstGeom prst="ellipse">
            <a:avLst/>
          </a:prstGeom>
          <a:solidFill>
            <a:srgbClr val="7A3B2E"/>
          </a:solidFill>
          <a:ln/>
        </p:spPr>
      </p:sp>
      <p:sp>
        <p:nvSpPr>
          <p:cNvPr id="9" name="Shape 7"/>
          <p:cNvSpPr/>
          <p:nvPr/>
        </p:nvSpPr>
        <p:spPr>
          <a:xfrm>
            <a:off x="9539765" y="4662190"/>
            <a:ext cx="77217" cy="77217"/>
          </a:xfrm>
          <a:prstGeom prst="ellipse">
            <a:avLst/>
          </a:prstGeom>
          <a:solidFill>
            <a:srgbClr val="3F6F5F"/>
          </a:solidFill>
          <a:ln/>
        </p:spPr>
      </p:sp>
      <p:sp>
        <p:nvSpPr>
          <p:cNvPr id="10" name="Shape 8"/>
          <p:cNvSpPr/>
          <p:nvPr/>
        </p:nvSpPr>
        <p:spPr>
          <a:xfrm>
            <a:off x="11289350" y="6057195"/>
            <a:ext cx="87700" cy="87700"/>
          </a:xfrm>
          <a:prstGeom prst="ellipse">
            <a:avLst/>
          </a:prstGeom>
          <a:solidFill>
            <a:srgbClr val="B9852F"/>
          </a:solidFill>
          <a:ln/>
        </p:spPr>
      </p:sp>
      <p:sp>
        <p:nvSpPr>
          <p:cNvPr id="11" name="Shape 9"/>
          <p:cNvSpPr/>
          <p:nvPr/>
        </p:nvSpPr>
        <p:spPr>
          <a:xfrm>
            <a:off x="11468368" y="4890398"/>
            <a:ext cx="61479" cy="61479"/>
          </a:xfrm>
          <a:prstGeom prst="ellipse">
            <a:avLst/>
          </a:prstGeom>
          <a:solidFill>
            <a:srgbClr val="7A3B2E"/>
          </a:solidFill>
          <a:ln/>
        </p:spPr>
      </p:sp>
      <p:sp>
        <p:nvSpPr>
          <p:cNvPr id="12" name="Shape 10"/>
          <p:cNvSpPr/>
          <p:nvPr/>
        </p:nvSpPr>
        <p:spPr>
          <a:xfrm>
            <a:off x="11143620" y="5360419"/>
            <a:ext cx="76279" cy="76279"/>
          </a:xfrm>
          <a:prstGeom prst="ellipse">
            <a:avLst/>
          </a:prstGeom>
          <a:solidFill>
            <a:srgbClr val="3F6F5F"/>
          </a:solidFill>
          <a:ln/>
        </p:spPr>
      </p:sp>
      <p:sp>
        <p:nvSpPr>
          <p:cNvPr id="13" name="Shape 11"/>
          <p:cNvSpPr/>
          <p:nvPr/>
        </p:nvSpPr>
        <p:spPr>
          <a:xfrm>
            <a:off x="11381905" y="4716438"/>
            <a:ext cx="100097" cy="100097"/>
          </a:xfrm>
          <a:prstGeom prst="ellipse">
            <a:avLst/>
          </a:prstGeom>
          <a:solidFill>
            <a:srgbClr val="B9852F"/>
          </a:solidFill>
          <a:ln/>
        </p:spPr>
      </p:sp>
      <p:sp>
        <p:nvSpPr>
          <p:cNvPr id="14" name="Shape 12"/>
          <p:cNvSpPr/>
          <p:nvPr/>
        </p:nvSpPr>
        <p:spPr>
          <a:xfrm>
            <a:off x="10689703" y="5419716"/>
            <a:ext cx="46063" cy="46063"/>
          </a:xfrm>
          <a:prstGeom prst="ellipse">
            <a:avLst/>
          </a:prstGeom>
          <a:solidFill>
            <a:srgbClr val="7A3B2E"/>
          </a:solidFill>
          <a:ln/>
        </p:spPr>
      </p:sp>
      <p:sp>
        <p:nvSpPr>
          <p:cNvPr id="15" name="Shape 13"/>
          <p:cNvSpPr/>
          <p:nvPr/>
        </p:nvSpPr>
        <p:spPr>
          <a:xfrm>
            <a:off x="10133814" y="4719432"/>
            <a:ext cx="46767" cy="46767"/>
          </a:xfrm>
          <a:prstGeom prst="ellipse">
            <a:avLst/>
          </a:prstGeom>
          <a:solidFill>
            <a:srgbClr val="3F6F5F"/>
          </a:solidFill>
          <a:ln/>
        </p:spPr>
      </p:sp>
      <p:sp>
        <p:nvSpPr>
          <p:cNvPr id="16" name="Shape 14"/>
          <p:cNvSpPr/>
          <p:nvPr/>
        </p:nvSpPr>
        <p:spPr>
          <a:xfrm>
            <a:off x="10781039" y="5076847"/>
            <a:ext cx="70203" cy="70203"/>
          </a:xfrm>
          <a:prstGeom prst="ellipse">
            <a:avLst/>
          </a:prstGeom>
          <a:solidFill>
            <a:srgbClr val="B9852F"/>
          </a:solidFill>
          <a:ln/>
        </p:spPr>
      </p:sp>
      <p:sp>
        <p:nvSpPr>
          <p:cNvPr id="17" name="Shape 15"/>
          <p:cNvSpPr/>
          <p:nvPr/>
        </p:nvSpPr>
        <p:spPr>
          <a:xfrm>
            <a:off x="11137858" y="5478499"/>
            <a:ext cx="84369" cy="84369"/>
          </a:xfrm>
          <a:prstGeom prst="ellipse">
            <a:avLst/>
          </a:prstGeom>
          <a:solidFill>
            <a:srgbClr val="7A3B2E"/>
          </a:solidFill>
          <a:ln/>
        </p:spPr>
      </p:sp>
      <p:sp>
        <p:nvSpPr>
          <p:cNvPr id="18" name="Shape 16"/>
          <p:cNvSpPr/>
          <p:nvPr/>
        </p:nvSpPr>
        <p:spPr>
          <a:xfrm>
            <a:off x="9710749" y="4910930"/>
            <a:ext cx="57259" cy="57259"/>
          </a:xfrm>
          <a:prstGeom prst="ellipse">
            <a:avLst/>
          </a:prstGeom>
          <a:solidFill>
            <a:srgbClr val="3F6F5F"/>
          </a:solidFill>
          <a:ln/>
        </p:spPr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12</Slides>
  <Notes>12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12</vt:i4>
      </vt:variant>
    </vt:vector>
  </HeadingPairs>
  <TitlesOfParts>
    <vt:vector size="15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2026-07-11T16:19:18Z</dcterms:created>
  <dcterms:modified xsi:type="dcterms:W3CDTF">2026-07-11T16:19:18Z</dcterms:modified>
</cp:coreProperties>
</file>