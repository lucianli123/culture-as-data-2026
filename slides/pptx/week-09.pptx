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E26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B98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CULTURE AS DATA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155448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E8DC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9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640080" y="2011680"/>
            <a:ext cx="8961120" cy="182880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 the Page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640080" y="4114800"/>
            <a:ext cx="7680960" cy="146304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buNone/>
            </a:pPr>
            <a:r>
              <a:rPr lang="en-US" sz="1600" i="1" dirty="0">
                <a:solidFill>
                  <a:srgbClr val="E8DC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 today with a deployed draft of your web essay at a public URL.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60350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98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/ method:  Publishing, Quarto to GitHub Pages, static by default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0755806" y="1068998"/>
            <a:ext cx="69617" cy="69617"/>
          </a:xfrm>
          <a:prstGeom prst="ellipse">
            <a:avLst/>
          </a:prstGeom>
          <a:solidFill>
            <a:srgbClr val="7A3B2E"/>
          </a:solidFill>
          <a:ln/>
        </p:spPr>
      </p:sp>
      <p:sp>
        <p:nvSpPr>
          <p:cNvPr id="8" name="Shape 6"/>
          <p:cNvSpPr/>
          <p:nvPr/>
        </p:nvSpPr>
        <p:spPr>
          <a:xfrm>
            <a:off x="10014162" y="1772276"/>
            <a:ext cx="70447" cy="70447"/>
          </a:xfrm>
          <a:prstGeom prst="ellipse">
            <a:avLst/>
          </a:prstGeom>
          <a:solidFill>
            <a:srgbClr val="3F6F5F"/>
          </a:solidFill>
          <a:ln/>
        </p:spPr>
      </p:sp>
      <p:sp>
        <p:nvSpPr>
          <p:cNvPr id="9" name="Shape 7"/>
          <p:cNvSpPr/>
          <p:nvPr/>
        </p:nvSpPr>
        <p:spPr>
          <a:xfrm>
            <a:off x="9418567" y="1071992"/>
            <a:ext cx="71151" cy="71151"/>
          </a:xfrm>
          <a:prstGeom prst="ellipse">
            <a:avLst/>
          </a:prstGeom>
          <a:solidFill>
            <a:srgbClr val="B9852F"/>
          </a:solidFill>
          <a:ln/>
        </p:spPr>
      </p:sp>
      <p:sp>
        <p:nvSpPr>
          <p:cNvPr id="10" name="Shape 8"/>
          <p:cNvSpPr/>
          <p:nvPr/>
        </p:nvSpPr>
        <p:spPr>
          <a:xfrm>
            <a:off x="10112022" y="1429407"/>
            <a:ext cx="94587" cy="94587"/>
          </a:xfrm>
          <a:prstGeom prst="ellipse">
            <a:avLst/>
          </a:prstGeom>
          <a:solidFill>
            <a:srgbClr val="7A3B2E"/>
          </a:solidFill>
          <a:ln/>
        </p:spPr>
      </p:sp>
      <p:sp>
        <p:nvSpPr>
          <p:cNvPr id="11" name="Shape 9"/>
          <p:cNvSpPr/>
          <p:nvPr/>
        </p:nvSpPr>
        <p:spPr>
          <a:xfrm>
            <a:off x="10494328" y="1831059"/>
            <a:ext cx="53889" cy="53889"/>
          </a:xfrm>
          <a:prstGeom prst="ellipse">
            <a:avLst/>
          </a:prstGeom>
          <a:solidFill>
            <a:srgbClr val="3F6F5F"/>
          </a:solidFill>
          <a:ln/>
        </p:spPr>
      </p:sp>
      <p:sp>
        <p:nvSpPr>
          <p:cNvPr id="12" name="Shape 10"/>
          <p:cNvSpPr/>
          <p:nvPr/>
        </p:nvSpPr>
        <p:spPr>
          <a:xfrm>
            <a:off x="8965283" y="1263490"/>
            <a:ext cx="81643" cy="81643"/>
          </a:xfrm>
          <a:prstGeom prst="ellipse">
            <a:avLst/>
          </a:prstGeom>
          <a:solidFill>
            <a:srgbClr val="B9852F"/>
          </a:solidFill>
          <a:ln/>
        </p:spPr>
      </p:sp>
      <p:sp>
        <p:nvSpPr>
          <p:cNvPr id="13" name="Shape 11"/>
          <p:cNvSpPr/>
          <p:nvPr/>
        </p:nvSpPr>
        <p:spPr>
          <a:xfrm>
            <a:off x="9411088" y="2187960"/>
            <a:ext cx="90983" cy="90983"/>
          </a:xfrm>
          <a:prstGeom prst="ellipse">
            <a:avLst/>
          </a:prstGeom>
          <a:solidFill>
            <a:srgbClr val="7A3B2E"/>
          </a:solidFill>
          <a:ln/>
        </p:spPr>
      </p:sp>
      <p:sp>
        <p:nvSpPr>
          <p:cNvPr id="14" name="Shape 12"/>
          <p:cNvSpPr/>
          <p:nvPr/>
        </p:nvSpPr>
        <p:spPr>
          <a:xfrm>
            <a:off x="10231543" y="1853648"/>
            <a:ext cx="49903" cy="49903"/>
          </a:xfrm>
          <a:prstGeom prst="ellipse">
            <a:avLst/>
          </a:prstGeom>
          <a:solidFill>
            <a:srgbClr val="3F6F5F"/>
          </a:solidFill>
          <a:ln/>
        </p:spPr>
      </p:sp>
      <p:sp>
        <p:nvSpPr>
          <p:cNvPr id="15" name="Shape 13"/>
          <p:cNvSpPr/>
          <p:nvPr/>
        </p:nvSpPr>
        <p:spPr>
          <a:xfrm>
            <a:off x="9826449" y="984454"/>
            <a:ext cx="90992" cy="90992"/>
          </a:xfrm>
          <a:prstGeom prst="ellipse">
            <a:avLst/>
          </a:prstGeom>
          <a:solidFill>
            <a:srgbClr val="B9852F"/>
          </a:solidFill>
          <a:ln/>
        </p:spPr>
      </p:sp>
      <p:sp>
        <p:nvSpPr>
          <p:cNvPr id="16" name="Shape 14"/>
          <p:cNvSpPr/>
          <p:nvPr/>
        </p:nvSpPr>
        <p:spPr>
          <a:xfrm>
            <a:off x="9338804" y="2041638"/>
            <a:ext cx="72519" cy="72519"/>
          </a:xfrm>
          <a:prstGeom prst="ellipse">
            <a:avLst/>
          </a:prstGeom>
          <a:solidFill>
            <a:srgbClr val="7A3B2E"/>
          </a:solidFill>
          <a:ln/>
        </p:spPr>
      </p:sp>
      <p:sp>
        <p:nvSpPr>
          <p:cNvPr id="17" name="Shape 15"/>
          <p:cNvSpPr/>
          <p:nvPr/>
        </p:nvSpPr>
        <p:spPr>
          <a:xfrm>
            <a:off x="9911609" y="2274381"/>
            <a:ext cx="72206" cy="72206"/>
          </a:xfrm>
          <a:prstGeom prst="ellipse">
            <a:avLst/>
          </a:prstGeom>
          <a:solidFill>
            <a:srgbClr val="3F6F5F"/>
          </a:solidFill>
          <a:ln/>
        </p:spPr>
      </p:sp>
      <p:sp>
        <p:nvSpPr>
          <p:cNvPr id="18" name="Shape 16"/>
          <p:cNvSpPr/>
          <p:nvPr/>
        </p:nvSpPr>
        <p:spPr>
          <a:xfrm>
            <a:off x="9944664" y="669222"/>
            <a:ext cx="58051" cy="58051"/>
          </a:xfrm>
          <a:prstGeom prst="ellipse">
            <a:avLst/>
          </a:prstGeom>
          <a:solidFill>
            <a:srgbClr val="B9852F"/>
          </a:solidFill>
          <a:ln/>
        </p:spPr>
      </p:sp>
      <p:sp>
        <p:nvSpPr>
          <p:cNvPr id="19" name="Shape 17"/>
          <p:cNvSpPr/>
          <p:nvPr/>
        </p:nvSpPr>
        <p:spPr>
          <a:xfrm>
            <a:off x="10580970" y="1424782"/>
            <a:ext cx="52912" cy="52912"/>
          </a:xfrm>
          <a:prstGeom prst="ellipse">
            <a:avLst/>
          </a:prstGeom>
          <a:solidFill>
            <a:srgbClr val="7A3B2E"/>
          </a:solidFill>
          <a:ln/>
        </p:spPr>
      </p:sp>
      <p:sp>
        <p:nvSpPr>
          <p:cNvPr id="20" name="Shape 18"/>
          <p:cNvSpPr/>
          <p:nvPr/>
        </p:nvSpPr>
        <p:spPr>
          <a:xfrm>
            <a:off x="10220325" y="1790239"/>
            <a:ext cx="79651" cy="79651"/>
          </a:xfrm>
          <a:prstGeom prst="ellipse">
            <a:avLst/>
          </a:prstGeom>
          <a:solidFill>
            <a:srgbClr val="3F6F5F"/>
          </a:solidFill>
          <a:ln/>
        </p:spPr>
      </p:sp>
      <p:sp>
        <p:nvSpPr>
          <p:cNvPr id="21" name="Shape 19"/>
          <p:cNvSpPr/>
          <p:nvPr/>
        </p:nvSpPr>
        <p:spPr>
          <a:xfrm>
            <a:off x="10005730" y="752136"/>
            <a:ext cx="51398" cy="51398"/>
          </a:xfrm>
          <a:prstGeom prst="ellipse">
            <a:avLst/>
          </a:prstGeom>
          <a:solidFill>
            <a:srgbClr val="B9852F"/>
          </a:solidFill>
          <a:ln/>
        </p:spPr>
      </p:sp>
      <p:sp>
        <p:nvSpPr>
          <p:cNvPr id="22" name="Shape 20"/>
          <p:cNvSpPr/>
          <p:nvPr/>
        </p:nvSpPr>
        <p:spPr>
          <a:xfrm>
            <a:off x="11080186" y="771730"/>
            <a:ext cx="45879" cy="45879"/>
          </a:xfrm>
          <a:prstGeom prst="ellipse">
            <a:avLst/>
          </a:prstGeom>
          <a:solidFill>
            <a:srgbClr val="7A3B2E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1371600"/>
            <a:ext cx="2377440" cy="2377440"/>
          </a:xfrm>
          <a:prstGeom prst="ellipse">
            <a:avLst/>
          </a:prstGeom>
          <a:solidFill>
            <a:srgbClr val="F4EEE8"/>
          </a:solidFill>
          <a:ln/>
        </p:spPr>
      </p:sp>
      <p:sp>
        <p:nvSpPr>
          <p:cNvPr id="3" name="Shape 1"/>
          <p:cNvSpPr/>
          <p:nvPr/>
        </p:nvSpPr>
        <p:spPr>
          <a:xfrm>
            <a:off x="1325880" y="2423160"/>
            <a:ext cx="146304" cy="146304"/>
          </a:xfrm>
          <a:prstGeom prst="ellipse">
            <a:avLst/>
          </a:prstGeom>
          <a:solidFill>
            <a:srgbClr val="7A3B2E"/>
          </a:solidFill>
          <a:ln/>
        </p:spPr>
      </p:sp>
      <p:sp>
        <p:nvSpPr>
          <p:cNvPr id="4" name="Shape 2"/>
          <p:cNvSpPr/>
          <p:nvPr/>
        </p:nvSpPr>
        <p:spPr>
          <a:xfrm>
            <a:off x="1563624" y="2514600"/>
            <a:ext cx="146304" cy="146304"/>
          </a:xfrm>
          <a:prstGeom prst="ellipse">
            <a:avLst/>
          </a:prstGeom>
          <a:solidFill>
            <a:srgbClr val="3F6F5F"/>
          </a:solidFill>
          <a:ln/>
        </p:spPr>
      </p:sp>
      <p:sp>
        <p:nvSpPr>
          <p:cNvPr id="5" name="Shape 3"/>
          <p:cNvSpPr/>
          <p:nvPr/>
        </p:nvSpPr>
        <p:spPr>
          <a:xfrm>
            <a:off x="1801368" y="2423160"/>
            <a:ext cx="146304" cy="146304"/>
          </a:xfrm>
          <a:prstGeom prst="ellipse">
            <a:avLst/>
          </a:prstGeom>
          <a:solidFill>
            <a:srgbClr val="B9852F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0" y="9144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B98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AT THIS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657600" y="128016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study we open with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3657600" y="2286000"/>
            <a:ext cx="7863840" cy="329184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published essays side by side: a Pudding piece, an Observable notebook, a Quarto site. The same goal, three defensible-but-different sets of choices.</a:t>
            </a:r>
            <a:endParaRPr lang="en-US" sz="1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8229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7A3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IT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did they choose, and where might it be wrong?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2468880"/>
            <a:ext cx="256032" cy="256032"/>
          </a:xfrm>
          <a:prstGeom prst="ellipse">
            <a:avLst/>
          </a:prstGeom>
          <a:solidFill>
            <a:srgbClr val="B9852F"/>
          </a:solidFill>
          <a:ln/>
        </p:spPr>
      </p:sp>
      <p:sp>
        <p:nvSpPr>
          <p:cNvPr id="5" name="Text 3"/>
          <p:cNvSpPr/>
          <p:nvPr/>
        </p:nvSpPr>
        <p:spPr>
          <a:xfrm>
            <a:off x="1097280" y="2286000"/>
            <a:ext cx="10241280" cy="365760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There's no single right way, only choices you can defend. Yours will be choices too.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7A3B2E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64008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7A3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9 · KEY POINTS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100584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Interrogate your own chart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2331720"/>
            <a:ext cx="201168" cy="201168"/>
          </a:xfrm>
          <a:prstGeom prst="ellipse">
            <a:avLst/>
          </a:prstGeom>
          <a:solidFill>
            <a:srgbClr val="7A3B2E"/>
          </a:solidFill>
          <a:ln/>
        </p:spPr>
      </p:sp>
      <p:sp>
        <p:nvSpPr>
          <p:cNvPr id="6" name="Text 4"/>
          <p:cNvSpPr/>
          <p:nvPr/>
        </p:nvSpPr>
        <p:spPr>
          <a:xfrm>
            <a:off x="1097280" y="2240280"/>
            <a:ext cx="10607040" cy="101727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12000"/>
              </a:lnSpc>
              <a:buNone/>
            </a:pPr>
            <a:r>
              <a:rPr lang="en-US" sz="16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the y-axis start at zero, or is the plotting default manufacturing your trend?</a:t>
            </a:r>
            <a:endParaRPr lang="en-US" sz="1650" dirty="0"/>
          </a:p>
        </p:txBody>
      </p:sp>
      <p:sp>
        <p:nvSpPr>
          <p:cNvPr id="7" name="Shape 5"/>
          <p:cNvSpPr/>
          <p:nvPr/>
        </p:nvSpPr>
        <p:spPr>
          <a:xfrm>
            <a:off x="640080" y="3348990"/>
            <a:ext cx="201168" cy="201168"/>
          </a:xfrm>
          <a:prstGeom prst="ellipse">
            <a:avLst/>
          </a:prstGeom>
          <a:solidFill>
            <a:srgbClr val="3F6F5F"/>
          </a:solidFill>
          <a:ln/>
        </p:spPr>
      </p:sp>
      <p:sp>
        <p:nvSpPr>
          <p:cNvPr id="8" name="Text 6"/>
          <p:cNvSpPr/>
          <p:nvPr/>
        </p:nvSpPr>
        <p:spPr>
          <a:xfrm>
            <a:off x="1097280" y="3257550"/>
            <a:ext cx="10607040" cy="101727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12000"/>
              </a:lnSpc>
              <a:buNone/>
            </a:pPr>
            <a:r>
              <a:rPr lang="en-US" sz="16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 eye pulled toward a pattern the data won't support?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640080" y="4366260"/>
            <a:ext cx="201168" cy="201168"/>
          </a:xfrm>
          <a:prstGeom prst="ellipse">
            <a:avLst/>
          </a:prstGeom>
          <a:solidFill>
            <a:srgbClr val="B9852F"/>
          </a:solidFill>
          <a:ln/>
        </p:spPr>
      </p:sp>
      <p:sp>
        <p:nvSpPr>
          <p:cNvPr id="10" name="Text 8"/>
          <p:cNvSpPr/>
          <p:nvPr/>
        </p:nvSpPr>
        <p:spPr>
          <a:xfrm>
            <a:off x="1097280" y="4274820"/>
            <a:ext cx="10607040" cy="101727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12000"/>
              </a:lnSpc>
              <a:buNone/>
            </a:pPr>
            <a:r>
              <a:rPr lang="en-US" sz="16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this chart hide that a different one would show?</a:t>
            </a:r>
            <a:endParaRPr lang="en-US" sz="1650" dirty="0"/>
          </a:p>
        </p:txBody>
      </p:sp>
      <p:sp>
        <p:nvSpPr>
          <p:cNvPr id="11" name="Shape 9"/>
          <p:cNvSpPr/>
          <p:nvPr/>
        </p:nvSpPr>
        <p:spPr>
          <a:xfrm>
            <a:off x="640080" y="5383530"/>
            <a:ext cx="201168" cy="201168"/>
          </a:xfrm>
          <a:prstGeom prst="ellipse">
            <a:avLst/>
          </a:prstGeom>
          <a:solidFill>
            <a:srgbClr val="7A3B2E"/>
          </a:solidFill>
          <a:ln/>
        </p:spPr>
      </p:sp>
      <p:sp>
        <p:nvSpPr>
          <p:cNvPr id="12" name="Text 10"/>
          <p:cNvSpPr/>
          <p:nvPr/>
        </p:nvSpPr>
        <p:spPr>
          <a:xfrm>
            <a:off x="1097280" y="5292090"/>
            <a:ext cx="10607040" cy="101727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12000"/>
              </a:lnSpc>
              <a:buNone/>
            </a:pPr>
            <a:r>
              <a:rPr lang="en-US" sz="16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 weeks interrogating other people's charts. These ten minutes are for yours. Fix one thing.</a:t>
            </a:r>
            <a:endParaRPr lang="en-US" sz="16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F6F5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64008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3F6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9 · KEY POINTS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100584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single right way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2331720"/>
            <a:ext cx="201168" cy="201168"/>
          </a:xfrm>
          <a:prstGeom prst="ellipse">
            <a:avLst/>
          </a:prstGeom>
          <a:solidFill>
            <a:srgbClr val="7A3B2E"/>
          </a:solidFill>
          <a:ln/>
        </p:spPr>
      </p:sp>
      <p:sp>
        <p:nvSpPr>
          <p:cNvPr id="6" name="Text 4"/>
          <p:cNvSpPr/>
          <p:nvPr/>
        </p:nvSpPr>
        <p:spPr>
          <a:xfrm>
            <a:off x="1097280" y="2240280"/>
            <a:ext cx="10607040" cy="105156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12000"/>
              </a:lnSpc>
              <a:buNone/>
            </a:pPr>
            <a:r>
              <a:rPr lang="en-US" sz="16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published essays, same goal, three defensible sets of choices: a Pudding piece, an Observable notebook, a Quarto site.</a:t>
            </a:r>
            <a:endParaRPr lang="en-US" sz="1650" dirty="0"/>
          </a:p>
        </p:txBody>
      </p:sp>
      <p:sp>
        <p:nvSpPr>
          <p:cNvPr id="7" name="Shape 5"/>
          <p:cNvSpPr/>
          <p:nvPr/>
        </p:nvSpPr>
        <p:spPr>
          <a:xfrm>
            <a:off x="640080" y="3383280"/>
            <a:ext cx="201168" cy="201168"/>
          </a:xfrm>
          <a:prstGeom prst="ellipse">
            <a:avLst/>
          </a:prstGeom>
          <a:solidFill>
            <a:srgbClr val="3F6F5F"/>
          </a:solidFill>
          <a:ln/>
        </p:spPr>
      </p:sp>
      <p:sp>
        <p:nvSpPr>
          <p:cNvPr id="8" name="Text 6"/>
          <p:cNvSpPr/>
          <p:nvPr/>
        </p:nvSpPr>
        <p:spPr>
          <a:xfrm>
            <a:off x="1097280" y="3291840"/>
            <a:ext cx="10607040" cy="105156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12000"/>
              </a:lnSpc>
              <a:buNone/>
            </a:pPr>
            <a:r>
              <a:rPr lang="en-US" sz="16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structure that works: hook, corpus note, finding, how-it-could-be-wrong, appendix.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640080" y="4434840"/>
            <a:ext cx="201168" cy="201168"/>
          </a:xfrm>
          <a:prstGeom prst="ellipse">
            <a:avLst/>
          </a:prstGeom>
          <a:solidFill>
            <a:srgbClr val="B9852F"/>
          </a:solidFill>
          <a:ln/>
        </p:spPr>
      </p:sp>
      <p:sp>
        <p:nvSpPr>
          <p:cNvPr id="10" name="Text 8"/>
          <p:cNvSpPr/>
          <p:nvPr/>
        </p:nvSpPr>
        <p:spPr>
          <a:xfrm>
            <a:off x="1097280" y="4343400"/>
            <a:ext cx="10607040" cy="105156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12000"/>
              </a:lnSpc>
              <a:buNone/>
            </a:pPr>
            <a:r>
              <a:rPr lang="en-US" sz="16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headline finding in one sentence before you write anything else. If you can't, the essay isn't ready.</a:t>
            </a:r>
            <a:endParaRPr lang="en-US" sz="16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B9852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64008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B98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9 · KEY POINTS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100584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Publish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2331720"/>
            <a:ext cx="201168" cy="201168"/>
          </a:xfrm>
          <a:prstGeom prst="ellipse">
            <a:avLst/>
          </a:prstGeom>
          <a:solidFill>
            <a:srgbClr val="7A3B2E"/>
          </a:solidFill>
          <a:ln/>
        </p:spPr>
      </p:sp>
      <p:sp>
        <p:nvSpPr>
          <p:cNvPr id="6" name="Text 4"/>
          <p:cNvSpPr/>
          <p:nvPr/>
        </p:nvSpPr>
        <p:spPr>
          <a:xfrm>
            <a:off x="1097280" y="2240280"/>
            <a:ext cx="10607040" cy="105156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12000"/>
              </a:lnSpc>
              <a:buNone/>
            </a:pPr>
            <a:r>
              <a:rPr lang="en-US" sz="16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Mullen's test, the course standard: "I must be able to run it." The notebook works for someone who is not you.</a:t>
            </a:r>
            <a:endParaRPr lang="en-US" sz="1650" dirty="0"/>
          </a:p>
        </p:txBody>
      </p:sp>
      <p:sp>
        <p:nvSpPr>
          <p:cNvPr id="7" name="Shape 5"/>
          <p:cNvSpPr/>
          <p:nvPr/>
        </p:nvSpPr>
        <p:spPr>
          <a:xfrm>
            <a:off x="640080" y="3383280"/>
            <a:ext cx="201168" cy="201168"/>
          </a:xfrm>
          <a:prstGeom prst="ellipse">
            <a:avLst/>
          </a:prstGeom>
          <a:solidFill>
            <a:srgbClr val="3F6F5F"/>
          </a:solidFill>
          <a:ln/>
        </p:spPr>
      </p:sp>
      <p:sp>
        <p:nvSpPr>
          <p:cNvPr id="8" name="Text 6"/>
          <p:cNvSpPr/>
          <p:nvPr/>
        </p:nvSpPr>
        <p:spPr>
          <a:xfrm>
            <a:off x="1097280" y="3291840"/>
            <a:ext cx="10607040" cy="105156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12000"/>
              </a:lnSpc>
              <a:buNone/>
            </a:pPr>
            <a:r>
              <a:rPr lang="en-US" sz="16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student leaves this session with a deployed URL.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640080" y="4434840"/>
            <a:ext cx="201168" cy="201168"/>
          </a:xfrm>
          <a:prstGeom prst="ellipse">
            <a:avLst/>
          </a:prstGeom>
          <a:solidFill>
            <a:srgbClr val="B9852F"/>
          </a:solidFill>
          <a:ln/>
        </p:spPr>
      </p:sp>
      <p:sp>
        <p:nvSpPr>
          <p:cNvPr id="10" name="Text 8"/>
          <p:cNvSpPr/>
          <p:nvPr/>
        </p:nvSpPr>
        <p:spPr>
          <a:xfrm>
            <a:off x="1097280" y="4343400"/>
            <a:ext cx="10607040" cy="105156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12000"/>
              </a:lnSpc>
              <a:buNone/>
            </a:pPr>
            <a:r>
              <a:rPr lang="en-US" sz="16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essay shows the thinking. The notebook proves it happened.</a:t>
            </a:r>
            <a:endParaRPr lang="en-US" sz="16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73152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modes today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4173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a third of the session each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2194560"/>
            <a:ext cx="3383280" cy="3291840"/>
          </a:xfrm>
          <a:prstGeom prst="roundRect">
            <a:avLst>
              <a:gd name="adj" fmla="val 3333"/>
            </a:avLst>
          </a:prstGeom>
          <a:solidFill>
            <a:srgbClr val="F4EEE8"/>
          </a:solidFill>
          <a:ln/>
        </p:spPr>
      </p:sp>
      <p:sp>
        <p:nvSpPr>
          <p:cNvPr id="5" name="Shape 3"/>
          <p:cNvSpPr/>
          <p:nvPr/>
        </p:nvSpPr>
        <p:spPr>
          <a:xfrm>
            <a:off x="1051560" y="2606040"/>
            <a:ext cx="548640" cy="548640"/>
          </a:xfrm>
          <a:prstGeom prst="ellipse">
            <a:avLst/>
          </a:prstGeom>
          <a:solidFill>
            <a:srgbClr val="7A3B2E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338328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Lecture / demo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1005840" y="3977640"/>
            <a:ext cx="2651760" cy="137160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Publishing, Quarto to GitHub Pages, static by default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26280" y="2194560"/>
            <a:ext cx="3383280" cy="3291840"/>
          </a:xfrm>
          <a:prstGeom prst="roundRect">
            <a:avLst>
              <a:gd name="adj" fmla="val 3333"/>
            </a:avLst>
          </a:prstGeom>
          <a:solidFill>
            <a:srgbClr val="F4EEE8"/>
          </a:solidFill>
          <a:ln/>
        </p:spPr>
      </p:sp>
      <p:sp>
        <p:nvSpPr>
          <p:cNvPr id="9" name="Shape 7"/>
          <p:cNvSpPr/>
          <p:nvPr/>
        </p:nvSpPr>
        <p:spPr>
          <a:xfrm>
            <a:off x="4937760" y="2606040"/>
            <a:ext cx="548640" cy="548640"/>
          </a:xfrm>
          <a:prstGeom prst="ellipse">
            <a:avLst/>
          </a:prstGeom>
          <a:solidFill>
            <a:srgbClr val="3F6F5F"/>
          </a:solidFill>
          <a:ln/>
        </p:spPr>
      </p:sp>
      <p:sp>
        <p:nvSpPr>
          <p:cNvPr id="10" name="Text 8"/>
          <p:cNvSpPr/>
          <p:nvPr/>
        </p:nvSpPr>
        <p:spPr>
          <a:xfrm>
            <a:off x="4892040" y="338328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Workshop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4892040" y="3977640"/>
            <a:ext cx="2651760" cy="137160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hands-on on your own data.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8412480" y="2194560"/>
            <a:ext cx="3383280" cy="3291840"/>
          </a:xfrm>
          <a:prstGeom prst="roundRect">
            <a:avLst>
              <a:gd name="adj" fmla="val 3333"/>
            </a:avLst>
          </a:prstGeom>
          <a:solidFill>
            <a:srgbClr val="F4EEE8"/>
          </a:solidFill>
          <a:ln/>
        </p:spPr>
      </p:sp>
      <p:sp>
        <p:nvSpPr>
          <p:cNvPr id="13" name="Shape 11"/>
          <p:cNvSpPr/>
          <p:nvPr/>
        </p:nvSpPr>
        <p:spPr>
          <a:xfrm>
            <a:off x="8823960" y="2606040"/>
            <a:ext cx="548640" cy="548640"/>
          </a:xfrm>
          <a:prstGeom prst="ellipse">
            <a:avLst/>
          </a:prstGeom>
          <a:solidFill>
            <a:srgbClr val="B9852F"/>
          </a:solidFill>
          <a:ln/>
        </p:spPr>
      </p:sp>
      <p:sp>
        <p:nvSpPr>
          <p:cNvPr id="14" name="Text 12"/>
          <p:cNvSpPr/>
          <p:nvPr/>
        </p:nvSpPr>
        <p:spPr>
          <a:xfrm>
            <a:off x="8778240" y="338328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Discussion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8778240" y="3977640"/>
            <a:ext cx="2651760" cy="137160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Interrogate the study, debate it, or critique each other's work.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008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session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572768"/>
            <a:ext cx="868680" cy="457200"/>
          </a:xfrm>
          <a:prstGeom prst="roundRect">
            <a:avLst>
              <a:gd name="adj" fmla="val 12000"/>
            </a:avLst>
          </a:prstGeom>
          <a:solidFill>
            <a:srgbClr val="7A3B2E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572768"/>
            <a:ext cx="868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0:00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691640" y="1554480"/>
            <a:ext cx="9646920" cy="566928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at This: the three essays, common structure, divergent choices.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640080" y="2139696"/>
            <a:ext cx="868680" cy="457200"/>
          </a:xfrm>
          <a:prstGeom prst="roundRect">
            <a:avLst>
              <a:gd name="adj" fmla="val 12000"/>
            </a:avLst>
          </a:prstGeom>
          <a:solidFill>
            <a:srgbClr val="7A3B2E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2139696"/>
            <a:ext cx="868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0:15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691640" y="2121408"/>
            <a:ext cx="9646920" cy="566928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critique (Critical Response Process) in trios: statements of meaning, maker's questions, neutral questions, permissioned opinions.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40080" y="2706624"/>
            <a:ext cx="868680" cy="457200"/>
          </a:xfrm>
          <a:prstGeom prst="roundRect">
            <a:avLst>
              <a:gd name="adj" fmla="val 12000"/>
            </a:avLst>
          </a:prstGeom>
          <a:solidFill>
            <a:srgbClr val="7A3B2E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2706624"/>
            <a:ext cx="868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0:50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691640" y="2688336"/>
            <a:ext cx="9646920" cy="566928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40080" y="3273552"/>
            <a:ext cx="868680" cy="457200"/>
          </a:xfrm>
          <a:prstGeom prst="roundRect">
            <a:avLst>
              <a:gd name="adj" fmla="val 12000"/>
            </a:avLst>
          </a:prstGeom>
          <a:solidFill>
            <a:srgbClr val="7A3B2E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3273552"/>
            <a:ext cx="868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1:00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691640" y="3255264"/>
            <a:ext cx="9646920" cy="566928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Interrogate your own chart, the making-side mirror of Week 6's hand-labeling. Does the y-axis start at zero? Is the eye pulled toward a pattern the data won't support? Fix one thing.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40080" y="3840480"/>
            <a:ext cx="868680" cy="457200"/>
          </a:xfrm>
          <a:prstGeom prst="roundRect">
            <a:avLst>
              <a:gd name="adj" fmla="val 12000"/>
            </a:avLst>
          </a:prstGeom>
          <a:solidFill>
            <a:srgbClr val="7A3B2E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3840480"/>
            <a:ext cx="868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1:15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691640" y="3822192"/>
            <a:ext cx="9646920" cy="566928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lab: open the template you forked in Week 4; paste outline, charts, code; render; deploy. Static by default; JS opt-ins hit the code-review checkpoint.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40080" y="4407408"/>
            <a:ext cx="868680" cy="457200"/>
          </a:xfrm>
          <a:prstGeom prst="roundRect">
            <a:avLst>
              <a:gd name="adj" fmla="val 12000"/>
            </a:avLst>
          </a:prstGeom>
          <a:solidFill>
            <a:srgbClr val="7A3B2E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4407408"/>
            <a:ext cx="868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1:50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691640" y="4389120"/>
            <a:ext cx="9646920" cy="566928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 test in pairs. Check-out.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008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Reading &amp; homework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673352"/>
            <a:ext cx="219456" cy="219456"/>
          </a:xfrm>
          <a:prstGeom prst="ellipse">
            <a:avLst/>
          </a:prstGeom>
          <a:solidFill>
            <a:srgbClr val="7A3B2E"/>
          </a:solidFill>
          <a:ln/>
        </p:spPr>
      </p:sp>
      <p:sp>
        <p:nvSpPr>
          <p:cNvPr id="4" name="Text 2"/>
          <p:cNvSpPr/>
          <p:nvPr/>
        </p:nvSpPr>
        <p:spPr>
          <a:xfrm>
            <a:off x="1051560" y="1600200"/>
            <a:ext cx="10424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A3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051560" y="1984248"/>
            <a:ext cx="10424160" cy="73152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2633472"/>
            <a:ext cx="219456" cy="219456"/>
          </a:xfrm>
          <a:prstGeom prst="ellipse">
            <a:avLst/>
          </a:prstGeom>
          <a:solidFill>
            <a:srgbClr val="3F6F5F"/>
          </a:solidFill>
          <a:ln/>
        </p:spPr>
      </p:sp>
      <p:sp>
        <p:nvSpPr>
          <p:cNvPr id="7" name="Text 5"/>
          <p:cNvSpPr/>
          <p:nvPr/>
        </p:nvSpPr>
        <p:spPr>
          <a:xfrm>
            <a:off x="1051560" y="2560320"/>
            <a:ext cx="10424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F6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Supplement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51560" y="2944368"/>
            <a:ext cx="10424160" cy="73152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Pudding process post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" y="3593592"/>
            <a:ext cx="219456" cy="219456"/>
          </a:xfrm>
          <a:prstGeom prst="ellipse">
            <a:avLst/>
          </a:prstGeom>
          <a:solidFill>
            <a:srgbClr val="B9852F"/>
          </a:solidFill>
          <a:ln/>
        </p:spPr>
      </p:sp>
      <p:sp>
        <p:nvSpPr>
          <p:cNvPr id="10" name="Text 8"/>
          <p:cNvSpPr/>
          <p:nvPr/>
        </p:nvSpPr>
        <p:spPr>
          <a:xfrm>
            <a:off x="1051560" y="3520440"/>
            <a:ext cx="10424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98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Deeper (optional)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051560" y="3904488"/>
            <a:ext cx="10424160" cy="73152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Critical Inquiry online forum: Underwood and others answer Da, a discipline arguing about itself in public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40080" y="4553712"/>
            <a:ext cx="219456" cy="219456"/>
          </a:xfrm>
          <a:prstGeom prst="ellipse">
            <a:avLst/>
          </a:prstGeom>
          <a:solidFill>
            <a:srgbClr val="3F6F5F"/>
          </a:solidFill>
          <a:ln/>
        </p:spPr>
      </p:sp>
      <p:sp>
        <p:nvSpPr>
          <p:cNvPr id="13" name="Text 11"/>
          <p:cNvSpPr/>
          <p:nvPr/>
        </p:nvSpPr>
        <p:spPr>
          <a:xfrm>
            <a:off x="1051560" y="4480560"/>
            <a:ext cx="10424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F6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Sketch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051560" y="4864608"/>
            <a:ext cx="10424160" cy="73152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 your essay; write the headline finding in one sentence.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40080" y="5513832"/>
            <a:ext cx="219456" cy="219456"/>
          </a:xfrm>
          <a:prstGeom prst="ellipse">
            <a:avLst/>
          </a:prstGeom>
          <a:solidFill>
            <a:srgbClr val="7A3B2E"/>
          </a:solidFill>
          <a:ln/>
        </p:spPr>
      </p:sp>
      <p:sp>
        <p:nvSpPr>
          <p:cNvPr id="16" name="Text 14"/>
          <p:cNvSpPr/>
          <p:nvPr/>
        </p:nvSpPr>
        <p:spPr>
          <a:xfrm>
            <a:off x="1051560" y="5440680"/>
            <a:ext cx="10424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A3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(AI closed)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051560" y="5824728"/>
            <a:ext cx="10424160" cy="73152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it: a planted bug in publishing/layout code (or in opted-in JS). (Competencies 1, 7.)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008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7A3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THIS WEEK CONNECTS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987552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course's through-lines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05740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7A3B2E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20574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371600" y="2020824"/>
            <a:ext cx="10332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7A3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Interrogate your own chart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1371600" y="2441448"/>
            <a:ext cx="10332720" cy="91440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 weeks on other people's charts; now the ten minutes on yours.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640080" y="352044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3F6F5F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3520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371600" y="3483864"/>
            <a:ext cx="10332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3F6F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single right way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1371600" y="3904488"/>
            <a:ext cx="10332720" cy="91440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published essays, three defensible sets of choices.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640080" y="498348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B9852F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4983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371600" y="4946904"/>
            <a:ext cx="10332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B985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Make something real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1371600" y="5367528"/>
            <a:ext cx="10332720" cy="91440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leave with a deployed URL.</a:t>
            </a:r>
            <a:endParaRPr lang="en-US" sz="14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4E26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0058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B98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CHECK, AI CLOSED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1645920"/>
            <a:ext cx="8686800" cy="310896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26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Fix it: a planted bug in publishing/layout code (or in opted-in JS). (Competencies 1, 7.)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6126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DC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Culture as Data  ·  Week 9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10763226" y="5580873"/>
            <a:ext cx="87686" cy="87686"/>
          </a:xfrm>
          <a:prstGeom prst="ellipse">
            <a:avLst/>
          </a:prstGeom>
          <a:solidFill>
            <a:srgbClr val="7A3B2E"/>
          </a:solidFill>
          <a:ln/>
        </p:spPr>
      </p:sp>
      <p:sp>
        <p:nvSpPr>
          <p:cNvPr id="6" name="Shape 4"/>
          <p:cNvSpPr/>
          <p:nvPr/>
        </p:nvSpPr>
        <p:spPr>
          <a:xfrm>
            <a:off x="10770371" y="5503948"/>
            <a:ext cx="97407" cy="97407"/>
          </a:xfrm>
          <a:prstGeom prst="ellipse">
            <a:avLst/>
          </a:prstGeom>
          <a:solidFill>
            <a:srgbClr val="3F6F5F"/>
          </a:solidFill>
          <a:ln/>
        </p:spPr>
      </p:sp>
      <p:sp>
        <p:nvSpPr>
          <p:cNvPr id="7" name="Shape 5"/>
          <p:cNvSpPr/>
          <p:nvPr/>
        </p:nvSpPr>
        <p:spPr>
          <a:xfrm>
            <a:off x="10487110" y="5471260"/>
            <a:ext cx="97856" cy="97856"/>
          </a:xfrm>
          <a:prstGeom prst="ellipse">
            <a:avLst/>
          </a:prstGeom>
          <a:solidFill>
            <a:srgbClr val="B9852F"/>
          </a:solidFill>
          <a:ln/>
        </p:spPr>
      </p:sp>
      <p:sp>
        <p:nvSpPr>
          <p:cNvPr id="8" name="Shape 6"/>
          <p:cNvSpPr/>
          <p:nvPr/>
        </p:nvSpPr>
        <p:spPr>
          <a:xfrm>
            <a:off x="10980241" y="6206711"/>
            <a:ext cx="57031" cy="57031"/>
          </a:xfrm>
          <a:prstGeom prst="ellipse">
            <a:avLst/>
          </a:prstGeom>
          <a:solidFill>
            <a:srgbClr val="7A3B2E"/>
          </a:solidFill>
          <a:ln/>
        </p:spPr>
      </p:sp>
      <p:sp>
        <p:nvSpPr>
          <p:cNvPr id="9" name="Shape 7"/>
          <p:cNvSpPr/>
          <p:nvPr/>
        </p:nvSpPr>
        <p:spPr>
          <a:xfrm>
            <a:off x="10756246" y="4959481"/>
            <a:ext cx="52654" cy="52654"/>
          </a:xfrm>
          <a:prstGeom prst="ellipse">
            <a:avLst/>
          </a:prstGeom>
          <a:solidFill>
            <a:srgbClr val="3F6F5F"/>
          </a:solidFill>
          <a:ln/>
        </p:spPr>
      </p:sp>
      <p:sp>
        <p:nvSpPr>
          <p:cNvPr id="10" name="Shape 8"/>
          <p:cNvSpPr/>
          <p:nvPr/>
        </p:nvSpPr>
        <p:spPr>
          <a:xfrm>
            <a:off x="10881924" y="5928189"/>
            <a:ext cx="52722" cy="52722"/>
          </a:xfrm>
          <a:prstGeom prst="ellipse">
            <a:avLst/>
          </a:prstGeom>
          <a:solidFill>
            <a:srgbClr val="B9852F"/>
          </a:solidFill>
          <a:ln/>
        </p:spPr>
      </p:sp>
      <p:sp>
        <p:nvSpPr>
          <p:cNvPr id="11" name="Shape 9"/>
          <p:cNvSpPr/>
          <p:nvPr/>
        </p:nvSpPr>
        <p:spPr>
          <a:xfrm>
            <a:off x="9863756" y="4624655"/>
            <a:ext cx="80096" cy="80096"/>
          </a:xfrm>
          <a:prstGeom prst="ellipse">
            <a:avLst/>
          </a:prstGeom>
          <a:solidFill>
            <a:srgbClr val="7A3B2E"/>
          </a:solidFill>
          <a:ln/>
        </p:spPr>
      </p:sp>
      <p:sp>
        <p:nvSpPr>
          <p:cNvPr id="12" name="Shape 10"/>
          <p:cNvSpPr/>
          <p:nvPr/>
        </p:nvSpPr>
        <p:spPr>
          <a:xfrm>
            <a:off x="11328861" y="5247499"/>
            <a:ext cx="47906" cy="47906"/>
          </a:xfrm>
          <a:prstGeom prst="ellipse">
            <a:avLst/>
          </a:prstGeom>
          <a:solidFill>
            <a:srgbClr val="3F6F5F"/>
          </a:solidFill>
          <a:ln/>
        </p:spPr>
      </p:sp>
      <p:sp>
        <p:nvSpPr>
          <p:cNvPr id="13" name="Shape 11"/>
          <p:cNvSpPr/>
          <p:nvPr/>
        </p:nvSpPr>
        <p:spPr>
          <a:xfrm>
            <a:off x="11223399" y="5045902"/>
            <a:ext cx="88742" cy="88742"/>
          </a:xfrm>
          <a:prstGeom prst="ellipse">
            <a:avLst/>
          </a:prstGeom>
          <a:solidFill>
            <a:srgbClr val="B9852F"/>
          </a:solidFill>
          <a:ln/>
        </p:spPr>
      </p:sp>
      <p:sp>
        <p:nvSpPr>
          <p:cNvPr id="14" name="Shape 12"/>
          <p:cNvSpPr/>
          <p:nvPr/>
        </p:nvSpPr>
        <p:spPr>
          <a:xfrm>
            <a:off x="10614171" y="4743763"/>
            <a:ext cx="60870" cy="60870"/>
          </a:xfrm>
          <a:prstGeom prst="ellipse">
            <a:avLst/>
          </a:prstGeom>
          <a:solidFill>
            <a:srgbClr val="7A3B2E"/>
          </a:solidFill>
          <a:ln/>
        </p:spPr>
      </p:sp>
      <p:sp>
        <p:nvSpPr>
          <p:cNvPr id="15" name="Shape 13"/>
          <p:cNvSpPr/>
          <p:nvPr/>
        </p:nvSpPr>
        <p:spPr>
          <a:xfrm>
            <a:off x="10567976" y="5064983"/>
            <a:ext cx="96880" cy="96880"/>
          </a:xfrm>
          <a:prstGeom prst="ellipse">
            <a:avLst/>
          </a:prstGeom>
          <a:solidFill>
            <a:srgbClr val="3F6F5F"/>
          </a:solidFill>
          <a:ln/>
        </p:spPr>
      </p:sp>
      <p:sp>
        <p:nvSpPr>
          <p:cNvPr id="16" name="Shape 14"/>
          <p:cNvSpPr/>
          <p:nvPr/>
        </p:nvSpPr>
        <p:spPr>
          <a:xfrm>
            <a:off x="9591294" y="4996100"/>
            <a:ext cx="55038" cy="55038"/>
          </a:xfrm>
          <a:prstGeom prst="ellipse">
            <a:avLst/>
          </a:prstGeom>
          <a:solidFill>
            <a:srgbClr val="B9852F"/>
          </a:solidFill>
          <a:ln/>
        </p:spPr>
      </p:sp>
      <p:sp>
        <p:nvSpPr>
          <p:cNvPr id="17" name="Shape 15"/>
          <p:cNvSpPr/>
          <p:nvPr/>
        </p:nvSpPr>
        <p:spPr>
          <a:xfrm>
            <a:off x="11311246" y="5261017"/>
            <a:ext cx="67933" cy="67933"/>
          </a:xfrm>
          <a:prstGeom prst="ellipse">
            <a:avLst/>
          </a:prstGeom>
          <a:solidFill>
            <a:srgbClr val="7A3B2E"/>
          </a:solidFill>
          <a:ln/>
        </p:spPr>
      </p:sp>
      <p:sp>
        <p:nvSpPr>
          <p:cNvPr id="18" name="Shape 16"/>
          <p:cNvSpPr/>
          <p:nvPr/>
        </p:nvSpPr>
        <p:spPr>
          <a:xfrm>
            <a:off x="9113671" y="4846271"/>
            <a:ext cx="48698" cy="48698"/>
          </a:xfrm>
          <a:prstGeom prst="ellipse">
            <a:avLst/>
          </a:prstGeom>
          <a:solidFill>
            <a:srgbClr val="3F6F5F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2026-07-08T04:24:04Z</dcterms:created>
  <dcterms:modified xsi:type="dcterms:W3CDTF">2026-07-08T04:24:04Z</dcterms:modified>
</cp:coreProperties>
</file>