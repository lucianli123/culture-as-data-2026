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pnas.org/doi/10.1073/pnas.2305016120" TargetMode="External" /><Relationship Id="rId3" Type="http://schemas.openxmlformats.org/officeDocument/2006/relationships/hyperlink" Target="https://link.springer.com/article/10.1140/epjds/s13688-016-0093-1" TargetMode="External" /><Relationship Id="rId4" Type="http://schemas.openxmlformats.org/officeDocument/2006/relationships/hyperlink" Target="https://selfiecity.net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6:</a:t>
            </a:r>
            <a:r>
              <a:rPr/>
              <a:t> </a:t>
            </a:r>
            <a:r>
              <a:rPr/>
              <a:t>Deepen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Project:</a:t>
            </a:r>
            <a:r>
              <a:rPr/>
              <a:t> </a:t>
            </a:r>
            <a:r>
              <a:rPr/>
              <a:t>Images,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Where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AI</a:t>
            </a:r>
            <a:r>
              <a:rPr/>
              <a:t> </a:t>
            </a:r>
            <a:r>
              <a:rPr/>
              <a:t>Fails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r>
              <a:rPr/>
              <a:t>Culture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draft</a:t>
            </a:r>
            <a:r>
              <a:rPr/>
              <a:t> </a:t>
            </a:r>
            <a:r>
              <a:rPr/>
              <a:t>slides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6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Deepen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Project:</a:t>
            </a:r>
            <a:r>
              <a:rPr/>
              <a:t> </a:t>
            </a:r>
            <a:r>
              <a:rPr/>
              <a:t>Images,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Where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AI</a:t>
            </a:r>
            <a:r>
              <a:rPr/>
              <a:t> </a:t>
            </a:r>
            <a:r>
              <a:rPr/>
              <a:t>Fails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1270000" indent="0">
              <a:buNone/>
            </a:pPr>
            <a:r>
              <a:rPr sz="2000"/>
              <a:t>Push your project past first findings, give image projects their deepest day, and find exactly where the AI’s reading of your data goes wrong.</a:t>
            </a:r>
          </a:p>
          <a:p>
            <a:pPr lvl="0" marL="0" indent="0">
              <a:buNone/>
            </a:pPr>
            <a:r>
              <a:rPr i="1"/>
              <a:t>Tool / method: Apply the tools harder; image projects’ deepest day; calibrate the AI on your data · Competencies: 1, 4, 7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Look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This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Arnold, Tilton &amp; Berke, “Visual Style in Two Network-Era Sitcoms” (2019), computer vision on every shot of Bewitched and I Dream of Jeannie, reading how the camera frames each lead.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</a:t>
            </a:r>
            <a:r>
              <a:rPr/>
              <a:t> </a:t>
            </a:r>
            <a:r>
              <a:rPr/>
              <a:t>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counts as a “character-centered shot” is an operational definition, and a different one tells a different story; two shows is a slice, not “television.”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Three</a:t>
            </a:r>
            <a:r>
              <a:rPr/>
              <a:t> </a:t>
            </a:r>
            <a:r>
              <a:rPr/>
              <a:t>modes</a:t>
            </a:r>
            <a:r>
              <a:rPr/>
              <a:t> </a:t>
            </a:r>
            <a:r>
              <a:rPr/>
              <a:t>today</a:t>
            </a:r>
            <a:r>
              <a:rPr/>
              <a:t> </a:t>
            </a:r>
            <a:r>
              <a:rPr/>
              <a:t>(about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third</a:t>
            </a:r>
            <a:r>
              <a:rPr/>
              <a:t> </a:t>
            </a:r>
            <a:r>
              <a:rPr/>
              <a:t>each)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Lecture / demo:</a:t>
            </a:r>
            <a:r>
              <a:rPr/>
              <a:t> Apply the tools harder; image projects’ deepest day; calibrate the AI on your data</a:t>
            </a:r>
          </a:p>
          <a:p>
            <a:pPr lvl="1"/>
            <a:r>
              <a:rPr b="1"/>
              <a:t>Workshop:</a:t>
            </a:r>
            <a:r>
              <a:rPr/>
              <a:t> build hands-on on your own data</a:t>
            </a:r>
          </a:p>
          <a:p>
            <a:pPr lvl="1"/>
            <a:r>
              <a:rPr b="1"/>
              <a:t>Discussion:</a:t>
            </a:r>
            <a:r>
              <a:rPr/>
              <a:t> the study above, interrogate it, debate it, or critique each other’s work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0:00</a:t>
            </a:r>
            <a:r>
              <a:rPr/>
              <a:t> Warm-up + Look at This, a pair: a contemporary visual study leads, then the sitcom camerawork as the rigor case to interrogate.</a:t>
            </a:r>
          </a:p>
          <a:p>
            <a:pPr lvl="1"/>
            <a:r>
              <a:rPr b="1"/>
              <a:t>0:07</a:t>
            </a:r>
            <a:r>
              <a:rPr/>
              <a:t> Images on the same map, for real: embed an image set live and watch it cluster by visual style nobody tagged. The beyond-counting contrast at its sharpest.</a:t>
            </a:r>
          </a:p>
          <a:p>
            <a:pPr lvl="1"/>
            <a:r>
              <a:rPr b="1"/>
              <a:t>0:25</a:t>
            </a:r>
            <a:r>
              <a:rPr/>
              <a:t> Project lab: apply your method harder on your own data. Instructor floats; one-on-ones at the side.</a:t>
            </a:r>
          </a:p>
          <a:p>
            <a:pPr lvl="1"/>
            <a:r>
              <a:rPr b="1"/>
              <a:t>1:05</a:t>
            </a:r>
            <a:r>
              <a:rPr/>
              <a:t> Break</a:t>
            </a:r>
          </a:p>
          <a:p>
            <a:pPr lvl="1"/>
            <a:r>
              <a:rPr b="1"/>
              <a:t>1:15</a:t>
            </a:r>
            <a:r>
              <a:rPr/>
              <a:t> The hand-labeling set-piece (Gemini-free): label 30 items from your corpus by hand; the AI labels the same 30; study every disagreement. Nobody skips this.</a:t>
            </a:r>
          </a:p>
          <a:p>
            <a:pPr lvl="1"/>
            <a:r>
              <a:rPr b="1"/>
              <a:t>1:40</a:t>
            </a:r>
            <a:r>
              <a:rPr/>
              <a:t> Fix-it check: a planted bug in the data pipeline, found AI-closed.</a:t>
            </a:r>
          </a:p>
          <a:p>
            <a:pPr lvl="1"/>
            <a:r>
              <a:rPr b="1"/>
              <a:t>1:48</a:t>
            </a:r>
            <a:r>
              <a:rPr/>
              <a:t> Check-out.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Reading</a:t>
            </a:r>
            <a:r>
              <a:rPr/>
              <a:t> </a:t>
            </a:r>
            <a:r>
              <a:rPr/>
              <a:t>&amp;</a:t>
            </a:r>
            <a:r>
              <a:rPr/>
              <a:t> </a:t>
            </a:r>
            <a:r>
              <a:rPr/>
              <a:t>homework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Reading:</a:t>
            </a:r>
            <a:r>
              <a:rPr/>
              <a:t> </a:t>
            </a:r>
            <a:r>
              <a:rPr>
                <a:hlinkClick r:id="rId2"/>
              </a:rPr>
              <a:t>Gilardi et al. (2023)</a:t>
            </a:r>
            <a:r>
              <a:rPr/>
              <a:t>, the AI as a cheaper coder</a:t>
            </a:r>
          </a:p>
          <a:p>
            <a:pPr lvl="1"/>
            <a:r>
              <a:rPr b="1"/>
              <a:t>Supplement:</a:t>
            </a:r>
            <a:r>
              <a:rPr/>
              <a:t> </a:t>
            </a:r>
            <a:r>
              <a:rPr>
                <a:hlinkClick r:id="rId3"/>
              </a:rPr>
              <a:t>Reagan et al., Six Basic Shapes</a:t>
            </a:r>
            <a:r>
              <a:rPr/>
              <a:t> (the smoothing fight); </a:t>
            </a:r>
            <a:r>
              <a:rPr>
                <a:hlinkClick r:id="rId4"/>
              </a:rPr>
              <a:t>Manovich, Selfiecity</a:t>
            </a:r>
          </a:p>
          <a:p>
            <a:pPr lvl="1"/>
            <a:r>
              <a:rPr b="1"/>
              <a:t>Sketch:</a:t>
            </a:r>
            <a:r>
              <a:rPr/>
              <a:t> One disagreement between your labels and the AI’s where you were right, and why.</a:t>
            </a:r>
          </a:p>
          <a:p>
            <a:pPr lvl="1"/>
            <a:r>
              <a:rPr b="1"/>
              <a:t>Check (AI closed):</a:t>
            </a:r>
            <a:r>
              <a:rPr/>
              <a:t> Fix it: the planted bug. (Competencies 1, 7.)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6: Deepen the Project: Images, and Where the AI Fails</dc:title>
  <dc:creator/>
  <cp:keywords/>
  <dcterms:created xsi:type="dcterms:W3CDTF">2026-06-29T04:14:03Z</dcterms:created>
  <dcterms:modified xsi:type="dcterms:W3CDTF">2026-06-29T04:14:03Z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revealjs</vt:lpwstr>
  </property>
  <property fmtid="{D5CDD505-2E9C-101B-9397-08002B2CF9AE}" pid="3" name="subtitle">
    <vt:lpwstr>Culture as Data · draft slides</vt:lpwstr>
  </property>
</Properties>
</file>