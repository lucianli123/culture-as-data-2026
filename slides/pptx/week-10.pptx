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554480"/>
            <a:ext cx="5486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640080" y="2011680"/>
            <a:ext cx="8961120" cy="18288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Showcase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640080" y="4114800"/>
            <a:ext cx="7680960" cy="14630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600" i="1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90-minute public event followed by a reception, with friends and family invited. A printed program lists every project's title and URL.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 / method:  A public celebration; the two capstone assessments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9316203" y="945049"/>
            <a:ext cx="93459" cy="934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8" name="Shape 6"/>
          <p:cNvSpPr/>
          <p:nvPr/>
        </p:nvSpPr>
        <p:spPr>
          <a:xfrm>
            <a:off x="9893241" y="1791766"/>
            <a:ext cx="89167" cy="89167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9" name="Shape 7"/>
          <p:cNvSpPr/>
          <p:nvPr/>
        </p:nvSpPr>
        <p:spPr>
          <a:xfrm>
            <a:off x="10997330" y="897102"/>
            <a:ext cx="55793" cy="55793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Shape 8"/>
          <p:cNvSpPr/>
          <p:nvPr/>
        </p:nvSpPr>
        <p:spPr>
          <a:xfrm>
            <a:off x="11028268" y="722316"/>
            <a:ext cx="71059" cy="71059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1" name="Shape 9"/>
          <p:cNvSpPr/>
          <p:nvPr/>
        </p:nvSpPr>
        <p:spPr>
          <a:xfrm>
            <a:off x="11129057" y="1991308"/>
            <a:ext cx="48098" cy="4809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2" name="Shape 10"/>
          <p:cNvSpPr/>
          <p:nvPr/>
        </p:nvSpPr>
        <p:spPr>
          <a:xfrm>
            <a:off x="9699496" y="1953258"/>
            <a:ext cx="64634" cy="6463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3" name="Shape 11"/>
          <p:cNvSpPr/>
          <p:nvPr/>
        </p:nvSpPr>
        <p:spPr>
          <a:xfrm>
            <a:off x="10625784" y="1332067"/>
            <a:ext cx="88663" cy="88663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4" name="Shape 12"/>
          <p:cNvSpPr/>
          <p:nvPr/>
        </p:nvSpPr>
        <p:spPr>
          <a:xfrm>
            <a:off x="9564523" y="851635"/>
            <a:ext cx="88181" cy="8818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5" name="Shape 13"/>
          <p:cNvSpPr/>
          <p:nvPr/>
        </p:nvSpPr>
        <p:spPr>
          <a:xfrm>
            <a:off x="10401911" y="1235860"/>
            <a:ext cx="86048" cy="8604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6" name="Shape 14"/>
          <p:cNvSpPr/>
          <p:nvPr/>
        </p:nvSpPr>
        <p:spPr>
          <a:xfrm>
            <a:off x="11537750" y="1471284"/>
            <a:ext cx="50260" cy="5026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7" name="Shape 15"/>
          <p:cNvSpPr/>
          <p:nvPr/>
        </p:nvSpPr>
        <p:spPr>
          <a:xfrm>
            <a:off x="11371839" y="2281806"/>
            <a:ext cx="58541" cy="5854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8" name="Shape 16"/>
          <p:cNvSpPr/>
          <p:nvPr/>
        </p:nvSpPr>
        <p:spPr>
          <a:xfrm>
            <a:off x="11047177" y="916607"/>
            <a:ext cx="78887" cy="7888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9" name="Shape 17"/>
          <p:cNvSpPr/>
          <p:nvPr/>
        </p:nvSpPr>
        <p:spPr>
          <a:xfrm>
            <a:off x="8963566" y="1574306"/>
            <a:ext cx="79295" cy="79295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20" name="Shape 18"/>
          <p:cNvSpPr/>
          <p:nvPr/>
        </p:nvSpPr>
        <p:spPr>
          <a:xfrm>
            <a:off x="9007205" y="1504083"/>
            <a:ext cx="82623" cy="82623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7893" y="1429839"/>
            <a:ext cx="56868" cy="568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22" name="Shape 20"/>
          <p:cNvSpPr/>
          <p:nvPr/>
        </p:nvSpPr>
        <p:spPr>
          <a:xfrm>
            <a:off x="9075432" y="2075472"/>
            <a:ext cx="79754" cy="79754"/>
          </a:xfrm>
          <a:prstGeom prst="ellipse">
            <a:avLst/>
          </a:prstGeom>
          <a:solidFill>
            <a:srgbClr val="7A3B2E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371600"/>
            <a:ext cx="2377440" cy="2377440"/>
          </a:xfrm>
          <a:prstGeom prst="ellipse">
            <a:avLst/>
          </a:prstGeom>
          <a:solidFill>
            <a:srgbClr val="F4EEE8"/>
          </a:solidFill>
          <a:ln/>
        </p:spPr>
      </p:sp>
      <p:sp>
        <p:nvSpPr>
          <p:cNvPr id="3" name="Shape 1"/>
          <p:cNvSpPr/>
          <p:nvPr/>
        </p:nvSpPr>
        <p:spPr>
          <a:xfrm>
            <a:off x="1325880" y="2423160"/>
            <a:ext cx="146304" cy="14630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Shape 2"/>
          <p:cNvSpPr/>
          <p:nvPr/>
        </p:nvSpPr>
        <p:spPr>
          <a:xfrm>
            <a:off x="1563624" y="2514600"/>
            <a:ext cx="146304" cy="1463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5" name="Shape 3"/>
          <p:cNvSpPr/>
          <p:nvPr/>
        </p:nvSpPr>
        <p:spPr>
          <a:xfrm>
            <a:off x="1801368" y="2423160"/>
            <a:ext cx="146304" cy="14630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6" name="Text 4"/>
          <p:cNvSpPr/>
          <p:nvPr/>
        </p:nvSpPr>
        <p:spPr>
          <a:xfrm>
            <a:off x="3657600" y="9144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 AT THIS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657600" y="1280160"/>
            <a:ext cx="7863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study we open with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3657600" y="2286000"/>
            <a:ext cx="7863840" cy="329184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closing triptych, neural networks meet the art world: Edmond de Belamy (the market), Anna Ridler's Mosaic Virus (the labor), Refik Anadol's Unsupervised at MoMA (the museum).</a:t>
            </a:r>
            <a:endParaRPr lang="en-US" sz="1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82296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 IT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did they choose, and where might it be wrong?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256032" cy="256032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286000"/>
            <a:ext cx="10241280" cy="3657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20000"/>
              </a:lnSpc>
              <a:buNone/>
            </a:pPr>
            <a:r>
              <a:rPr lang="en-US" sz="2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machine reads a culture's archive, what is it showing us, and who decided what went in? You started Week 1 loading a museum's data; you end watching a museum's data become the art.</a:t>
            </a:r>
            <a:endParaRPr lang="en-US" sz="2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7A3B2E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walkthrough, AI closed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 the essay, then walk the room through your notebook, aloud, cell by cell.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9184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is the one deliverable an AI cannot produce for you.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43484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343400"/>
            <a:ext cx="10607040" cy="10515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Expect three questions: what did you choose, what would you distrust, what would you do next?</a:t>
            </a:r>
            <a:endParaRPr lang="en-US" sz="16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3F6F5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closing triptych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Belamy, the AI portrait that sold for $432,500: who is the author?</a:t>
            </a:r>
            <a:endParaRPr lang="en-US" sz="1650" dirty="0"/>
          </a:p>
        </p:txBody>
      </p:sp>
      <p:sp>
        <p:nvSpPr>
          <p:cNvPr id="7" name="Shape 5"/>
          <p:cNvSpPr/>
          <p:nvPr/>
        </p:nvSpPr>
        <p:spPr>
          <a:xfrm>
            <a:off x="640080" y="3348990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25755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Anna Ridler's Mosaic Virus: she photographed 10,000 tulips herself to build the training set: whose labor is the data?</a:t>
            </a:r>
            <a:endParaRPr lang="en-US" sz="1650" dirty="0"/>
          </a:p>
        </p:txBody>
      </p:sp>
      <p:sp>
        <p:nvSpPr>
          <p:cNvPr id="9" name="Shape 7"/>
          <p:cNvSpPr/>
          <p:nvPr/>
        </p:nvSpPr>
        <p:spPr>
          <a:xfrm>
            <a:off x="640080" y="4366260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427482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Anadol's Unsupervised at MoMA: the museum's own collection becomes the art: who decided what went in?</a:t>
            </a:r>
            <a:endParaRPr lang="en-US" sz="1650" dirty="0"/>
          </a:p>
        </p:txBody>
      </p:sp>
      <p:sp>
        <p:nvSpPr>
          <p:cNvPr id="11" name="Shape 9"/>
          <p:cNvSpPr/>
          <p:nvPr/>
        </p:nvSpPr>
        <p:spPr>
          <a:xfrm>
            <a:off x="640080" y="538353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5292090"/>
            <a:ext cx="10607040" cy="101727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6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 began with loading a museum's catalog. The course ends watching a catalog become the art.</a:t>
            </a:r>
            <a:endParaRPr lang="en-US" sz="16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B9852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 10 · KEY POINTS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1005840"/>
            <a:ext cx="1088136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you can do now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97280" y="2240280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a block of analysis code and say what it does, line by line.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40080" y="3145536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054096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a tractable question of cultural data and name what it leaves out.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3959352"/>
            <a:ext cx="201168" cy="201168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97280" y="3867912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counting, classification, embeddings, and annotation, and say what each reveals and hides.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40080" y="4773168"/>
            <a:ext cx="201168" cy="201168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Text 10"/>
          <p:cNvSpPr/>
          <p:nvPr/>
        </p:nvSpPr>
        <p:spPr>
          <a:xfrm>
            <a:off x="1097280" y="4681728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Shuffle-test a gap. Interrogate a chart, including your own.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640080" y="5586984"/>
            <a:ext cx="201168" cy="201168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4" name="Text 12"/>
          <p:cNvSpPr/>
          <p:nvPr/>
        </p:nvSpPr>
        <p:spPr>
          <a:xfrm>
            <a:off x="1097280" y="5495544"/>
            <a:ext cx="10607040" cy="813816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portfolio proves it: notebook, Data Biography, essay, walkthrough.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73152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modes today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640080" y="141732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6B6B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 a third of the session each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6400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5" name="Shape 3"/>
          <p:cNvSpPr/>
          <p:nvPr/>
        </p:nvSpPr>
        <p:spPr>
          <a:xfrm>
            <a:off x="1051560" y="2606040"/>
            <a:ext cx="548640" cy="548640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Lecture / demo</a:t>
            </a:r>
            <a:endParaRPr lang="en-US" sz="2100" dirty="0"/>
          </a:p>
        </p:txBody>
      </p:sp>
      <p:sp>
        <p:nvSpPr>
          <p:cNvPr id="7" name="Text 5"/>
          <p:cNvSpPr/>
          <p:nvPr/>
        </p:nvSpPr>
        <p:spPr>
          <a:xfrm>
            <a:off x="10058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celebration; the two capstone assessments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262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9" name="Shape 7"/>
          <p:cNvSpPr/>
          <p:nvPr/>
        </p:nvSpPr>
        <p:spPr>
          <a:xfrm>
            <a:off x="4937760" y="2606040"/>
            <a:ext cx="548640" cy="548640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Text 8"/>
          <p:cNvSpPr/>
          <p:nvPr/>
        </p:nvSpPr>
        <p:spPr>
          <a:xfrm>
            <a:off x="48920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Workshop</a:t>
            </a:r>
            <a:endParaRPr lang="en-US" sz="2100" dirty="0"/>
          </a:p>
        </p:txBody>
      </p:sp>
      <p:sp>
        <p:nvSpPr>
          <p:cNvPr id="11" name="Text 9"/>
          <p:cNvSpPr/>
          <p:nvPr/>
        </p:nvSpPr>
        <p:spPr>
          <a:xfrm>
            <a:off x="48920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hands-on on your own data.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8412480" y="2194560"/>
            <a:ext cx="3383280" cy="3291840"/>
          </a:xfrm>
          <a:prstGeom prst="roundRect">
            <a:avLst>
              <a:gd name="adj" fmla="val 3333"/>
            </a:avLst>
          </a:prstGeom>
          <a:solidFill>
            <a:srgbClr val="F4EEE8"/>
          </a:solidFill>
          <a:ln/>
        </p:spPr>
      </p:sp>
      <p:sp>
        <p:nvSpPr>
          <p:cNvPr id="13" name="Shape 11"/>
          <p:cNvSpPr/>
          <p:nvPr/>
        </p:nvSpPr>
        <p:spPr>
          <a:xfrm>
            <a:off x="8823960" y="2606040"/>
            <a:ext cx="548640" cy="548640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Text 12"/>
          <p:cNvSpPr/>
          <p:nvPr/>
        </p:nvSpPr>
        <p:spPr>
          <a:xfrm>
            <a:off x="8778240" y="3383280"/>
            <a:ext cx="2651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Discussion</a:t>
            </a:r>
            <a:endParaRPr lang="en-US" sz="2100" dirty="0"/>
          </a:p>
        </p:txBody>
      </p:sp>
      <p:sp>
        <p:nvSpPr>
          <p:cNvPr id="15" name="Text 13"/>
          <p:cNvSpPr/>
          <p:nvPr/>
        </p:nvSpPr>
        <p:spPr>
          <a:xfrm>
            <a:off x="8778240" y="3977640"/>
            <a:ext cx="2651760" cy="13716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15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Interrogate the study, debate it, or critique each other's work.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session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572768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572768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0:00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1691640" y="1554480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Welcome. This is a celebration, not a defense. The closing Look at This.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640080" y="2139696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2139696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0:10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691640" y="2121408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Presentations, 4–5 min each: corpus, headline finding, one surprise. Live URL projected.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706624"/>
            <a:ext cx="868680" cy="457200"/>
          </a:xfrm>
          <a:prstGeom prst="roundRect">
            <a:avLst>
              <a:gd name="adj" fmla="val 12000"/>
            </a:avLst>
          </a:prstGeom>
          <a:solidFill>
            <a:srgbClr val="7A3B2E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706624"/>
            <a:ext cx="8686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1:30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1691640" y="2688336"/>
            <a:ext cx="9646920" cy="566928"/>
          </a:xfrm>
          <a:prstGeom prst="rect">
            <a:avLst/>
          </a:prstGeom>
          <a:noFill/>
          <a:ln/>
        </p:spPr>
        <p:txBody>
          <a:bodyPr wrap="square" rtlCol="0" anchor="ctr">
            <a:sp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Reception. Laptops at every seat with everyone's URLs loaded.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Reading &amp; homework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640080" y="167335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4" name="Text 2"/>
          <p:cNvSpPr/>
          <p:nvPr/>
        </p:nvSpPr>
        <p:spPr>
          <a:xfrm>
            <a:off x="1051560" y="160020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51560" y="198424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640080" y="263347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Text 5"/>
          <p:cNvSpPr/>
          <p:nvPr/>
        </p:nvSpPr>
        <p:spPr>
          <a:xfrm>
            <a:off x="1051560" y="256032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51560" y="294436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Edmond de Belamy; Ridler's Mosaic Virus; Anadol's Unsupervised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" y="3593592"/>
            <a:ext cx="219456" cy="219456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0" name="Text 8"/>
          <p:cNvSpPr/>
          <p:nvPr/>
        </p:nvSpPr>
        <p:spPr>
          <a:xfrm>
            <a:off x="1051560" y="352044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Deeper (optional)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51560" y="390448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Elgammal et al., CAN: Creative Adversarial Networks (2017), the paper behind the de Belamy generation of AI art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" y="4553712"/>
            <a:ext cx="219456" cy="219456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Text 11"/>
          <p:cNvSpPr/>
          <p:nvPr/>
        </p:nvSpPr>
        <p:spPr>
          <a:xfrm>
            <a:off x="1051560" y="448056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F6F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Sketch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51560" y="486460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Within a week after: a private one-page reflection.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40080" y="5513832"/>
            <a:ext cx="219456" cy="219456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6" name="Text 14"/>
          <p:cNvSpPr/>
          <p:nvPr/>
        </p:nvSpPr>
        <p:spPr>
          <a:xfrm>
            <a:off x="1051560" y="5440680"/>
            <a:ext cx="10424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(AI closed)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051560" y="5824728"/>
            <a:ext cx="10424160" cy="73152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7A3B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THIS WEEK CONNECTS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87552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1A1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course's through-lines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7A3B2E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20574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1371600" y="202082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7A3B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Whose data, whose authorship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371600" y="244144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 triptych, de Belamy to Ridler to Anadol: who decided what went in?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640080" y="352044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3F6F5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35204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1371600" y="348386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F6F5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Understand, not commission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1371600" y="390448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oral walkthrough an AI cannot do for you.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640080" y="4983480"/>
            <a:ext cx="457200" cy="457200"/>
          </a:xfrm>
          <a:prstGeom prst="roundRect">
            <a:avLst>
              <a:gd name="adj" fmla="val 16000"/>
            </a:avLst>
          </a:prstGeom>
          <a:solidFill>
            <a:srgbClr val="B9852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4983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1371600" y="4946904"/>
            <a:ext cx="10332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B9852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threads converge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371600" y="5367528"/>
            <a:ext cx="10332720" cy="91440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2000"/>
              </a:lnSpc>
              <a:buNone/>
            </a:pPr>
            <a:r>
              <a:rPr lang="en-US" sz="14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started loading a museum's data; you end watching it become the art.</a:t>
            </a:r>
            <a:endParaRPr lang="en-US" sz="14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4E261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005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B985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CHECK, AI CLOSED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1645920"/>
            <a:ext cx="8686800" cy="3108960"/>
          </a:xfrm>
          <a:prstGeom prst="rect">
            <a:avLst/>
          </a:prstGeom>
          <a:noFill/>
          <a:ln/>
        </p:spPr>
        <p:txBody>
          <a:bodyPr wrap="square" rtlCol="0" anchor="t">
            <a:spAutoFit/>
          </a:bodyPr>
          <a:lstStyle/>
          <a:p>
            <a:pPr indent="0" marL="0">
              <a:lnSpc>
                <a:spcPct val="115000"/>
              </a:lnSpc>
              <a:buNone/>
            </a:pPr>
            <a:r>
              <a:rPr lang="en-US" sz="2600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oral walkthrough (the capstone): how you got your headline result, what it does not show, and how the tools actually work. Plus the workbench intro. (All eight competencies.)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640080" y="6126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E8DC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Culture as Data  ·  Week 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11052898" y="6107659"/>
            <a:ext cx="96631" cy="9663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6" name="Shape 4"/>
          <p:cNvSpPr/>
          <p:nvPr/>
        </p:nvSpPr>
        <p:spPr>
          <a:xfrm>
            <a:off x="9224752" y="5766644"/>
            <a:ext cx="61944" cy="6194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7" name="Shape 5"/>
          <p:cNvSpPr/>
          <p:nvPr/>
        </p:nvSpPr>
        <p:spPr>
          <a:xfrm>
            <a:off x="10591079" y="4939008"/>
            <a:ext cx="74374" cy="74374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8" name="Shape 6"/>
          <p:cNvSpPr/>
          <p:nvPr/>
        </p:nvSpPr>
        <p:spPr>
          <a:xfrm>
            <a:off x="11098039" y="6086009"/>
            <a:ext cx="47052" cy="4705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9" name="Shape 7"/>
          <p:cNvSpPr/>
          <p:nvPr/>
        </p:nvSpPr>
        <p:spPr>
          <a:xfrm>
            <a:off x="9252113" y="4719469"/>
            <a:ext cx="57704" cy="57704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0" name="Shape 8"/>
          <p:cNvSpPr/>
          <p:nvPr/>
        </p:nvSpPr>
        <p:spPr>
          <a:xfrm>
            <a:off x="11240740" y="5038008"/>
            <a:ext cx="74325" cy="74325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1" name="Shape 9"/>
          <p:cNvSpPr/>
          <p:nvPr/>
        </p:nvSpPr>
        <p:spPr>
          <a:xfrm>
            <a:off x="10449761" y="6028164"/>
            <a:ext cx="64911" cy="64911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2" name="Shape 10"/>
          <p:cNvSpPr/>
          <p:nvPr/>
        </p:nvSpPr>
        <p:spPr>
          <a:xfrm>
            <a:off x="10506295" y="4939119"/>
            <a:ext cx="52321" cy="52321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3" name="Shape 11"/>
          <p:cNvSpPr/>
          <p:nvPr/>
        </p:nvSpPr>
        <p:spPr>
          <a:xfrm>
            <a:off x="9916822" y="5969493"/>
            <a:ext cx="59417" cy="59417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4" name="Shape 12"/>
          <p:cNvSpPr/>
          <p:nvPr/>
        </p:nvSpPr>
        <p:spPr>
          <a:xfrm>
            <a:off x="9748142" y="4631104"/>
            <a:ext cx="54194" cy="54194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5" name="Shape 13"/>
          <p:cNvSpPr/>
          <p:nvPr/>
        </p:nvSpPr>
        <p:spPr>
          <a:xfrm>
            <a:off x="11067056" y="5122574"/>
            <a:ext cx="59512" cy="59512"/>
          </a:xfrm>
          <a:prstGeom prst="ellipse">
            <a:avLst/>
          </a:prstGeom>
          <a:solidFill>
            <a:srgbClr val="3F6F5F"/>
          </a:solidFill>
          <a:ln/>
        </p:spPr>
      </p:sp>
      <p:sp>
        <p:nvSpPr>
          <p:cNvPr id="16" name="Shape 14"/>
          <p:cNvSpPr/>
          <p:nvPr/>
        </p:nvSpPr>
        <p:spPr>
          <a:xfrm>
            <a:off x="9819723" y="4693083"/>
            <a:ext cx="98231" cy="98231"/>
          </a:xfrm>
          <a:prstGeom prst="ellipse">
            <a:avLst/>
          </a:prstGeom>
          <a:solidFill>
            <a:srgbClr val="B9852F"/>
          </a:solidFill>
          <a:ln/>
        </p:spPr>
      </p:sp>
      <p:sp>
        <p:nvSpPr>
          <p:cNvPr id="17" name="Shape 15"/>
          <p:cNvSpPr/>
          <p:nvPr/>
        </p:nvSpPr>
        <p:spPr>
          <a:xfrm>
            <a:off x="9633264" y="5803889"/>
            <a:ext cx="83482" cy="83482"/>
          </a:xfrm>
          <a:prstGeom prst="ellipse">
            <a:avLst/>
          </a:prstGeom>
          <a:solidFill>
            <a:srgbClr val="7A3B2E"/>
          </a:solidFill>
          <a:ln/>
        </p:spPr>
      </p:sp>
      <p:sp>
        <p:nvSpPr>
          <p:cNvPr id="18" name="Shape 16"/>
          <p:cNvSpPr/>
          <p:nvPr/>
        </p:nvSpPr>
        <p:spPr>
          <a:xfrm>
            <a:off x="11574477" y="5704174"/>
            <a:ext cx="92991" cy="92991"/>
          </a:xfrm>
          <a:prstGeom prst="ellipse">
            <a:avLst/>
          </a:prstGeom>
          <a:solidFill>
            <a:srgbClr val="3F6F5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2026-07-12T19:54:37Z</dcterms:created>
  <dcterms:modified xsi:type="dcterms:W3CDTF">2026-07-12T19:54:37Z</dcterms:modified>
</cp:coreProperties>
</file>