
<file path=[Content_Types].xml><?xml version="1.0" encoding="utf-8"?>
<Types xmlns="http://schemas.openxmlformats.org/package/2006/content-types">
  <Default Extension="xml" ContentType="application/xml"/>
  <Default Extension="rels" ContentType="application/vnd.openxmlformats-package.relationships+xml"/>
  <Default Extension="jpeg" ContentType="image/jpeg"/>
  <Default Extension="jpg" ContentType="image/jpg"/>
  <Default Extension="svg" ContentType="image/svg+xml"/>
  <Default Extension="png" ContentType="image/png"/>
  <Default Extension="gif" ContentType="image/gif"/>
  <Default Extension="m4v" ContentType="video/mp4"/>
  <Default Extension="mp4" ContentType="video/mp4"/>
  <Default Extension="vml" ContentType="application/vnd.openxmlformats-officedocument.vmlDrawing"/>
  <Default Extension="xlsx" ContentType="application/vnd.openxmlformats-officedocument.spreadsheetml.sheet"/>
  <Override PartName="/ppt/presentation.xml" ContentType="application/vnd.openxmlformats-officedocument.presentationml.presentation.main+xml"/>
  <Override PartName="/ppt/notesMasters/notesMaster1.xml" ContentType="application/vnd.openxmlformats-officedocument.presentationml.notesMaster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Masters/slideMaster2.xml" ContentType="application/vnd.openxmlformats-officedocument.presentationml.slideMaster+xml"/>
  <Override PartName="/ppt/slides/slide2.xml" ContentType="application/vnd.openxmlformats-officedocument.presentationml.slide+xml"/>
  <Override PartName="/ppt/slideMasters/slideMaster3.xml" ContentType="application/vnd.openxmlformats-officedocument.presentationml.slideMaster+xml"/>
  <Override PartName="/ppt/slides/slide3.xml" ContentType="application/vnd.openxmlformats-officedocument.presentationml.slide+xml"/>
  <Override PartName="/ppt/slideMasters/slideMaster4.xml" ContentType="application/vnd.openxmlformats-officedocument.presentationml.slideMaster+xml"/>
  <Override PartName="/ppt/slides/slide4.xml" ContentType="application/vnd.openxmlformats-officedocument.presentationml.slide+xml"/>
  <Override PartName="/ppt/slideMasters/slideMaster5.xml" ContentType="application/vnd.openxmlformats-officedocument.presentationml.slideMaster+xml"/>
  <Override PartName="/ppt/slides/slide5.xml" ContentType="application/vnd.openxmlformats-officedocument.presentationml.slide+xml"/>
  <Override PartName="/ppt/slideMasters/slideMaster6.xml" ContentType="application/vnd.openxmlformats-officedocument.presentationml.slideMaster+xml"/>
  <Override PartName="/ppt/slides/slide6.xml" ContentType="application/vnd.openxmlformats-officedocument.presentationml.slide+xml"/>
  <Override PartName="/ppt/slideMasters/slideMaster7.xml" ContentType="application/vnd.openxmlformats-officedocument.presentationml.slideMaster+xml"/>
  <Override PartName="/ppt/slides/slide7.xml" ContentType="application/vnd.openxmlformats-officedocument.presentationml.slide+xml"/>
  <Override PartName="/ppt/slideMasters/slideMaster8.xml" ContentType="application/vnd.openxmlformats-officedocument.presentationml.slideMaster+xml"/>
  <Override PartName="/ppt/slides/slide8.xml" ContentType="application/vnd.openxmlformats-officedocument.presentationml.slide+xml"/>
  <Override PartName="/ppt/slideMasters/slideMaster9.xml" ContentType="application/vnd.openxmlformats-officedocument.presentationml.slideMaster+xml"/>
  <Override PartName="/ppt/slides/slide9.xml" ContentType="application/vnd.openxmlformats-officedocument.presentationml.slide+xml"/>
  <Override PartName="/ppt/slideMasters/slideMaster10.xml" ContentType="application/vnd.openxmlformats-officedocument.presentationml.slideMaster+xml"/>
  <Override PartName="/ppt/slides/slide10.xml" ContentType="application/vnd.openxmlformats-officedocument.presentationml.slide+xml"/>
  <Override PartName="/ppt/slideMasters/slideMaster11.xml" ContentType="application/vnd.openxmlformats-officedocument.presentationml.slideMaster+xml"/>
  <Override PartName="/ppt/slides/slide11.xml" ContentType="application/vnd.openxmlformats-officedocument.presentationml.slid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ppt/notesSlides/notesSlide10.xml" ContentType="application/vnd.openxmlformats-officedocument.presentationml.notesSlide+xml"/>
  <Override PartName="/ppt/notesSlides/notesSlide11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
		<Relationship Id="rId1" Type="http://schemas.openxmlformats.org/officeDocument/2006/relationships/extended-properties" Target="docProps/app.xml"/>
		<Relationship Id="rId2" Type="http://schemas.openxmlformats.org/package/2006/relationships/metadata/core-properties" Target="docProps/core.xml"/>
		<Relationship Id="rId3" Type="http://schemas.openxmlformats.org/officeDocument/2006/relationships/officeDocument" Target="ppt/presentation.xml"/>
		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2"/>
    <p:sldId id="257" r:id="rId3"/>
    <p:sldId id="258" r:id="rId4"/>
    <p:sldId id="259" r:id="rId5"/>
    <p:sldId id="260" r:id="rId6"/>
    <p:sldId id="261" r:id="rId7"/>
    <p:sldId id="262" r:id="rId8"/>
    <p:sldId id="263" r:id="rId9"/>
    <p:sldId id="264" r:id="rId10"/>
    <p:sldId id="265" r:id="rId11"/>
    <p:sldId id="266" r:id="rId12"/>
  </p:sldIdLst>
  <p:notesMasterIdLst>
    <p:notesMasterId r:id="rId13"/>
  </p:notesMasterIdLst>
  <p:sldSz cx="12191695" cy="6858000"/>
  <p:notesSz cx="6858000" cy="12191695"/>
  <p:defaultTextStyle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/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 horzBarState="maximized">
    <p:restoredLeft sz="15611"/>
    <p:restoredTop sz="94610"/>
  </p:normalViewPr>
  <p:slideViewPr>
    <p:cSldViewPr snapToGrid="0" snapToObjects="1">
      <p:cViewPr varScale="1">
        <p:scale>
          <a:sx n="136" d="100"/>
          <a:sy n="136" d="100"/>
        </p:scale>
        <p:origin x="216" y="312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slide" Target="slides/slide1.xml"/><Relationship Id="rId3" Type="http://schemas.openxmlformats.org/officeDocument/2006/relationships/slide" Target="slides/slide2.xml"/><Relationship Id="rId4" Type="http://schemas.openxmlformats.org/officeDocument/2006/relationships/slide" Target="slides/slide3.xml"/><Relationship Id="rId5" Type="http://schemas.openxmlformats.org/officeDocument/2006/relationships/slide" Target="slides/slide4.xml"/><Relationship Id="rId6" Type="http://schemas.openxmlformats.org/officeDocument/2006/relationships/slide" Target="slides/slide5.xml"/><Relationship Id="rId7" Type="http://schemas.openxmlformats.org/officeDocument/2006/relationships/slide" Target="slides/slide6.xml"/><Relationship Id="rId8" Type="http://schemas.openxmlformats.org/officeDocument/2006/relationships/slide" Target="slides/slide7.xml"/><Relationship Id="rId9" Type="http://schemas.openxmlformats.org/officeDocument/2006/relationships/slide" Target="slides/slide8.xml"/><Relationship Id="rId10" Type="http://schemas.openxmlformats.org/officeDocument/2006/relationships/slide" Target="slides/slide9.xml"/><Relationship Id="rId11" Type="http://schemas.openxmlformats.org/officeDocument/2006/relationships/slide" Target="slides/slide10.xml"/><Relationship Id="rId12" Type="http://schemas.openxmlformats.org/officeDocument/2006/relationships/slide" Target="slides/slide11.xml"/><Relationship Id="rId13" Type="http://schemas.openxmlformats.org/officeDocument/2006/relationships/notesMaster" Target="notesMasters/notesMaster1.xml"/><Relationship Id="rId14" Type="http://schemas.openxmlformats.org/officeDocument/2006/relationships/presProps" Target="presProps.xml"/><Relationship Id="rId15" Type="http://schemas.openxmlformats.org/officeDocument/2006/relationships/viewProps" Target="viewProps.xml"/><Relationship Id="rId16" Type="http://schemas.openxmlformats.org/officeDocument/2006/relationships/theme" Target="theme/theme1.xml"/><Relationship Id="rId17" Type="http://schemas.openxmlformats.org/officeDocument/2006/relationships/tableStyles" Target="tableStyles.xml"/></Relationships>
</file>

<file path=ppt/notesMasters/_rels/notesMaster1.xml.rels><?xml version="1.0" encoding="UTF-8" standalone="yes"?>
<Relationships xmlns="http://schemas.openxmlformats.org/package/2006/relationships">
		<Relationship Id="rId1" Type="http://schemas.openxmlformats.org/officeDocument/2006/relationships/theme" Target="../theme/theme1.xml"/>
		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5282F153-3F37-0F45-9E97-73ACFA13230C}" type="datetimeFigureOut">
              <a:rPr lang="en-US"/>
              <a:t>7/23/19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CE5E9CC1-C706-0F49-92D6-E571CC5EEA8F}" type="slidenum">
              <a:rPr lang="en-US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.xml"/>
		</Relationships>
</file>

<file path=ppt/notesSlides/_rels/notesSlide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.xml"/>
		</Relationships>
</file>

<file path=ppt/notesSlides/_rels/notesSlide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.xml"/>
		</Relationships>
</file>

<file path=ppt/notesSlides/_rels/notesSlide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4.xml"/>
		</Relationships>
</file>

<file path=ppt/notesSlides/_rels/notesSlide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5.xml"/>
		</Relationships>
</file>

<file path=ppt/notesSlides/_rels/notesSlide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6.xml"/>
		</Relationships>
</file>

<file path=ppt/notesSlides/_rels/notesSlide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7.xml"/>
		</Relationships>
</file>

<file path=ppt/notesSlides/_rels/notesSlide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8.xml"/>
		</Relationships>
</file>

<file path=ppt/notesSlides/_rels/notesSlide9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9.xml"/>
		</Relationships>
</file>

<file path=ppt/notesSlides/_rels/notesSlide10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0.xml"/>
		</Relationships>
</file>

<file path=ppt/notesSlides/_rels/notesSlide1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1.xml"/>
		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DEFAULT"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</p:sldLayoutIdLst>
  <p:hf sldNum="0" hdr="0" ftr="0" dt="0"/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.xml"/></Relationships>
</file>

<file path=ppt/slides/_rels/slide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.xml"/></Relationships>
</file>

<file path=ppt/slides/_rels/slide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3.xml"/></Relationships>
</file>

<file path=ppt/slides/_rels/slide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4.xml"/></Relationships>
</file>

<file path=ppt/slides/_rels/slide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5.xml"/></Relationships>
</file>

<file path=ppt/slides/_rels/slide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6.xml"/></Relationships>
</file>

<file path=ppt/slides/_rels/slide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7.xml"/></Relationships>
</file>

<file path=ppt/slides/_rels/slide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8.xml"/></Relationships>
</file>

<file path=ppt/slides/_rels/slide9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9.xml"/></Relationships>
</file>

<file path=ppt/slides/_rels/slide10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0.xml"/></Relationships>
</file>

<file path=ppt/slides/_rels/slide1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1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">
    <p:bg>
      <p:bgPr>
        <a:solidFill>
          <a:srgbClr val="4E261D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640080" y="502920"/>
            <a:ext cx="73152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300" b="1" spc="300" kern="0" dirty="0">
                <a:solidFill>
                  <a:srgbClr val="B9852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CULTURE AS DATA</a:t>
            </a:r>
            <a:endParaRPr lang="en-US" sz="1300" dirty="0"/>
          </a:p>
        </p:txBody>
      </p:sp>
      <p:sp>
        <p:nvSpPr>
          <p:cNvPr id="3" name="Text 1"/>
          <p:cNvSpPr/>
          <p:nvPr/>
        </p:nvSpPr>
        <p:spPr>
          <a:xfrm>
            <a:off x="640080" y="1554480"/>
            <a:ext cx="548640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000" dirty="0">
                <a:solidFill>
                  <a:srgbClr val="E8DCD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Week 10</a:t>
            </a:r>
            <a:endParaRPr lang="en-US" sz="2000" dirty="0"/>
          </a:p>
        </p:txBody>
      </p:sp>
      <p:sp>
        <p:nvSpPr>
          <p:cNvPr id="4" name="Text 2"/>
          <p:cNvSpPr/>
          <p:nvPr/>
        </p:nvSpPr>
        <p:spPr>
          <a:xfrm>
            <a:off x="640080" y="2011680"/>
            <a:ext cx="8961120" cy="1828800"/>
          </a:xfrm>
          <a:prstGeom prst="rect">
            <a:avLst/>
          </a:prstGeom>
          <a:noFill/>
          <a:ln/>
        </p:spPr>
        <p:txBody>
          <a:bodyPr wrap="square" rtlCol="0" anchor="t">
            <a:spAutoFit/>
          </a:bodyPr>
          <a:lstStyle/>
          <a:p>
            <a:pPr indent="0" marL="0">
              <a:buNone/>
            </a:pPr>
            <a:r>
              <a:rPr lang="en-US" sz="4000" b="1" dirty="0">
                <a:solidFill>
                  <a:srgbClr val="FFFFF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The Showcase</a:t>
            </a:r>
            <a:endParaRPr lang="en-US" sz="4000" dirty="0"/>
          </a:p>
        </p:txBody>
      </p:sp>
      <p:sp>
        <p:nvSpPr>
          <p:cNvPr id="5" name="Text 3"/>
          <p:cNvSpPr/>
          <p:nvPr/>
        </p:nvSpPr>
        <p:spPr>
          <a:xfrm>
            <a:off x="640080" y="4114800"/>
            <a:ext cx="7680960" cy="1463040"/>
          </a:xfrm>
          <a:prstGeom prst="rect">
            <a:avLst/>
          </a:prstGeom>
          <a:noFill/>
          <a:ln/>
        </p:spPr>
        <p:txBody>
          <a:bodyPr wrap="square" rtlCol="0" anchor="t">
            <a:spAutoFit/>
          </a:bodyPr>
          <a:lstStyle/>
          <a:p>
            <a:pPr indent="0" marL="0">
              <a:buNone/>
            </a:pPr>
            <a:r>
              <a:rPr lang="en-US" sz="1600" i="1" dirty="0">
                <a:solidFill>
                  <a:srgbClr val="E8DCD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 90-minute public event followed by a reception, with friends and family invited. A printed program lists every project's title and URL.</a:t>
            </a:r>
            <a:endParaRPr lang="en-US" sz="1600" dirty="0"/>
          </a:p>
        </p:txBody>
      </p:sp>
      <p:sp>
        <p:nvSpPr>
          <p:cNvPr id="6" name="Text 4"/>
          <p:cNvSpPr/>
          <p:nvPr/>
        </p:nvSpPr>
        <p:spPr>
          <a:xfrm>
            <a:off x="640080" y="6035040"/>
            <a:ext cx="100584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B9852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Tool / method:  A public celebration; the two capstone assessments</a:t>
            </a:r>
            <a:endParaRPr lang="en-US" sz="1200" dirty="0"/>
          </a:p>
        </p:txBody>
      </p:sp>
      <p:sp>
        <p:nvSpPr>
          <p:cNvPr id="7" name="Shape 5"/>
          <p:cNvSpPr/>
          <p:nvPr/>
        </p:nvSpPr>
        <p:spPr>
          <a:xfrm>
            <a:off x="9316203" y="945049"/>
            <a:ext cx="93459" cy="93459"/>
          </a:xfrm>
          <a:prstGeom prst="ellipse">
            <a:avLst/>
          </a:prstGeom>
          <a:solidFill>
            <a:srgbClr val="7A3B2E"/>
          </a:solidFill>
          <a:ln/>
        </p:spPr>
      </p:sp>
      <p:sp>
        <p:nvSpPr>
          <p:cNvPr id="8" name="Shape 6"/>
          <p:cNvSpPr/>
          <p:nvPr/>
        </p:nvSpPr>
        <p:spPr>
          <a:xfrm>
            <a:off x="9893241" y="1791766"/>
            <a:ext cx="89167" cy="89167"/>
          </a:xfrm>
          <a:prstGeom prst="ellipse">
            <a:avLst/>
          </a:prstGeom>
          <a:solidFill>
            <a:srgbClr val="3F6F5F"/>
          </a:solidFill>
          <a:ln/>
        </p:spPr>
      </p:sp>
      <p:sp>
        <p:nvSpPr>
          <p:cNvPr id="9" name="Shape 7"/>
          <p:cNvSpPr/>
          <p:nvPr/>
        </p:nvSpPr>
        <p:spPr>
          <a:xfrm>
            <a:off x="10997330" y="897102"/>
            <a:ext cx="55793" cy="55793"/>
          </a:xfrm>
          <a:prstGeom prst="ellipse">
            <a:avLst/>
          </a:prstGeom>
          <a:solidFill>
            <a:srgbClr val="B9852F"/>
          </a:solidFill>
          <a:ln/>
        </p:spPr>
      </p:sp>
      <p:sp>
        <p:nvSpPr>
          <p:cNvPr id="10" name="Shape 8"/>
          <p:cNvSpPr/>
          <p:nvPr/>
        </p:nvSpPr>
        <p:spPr>
          <a:xfrm>
            <a:off x="11028268" y="722316"/>
            <a:ext cx="71059" cy="71059"/>
          </a:xfrm>
          <a:prstGeom prst="ellipse">
            <a:avLst/>
          </a:prstGeom>
          <a:solidFill>
            <a:srgbClr val="7A3B2E"/>
          </a:solidFill>
          <a:ln/>
        </p:spPr>
      </p:sp>
      <p:sp>
        <p:nvSpPr>
          <p:cNvPr id="11" name="Shape 9"/>
          <p:cNvSpPr/>
          <p:nvPr/>
        </p:nvSpPr>
        <p:spPr>
          <a:xfrm>
            <a:off x="11129057" y="1991308"/>
            <a:ext cx="48098" cy="48098"/>
          </a:xfrm>
          <a:prstGeom prst="ellipse">
            <a:avLst/>
          </a:prstGeom>
          <a:solidFill>
            <a:srgbClr val="3F6F5F"/>
          </a:solidFill>
          <a:ln/>
        </p:spPr>
      </p:sp>
      <p:sp>
        <p:nvSpPr>
          <p:cNvPr id="12" name="Shape 10"/>
          <p:cNvSpPr/>
          <p:nvPr/>
        </p:nvSpPr>
        <p:spPr>
          <a:xfrm>
            <a:off x="9699496" y="1953258"/>
            <a:ext cx="64634" cy="64634"/>
          </a:xfrm>
          <a:prstGeom prst="ellipse">
            <a:avLst/>
          </a:prstGeom>
          <a:solidFill>
            <a:srgbClr val="B9852F"/>
          </a:solidFill>
          <a:ln/>
        </p:spPr>
      </p:sp>
      <p:sp>
        <p:nvSpPr>
          <p:cNvPr id="13" name="Shape 11"/>
          <p:cNvSpPr/>
          <p:nvPr/>
        </p:nvSpPr>
        <p:spPr>
          <a:xfrm>
            <a:off x="10625784" y="1332067"/>
            <a:ext cx="88663" cy="88663"/>
          </a:xfrm>
          <a:prstGeom prst="ellipse">
            <a:avLst/>
          </a:prstGeom>
          <a:solidFill>
            <a:srgbClr val="7A3B2E"/>
          </a:solidFill>
          <a:ln/>
        </p:spPr>
      </p:sp>
      <p:sp>
        <p:nvSpPr>
          <p:cNvPr id="14" name="Shape 12"/>
          <p:cNvSpPr/>
          <p:nvPr/>
        </p:nvSpPr>
        <p:spPr>
          <a:xfrm>
            <a:off x="9564523" y="851635"/>
            <a:ext cx="88181" cy="88181"/>
          </a:xfrm>
          <a:prstGeom prst="ellipse">
            <a:avLst/>
          </a:prstGeom>
          <a:solidFill>
            <a:srgbClr val="3F6F5F"/>
          </a:solidFill>
          <a:ln/>
        </p:spPr>
      </p:sp>
      <p:sp>
        <p:nvSpPr>
          <p:cNvPr id="15" name="Shape 13"/>
          <p:cNvSpPr/>
          <p:nvPr/>
        </p:nvSpPr>
        <p:spPr>
          <a:xfrm>
            <a:off x="10401911" y="1235860"/>
            <a:ext cx="86048" cy="86048"/>
          </a:xfrm>
          <a:prstGeom prst="ellipse">
            <a:avLst/>
          </a:prstGeom>
          <a:solidFill>
            <a:srgbClr val="B9852F"/>
          </a:solidFill>
          <a:ln/>
        </p:spPr>
      </p:sp>
      <p:sp>
        <p:nvSpPr>
          <p:cNvPr id="16" name="Shape 14"/>
          <p:cNvSpPr/>
          <p:nvPr/>
        </p:nvSpPr>
        <p:spPr>
          <a:xfrm>
            <a:off x="11537750" y="1471284"/>
            <a:ext cx="50260" cy="50260"/>
          </a:xfrm>
          <a:prstGeom prst="ellipse">
            <a:avLst/>
          </a:prstGeom>
          <a:solidFill>
            <a:srgbClr val="7A3B2E"/>
          </a:solidFill>
          <a:ln/>
        </p:spPr>
      </p:sp>
      <p:sp>
        <p:nvSpPr>
          <p:cNvPr id="17" name="Shape 15"/>
          <p:cNvSpPr/>
          <p:nvPr/>
        </p:nvSpPr>
        <p:spPr>
          <a:xfrm>
            <a:off x="11371839" y="2281806"/>
            <a:ext cx="58541" cy="58541"/>
          </a:xfrm>
          <a:prstGeom prst="ellipse">
            <a:avLst/>
          </a:prstGeom>
          <a:solidFill>
            <a:srgbClr val="3F6F5F"/>
          </a:solidFill>
          <a:ln/>
        </p:spPr>
      </p:sp>
      <p:sp>
        <p:nvSpPr>
          <p:cNvPr id="18" name="Shape 16"/>
          <p:cNvSpPr/>
          <p:nvPr/>
        </p:nvSpPr>
        <p:spPr>
          <a:xfrm>
            <a:off x="11047177" y="916607"/>
            <a:ext cx="78887" cy="78887"/>
          </a:xfrm>
          <a:prstGeom prst="ellipse">
            <a:avLst/>
          </a:prstGeom>
          <a:solidFill>
            <a:srgbClr val="B9852F"/>
          </a:solidFill>
          <a:ln/>
        </p:spPr>
      </p:sp>
      <p:sp>
        <p:nvSpPr>
          <p:cNvPr id="19" name="Shape 17"/>
          <p:cNvSpPr/>
          <p:nvPr/>
        </p:nvSpPr>
        <p:spPr>
          <a:xfrm>
            <a:off x="8963566" y="1574306"/>
            <a:ext cx="79295" cy="79295"/>
          </a:xfrm>
          <a:prstGeom prst="ellipse">
            <a:avLst/>
          </a:prstGeom>
          <a:solidFill>
            <a:srgbClr val="7A3B2E"/>
          </a:solidFill>
          <a:ln/>
        </p:spPr>
      </p:sp>
      <p:sp>
        <p:nvSpPr>
          <p:cNvPr id="20" name="Shape 18"/>
          <p:cNvSpPr/>
          <p:nvPr/>
        </p:nvSpPr>
        <p:spPr>
          <a:xfrm>
            <a:off x="9007205" y="1504083"/>
            <a:ext cx="82623" cy="82623"/>
          </a:xfrm>
          <a:prstGeom prst="ellipse">
            <a:avLst/>
          </a:prstGeom>
          <a:solidFill>
            <a:srgbClr val="3F6F5F"/>
          </a:solidFill>
          <a:ln/>
        </p:spPr>
      </p:sp>
      <p:sp>
        <p:nvSpPr>
          <p:cNvPr id="21" name="Shape 19"/>
          <p:cNvSpPr/>
          <p:nvPr/>
        </p:nvSpPr>
        <p:spPr>
          <a:xfrm>
            <a:off x="9577893" y="1429839"/>
            <a:ext cx="56868" cy="56868"/>
          </a:xfrm>
          <a:prstGeom prst="ellipse">
            <a:avLst/>
          </a:prstGeom>
          <a:solidFill>
            <a:srgbClr val="B9852F"/>
          </a:solidFill>
          <a:ln/>
        </p:spPr>
      </p:sp>
      <p:sp>
        <p:nvSpPr>
          <p:cNvPr id="22" name="Shape 20"/>
          <p:cNvSpPr/>
          <p:nvPr/>
        </p:nvSpPr>
        <p:spPr>
          <a:xfrm>
            <a:off x="9075432" y="2075472"/>
            <a:ext cx="79754" cy="79754"/>
          </a:xfrm>
          <a:prstGeom prst="ellipse">
            <a:avLst/>
          </a:prstGeom>
          <a:solidFill>
            <a:srgbClr val="7A3B2E"/>
          </a:solidFill>
          <a:ln/>
        </p:spPr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640080" y="1371600"/>
            <a:ext cx="2377440" cy="2377440"/>
          </a:xfrm>
          <a:prstGeom prst="ellipse">
            <a:avLst/>
          </a:prstGeom>
          <a:solidFill>
            <a:srgbClr val="F4EEE8"/>
          </a:solidFill>
          <a:ln/>
        </p:spPr>
      </p:sp>
      <p:sp>
        <p:nvSpPr>
          <p:cNvPr id="3" name="Shape 1"/>
          <p:cNvSpPr/>
          <p:nvPr/>
        </p:nvSpPr>
        <p:spPr>
          <a:xfrm>
            <a:off x="1325880" y="2423160"/>
            <a:ext cx="146304" cy="146304"/>
          </a:xfrm>
          <a:prstGeom prst="ellipse">
            <a:avLst/>
          </a:prstGeom>
          <a:solidFill>
            <a:srgbClr val="7A3B2E"/>
          </a:solidFill>
          <a:ln/>
        </p:spPr>
      </p:sp>
      <p:sp>
        <p:nvSpPr>
          <p:cNvPr id="4" name="Shape 2"/>
          <p:cNvSpPr/>
          <p:nvPr/>
        </p:nvSpPr>
        <p:spPr>
          <a:xfrm>
            <a:off x="1563624" y="2514600"/>
            <a:ext cx="146304" cy="146304"/>
          </a:xfrm>
          <a:prstGeom prst="ellipse">
            <a:avLst/>
          </a:prstGeom>
          <a:solidFill>
            <a:srgbClr val="3F6F5F"/>
          </a:solidFill>
          <a:ln/>
        </p:spPr>
      </p:sp>
      <p:sp>
        <p:nvSpPr>
          <p:cNvPr id="5" name="Shape 3"/>
          <p:cNvSpPr/>
          <p:nvPr/>
        </p:nvSpPr>
        <p:spPr>
          <a:xfrm>
            <a:off x="1801368" y="2423160"/>
            <a:ext cx="146304" cy="146304"/>
          </a:xfrm>
          <a:prstGeom prst="ellipse">
            <a:avLst/>
          </a:prstGeom>
          <a:solidFill>
            <a:srgbClr val="B9852F"/>
          </a:solidFill>
          <a:ln/>
        </p:spPr>
      </p:sp>
      <p:sp>
        <p:nvSpPr>
          <p:cNvPr id="6" name="Text 4"/>
          <p:cNvSpPr/>
          <p:nvPr/>
        </p:nvSpPr>
        <p:spPr>
          <a:xfrm>
            <a:off x="3657600" y="914400"/>
            <a:ext cx="7315200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300" b="1" spc="300" kern="0" dirty="0">
                <a:solidFill>
                  <a:srgbClr val="B9852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LOOK AT THIS</a:t>
            </a:r>
            <a:endParaRPr lang="en-US" sz="1300" dirty="0"/>
          </a:p>
        </p:txBody>
      </p:sp>
      <p:sp>
        <p:nvSpPr>
          <p:cNvPr id="7" name="Text 5"/>
          <p:cNvSpPr/>
          <p:nvPr/>
        </p:nvSpPr>
        <p:spPr>
          <a:xfrm>
            <a:off x="3657600" y="1280160"/>
            <a:ext cx="7863840" cy="7315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3000" b="1" dirty="0">
                <a:solidFill>
                  <a:srgbClr val="1A1A1A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The study we open with</a:t>
            </a:r>
            <a:endParaRPr lang="en-US" sz="3000" dirty="0"/>
          </a:p>
        </p:txBody>
      </p:sp>
      <p:sp>
        <p:nvSpPr>
          <p:cNvPr id="8" name="Text 6"/>
          <p:cNvSpPr/>
          <p:nvPr/>
        </p:nvSpPr>
        <p:spPr>
          <a:xfrm>
            <a:off x="3657600" y="2286000"/>
            <a:ext cx="7863840" cy="3291840"/>
          </a:xfrm>
          <a:prstGeom prst="rect">
            <a:avLst/>
          </a:prstGeom>
          <a:noFill/>
          <a:ln/>
        </p:spPr>
        <p:txBody>
          <a:bodyPr wrap="square" rtlCol="0" anchor="t">
            <a:spAutoFit/>
          </a:bodyPr>
          <a:lstStyle/>
          <a:p>
            <a:pPr indent="0" marL="0">
              <a:lnSpc>
                <a:spcPct val="115000"/>
              </a:lnSpc>
              <a:buNone/>
            </a:pPr>
            <a:r>
              <a:rPr lang="en-US" sz="1900" dirty="0">
                <a:solidFill>
                  <a:srgbClr val="1A1A1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The closing triptych, neural networks meet the art world: Edmond de Belamy (the market), Anna Ridler's Mosaic Virus (the labor), Refik Anadol's Unsupervised at MoMA (the museum).</a:t>
            </a:r>
            <a:endParaRPr lang="en-US" sz="1900" dirty="0"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640080" y="822960"/>
            <a:ext cx="7315200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300" b="1" spc="300" kern="0" dirty="0">
                <a:solidFill>
                  <a:srgbClr val="7A3B2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QUESTION IT</a:t>
            </a:r>
            <a:endParaRPr lang="en-US" sz="1300" dirty="0"/>
          </a:p>
        </p:txBody>
      </p:sp>
      <p:sp>
        <p:nvSpPr>
          <p:cNvPr id="3" name="Text 1"/>
          <p:cNvSpPr/>
          <p:nvPr/>
        </p:nvSpPr>
        <p:spPr>
          <a:xfrm>
            <a:off x="640080" y="1188720"/>
            <a:ext cx="10881360" cy="914400"/>
          </a:xfrm>
          <a:prstGeom prst="rect">
            <a:avLst/>
          </a:prstGeom>
          <a:noFill/>
          <a:ln/>
        </p:spPr>
        <p:txBody>
          <a:bodyPr wrap="square" rtlCol="0" anchor="ctr">
            <a:spAutoFit/>
          </a:bodyPr>
          <a:lstStyle/>
          <a:p>
            <a:pPr indent="0" marL="0">
              <a:buNone/>
            </a:pPr>
            <a:r>
              <a:rPr lang="en-US" sz="2600" b="1" dirty="0">
                <a:solidFill>
                  <a:srgbClr val="1A1A1A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What did they choose, and where might it be wrong?</a:t>
            </a:r>
            <a:endParaRPr lang="en-US" sz="2600" dirty="0"/>
          </a:p>
        </p:txBody>
      </p:sp>
      <p:sp>
        <p:nvSpPr>
          <p:cNvPr id="4" name="Shape 2"/>
          <p:cNvSpPr/>
          <p:nvPr/>
        </p:nvSpPr>
        <p:spPr>
          <a:xfrm>
            <a:off x="640080" y="2468880"/>
            <a:ext cx="256032" cy="256032"/>
          </a:xfrm>
          <a:prstGeom prst="ellipse">
            <a:avLst/>
          </a:prstGeom>
          <a:solidFill>
            <a:srgbClr val="B9852F"/>
          </a:solidFill>
          <a:ln/>
        </p:spPr>
      </p:sp>
      <p:sp>
        <p:nvSpPr>
          <p:cNvPr id="5" name="Text 3"/>
          <p:cNvSpPr/>
          <p:nvPr/>
        </p:nvSpPr>
        <p:spPr>
          <a:xfrm>
            <a:off x="1097280" y="2286000"/>
            <a:ext cx="10241280" cy="3657600"/>
          </a:xfrm>
          <a:prstGeom prst="rect">
            <a:avLst/>
          </a:prstGeom>
          <a:noFill/>
          <a:ln/>
        </p:spPr>
        <p:txBody>
          <a:bodyPr wrap="square" rtlCol="0" anchor="t">
            <a:spAutoFit/>
          </a:bodyPr>
          <a:lstStyle/>
          <a:p>
            <a:pPr indent="0" marL="0">
              <a:lnSpc>
                <a:spcPct val="120000"/>
              </a:lnSpc>
              <a:buNone/>
            </a:pPr>
            <a:r>
              <a:rPr lang="en-US" sz="2000" dirty="0">
                <a:solidFill>
                  <a:srgbClr val="1A1A1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When a machine reads a culture's archive, what is it showing us, and who decided what went in? You started Week 1 loading a museum's data; you end watching a museum's data become the art.</a:t>
            </a:r>
            <a:endParaRPr lang="en-US" sz="2000" dirty="0"/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164592" cy="6858000"/>
          </a:xfrm>
          <a:prstGeom prst="rect">
            <a:avLst/>
          </a:prstGeom>
          <a:solidFill>
            <a:srgbClr val="7A3B2E"/>
          </a:solidFill>
          <a:ln/>
        </p:spPr>
      </p:sp>
      <p:sp>
        <p:nvSpPr>
          <p:cNvPr id="3" name="Text 1"/>
          <p:cNvSpPr/>
          <p:nvPr/>
        </p:nvSpPr>
        <p:spPr>
          <a:xfrm>
            <a:off x="640080" y="640080"/>
            <a:ext cx="10058400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200" b="1" spc="300" kern="0" dirty="0">
                <a:solidFill>
                  <a:srgbClr val="7A3B2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WEEK 10 · KEY POINTS</a:t>
            </a:r>
            <a:endParaRPr lang="en-US" sz="1200" dirty="0"/>
          </a:p>
        </p:txBody>
      </p:sp>
      <p:sp>
        <p:nvSpPr>
          <p:cNvPr id="4" name="Text 2"/>
          <p:cNvSpPr/>
          <p:nvPr/>
        </p:nvSpPr>
        <p:spPr>
          <a:xfrm>
            <a:off x="640080" y="1005840"/>
            <a:ext cx="10881360" cy="914400"/>
          </a:xfrm>
          <a:prstGeom prst="rect">
            <a:avLst/>
          </a:prstGeom>
          <a:noFill/>
          <a:ln/>
        </p:spPr>
        <p:txBody>
          <a:bodyPr wrap="square" rtlCol="0" anchor="t">
            <a:spAutoFit/>
          </a:bodyPr>
          <a:lstStyle/>
          <a:p>
            <a:pPr indent="0" marL="0">
              <a:buNone/>
            </a:pPr>
            <a:r>
              <a:rPr lang="en-US" sz="3000" b="1" dirty="0">
                <a:solidFill>
                  <a:srgbClr val="1A1A1A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The walkthrough, AI closed</a:t>
            </a:r>
            <a:endParaRPr lang="en-US" sz="3000" dirty="0"/>
          </a:p>
        </p:txBody>
      </p:sp>
      <p:sp>
        <p:nvSpPr>
          <p:cNvPr id="5" name="Shape 3"/>
          <p:cNvSpPr/>
          <p:nvPr/>
        </p:nvSpPr>
        <p:spPr>
          <a:xfrm>
            <a:off x="640080" y="2331720"/>
            <a:ext cx="201168" cy="201168"/>
          </a:xfrm>
          <a:prstGeom prst="ellipse">
            <a:avLst/>
          </a:prstGeom>
          <a:solidFill>
            <a:srgbClr val="7A3B2E"/>
          </a:solidFill>
          <a:ln/>
        </p:spPr>
      </p:sp>
      <p:sp>
        <p:nvSpPr>
          <p:cNvPr id="6" name="Text 4"/>
          <p:cNvSpPr/>
          <p:nvPr/>
        </p:nvSpPr>
        <p:spPr>
          <a:xfrm>
            <a:off x="1097280" y="2240280"/>
            <a:ext cx="10607040" cy="1051560"/>
          </a:xfrm>
          <a:prstGeom prst="rect">
            <a:avLst/>
          </a:prstGeom>
          <a:noFill/>
          <a:ln/>
        </p:spPr>
        <p:txBody>
          <a:bodyPr wrap="square" rtlCol="0" anchor="t">
            <a:spAutoFit/>
          </a:bodyPr>
          <a:lstStyle/>
          <a:p>
            <a:pPr indent="0" marL="0">
              <a:lnSpc>
                <a:spcPct val="112000"/>
              </a:lnSpc>
              <a:buNone/>
            </a:pPr>
            <a:r>
              <a:rPr lang="en-US" sz="1650" dirty="0">
                <a:solidFill>
                  <a:srgbClr val="1A1A1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Present the essay, then walk the room through your notebook, aloud, cell by cell.</a:t>
            </a:r>
            <a:endParaRPr lang="en-US" sz="1650" dirty="0"/>
          </a:p>
        </p:txBody>
      </p:sp>
      <p:sp>
        <p:nvSpPr>
          <p:cNvPr id="7" name="Shape 5"/>
          <p:cNvSpPr/>
          <p:nvPr/>
        </p:nvSpPr>
        <p:spPr>
          <a:xfrm>
            <a:off x="640080" y="3383280"/>
            <a:ext cx="201168" cy="201168"/>
          </a:xfrm>
          <a:prstGeom prst="ellipse">
            <a:avLst/>
          </a:prstGeom>
          <a:solidFill>
            <a:srgbClr val="3F6F5F"/>
          </a:solidFill>
          <a:ln/>
        </p:spPr>
      </p:sp>
      <p:sp>
        <p:nvSpPr>
          <p:cNvPr id="8" name="Text 6"/>
          <p:cNvSpPr/>
          <p:nvPr/>
        </p:nvSpPr>
        <p:spPr>
          <a:xfrm>
            <a:off x="1097280" y="3291840"/>
            <a:ext cx="10607040" cy="1051560"/>
          </a:xfrm>
          <a:prstGeom prst="rect">
            <a:avLst/>
          </a:prstGeom>
          <a:noFill/>
          <a:ln/>
        </p:spPr>
        <p:txBody>
          <a:bodyPr wrap="square" rtlCol="0" anchor="t">
            <a:spAutoFit/>
          </a:bodyPr>
          <a:lstStyle/>
          <a:p>
            <a:pPr indent="0" marL="0">
              <a:lnSpc>
                <a:spcPct val="112000"/>
              </a:lnSpc>
              <a:buNone/>
            </a:pPr>
            <a:r>
              <a:rPr lang="en-US" sz="1650" dirty="0">
                <a:solidFill>
                  <a:srgbClr val="1A1A1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The oral walkthrough is the one deliverable an AI cannot produce for you.</a:t>
            </a:r>
            <a:endParaRPr lang="en-US" sz="1650" dirty="0"/>
          </a:p>
        </p:txBody>
      </p:sp>
      <p:sp>
        <p:nvSpPr>
          <p:cNvPr id="9" name="Shape 7"/>
          <p:cNvSpPr/>
          <p:nvPr/>
        </p:nvSpPr>
        <p:spPr>
          <a:xfrm>
            <a:off x="640080" y="4434840"/>
            <a:ext cx="201168" cy="201168"/>
          </a:xfrm>
          <a:prstGeom prst="ellipse">
            <a:avLst/>
          </a:prstGeom>
          <a:solidFill>
            <a:srgbClr val="B9852F"/>
          </a:solidFill>
          <a:ln/>
        </p:spPr>
      </p:sp>
      <p:sp>
        <p:nvSpPr>
          <p:cNvPr id="10" name="Text 8"/>
          <p:cNvSpPr/>
          <p:nvPr/>
        </p:nvSpPr>
        <p:spPr>
          <a:xfrm>
            <a:off x="1097280" y="4343400"/>
            <a:ext cx="10607040" cy="1051560"/>
          </a:xfrm>
          <a:prstGeom prst="rect">
            <a:avLst/>
          </a:prstGeom>
          <a:noFill/>
          <a:ln/>
        </p:spPr>
        <p:txBody>
          <a:bodyPr wrap="square" rtlCol="0" anchor="t">
            <a:spAutoFit/>
          </a:bodyPr>
          <a:lstStyle/>
          <a:p>
            <a:pPr indent="0" marL="0">
              <a:lnSpc>
                <a:spcPct val="112000"/>
              </a:lnSpc>
              <a:buNone/>
            </a:pPr>
            <a:r>
              <a:rPr lang="en-US" sz="1650" dirty="0">
                <a:solidFill>
                  <a:srgbClr val="1A1A1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Expect three questions: what did you choose, what would you distrust, what would you do next?</a:t>
            </a:r>
            <a:endParaRPr lang="en-US" sz="1650" dirty="0"/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5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164592" cy="6858000"/>
          </a:xfrm>
          <a:prstGeom prst="rect">
            <a:avLst/>
          </a:prstGeom>
          <a:solidFill>
            <a:srgbClr val="3F6F5F"/>
          </a:solidFill>
          <a:ln/>
        </p:spPr>
      </p:sp>
      <p:sp>
        <p:nvSpPr>
          <p:cNvPr id="3" name="Text 1"/>
          <p:cNvSpPr/>
          <p:nvPr/>
        </p:nvSpPr>
        <p:spPr>
          <a:xfrm>
            <a:off x="640080" y="640080"/>
            <a:ext cx="10058400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200" b="1" spc="300" kern="0" dirty="0">
                <a:solidFill>
                  <a:srgbClr val="3F6F5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WEEK 10 · KEY POINTS</a:t>
            </a:r>
            <a:endParaRPr lang="en-US" sz="1200" dirty="0"/>
          </a:p>
        </p:txBody>
      </p:sp>
      <p:sp>
        <p:nvSpPr>
          <p:cNvPr id="4" name="Text 2"/>
          <p:cNvSpPr/>
          <p:nvPr/>
        </p:nvSpPr>
        <p:spPr>
          <a:xfrm>
            <a:off x="640080" y="1005840"/>
            <a:ext cx="10881360" cy="914400"/>
          </a:xfrm>
          <a:prstGeom prst="rect">
            <a:avLst/>
          </a:prstGeom>
          <a:noFill/>
          <a:ln/>
        </p:spPr>
        <p:txBody>
          <a:bodyPr wrap="square" rtlCol="0" anchor="t">
            <a:spAutoFit/>
          </a:bodyPr>
          <a:lstStyle/>
          <a:p>
            <a:pPr indent="0" marL="0">
              <a:buNone/>
            </a:pPr>
            <a:r>
              <a:rPr lang="en-US" sz="3000" b="1" dirty="0">
                <a:solidFill>
                  <a:srgbClr val="1A1A1A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The closing triptych</a:t>
            </a:r>
            <a:endParaRPr lang="en-US" sz="3000" dirty="0"/>
          </a:p>
        </p:txBody>
      </p:sp>
      <p:sp>
        <p:nvSpPr>
          <p:cNvPr id="5" name="Shape 3"/>
          <p:cNvSpPr/>
          <p:nvPr/>
        </p:nvSpPr>
        <p:spPr>
          <a:xfrm>
            <a:off x="640080" y="2331720"/>
            <a:ext cx="201168" cy="201168"/>
          </a:xfrm>
          <a:prstGeom prst="ellipse">
            <a:avLst/>
          </a:prstGeom>
          <a:solidFill>
            <a:srgbClr val="7A3B2E"/>
          </a:solidFill>
          <a:ln/>
        </p:spPr>
      </p:sp>
      <p:sp>
        <p:nvSpPr>
          <p:cNvPr id="6" name="Text 4"/>
          <p:cNvSpPr/>
          <p:nvPr/>
        </p:nvSpPr>
        <p:spPr>
          <a:xfrm>
            <a:off x="1097280" y="2240280"/>
            <a:ext cx="10607040" cy="1017270"/>
          </a:xfrm>
          <a:prstGeom prst="rect">
            <a:avLst/>
          </a:prstGeom>
          <a:noFill/>
          <a:ln/>
        </p:spPr>
        <p:txBody>
          <a:bodyPr wrap="square" rtlCol="0" anchor="t">
            <a:spAutoFit/>
          </a:bodyPr>
          <a:lstStyle/>
          <a:p>
            <a:pPr indent="0" marL="0">
              <a:lnSpc>
                <a:spcPct val="112000"/>
              </a:lnSpc>
              <a:buNone/>
            </a:pPr>
            <a:r>
              <a:rPr lang="en-US" sz="1650" dirty="0">
                <a:solidFill>
                  <a:srgbClr val="1A1A1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Edmond de Belamy, the AI portrait that sold for $432,500: who is the author?</a:t>
            </a:r>
            <a:endParaRPr lang="en-US" sz="1650" dirty="0"/>
          </a:p>
        </p:txBody>
      </p:sp>
      <p:sp>
        <p:nvSpPr>
          <p:cNvPr id="7" name="Shape 5"/>
          <p:cNvSpPr/>
          <p:nvPr/>
        </p:nvSpPr>
        <p:spPr>
          <a:xfrm>
            <a:off x="640080" y="3348990"/>
            <a:ext cx="201168" cy="201168"/>
          </a:xfrm>
          <a:prstGeom prst="ellipse">
            <a:avLst/>
          </a:prstGeom>
          <a:solidFill>
            <a:srgbClr val="3F6F5F"/>
          </a:solidFill>
          <a:ln/>
        </p:spPr>
      </p:sp>
      <p:sp>
        <p:nvSpPr>
          <p:cNvPr id="8" name="Text 6"/>
          <p:cNvSpPr/>
          <p:nvPr/>
        </p:nvSpPr>
        <p:spPr>
          <a:xfrm>
            <a:off x="1097280" y="3257550"/>
            <a:ext cx="10607040" cy="1017270"/>
          </a:xfrm>
          <a:prstGeom prst="rect">
            <a:avLst/>
          </a:prstGeom>
          <a:noFill/>
          <a:ln/>
        </p:spPr>
        <p:txBody>
          <a:bodyPr wrap="square" rtlCol="0" anchor="t">
            <a:spAutoFit/>
          </a:bodyPr>
          <a:lstStyle/>
          <a:p>
            <a:pPr indent="0" marL="0">
              <a:lnSpc>
                <a:spcPct val="112000"/>
              </a:lnSpc>
              <a:buNone/>
            </a:pPr>
            <a:r>
              <a:rPr lang="en-US" sz="1650" dirty="0">
                <a:solidFill>
                  <a:srgbClr val="1A1A1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Anna Ridler's Mosaic Virus: she photographed 10,000 tulips herself to build the training set: whose labor is the data?</a:t>
            </a:r>
            <a:endParaRPr lang="en-US" sz="1650" dirty="0"/>
          </a:p>
        </p:txBody>
      </p:sp>
      <p:sp>
        <p:nvSpPr>
          <p:cNvPr id="9" name="Shape 7"/>
          <p:cNvSpPr/>
          <p:nvPr/>
        </p:nvSpPr>
        <p:spPr>
          <a:xfrm>
            <a:off x="640080" y="4366260"/>
            <a:ext cx="201168" cy="201168"/>
          </a:xfrm>
          <a:prstGeom prst="ellipse">
            <a:avLst/>
          </a:prstGeom>
          <a:solidFill>
            <a:srgbClr val="B9852F"/>
          </a:solidFill>
          <a:ln/>
        </p:spPr>
      </p:sp>
      <p:sp>
        <p:nvSpPr>
          <p:cNvPr id="10" name="Text 8"/>
          <p:cNvSpPr/>
          <p:nvPr/>
        </p:nvSpPr>
        <p:spPr>
          <a:xfrm>
            <a:off x="1097280" y="4274820"/>
            <a:ext cx="10607040" cy="1017270"/>
          </a:xfrm>
          <a:prstGeom prst="rect">
            <a:avLst/>
          </a:prstGeom>
          <a:noFill/>
          <a:ln/>
        </p:spPr>
        <p:txBody>
          <a:bodyPr wrap="square" rtlCol="0" anchor="t">
            <a:spAutoFit/>
          </a:bodyPr>
          <a:lstStyle/>
          <a:p>
            <a:pPr indent="0" marL="0">
              <a:lnSpc>
                <a:spcPct val="112000"/>
              </a:lnSpc>
              <a:buNone/>
            </a:pPr>
            <a:r>
              <a:rPr lang="en-US" sz="1650" dirty="0">
                <a:solidFill>
                  <a:srgbClr val="1A1A1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Anadol's Unsupervised at MoMA: the museum's own collection becomes the art: who decided what went in?</a:t>
            </a:r>
            <a:endParaRPr lang="en-US" sz="1650" dirty="0"/>
          </a:p>
        </p:txBody>
      </p:sp>
      <p:sp>
        <p:nvSpPr>
          <p:cNvPr id="11" name="Shape 9"/>
          <p:cNvSpPr/>
          <p:nvPr/>
        </p:nvSpPr>
        <p:spPr>
          <a:xfrm>
            <a:off x="640080" y="5383530"/>
            <a:ext cx="201168" cy="201168"/>
          </a:xfrm>
          <a:prstGeom prst="ellipse">
            <a:avLst/>
          </a:prstGeom>
          <a:solidFill>
            <a:srgbClr val="7A3B2E"/>
          </a:solidFill>
          <a:ln/>
        </p:spPr>
      </p:sp>
      <p:sp>
        <p:nvSpPr>
          <p:cNvPr id="12" name="Text 10"/>
          <p:cNvSpPr/>
          <p:nvPr/>
        </p:nvSpPr>
        <p:spPr>
          <a:xfrm>
            <a:off x="1097280" y="5292090"/>
            <a:ext cx="10607040" cy="1017270"/>
          </a:xfrm>
          <a:prstGeom prst="rect">
            <a:avLst/>
          </a:prstGeom>
          <a:noFill/>
          <a:ln/>
        </p:spPr>
        <p:txBody>
          <a:bodyPr wrap="square" rtlCol="0" anchor="t">
            <a:spAutoFit/>
          </a:bodyPr>
          <a:lstStyle/>
          <a:p>
            <a:pPr indent="0" marL="0">
              <a:lnSpc>
                <a:spcPct val="112000"/>
              </a:lnSpc>
              <a:buNone/>
            </a:pPr>
            <a:r>
              <a:rPr lang="en-US" sz="1650" dirty="0">
                <a:solidFill>
                  <a:srgbClr val="1A1A1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Week 1 began with loading a museum's catalog. The course ends watching a catalog become the art.</a:t>
            </a:r>
            <a:endParaRPr lang="en-US" sz="1650" dirty="0"/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6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164592" cy="6858000"/>
          </a:xfrm>
          <a:prstGeom prst="rect">
            <a:avLst/>
          </a:prstGeom>
          <a:solidFill>
            <a:srgbClr val="B9852F"/>
          </a:solidFill>
          <a:ln/>
        </p:spPr>
      </p:sp>
      <p:sp>
        <p:nvSpPr>
          <p:cNvPr id="3" name="Text 1"/>
          <p:cNvSpPr/>
          <p:nvPr/>
        </p:nvSpPr>
        <p:spPr>
          <a:xfrm>
            <a:off x="640080" y="640080"/>
            <a:ext cx="10058400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200" b="1" spc="300" kern="0" dirty="0">
                <a:solidFill>
                  <a:srgbClr val="B9852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WEEK 10 · KEY POINTS</a:t>
            </a:r>
            <a:endParaRPr lang="en-US" sz="1200" dirty="0"/>
          </a:p>
        </p:txBody>
      </p:sp>
      <p:sp>
        <p:nvSpPr>
          <p:cNvPr id="4" name="Text 2"/>
          <p:cNvSpPr/>
          <p:nvPr/>
        </p:nvSpPr>
        <p:spPr>
          <a:xfrm>
            <a:off x="640080" y="1005840"/>
            <a:ext cx="10881360" cy="914400"/>
          </a:xfrm>
          <a:prstGeom prst="rect">
            <a:avLst/>
          </a:prstGeom>
          <a:noFill/>
          <a:ln/>
        </p:spPr>
        <p:txBody>
          <a:bodyPr wrap="square" rtlCol="0" anchor="t">
            <a:spAutoFit/>
          </a:bodyPr>
          <a:lstStyle/>
          <a:p>
            <a:pPr indent="0" marL="0">
              <a:buNone/>
            </a:pPr>
            <a:r>
              <a:rPr lang="en-US" sz="3000" b="1" dirty="0">
                <a:solidFill>
                  <a:srgbClr val="1A1A1A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What you can do now</a:t>
            </a:r>
            <a:endParaRPr lang="en-US" sz="3000" dirty="0"/>
          </a:p>
        </p:txBody>
      </p:sp>
      <p:sp>
        <p:nvSpPr>
          <p:cNvPr id="5" name="Shape 3"/>
          <p:cNvSpPr/>
          <p:nvPr/>
        </p:nvSpPr>
        <p:spPr>
          <a:xfrm>
            <a:off x="640080" y="2331720"/>
            <a:ext cx="201168" cy="201168"/>
          </a:xfrm>
          <a:prstGeom prst="ellipse">
            <a:avLst/>
          </a:prstGeom>
          <a:solidFill>
            <a:srgbClr val="7A3B2E"/>
          </a:solidFill>
          <a:ln/>
        </p:spPr>
      </p:sp>
      <p:sp>
        <p:nvSpPr>
          <p:cNvPr id="6" name="Text 4"/>
          <p:cNvSpPr/>
          <p:nvPr/>
        </p:nvSpPr>
        <p:spPr>
          <a:xfrm>
            <a:off x="1097280" y="2240280"/>
            <a:ext cx="10607040" cy="813816"/>
          </a:xfrm>
          <a:prstGeom prst="rect">
            <a:avLst/>
          </a:prstGeom>
          <a:noFill/>
          <a:ln/>
        </p:spPr>
        <p:txBody>
          <a:bodyPr wrap="square" rtlCol="0" anchor="t">
            <a:spAutoFit/>
          </a:bodyPr>
          <a:lstStyle/>
          <a:p>
            <a:pPr indent="0" marL="0">
              <a:lnSpc>
                <a:spcPct val="112000"/>
              </a:lnSpc>
              <a:buNone/>
            </a:pPr>
            <a:r>
              <a:rPr lang="en-US" sz="1500" dirty="0">
                <a:solidFill>
                  <a:srgbClr val="1A1A1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Read a block of analysis code and say what it does, line by line.</a:t>
            </a:r>
            <a:endParaRPr lang="en-US" sz="1500" dirty="0"/>
          </a:p>
        </p:txBody>
      </p:sp>
      <p:sp>
        <p:nvSpPr>
          <p:cNvPr id="7" name="Shape 5"/>
          <p:cNvSpPr/>
          <p:nvPr/>
        </p:nvSpPr>
        <p:spPr>
          <a:xfrm>
            <a:off x="640080" y="3145536"/>
            <a:ext cx="201168" cy="201168"/>
          </a:xfrm>
          <a:prstGeom prst="ellipse">
            <a:avLst/>
          </a:prstGeom>
          <a:solidFill>
            <a:srgbClr val="3F6F5F"/>
          </a:solidFill>
          <a:ln/>
        </p:spPr>
      </p:sp>
      <p:sp>
        <p:nvSpPr>
          <p:cNvPr id="8" name="Text 6"/>
          <p:cNvSpPr/>
          <p:nvPr/>
        </p:nvSpPr>
        <p:spPr>
          <a:xfrm>
            <a:off x="1097280" y="3054096"/>
            <a:ext cx="10607040" cy="813816"/>
          </a:xfrm>
          <a:prstGeom prst="rect">
            <a:avLst/>
          </a:prstGeom>
          <a:noFill/>
          <a:ln/>
        </p:spPr>
        <p:txBody>
          <a:bodyPr wrap="square" rtlCol="0" anchor="t">
            <a:spAutoFit/>
          </a:bodyPr>
          <a:lstStyle/>
          <a:p>
            <a:pPr indent="0" marL="0">
              <a:lnSpc>
                <a:spcPct val="112000"/>
              </a:lnSpc>
              <a:buNone/>
            </a:pPr>
            <a:r>
              <a:rPr lang="en-US" sz="1500" dirty="0">
                <a:solidFill>
                  <a:srgbClr val="1A1A1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Ask a tractable question of cultural data and name what it leaves out.</a:t>
            </a:r>
            <a:endParaRPr lang="en-US" sz="1500" dirty="0"/>
          </a:p>
        </p:txBody>
      </p:sp>
      <p:sp>
        <p:nvSpPr>
          <p:cNvPr id="9" name="Shape 7"/>
          <p:cNvSpPr/>
          <p:nvPr/>
        </p:nvSpPr>
        <p:spPr>
          <a:xfrm>
            <a:off x="640080" y="3959352"/>
            <a:ext cx="201168" cy="201168"/>
          </a:xfrm>
          <a:prstGeom prst="ellipse">
            <a:avLst/>
          </a:prstGeom>
          <a:solidFill>
            <a:srgbClr val="B9852F"/>
          </a:solidFill>
          <a:ln/>
        </p:spPr>
      </p:sp>
      <p:sp>
        <p:nvSpPr>
          <p:cNvPr id="10" name="Text 8"/>
          <p:cNvSpPr/>
          <p:nvPr/>
        </p:nvSpPr>
        <p:spPr>
          <a:xfrm>
            <a:off x="1097280" y="3867912"/>
            <a:ext cx="10607040" cy="813816"/>
          </a:xfrm>
          <a:prstGeom prst="rect">
            <a:avLst/>
          </a:prstGeom>
          <a:noFill/>
          <a:ln/>
        </p:spPr>
        <p:txBody>
          <a:bodyPr wrap="square" rtlCol="0" anchor="t">
            <a:spAutoFit/>
          </a:bodyPr>
          <a:lstStyle/>
          <a:p>
            <a:pPr indent="0" marL="0">
              <a:lnSpc>
                <a:spcPct val="112000"/>
              </a:lnSpc>
              <a:buNone/>
            </a:pPr>
            <a:r>
              <a:rPr lang="en-US" sz="1500" dirty="0">
                <a:solidFill>
                  <a:srgbClr val="1A1A1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Run counting, classification, embeddings, and annotation, and say what each reveals and hides.</a:t>
            </a:r>
            <a:endParaRPr lang="en-US" sz="1500" dirty="0"/>
          </a:p>
        </p:txBody>
      </p:sp>
      <p:sp>
        <p:nvSpPr>
          <p:cNvPr id="11" name="Shape 9"/>
          <p:cNvSpPr/>
          <p:nvPr/>
        </p:nvSpPr>
        <p:spPr>
          <a:xfrm>
            <a:off x="640080" y="4773168"/>
            <a:ext cx="201168" cy="201168"/>
          </a:xfrm>
          <a:prstGeom prst="ellipse">
            <a:avLst/>
          </a:prstGeom>
          <a:solidFill>
            <a:srgbClr val="7A3B2E"/>
          </a:solidFill>
          <a:ln/>
        </p:spPr>
      </p:sp>
      <p:sp>
        <p:nvSpPr>
          <p:cNvPr id="12" name="Text 10"/>
          <p:cNvSpPr/>
          <p:nvPr/>
        </p:nvSpPr>
        <p:spPr>
          <a:xfrm>
            <a:off x="1097280" y="4681728"/>
            <a:ext cx="10607040" cy="813816"/>
          </a:xfrm>
          <a:prstGeom prst="rect">
            <a:avLst/>
          </a:prstGeom>
          <a:noFill/>
          <a:ln/>
        </p:spPr>
        <p:txBody>
          <a:bodyPr wrap="square" rtlCol="0" anchor="t">
            <a:spAutoFit/>
          </a:bodyPr>
          <a:lstStyle/>
          <a:p>
            <a:pPr indent="0" marL="0">
              <a:lnSpc>
                <a:spcPct val="112000"/>
              </a:lnSpc>
              <a:buNone/>
            </a:pPr>
            <a:r>
              <a:rPr lang="en-US" sz="1500" dirty="0">
                <a:solidFill>
                  <a:srgbClr val="1A1A1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Shuffle-test a gap. Interrogate a chart, including your own.</a:t>
            </a:r>
            <a:endParaRPr lang="en-US" sz="1500" dirty="0"/>
          </a:p>
        </p:txBody>
      </p:sp>
      <p:sp>
        <p:nvSpPr>
          <p:cNvPr id="13" name="Shape 11"/>
          <p:cNvSpPr/>
          <p:nvPr/>
        </p:nvSpPr>
        <p:spPr>
          <a:xfrm>
            <a:off x="640080" y="5586984"/>
            <a:ext cx="201168" cy="201168"/>
          </a:xfrm>
          <a:prstGeom prst="ellipse">
            <a:avLst/>
          </a:prstGeom>
          <a:solidFill>
            <a:srgbClr val="3F6F5F"/>
          </a:solidFill>
          <a:ln/>
        </p:spPr>
      </p:sp>
      <p:sp>
        <p:nvSpPr>
          <p:cNvPr id="14" name="Text 12"/>
          <p:cNvSpPr/>
          <p:nvPr/>
        </p:nvSpPr>
        <p:spPr>
          <a:xfrm>
            <a:off x="1097280" y="5495544"/>
            <a:ext cx="10607040" cy="813816"/>
          </a:xfrm>
          <a:prstGeom prst="rect">
            <a:avLst/>
          </a:prstGeom>
          <a:noFill/>
          <a:ln/>
        </p:spPr>
        <p:txBody>
          <a:bodyPr wrap="square" rtlCol="0" anchor="t">
            <a:spAutoFit/>
          </a:bodyPr>
          <a:lstStyle/>
          <a:p>
            <a:pPr indent="0" marL="0">
              <a:lnSpc>
                <a:spcPct val="112000"/>
              </a:lnSpc>
              <a:buNone/>
            </a:pPr>
            <a:r>
              <a:rPr lang="en-US" sz="1500" dirty="0">
                <a:solidFill>
                  <a:srgbClr val="1A1A1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The portfolio proves it: notebook, Data Biography, essay, walkthrough.</a:t>
            </a:r>
            <a:endParaRPr lang="en-US" sz="1500" dirty="0"/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7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640080" y="731520"/>
            <a:ext cx="10058400" cy="7315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3000" b="1" dirty="0">
                <a:solidFill>
                  <a:srgbClr val="1A1A1A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Three modes today</a:t>
            </a:r>
            <a:endParaRPr lang="en-US" sz="3000" dirty="0"/>
          </a:p>
        </p:txBody>
      </p:sp>
      <p:sp>
        <p:nvSpPr>
          <p:cNvPr id="3" name="Text 1"/>
          <p:cNvSpPr/>
          <p:nvPr/>
        </p:nvSpPr>
        <p:spPr>
          <a:xfrm>
            <a:off x="640080" y="1417320"/>
            <a:ext cx="100584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400" i="1" dirty="0">
                <a:solidFill>
                  <a:srgbClr val="6B6B6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about a third of the session each</a:t>
            </a:r>
            <a:endParaRPr lang="en-US" sz="1400" dirty="0"/>
          </a:p>
        </p:txBody>
      </p:sp>
      <p:sp>
        <p:nvSpPr>
          <p:cNvPr id="4" name="Shape 2"/>
          <p:cNvSpPr/>
          <p:nvPr/>
        </p:nvSpPr>
        <p:spPr>
          <a:xfrm>
            <a:off x="640080" y="2194560"/>
            <a:ext cx="3383280" cy="3291840"/>
          </a:xfrm>
          <a:prstGeom prst="roundRect">
            <a:avLst>
              <a:gd name="adj" fmla="val 3333"/>
            </a:avLst>
          </a:prstGeom>
          <a:solidFill>
            <a:srgbClr val="F4EEE8"/>
          </a:solidFill>
          <a:ln/>
        </p:spPr>
      </p:sp>
      <p:sp>
        <p:nvSpPr>
          <p:cNvPr id="5" name="Shape 3"/>
          <p:cNvSpPr/>
          <p:nvPr/>
        </p:nvSpPr>
        <p:spPr>
          <a:xfrm>
            <a:off x="1051560" y="2606040"/>
            <a:ext cx="548640" cy="548640"/>
          </a:xfrm>
          <a:prstGeom prst="ellipse">
            <a:avLst/>
          </a:prstGeom>
          <a:solidFill>
            <a:srgbClr val="7A3B2E"/>
          </a:solidFill>
          <a:ln/>
        </p:spPr>
      </p:sp>
      <p:sp>
        <p:nvSpPr>
          <p:cNvPr id="6" name="Text 4"/>
          <p:cNvSpPr/>
          <p:nvPr/>
        </p:nvSpPr>
        <p:spPr>
          <a:xfrm>
            <a:off x="1005840" y="3383280"/>
            <a:ext cx="265176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100" b="1" dirty="0">
                <a:solidFill>
                  <a:srgbClr val="1A1A1A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Lecture / demo</a:t>
            </a:r>
            <a:endParaRPr lang="en-US" sz="2100" dirty="0"/>
          </a:p>
        </p:txBody>
      </p:sp>
      <p:sp>
        <p:nvSpPr>
          <p:cNvPr id="7" name="Text 5"/>
          <p:cNvSpPr/>
          <p:nvPr/>
        </p:nvSpPr>
        <p:spPr>
          <a:xfrm>
            <a:off x="1005840" y="3977640"/>
            <a:ext cx="2651760" cy="1371600"/>
          </a:xfrm>
          <a:prstGeom prst="rect">
            <a:avLst/>
          </a:prstGeom>
          <a:noFill/>
          <a:ln/>
        </p:spPr>
        <p:txBody>
          <a:bodyPr wrap="square" rtlCol="0" anchor="t">
            <a:spAutoFit/>
          </a:bodyPr>
          <a:lstStyle/>
          <a:p>
            <a:pPr indent="0" marL="0">
              <a:lnSpc>
                <a:spcPct val="115000"/>
              </a:lnSpc>
              <a:buNone/>
            </a:pPr>
            <a:r>
              <a:rPr lang="en-US" sz="1500" dirty="0">
                <a:solidFill>
                  <a:srgbClr val="1A1A1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 public celebration; the two capstone assessments</a:t>
            </a:r>
            <a:endParaRPr lang="en-US" sz="1500" dirty="0"/>
          </a:p>
        </p:txBody>
      </p:sp>
      <p:sp>
        <p:nvSpPr>
          <p:cNvPr id="8" name="Shape 6"/>
          <p:cNvSpPr/>
          <p:nvPr/>
        </p:nvSpPr>
        <p:spPr>
          <a:xfrm>
            <a:off x="4526280" y="2194560"/>
            <a:ext cx="3383280" cy="3291840"/>
          </a:xfrm>
          <a:prstGeom prst="roundRect">
            <a:avLst>
              <a:gd name="adj" fmla="val 3333"/>
            </a:avLst>
          </a:prstGeom>
          <a:solidFill>
            <a:srgbClr val="F4EEE8"/>
          </a:solidFill>
          <a:ln/>
        </p:spPr>
      </p:sp>
      <p:sp>
        <p:nvSpPr>
          <p:cNvPr id="9" name="Shape 7"/>
          <p:cNvSpPr/>
          <p:nvPr/>
        </p:nvSpPr>
        <p:spPr>
          <a:xfrm>
            <a:off x="4937760" y="2606040"/>
            <a:ext cx="548640" cy="548640"/>
          </a:xfrm>
          <a:prstGeom prst="ellipse">
            <a:avLst/>
          </a:prstGeom>
          <a:solidFill>
            <a:srgbClr val="3F6F5F"/>
          </a:solidFill>
          <a:ln/>
        </p:spPr>
      </p:sp>
      <p:sp>
        <p:nvSpPr>
          <p:cNvPr id="10" name="Text 8"/>
          <p:cNvSpPr/>
          <p:nvPr/>
        </p:nvSpPr>
        <p:spPr>
          <a:xfrm>
            <a:off x="4892040" y="3383280"/>
            <a:ext cx="265176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100" b="1" dirty="0">
                <a:solidFill>
                  <a:srgbClr val="1A1A1A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Workshop</a:t>
            </a:r>
            <a:endParaRPr lang="en-US" sz="2100" dirty="0"/>
          </a:p>
        </p:txBody>
      </p:sp>
      <p:sp>
        <p:nvSpPr>
          <p:cNvPr id="11" name="Text 9"/>
          <p:cNvSpPr/>
          <p:nvPr/>
        </p:nvSpPr>
        <p:spPr>
          <a:xfrm>
            <a:off x="4892040" y="3977640"/>
            <a:ext cx="2651760" cy="1371600"/>
          </a:xfrm>
          <a:prstGeom prst="rect">
            <a:avLst/>
          </a:prstGeom>
          <a:noFill/>
          <a:ln/>
        </p:spPr>
        <p:txBody>
          <a:bodyPr wrap="square" rtlCol="0" anchor="t">
            <a:spAutoFit/>
          </a:bodyPr>
          <a:lstStyle/>
          <a:p>
            <a:pPr indent="0" marL="0">
              <a:lnSpc>
                <a:spcPct val="115000"/>
              </a:lnSpc>
              <a:buNone/>
            </a:pPr>
            <a:r>
              <a:rPr lang="en-US" sz="1500" dirty="0">
                <a:solidFill>
                  <a:srgbClr val="1A1A1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Build hands-on on your own data.</a:t>
            </a:r>
            <a:endParaRPr lang="en-US" sz="1500" dirty="0"/>
          </a:p>
        </p:txBody>
      </p:sp>
      <p:sp>
        <p:nvSpPr>
          <p:cNvPr id="12" name="Shape 10"/>
          <p:cNvSpPr/>
          <p:nvPr/>
        </p:nvSpPr>
        <p:spPr>
          <a:xfrm>
            <a:off x="8412480" y="2194560"/>
            <a:ext cx="3383280" cy="3291840"/>
          </a:xfrm>
          <a:prstGeom prst="roundRect">
            <a:avLst>
              <a:gd name="adj" fmla="val 3333"/>
            </a:avLst>
          </a:prstGeom>
          <a:solidFill>
            <a:srgbClr val="F4EEE8"/>
          </a:solidFill>
          <a:ln/>
        </p:spPr>
      </p:sp>
      <p:sp>
        <p:nvSpPr>
          <p:cNvPr id="13" name="Shape 11"/>
          <p:cNvSpPr/>
          <p:nvPr/>
        </p:nvSpPr>
        <p:spPr>
          <a:xfrm>
            <a:off x="8823960" y="2606040"/>
            <a:ext cx="548640" cy="548640"/>
          </a:xfrm>
          <a:prstGeom prst="ellipse">
            <a:avLst/>
          </a:prstGeom>
          <a:solidFill>
            <a:srgbClr val="B9852F"/>
          </a:solidFill>
          <a:ln/>
        </p:spPr>
      </p:sp>
      <p:sp>
        <p:nvSpPr>
          <p:cNvPr id="14" name="Text 12"/>
          <p:cNvSpPr/>
          <p:nvPr/>
        </p:nvSpPr>
        <p:spPr>
          <a:xfrm>
            <a:off x="8778240" y="3383280"/>
            <a:ext cx="265176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100" b="1" dirty="0">
                <a:solidFill>
                  <a:srgbClr val="1A1A1A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Discussion</a:t>
            </a:r>
            <a:endParaRPr lang="en-US" sz="2100" dirty="0"/>
          </a:p>
        </p:txBody>
      </p:sp>
      <p:sp>
        <p:nvSpPr>
          <p:cNvPr id="15" name="Text 13"/>
          <p:cNvSpPr/>
          <p:nvPr/>
        </p:nvSpPr>
        <p:spPr>
          <a:xfrm>
            <a:off x="8778240" y="3977640"/>
            <a:ext cx="2651760" cy="1371600"/>
          </a:xfrm>
          <a:prstGeom prst="rect">
            <a:avLst/>
          </a:prstGeom>
          <a:noFill/>
          <a:ln/>
        </p:spPr>
        <p:txBody>
          <a:bodyPr wrap="square" rtlCol="0" anchor="t">
            <a:spAutoFit/>
          </a:bodyPr>
          <a:lstStyle/>
          <a:p>
            <a:pPr indent="0" marL="0">
              <a:lnSpc>
                <a:spcPct val="115000"/>
              </a:lnSpc>
              <a:buNone/>
            </a:pPr>
            <a:r>
              <a:rPr lang="en-US" sz="1500" dirty="0">
                <a:solidFill>
                  <a:srgbClr val="1A1A1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Interrogate the study, debate it, or critique each other's work.</a:t>
            </a:r>
            <a:endParaRPr lang="en-US" sz="1500" dirty="0"/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8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640080" y="640080"/>
            <a:ext cx="10058400" cy="7315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3000" b="1" dirty="0">
                <a:solidFill>
                  <a:srgbClr val="1A1A1A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The session</a:t>
            </a:r>
            <a:endParaRPr lang="en-US" sz="3000" dirty="0"/>
          </a:p>
        </p:txBody>
      </p:sp>
      <p:sp>
        <p:nvSpPr>
          <p:cNvPr id="3" name="Shape 1"/>
          <p:cNvSpPr/>
          <p:nvPr/>
        </p:nvSpPr>
        <p:spPr>
          <a:xfrm>
            <a:off x="640080" y="1572768"/>
            <a:ext cx="868680" cy="457200"/>
          </a:xfrm>
          <a:prstGeom prst="roundRect">
            <a:avLst>
              <a:gd name="adj" fmla="val 12000"/>
            </a:avLst>
          </a:prstGeom>
          <a:solidFill>
            <a:srgbClr val="7A3B2E"/>
          </a:solidFill>
          <a:ln/>
        </p:spPr>
      </p:sp>
      <p:sp>
        <p:nvSpPr>
          <p:cNvPr id="4" name="Text 2"/>
          <p:cNvSpPr/>
          <p:nvPr/>
        </p:nvSpPr>
        <p:spPr>
          <a:xfrm>
            <a:off x="640080" y="1572768"/>
            <a:ext cx="86868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0:00</a:t>
            </a:r>
            <a:endParaRPr lang="en-US" sz="1100" dirty="0"/>
          </a:p>
        </p:txBody>
      </p:sp>
      <p:sp>
        <p:nvSpPr>
          <p:cNvPr id="5" name="Text 3"/>
          <p:cNvSpPr/>
          <p:nvPr/>
        </p:nvSpPr>
        <p:spPr>
          <a:xfrm>
            <a:off x="1691640" y="1554480"/>
            <a:ext cx="9646920" cy="566928"/>
          </a:xfrm>
          <a:prstGeom prst="rect">
            <a:avLst/>
          </a:prstGeom>
          <a:noFill/>
          <a:ln/>
        </p:spPr>
        <p:txBody>
          <a:bodyPr wrap="square" rtlCol="0" anchor="ctr">
            <a:spAutoFit/>
          </a:bodyPr>
          <a:lstStyle/>
          <a:p>
            <a:pPr indent="0" marL="0">
              <a:buNone/>
            </a:pPr>
            <a:r>
              <a:rPr lang="en-US" sz="1250" dirty="0">
                <a:solidFill>
                  <a:srgbClr val="1A1A1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Welcome. This is a celebration, not a defense. The closing Look at This.</a:t>
            </a:r>
            <a:endParaRPr lang="en-US" sz="1250" dirty="0"/>
          </a:p>
        </p:txBody>
      </p:sp>
      <p:sp>
        <p:nvSpPr>
          <p:cNvPr id="6" name="Shape 4"/>
          <p:cNvSpPr/>
          <p:nvPr/>
        </p:nvSpPr>
        <p:spPr>
          <a:xfrm>
            <a:off x="640080" y="2139696"/>
            <a:ext cx="868680" cy="457200"/>
          </a:xfrm>
          <a:prstGeom prst="roundRect">
            <a:avLst>
              <a:gd name="adj" fmla="val 12000"/>
            </a:avLst>
          </a:prstGeom>
          <a:solidFill>
            <a:srgbClr val="7A3B2E"/>
          </a:solidFill>
          <a:ln/>
        </p:spPr>
      </p:sp>
      <p:sp>
        <p:nvSpPr>
          <p:cNvPr id="7" name="Text 5"/>
          <p:cNvSpPr/>
          <p:nvPr/>
        </p:nvSpPr>
        <p:spPr>
          <a:xfrm>
            <a:off x="640080" y="2139696"/>
            <a:ext cx="86868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0:10</a:t>
            </a:r>
            <a:endParaRPr lang="en-US" sz="1100" dirty="0"/>
          </a:p>
        </p:txBody>
      </p:sp>
      <p:sp>
        <p:nvSpPr>
          <p:cNvPr id="8" name="Text 6"/>
          <p:cNvSpPr/>
          <p:nvPr/>
        </p:nvSpPr>
        <p:spPr>
          <a:xfrm>
            <a:off x="1691640" y="2121408"/>
            <a:ext cx="9646920" cy="566928"/>
          </a:xfrm>
          <a:prstGeom prst="rect">
            <a:avLst/>
          </a:prstGeom>
          <a:noFill/>
          <a:ln/>
        </p:spPr>
        <p:txBody>
          <a:bodyPr wrap="square" rtlCol="0" anchor="ctr">
            <a:spAutoFit/>
          </a:bodyPr>
          <a:lstStyle/>
          <a:p>
            <a:pPr indent="0" marL="0">
              <a:buNone/>
            </a:pPr>
            <a:r>
              <a:rPr lang="en-US" sz="1250" dirty="0">
                <a:solidFill>
                  <a:srgbClr val="1A1A1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Presentations, 4–5 min each: corpus, headline finding, one surprise. Live URL projected.</a:t>
            </a:r>
            <a:endParaRPr lang="en-US" sz="1250" dirty="0"/>
          </a:p>
        </p:txBody>
      </p:sp>
      <p:sp>
        <p:nvSpPr>
          <p:cNvPr id="9" name="Shape 7"/>
          <p:cNvSpPr/>
          <p:nvPr/>
        </p:nvSpPr>
        <p:spPr>
          <a:xfrm>
            <a:off x="640080" y="2706624"/>
            <a:ext cx="868680" cy="457200"/>
          </a:xfrm>
          <a:prstGeom prst="roundRect">
            <a:avLst>
              <a:gd name="adj" fmla="val 12000"/>
            </a:avLst>
          </a:prstGeom>
          <a:solidFill>
            <a:srgbClr val="7A3B2E"/>
          </a:solidFill>
          <a:ln/>
        </p:spPr>
      </p:sp>
      <p:sp>
        <p:nvSpPr>
          <p:cNvPr id="10" name="Text 8"/>
          <p:cNvSpPr/>
          <p:nvPr/>
        </p:nvSpPr>
        <p:spPr>
          <a:xfrm>
            <a:off x="640080" y="2706624"/>
            <a:ext cx="86868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1:30</a:t>
            </a:r>
            <a:endParaRPr lang="en-US" sz="1100" dirty="0"/>
          </a:p>
        </p:txBody>
      </p:sp>
      <p:sp>
        <p:nvSpPr>
          <p:cNvPr id="11" name="Text 9"/>
          <p:cNvSpPr/>
          <p:nvPr/>
        </p:nvSpPr>
        <p:spPr>
          <a:xfrm>
            <a:off x="1691640" y="2688336"/>
            <a:ext cx="9646920" cy="566928"/>
          </a:xfrm>
          <a:prstGeom prst="rect">
            <a:avLst/>
          </a:prstGeom>
          <a:noFill/>
          <a:ln/>
        </p:spPr>
        <p:txBody>
          <a:bodyPr wrap="square" rtlCol="0" anchor="ctr">
            <a:spAutoFit/>
          </a:bodyPr>
          <a:lstStyle/>
          <a:p>
            <a:pPr indent="0" marL="0">
              <a:buNone/>
            </a:pPr>
            <a:r>
              <a:rPr lang="en-US" sz="1250" dirty="0">
                <a:solidFill>
                  <a:srgbClr val="1A1A1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Reception. Laptops at every seat with everyone's URLs loaded.</a:t>
            </a:r>
            <a:endParaRPr lang="en-US" sz="1250" dirty="0"/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9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640080" y="640080"/>
            <a:ext cx="10058400" cy="7315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3000" b="1" dirty="0">
                <a:solidFill>
                  <a:srgbClr val="1A1A1A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Reading &amp; homework</a:t>
            </a:r>
            <a:endParaRPr lang="en-US" sz="3000" dirty="0"/>
          </a:p>
        </p:txBody>
      </p:sp>
      <p:sp>
        <p:nvSpPr>
          <p:cNvPr id="3" name="Shape 1"/>
          <p:cNvSpPr/>
          <p:nvPr/>
        </p:nvSpPr>
        <p:spPr>
          <a:xfrm>
            <a:off x="640080" y="1673352"/>
            <a:ext cx="219456" cy="219456"/>
          </a:xfrm>
          <a:prstGeom prst="ellipse">
            <a:avLst/>
          </a:prstGeom>
          <a:solidFill>
            <a:srgbClr val="7A3B2E"/>
          </a:solidFill>
          <a:ln/>
        </p:spPr>
      </p:sp>
      <p:sp>
        <p:nvSpPr>
          <p:cNvPr id="4" name="Text 2"/>
          <p:cNvSpPr/>
          <p:nvPr/>
        </p:nvSpPr>
        <p:spPr>
          <a:xfrm>
            <a:off x="1051560" y="1600200"/>
            <a:ext cx="1042416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7A3B2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Reading</a:t>
            </a:r>
            <a:endParaRPr lang="en-US" sz="1500" dirty="0"/>
          </a:p>
        </p:txBody>
      </p:sp>
      <p:sp>
        <p:nvSpPr>
          <p:cNvPr id="5" name="Text 3"/>
          <p:cNvSpPr/>
          <p:nvPr/>
        </p:nvSpPr>
        <p:spPr>
          <a:xfrm>
            <a:off x="1051560" y="1984248"/>
            <a:ext cx="10424160" cy="731520"/>
          </a:xfrm>
          <a:prstGeom prst="rect">
            <a:avLst/>
          </a:prstGeom>
          <a:noFill/>
          <a:ln/>
        </p:spPr>
        <p:txBody>
          <a:bodyPr wrap="square" rtlCol="0" anchor="t">
            <a:spAutoFit/>
          </a:bodyPr>
          <a:lstStyle/>
          <a:p>
            <a:pPr indent="0" marL="0">
              <a:buNone/>
            </a:pPr>
            <a:r>
              <a:rPr lang="en-US" sz="1400" dirty="0">
                <a:solidFill>
                  <a:srgbClr val="1A1A1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None</a:t>
            </a:r>
            <a:endParaRPr lang="en-US" sz="1400" dirty="0"/>
          </a:p>
        </p:txBody>
      </p:sp>
      <p:sp>
        <p:nvSpPr>
          <p:cNvPr id="6" name="Shape 4"/>
          <p:cNvSpPr/>
          <p:nvPr/>
        </p:nvSpPr>
        <p:spPr>
          <a:xfrm>
            <a:off x="640080" y="2633472"/>
            <a:ext cx="219456" cy="219456"/>
          </a:xfrm>
          <a:prstGeom prst="ellipse">
            <a:avLst/>
          </a:prstGeom>
          <a:solidFill>
            <a:srgbClr val="3F6F5F"/>
          </a:solidFill>
          <a:ln/>
        </p:spPr>
      </p:sp>
      <p:sp>
        <p:nvSpPr>
          <p:cNvPr id="7" name="Text 5"/>
          <p:cNvSpPr/>
          <p:nvPr/>
        </p:nvSpPr>
        <p:spPr>
          <a:xfrm>
            <a:off x="1051560" y="2560320"/>
            <a:ext cx="1042416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3F6F5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Supplement</a:t>
            </a:r>
            <a:endParaRPr lang="en-US" sz="1500" dirty="0"/>
          </a:p>
        </p:txBody>
      </p:sp>
      <p:sp>
        <p:nvSpPr>
          <p:cNvPr id="8" name="Text 6"/>
          <p:cNvSpPr/>
          <p:nvPr/>
        </p:nvSpPr>
        <p:spPr>
          <a:xfrm>
            <a:off x="1051560" y="2944368"/>
            <a:ext cx="10424160" cy="731520"/>
          </a:xfrm>
          <a:prstGeom prst="rect">
            <a:avLst/>
          </a:prstGeom>
          <a:noFill/>
          <a:ln/>
        </p:spPr>
        <p:txBody>
          <a:bodyPr wrap="square" rtlCol="0" anchor="t">
            <a:spAutoFit/>
          </a:bodyPr>
          <a:lstStyle/>
          <a:p>
            <a:pPr indent="0" marL="0">
              <a:buNone/>
            </a:pPr>
            <a:r>
              <a:rPr lang="en-US" sz="1400" dirty="0">
                <a:solidFill>
                  <a:srgbClr val="1A1A1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Edmond de Belamy; Ridler's Mosaic Virus; Anadol's Unsupervised</a:t>
            </a:r>
            <a:endParaRPr lang="en-US" sz="1400" dirty="0"/>
          </a:p>
        </p:txBody>
      </p:sp>
      <p:sp>
        <p:nvSpPr>
          <p:cNvPr id="9" name="Shape 7"/>
          <p:cNvSpPr/>
          <p:nvPr/>
        </p:nvSpPr>
        <p:spPr>
          <a:xfrm>
            <a:off x="640080" y="3593592"/>
            <a:ext cx="219456" cy="219456"/>
          </a:xfrm>
          <a:prstGeom prst="ellipse">
            <a:avLst/>
          </a:prstGeom>
          <a:solidFill>
            <a:srgbClr val="B9852F"/>
          </a:solidFill>
          <a:ln/>
        </p:spPr>
      </p:sp>
      <p:sp>
        <p:nvSpPr>
          <p:cNvPr id="10" name="Text 8"/>
          <p:cNvSpPr/>
          <p:nvPr/>
        </p:nvSpPr>
        <p:spPr>
          <a:xfrm>
            <a:off x="1051560" y="3520440"/>
            <a:ext cx="1042416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B9852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Deeper (optional)</a:t>
            </a:r>
            <a:endParaRPr lang="en-US" sz="1500" dirty="0"/>
          </a:p>
        </p:txBody>
      </p:sp>
      <p:sp>
        <p:nvSpPr>
          <p:cNvPr id="11" name="Text 9"/>
          <p:cNvSpPr/>
          <p:nvPr/>
        </p:nvSpPr>
        <p:spPr>
          <a:xfrm>
            <a:off x="1051560" y="3904488"/>
            <a:ext cx="10424160" cy="731520"/>
          </a:xfrm>
          <a:prstGeom prst="rect">
            <a:avLst/>
          </a:prstGeom>
          <a:noFill/>
          <a:ln/>
        </p:spPr>
        <p:txBody>
          <a:bodyPr wrap="square" rtlCol="0" anchor="t">
            <a:spAutoFit/>
          </a:bodyPr>
          <a:lstStyle/>
          <a:p>
            <a:pPr indent="0" marL="0">
              <a:buNone/>
            </a:pPr>
            <a:r>
              <a:rPr lang="en-US" sz="1400" dirty="0">
                <a:solidFill>
                  <a:srgbClr val="1A1A1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Elgammal et al., CAN: Creative Adversarial Networks (2017), the paper behind the de Belamy generation of AI art</a:t>
            </a:r>
            <a:endParaRPr lang="en-US" sz="1400" dirty="0"/>
          </a:p>
        </p:txBody>
      </p:sp>
      <p:sp>
        <p:nvSpPr>
          <p:cNvPr id="12" name="Shape 10"/>
          <p:cNvSpPr/>
          <p:nvPr/>
        </p:nvSpPr>
        <p:spPr>
          <a:xfrm>
            <a:off x="640080" y="4553712"/>
            <a:ext cx="219456" cy="219456"/>
          </a:xfrm>
          <a:prstGeom prst="ellipse">
            <a:avLst/>
          </a:prstGeom>
          <a:solidFill>
            <a:srgbClr val="3F6F5F"/>
          </a:solidFill>
          <a:ln/>
        </p:spPr>
      </p:sp>
      <p:sp>
        <p:nvSpPr>
          <p:cNvPr id="13" name="Text 11"/>
          <p:cNvSpPr/>
          <p:nvPr/>
        </p:nvSpPr>
        <p:spPr>
          <a:xfrm>
            <a:off x="1051560" y="4480560"/>
            <a:ext cx="1042416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3F6F5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Sketch</a:t>
            </a:r>
            <a:endParaRPr lang="en-US" sz="1500" dirty="0"/>
          </a:p>
        </p:txBody>
      </p:sp>
      <p:sp>
        <p:nvSpPr>
          <p:cNvPr id="14" name="Text 12"/>
          <p:cNvSpPr/>
          <p:nvPr/>
        </p:nvSpPr>
        <p:spPr>
          <a:xfrm>
            <a:off x="1051560" y="4864608"/>
            <a:ext cx="10424160" cy="731520"/>
          </a:xfrm>
          <a:prstGeom prst="rect">
            <a:avLst/>
          </a:prstGeom>
          <a:noFill/>
          <a:ln/>
        </p:spPr>
        <p:txBody>
          <a:bodyPr wrap="square" rtlCol="0" anchor="t">
            <a:spAutoFit/>
          </a:bodyPr>
          <a:lstStyle/>
          <a:p>
            <a:pPr indent="0" marL="0">
              <a:buNone/>
            </a:pPr>
            <a:r>
              <a:rPr lang="en-US" sz="1400" dirty="0">
                <a:solidFill>
                  <a:srgbClr val="1A1A1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Within a week after: a private one-page reflection.</a:t>
            </a:r>
            <a:endParaRPr lang="en-US" sz="1400" dirty="0"/>
          </a:p>
        </p:txBody>
      </p:sp>
      <p:sp>
        <p:nvSpPr>
          <p:cNvPr id="15" name="Shape 13"/>
          <p:cNvSpPr/>
          <p:nvPr/>
        </p:nvSpPr>
        <p:spPr>
          <a:xfrm>
            <a:off x="640080" y="5513832"/>
            <a:ext cx="219456" cy="219456"/>
          </a:xfrm>
          <a:prstGeom prst="ellipse">
            <a:avLst/>
          </a:prstGeom>
          <a:solidFill>
            <a:srgbClr val="7A3B2E"/>
          </a:solidFill>
          <a:ln/>
        </p:spPr>
      </p:sp>
      <p:sp>
        <p:nvSpPr>
          <p:cNvPr id="16" name="Text 14"/>
          <p:cNvSpPr/>
          <p:nvPr/>
        </p:nvSpPr>
        <p:spPr>
          <a:xfrm>
            <a:off x="1051560" y="5440680"/>
            <a:ext cx="1042416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7A3B2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Check (AI closed)</a:t>
            </a:r>
            <a:endParaRPr lang="en-US" sz="1500" dirty="0"/>
          </a:p>
        </p:txBody>
      </p:sp>
      <p:sp>
        <p:nvSpPr>
          <p:cNvPr id="17" name="Text 15"/>
          <p:cNvSpPr/>
          <p:nvPr/>
        </p:nvSpPr>
        <p:spPr>
          <a:xfrm>
            <a:off x="1051560" y="5824728"/>
            <a:ext cx="10424160" cy="731520"/>
          </a:xfrm>
          <a:prstGeom prst="rect">
            <a:avLst/>
          </a:prstGeom>
          <a:noFill/>
          <a:ln/>
        </p:spPr>
        <p:txBody>
          <a:bodyPr wrap="square" rtlCol="0" anchor="t">
            <a:spAutoFit/>
          </a:bodyPr>
          <a:lstStyle/>
          <a:p>
            <a:pPr indent="0" marL="0">
              <a:buNone/>
            </a:pPr>
            <a:r>
              <a:rPr lang="en-US" sz="1400" dirty="0">
                <a:solidFill>
                  <a:srgbClr val="1A1A1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The oral walkthrough (the capstone): how you got your headline result, what it does not show, and how the tools actually work. Plus the workbench intro. (All eight competencies.)</a:t>
            </a:r>
            <a:endParaRPr lang="en-US" sz="1400" dirty="0"/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0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640080" y="640080"/>
            <a:ext cx="10058400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300" b="1" spc="300" kern="0" dirty="0">
                <a:solidFill>
                  <a:srgbClr val="7A3B2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HOW THIS WEEK CONNECTS</a:t>
            </a:r>
            <a:endParaRPr lang="en-US" sz="1300" dirty="0"/>
          </a:p>
        </p:txBody>
      </p:sp>
      <p:sp>
        <p:nvSpPr>
          <p:cNvPr id="3" name="Text 1"/>
          <p:cNvSpPr/>
          <p:nvPr/>
        </p:nvSpPr>
        <p:spPr>
          <a:xfrm>
            <a:off x="640080" y="987552"/>
            <a:ext cx="10058400" cy="6400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800" b="1" dirty="0">
                <a:solidFill>
                  <a:srgbClr val="1A1A1A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The course's through-lines</a:t>
            </a:r>
            <a:endParaRPr lang="en-US" sz="2800" dirty="0"/>
          </a:p>
        </p:txBody>
      </p:sp>
      <p:sp>
        <p:nvSpPr>
          <p:cNvPr id="4" name="Shape 2"/>
          <p:cNvSpPr/>
          <p:nvPr/>
        </p:nvSpPr>
        <p:spPr>
          <a:xfrm>
            <a:off x="640080" y="2057400"/>
            <a:ext cx="457200" cy="457200"/>
          </a:xfrm>
          <a:prstGeom prst="roundRect">
            <a:avLst>
              <a:gd name="adj" fmla="val 16000"/>
            </a:avLst>
          </a:prstGeom>
          <a:solidFill>
            <a:srgbClr val="7A3B2E"/>
          </a:solidFill>
          <a:ln/>
        </p:spPr>
      </p:sp>
      <p:sp>
        <p:nvSpPr>
          <p:cNvPr id="5" name="Text 3"/>
          <p:cNvSpPr/>
          <p:nvPr/>
        </p:nvSpPr>
        <p:spPr>
          <a:xfrm>
            <a:off x="640080" y="2057400"/>
            <a:ext cx="45720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2000" b="1" dirty="0">
                <a:solidFill>
                  <a:srgbClr val="FFFFF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1</a:t>
            </a:r>
            <a:endParaRPr lang="en-US" sz="2000" dirty="0"/>
          </a:p>
        </p:txBody>
      </p:sp>
      <p:sp>
        <p:nvSpPr>
          <p:cNvPr id="6" name="Text 4"/>
          <p:cNvSpPr/>
          <p:nvPr/>
        </p:nvSpPr>
        <p:spPr>
          <a:xfrm>
            <a:off x="1371600" y="2020824"/>
            <a:ext cx="10332720" cy="4114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900" b="1" dirty="0">
                <a:solidFill>
                  <a:srgbClr val="7A3B2E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Whose data, whose authorship</a:t>
            </a:r>
            <a:endParaRPr lang="en-US" sz="1900" dirty="0"/>
          </a:p>
        </p:txBody>
      </p:sp>
      <p:sp>
        <p:nvSpPr>
          <p:cNvPr id="7" name="Text 5"/>
          <p:cNvSpPr/>
          <p:nvPr/>
        </p:nvSpPr>
        <p:spPr>
          <a:xfrm>
            <a:off x="1371600" y="2441448"/>
            <a:ext cx="10332720" cy="914400"/>
          </a:xfrm>
          <a:prstGeom prst="rect">
            <a:avLst/>
          </a:prstGeom>
          <a:noFill/>
          <a:ln/>
        </p:spPr>
        <p:txBody>
          <a:bodyPr wrap="square" rtlCol="0" anchor="t">
            <a:spAutoFit/>
          </a:bodyPr>
          <a:lstStyle/>
          <a:p>
            <a:pPr indent="0" marL="0">
              <a:lnSpc>
                <a:spcPct val="112000"/>
              </a:lnSpc>
              <a:buNone/>
            </a:pPr>
            <a:r>
              <a:rPr lang="en-US" sz="1450" dirty="0">
                <a:solidFill>
                  <a:srgbClr val="1A1A1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The art triptych, de Belamy to Ridler to Anadol: who decided what went in?</a:t>
            </a:r>
            <a:endParaRPr lang="en-US" sz="1450" dirty="0"/>
          </a:p>
        </p:txBody>
      </p:sp>
      <p:sp>
        <p:nvSpPr>
          <p:cNvPr id="8" name="Shape 6"/>
          <p:cNvSpPr/>
          <p:nvPr/>
        </p:nvSpPr>
        <p:spPr>
          <a:xfrm>
            <a:off x="640080" y="3520440"/>
            <a:ext cx="457200" cy="457200"/>
          </a:xfrm>
          <a:prstGeom prst="roundRect">
            <a:avLst>
              <a:gd name="adj" fmla="val 16000"/>
            </a:avLst>
          </a:prstGeom>
          <a:solidFill>
            <a:srgbClr val="3F6F5F"/>
          </a:solidFill>
          <a:ln/>
        </p:spPr>
      </p:sp>
      <p:sp>
        <p:nvSpPr>
          <p:cNvPr id="9" name="Text 7"/>
          <p:cNvSpPr/>
          <p:nvPr/>
        </p:nvSpPr>
        <p:spPr>
          <a:xfrm>
            <a:off x="640080" y="3520440"/>
            <a:ext cx="45720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2000" b="1" dirty="0">
                <a:solidFill>
                  <a:srgbClr val="FFFFF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2</a:t>
            </a:r>
            <a:endParaRPr lang="en-US" sz="2000" dirty="0"/>
          </a:p>
        </p:txBody>
      </p:sp>
      <p:sp>
        <p:nvSpPr>
          <p:cNvPr id="10" name="Text 8"/>
          <p:cNvSpPr/>
          <p:nvPr/>
        </p:nvSpPr>
        <p:spPr>
          <a:xfrm>
            <a:off x="1371600" y="3483864"/>
            <a:ext cx="10332720" cy="4114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900" b="1" dirty="0">
                <a:solidFill>
                  <a:srgbClr val="3F6F5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Understand, not commission</a:t>
            </a:r>
            <a:endParaRPr lang="en-US" sz="1900" dirty="0"/>
          </a:p>
        </p:txBody>
      </p:sp>
      <p:sp>
        <p:nvSpPr>
          <p:cNvPr id="11" name="Text 9"/>
          <p:cNvSpPr/>
          <p:nvPr/>
        </p:nvSpPr>
        <p:spPr>
          <a:xfrm>
            <a:off x="1371600" y="3904488"/>
            <a:ext cx="10332720" cy="914400"/>
          </a:xfrm>
          <a:prstGeom prst="rect">
            <a:avLst/>
          </a:prstGeom>
          <a:noFill/>
          <a:ln/>
        </p:spPr>
        <p:txBody>
          <a:bodyPr wrap="square" rtlCol="0" anchor="t">
            <a:spAutoFit/>
          </a:bodyPr>
          <a:lstStyle/>
          <a:p>
            <a:pPr indent="0" marL="0">
              <a:lnSpc>
                <a:spcPct val="112000"/>
              </a:lnSpc>
              <a:buNone/>
            </a:pPr>
            <a:r>
              <a:rPr lang="en-US" sz="1450" dirty="0">
                <a:solidFill>
                  <a:srgbClr val="1A1A1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The oral walkthrough an AI cannot do for you.</a:t>
            </a:r>
            <a:endParaRPr lang="en-US" sz="1450" dirty="0"/>
          </a:p>
        </p:txBody>
      </p:sp>
      <p:sp>
        <p:nvSpPr>
          <p:cNvPr id="12" name="Shape 10"/>
          <p:cNvSpPr/>
          <p:nvPr/>
        </p:nvSpPr>
        <p:spPr>
          <a:xfrm>
            <a:off x="640080" y="4983480"/>
            <a:ext cx="457200" cy="457200"/>
          </a:xfrm>
          <a:prstGeom prst="roundRect">
            <a:avLst>
              <a:gd name="adj" fmla="val 16000"/>
            </a:avLst>
          </a:prstGeom>
          <a:solidFill>
            <a:srgbClr val="B9852F"/>
          </a:solidFill>
          <a:ln/>
        </p:spPr>
      </p:sp>
      <p:sp>
        <p:nvSpPr>
          <p:cNvPr id="13" name="Text 11"/>
          <p:cNvSpPr/>
          <p:nvPr/>
        </p:nvSpPr>
        <p:spPr>
          <a:xfrm>
            <a:off x="640080" y="4983480"/>
            <a:ext cx="45720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2000" b="1" dirty="0">
                <a:solidFill>
                  <a:srgbClr val="FFFFF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3</a:t>
            </a:r>
            <a:endParaRPr lang="en-US" sz="2000" dirty="0"/>
          </a:p>
        </p:txBody>
      </p:sp>
      <p:sp>
        <p:nvSpPr>
          <p:cNvPr id="14" name="Text 12"/>
          <p:cNvSpPr/>
          <p:nvPr/>
        </p:nvSpPr>
        <p:spPr>
          <a:xfrm>
            <a:off x="1371600" y="4946904"/>
            <a:ext cx="10332720" cy="4114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900" b="1" dirty="0">
                <a:solidFill>
                  <a:srgbClr val="B9852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All threads converge</a:t>
            </a:r>
            <a:endParaRPr lang="en-US" sz="1900" dirty="0"/>
          </a:p>
        </p:txBody>
      </p:sp>
      <p:sp>
        <p:nvSpPr>
          <p:cNvPr id="15" name="Text 13"/>
          <p:cNvSpPr/>
          <p:nvPr/>
        </p:nvSpPr>
        <p:spPr>
          <a:xfrm>
            <a:off x="1371600" y="5367528"/>
            <a:ext cx="10332720" cy="914400"/>
          </a:xfrm>
          <a:prstGeom prst="rect">
            <a:avLst/>
          </a:prstGeom>
          <a:noFill/>
          <a:ln/>
        </p:spPr>
        <p:txBody>
          <a:bodyPr wrap="square" rtlCol="0" anchor="t">
            <a:spAutoFit/>
          </a:bodyPr>
          <a:lstStyle/>
          <a:p>
            <a:pPr indent="0" marL="0">
              <a:lnSpc>
                <a:spcPct val="112000"/>
              </a:lnSpc>
              <a:buNone/>
            </a:pPr>
            <a:r>
              <a:rPr lang="en-US" sz="1450" dirty="0">
                <a:solidFill>
                  <a:srgbClr val="1A1A1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You started loading a museum's data; you end watching it become the art.</a:t>
            </a:r>
            <a:endParaRPr lang="en-US" sz="1450" dirty="0"/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1">
    <p:bg>
      <p:bgPr>
        <a:solidFill>
          <a:srgbClr val="4E261D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640080" y="1005840"/>
            <a:ext cx="8229600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300" b="1" spc="300" kern="0" dirty="0">
                <a:solidFill>
                  <a:srgbClr val="B9852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THE CHECK, AI CLOSED</a:t>
            </a:r>
            <a:endParaRPr lang="en-US" sz="1300" dirty="0"/>
          </a:p>
        </p:txBody>
      </p:sp>
      <p:sp>
        <p:nvSpPr>
          <p:cNvPr id="3" name="Text 1"/>
          <p:cNvSpPr/>
          <p:nvPr/>
        </p:nvSpPr>
        <p:spPr>
          <a:xfrm>
            <a:off x="640080" y="1645920"/>
            <a:ext cx="8686800" cy="3108960"/>
          </a:xfrm>
          <a:prstGeom prst="rect">
            <a:avLst/>
          </a:prstGeom>
          <a:noFill/>
          <a:ln/>
        </p:spPr>
        <p:txBody>
          <a:bodyPr wrap="square" rtlCol="0" anchor="t">
            <a:spAutoFit/>
          </a:bodyPr>
          <a:lstStyle/>
          <a:p>
            <a:pPr indent="0" marL="0">
              <a:lnSpc>
                <a:spcPct val="115000"/>
              </a:lnSpc>
              <a:buNone/>
            </a:pPr>
            <a:r>
              <a:rPr lang="en-US" sz="2600" dirty="0">
                <a:solidFill>
                  <a:srgbClr val="FFFFF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The oral walkthrough (the capstone): how you got your headline result, what it does not show, and how the tools actually work. Plus the workbench intro. (All eight competencies.)</a:t>
            </a:r>
            <a:endParaRPr lang="en-US" sz="2600" dirty="0"/>
          </a:p>
        </p:txBody>
      </p:sp>
      <p:sp>
        <p:nvSpPr>
          <p:cNvPr id="4" name="Text 2"/>
          <p:cNvSpPr/>
          <p:nvPr/>
        </p:nvSpPr>
        <p:spPr>
          <a:xfrm>
            <a:off x="640080" y="6126480"/>
            <a:ext cx="73152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E8DCD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Culture as Data  ·  Week 10</a:t>
            </a:r>
            <a:endParaRPr lang="en-US" sz="1200" dirty="0"/>
          </a:p>
        </p:txBody>
      </p:sp>
      <p:sp>
        <p:nvSpPr>
          <p:cNvPr id="5" name="Shape 3"/>
          <p:cNvSpPr/>
          <p:nvPr/>
        </p:nvSpPr>
        <p:spPr>
          <a:xfrm>
            <a:off x="11052898" y="6107659"/>
            <a:ext cx="96631" cy="96631"/>
          </a:xfrm>
          <a:prstGeom prst="ellipse">
            <a:avLst/>
          </a:prstGeom>
          <a:solidFill>
            <a:srgbClr val="7A3B2E"/>
          </a:solidFill>
          <a:ln/>
        </p:spPr>
      </p:sp>
      <p:sp>
        <p:nvSpPr>
          <p:cNvPr id="6" name="Shape 4"/>
          <p:cNvSpPr/>
          <p:nvPr/>
        </p:nvSpPr>
        <p:spPr>
          <a:xfrm>
            <a:off x="9224752" y="5766644"/>
            <a:ext cx="61944" cy="61944"/>
          </a:xfrm>
          <a:prstGeom prst="ellipse">
            <a:avLst/>
          </a:prstGeom>
          <a:solidFill>
            <a:srgbClr val="3F6F5F"/>
          </a:solidFill>
          <a:ln/>
        </p:spPr>
      </p:sp>
      <p:sp>
        <p:nvSpPr>
          <p:cNvPr id="7" name="Shape 5"/>
          <p:cNvSpPr/>
          <p:nvPr/>
        </p:nvSpPr>
        <p:spPr>
          <a:xfrm>
            <a:off x="10591079" y="4939008"/>
            <a:ext cx="74374" cy="74374"/>
          </a:xfrm>
          <a:prstGeom prst="ellipse">
            <a:avLst/>
          </a:prstGeom>
          <a:solidFill>
            <a:srgbClr val="B9852F"/>
          </a:solidFill>
          <a:ln/>
        </p:spPr>
      </p:sp>
      <p:sp>
        <p:nvSpPr>
          <p:cNvPr id="8" name="Shape 6"/>
          <p:cNvSpPr/>
          <p:nvPr/>
        </p:nvSpPr>
        <p:spPr>
          <a:xfrm>
            <a:off x="11098039" y="6086009"/>
            <a:ext cx="47052" cy="47052"/>
          </a:xfrm>
          <a:prstGeom prst="ellipse">
            <a:avLst/>
          </a:prstGeom>
          <a:solidFill>
            <a:srgbClr val="7A3B2E"/>
          </a:solidFill>
          <a:ln/>
        </p:spPr>
      </p:sp>
      <p:sp>
        <p:nvSpPr>
          <p:cNvPr id="9" name="Shape 7"/>
          <p:cNvSpPr/>
          <p:nvPr/>
        </p:nvSpPr>
        <p:spPr>
          <a:xfrm>
            <a:off x="9252113" y="4719469"/>
            <a:ext cx="57704" cy="57704"/>
          </a:xfrm>
          <a:prstGeom prst="ellipse">
            <a:avLst/>
          </a:prstGeom>
          <a:solidFill>
            <a:srgbClr val="3F6F5F"/>
          </a:solidFill>
          <a:ln/>
        </p:spPr>
      </p:sp>
      <p:sp>
        <p:nvSpPr>
          <p:cNvPr id="10" name="Shape 8"/>
          <p:cNvSpPr/>
          <p:nvPr/>
        </p:nvSpPr>
        <p:spPr>
          <a:xfrm>
            <a:off x="11240740" y="5038008"/>
            <a:ext cx="74325" cy="74325"/>
          </a:xfrm>
          <a:prstGeom prst="ellipse">
            <a:avLst/>
          </a:prstGeom>
          <a:solidFill>
            <a:srgbClr val="B9852F"/>
          </a:solidFill>
          <a:ln/>
        </p:spPr>
      </p:sp>
      <p:sp>
        <p:nvSpPr>
          <p:cNvPr id="11" name="Shape 9"/>
          <p:cNvSpPr/>
          <p:nvPr/>
        </p:nvSpPr>
        <p:spPr>
          <a:xfrm>
            <a:off x="10449761" y="6028164"/>
            <a:ext cx="64911" cy="64911"/>
          </a:xfrm>
          <a:prstGeom prst="ellipse">
            <a:avLst/>
          </a:prstGeom>
          <a:solidFill>
            <a:srgbClr val="7A3B2E"/>
          </a:solidFill>
          <a:ln/>
        </p:spPr>
      </p:sp>
      <p:sp>
        <p:nvSpPr>
          <p:cNvPr id="12" name="Shape 10"/>
          <p:cNvSpPr/>
          <p:nvPr/>
        </p:nvSpPr>
        <p:spPr>
          <a:xfrm>
            <a:off x="10506295" y="4939119"/>
            <a:ext cx="52321" cy="52321"/>
          </a:xfrm>
          <a:prstGeom prst="ellipse">
            <a:avLst/>
          </a:prstGeom>
          <a:solidFill>
            <a:srgbClr val="3F6F5F"/>
          </a:solidFill>
          <a:ln/>
        </p:spPr>
      </p:sp>
      <p:sp>
        <p:nvSpPr>
          <p:cNvPr id="13" name="Shape 11"/>
          <p:cNvSpPr/>
          <p:nvPr/>
        </p:nvSpPr>
        <p:spPr>
          <a:xfrm>
            <a:off x="9916822" y="5969493"/>
            <a:ext cx="59417" cy="59417"/>
          </a:xfrm>
          <a:prstGeom prst="ellipse">
            <a:avLst/>
          </a:prstGeom>
          <a:solidFill>
            <a:srgbClr val="B9852F"/>
          </a:solidFill>
          <a:ln/>
        </p:spPr>
      </p:sp>
      <p:sp>
        <p:nvSpPr>
          <p:cNvPr id="14" name="Shape 12"/>
          <p:cNvSpPr/>
          <p:nvPr/>
        </p:nvSpPr>
        <p:spPr>
          <a:xfrm>
            <a:off x="9748142" y="4631104"/>
            <a:ext cx="54194" cy="54194"/>
          </a:xfrm>
          <a:prstGeom prst="ellipse">
            <a:avLst/>
          </a:prstGeom>
          <a:solidFill>
            <a:srgbClr val="7A3B2E"/>
          </a:solidFill>
          <a:ln/>
        </p:spPr>
      </p:sp>
      <p:sp>
        <p:nvSpPr>
          <p:cNvPr id="15" name="Shape 13"/>
          <p:cNvSpPr/>
          <p:nvPr/>
        </p:nvSpPr>
        <p:spPr>
          <a:xfrm>
            <a:off x="11067056" y="5122574"/>
            <a:ext cx="59512" cy="59512"/>
          </a:xfrm>
          <a:prstGeom prst="ellipse">
            <a:avLst/>
          </a:prstGeom>
          <a:solidFill>
            <a:srgbClr val="3F6F5F"/>
          </a:solidFill>
          <a:ln/>
        </p:spPr>
      </p:sp>
      <p:sp>
        <p:nvSpPr>
          <p:cNvPr id="16" name="Shape 14"/>
          <p:cNvSpPr/>
          <p:nvPr/>
        </p:nvSpPr>
        <p:spPr>
          <a:xfrm>
            <a:off x="9819723" y="4693083"/>
            <a:ext cx="98231" cy="98231"/>
          </a:xfrm>
          <a:prstGeom prst="ellipse">
            <a:avLst/>
          </a:prstGeom>
          <a:solidFill>
            <a:srgbClr val="B9852F"/>
          </a:solidFill>
          <a:ln/>
        </p:spPr>
      </p:sp>
      <p:sp>
        <p:nvSpPr>
          <p:cNvPr id="17" name="Shape 15"/>
          <p:cNvSpPr/>
          <p:nvPr/>
        </p:nvSpPr>
        <p:spPr>
          <a:xfrm>
            <a:off x="9633264" y="5803889"/>
            <a:ext cx="83482" cy="83482"/>
          </a:xfrm>
          <a:prstGeom prst="ellipse">
            <a:avLst/>
          </a:prstGeom>
          <a:solidFill>
            <a:srgbClr val="7A3B2E"/>
          </a:solidFill>
          <a:ln/>
        </p:spPr>
      </p:sp>
      <p:sp>
        <p:nvSpPr>
          <p:cNvPr id="18" name="Shape 16"/>
          <p:cNvSpPr/>
          <p:nvPr/>
        </p:nvSpPr>
        <p:spPr>
          <a:xfrm>
            <a:off x="11574477" y="5704174"/>
            <a:ext cx="92991" cy="92991"/>
          </a:xfrm>
          <a:prstGeom prst="ellipse">
            <a:avLst/>
          </a:prstGeom>
          <a:solidFill>
            <a:srgbClr val="3F6F5F"/>
          </a:solidFill>
          <a:ln/>
        </p:spPr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0</Words>
  <Application>Microsoft Office PowerPoint</Application>
  <PresentationFormat>On-screen Show (16:9)</PresentationFormat>
  <Paragraphs>0</Paragraphs>
  <Slides>11</Slides>
  <Notes>11</Notes>
  <HiddenSlides>0</HiddenSlides>
  <MMClips>0</MMClips>
  <ScaleCrop>false</ScaleCrop>
  <HeadingPairs>
    <vt:vector size="6" baseType="variant">
      <vt:variant>
        <vt:lpstr>Fonts Used</vt:lpstr>
      </vt:variant>
      <vt:variant>
        <vt:i4>2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11</vt:i4>
      </vt:variant>
    </vt:vector>
  </HeadingPairs>
  <TitlesOfParts>
    <vt:vector size="14" baseType="lpstr">
      <vt:lpstr>Arial</vt:lpstr>
      <vt:lpstr>Calibri</vt:lpstr>
      <vt:lpstr>Office Theme</vt:lpstr>
      <vt:lpstr>Slide 1</vt:lpstr>
      <vt:lpstr>Slide 2</vt:lpstr>
      <vt:lpstr>Slide 3</vt:lpstr>
      <vt:lpstr>Slide 4</vt:lpstr>
      <vt:lpstr>Slide 5</vt:lpstr>
      <vt:lpstr>Slide 6</vt:lpstr>
      <vt:lpstr>Slide 7</vt:lpstr>
      <vt:lpstr>Slide 8</vt:lpstr>
      <vt:lpstr>Slide 9</vt:lpstr>
      <vt:lpstr>Slide 10</vt:lpstr>
      <vt:lpstr>Slide 11</vt:lpstr>
    </vt:vector>
  </TitlesOfParts>
  <Company>PptxGenJS</Company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PptxGenJS Presentation</dc:title>
  <dc:subject>PptxGenJS Presentation</dc:subject>
  <dc:creator>PptxGenJS</dc:creator>
  <cp:lastModifiedBy>PptxGenJS</cp:lastModifiedBy>
  <cp:revision>1</cp:revision>
  <dcterms:created xsi:type="dcterms:W3CDTF">2026-07-13T03:55:06Z</dcterms:created>
  <dcterms:modified xsi:type="dcterms:W3CDTF">2026-07-13T03:55:06Z</dcterms:modified>
</cp:coreProperties>
</file>