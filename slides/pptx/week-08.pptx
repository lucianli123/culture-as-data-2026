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8</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Models as Time Capsules + Settle the Finding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Meet models that live entirely inside one historical period, learn what a famous model has secretly memorized, stress-test your own finding to see what survives, and leave with a prose draft.</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What a trained model is: a compression of its corpus</a:t>
            </a:r>
            <a:endParaRPr lang="en-US" sz="1200" dirty="0"/>
          </a:p>
        </p:txBody>
      </p:sp>
      <p:sp>
        <p:nvSpPr>
          <p:cNvPr id="7" name="Shape 5"/>
          <p:cNvSpPr/>
          <p:nvPr/>
        </p:nvSpPr>
        <p:spPr>
          <a:xfrm>
            <a:off x="9452210" y="1192947"/>
            <a:ext cx="45775" cy="45775"/>
          </a:xfrm>
          <a:prstGeom prst="ellipse">
            <a:avLst/>
          </a:prstGeom>
          <a:solidFill>
            <a:srgbClr val="7A3B2E"/>
          </a:solidFill>
          <a:ln/>
        </p:spPr>
      </p:sp>
      <p:sp>
        <p:nvSpPr>
          <p:cNvPr id="8" name="Shape 6"/>
          <p:cNvSpPr/>
          <p:nvPr/>
        </p:nvSpPr>
        <p:spPr>
          <a:xfrm>
            <a:off x="10135082" y="1752786"/>
            <a:ext cx="51727" cy="51727"/>
          </a:xfrm>
          <a:prstGeom prst="ellipse">
            <a:avLst/>
          </a:prstGeom>
          <a:solidFill>
            <a:srgbClr val="3F6F5F"/>
          </a:solidFill>
          <a:ln/>
        </p:spPr>
      </p:sp>
      <p:sp>
        <p:nvSpPr>
          <p:cNvPr id="9" name="Shape 7"/>
          <p:cNvSpPr/>
          <p:nvPr/>
        </p:nvSpPr>
        <p:spPr>
          <a:xfrm>
            <a:off x="10583004" y="1246882"/>
            <a:ext cx="86509" cy="86509"/>
          </a:xfrm>
          <a:prstGeom prst="ellipse">
            <a:avLst/>
          </a:prstGeom>
          <a:solidFill>
            <a:srgbClr val="B9852F"/>
          </a:solidFill>
          <a:ln/>
        </p:spPr>
      </p:sp>
      <p:sp>
        <p:nvSpPr>
          <p:cNvPr id="10" name="Shape 8"/>
          <p:cNvSpPr/>
          <p:nvPr/>
        </p:nvSpPr>
        <p:spPr>
          <a:xfrm>
            <a:off x="9195776" y="2136497"/>
            <a:ext cx="63252" cy="63252"/>
          </a:xfrm>
          <a:prstGeom prst="ellipse">
            <a:avLst/>
          </a:prstGeom>
          <a:solidFill>
            <a:srgbClr val="7A3B2E"/>
          </a:solidFill>
          <a:ln/>
        </p:spPr>
      </p:sp>
      <p:sp>
        <p:nvSpPr>
          <p:cNvPr id="11" name="Shape 9"/>
          <p:cNvSpPr/>
          <p:nvPr/>
        </p:nvSpPr>
        <p:spPr>
          <a:xfrm>
            <a:off x="9859598" y="1670811"/>
            <a:ext cx="59680" cy="59680"/>
          </a:xfrm>
          <a:prstGeom prst="ellipse">
            <a:avLst/>
          </a:prstGeom>
          <a:solidFill>
            <a:srgbClr val="3F6F5F"/>
          </a:solidFill>
          <a:ln/>
        </p:spPr>
      </p:sp>
      <p:sp>
        <p:nvSpPr>
          <p:cNvPr id="12" name="Shape 10"/>
          <p:cNvSpPr/>
          <p:nvPr/>
        </p:nvSpPr>
        <p:spPr>
          <a:xfrm>
            <a:off x="10974270" y="2311082"/>
            <a:ext cx="98652" cy="98652"/>
          </a:xfrm>
          <a:prstGeom prst="ellipse">
            <a:avLst/>
          </a:prstGeom>
          <a:solidFill>
            <a:srgbClr val="B9852F"/>
          </a:solidFill>
          <a:ln/>
        </p:spPr>
      </p:sp>
      <p:sp>
        <p:nvSpPr>
          <p:cNvPr id="13" name="Shape 11"/>
          <p:cNvSpPr/>
          <p:nvPr/>
        </p:nvSpPr>
        <p:spPr>
          <a:xfrm>
            <a:off x="10939592" y="1306493"/>
            <a:ext cx="93302" cy="93302"/>
          </a:xfrm>
          <a:prstGeom prst="ellipse">
            <a:avLst/>
          </a:prstGeom>
          <a:solidFill>
            <a:srgbClr val="7A3B2E"/>
          </a:solidFill>
          <a:ln/>
        </p:spPr>
      </p:sp>
      <p:sp>
        <p:nvSpPr>
          <p:cNvPr id="14" name="Shape 12"/>
          <p:cNvSpPr/>
          <p:nvPr/>
        </p:nvSpPr>
        <p:spPr>
          <a:xfrm>
            <a:off x="10898564" y="1118301"/>
            <a:ext cx="66489" cy="66489"/>
          </a:xfrm>
          <a:prstGeom prst="ellipse">
            <a:avLst/>
          </a:prstGeom>
          <a:solidFill>
            <a:srgbClr val="3F6F5F"/>
          </a:solidFill>
          <a:ln/>
        </p:spPr>
      </p:sp>
      <p:sp>
        <p:nvSpPr>
          <p:cNvPr id="15" name="Shape 13"/>
          <p:cNvSpPr/>
          <p:nvPr/>
        </p:nvSpPr>
        <p:spPr>
          <a:xfrm>
            <a:off x="9250986" y="733048"/>
            <a:ext cx="95937" cy="95937"/>
          </a:xfrm>
          <a:prstGeom prst="ellipse">
            <a:avLst/>
          </a:prstGeom>
          <a:solidFill>
            <a:srgbClr val="B9852F"/>
          </a:solidFill>
          <a:ln/>
        </p:spPr>
      </p:sp>
      <p:sp>
        <p:nvSpPr>
          <p:cNvPr id="16" name="Shape 14"/>
          <p:cNvSpPr/>
          <p:nvPr/>
        </p:nvSpPr>
        <p:spPr>
          <a:xfrm>
            <a:off x="9883058" y="874633"/>
            <a:ext cx="94778" cy="94778"/>
          </a:xfrm>
          <a:prstGeom prst="ellipse">
            <a:avLst/>
          </a:prstGeom>
          <a:solidFill>
            <a:srgbClr val="7A3B2E"/>
          </a:solidFill>
          <a:ln/>
        </p:spPr>
      </p:sp>
      <p:sp>
        <p:nvSpPr>
          <p:cNvPr id="17" name="Shape 15"/>
          <p:cNvSpPr/>
          <p:nvPr/>
        </p:nvSpPr>
        <p:spPr>
          <a:xfrm>
            <a:off x="11194580" y="2266956"/>
            <a:ext cx="85871" cy="85871"/>
          </a:xfrm>
          <a:prstGeom prst="ellipse">
            <a:avLst/>
          </a:prstGeom>
          <a:solidFill>
            <a:srgbClr val="3F6F5F"/>
          </a:solidFill>
          <a:ln/>
        </p:spPr>
      </p:sp>
      <p:sp>
        <p:nvSpPr>
          <p:cNvPr id="18" name="Shape 16"/>
          <p:cNvSpPr/>
          <p:nvPr/>
        </p:nvSpPr>
        <p:spPr>
          <a:xfrm>
            <a:off x="11585352" y="2159198"/>
            <a:ext cx="92078" cy="92078"/>
          </a:xfrm>
          <a:prstGeom prst="ellipse">
            <a:avLst/>
          </a:prstGeom>
          <a:solidFill>
            <a:srgbClr val="B9852F"/>
          </a:solidFill>
          <a:ln/>
        </p:spPr>
      </p:sp>
      <p:sp>
        <p:nvSpPr>
          <p:cNvPr id="19" name="Shape 17"/>
          <p:cNvSpPr/>
          <p:nvPr/>
        </p:nvSpPr>
        <p:spPr>
          <a:xfrm>
            <a:off x="9455174" y="1275258"/>
            <a:ext cx="81394" cy="81394"/>
          </a:xfrm>
          <a:prstGeom prst="ellipse">
            <a:avLst/>
          </a:prstGeom>
          <a:solidFill>
            <a:srgbClr val="7A3B2E"/>
          </a:solidFill>
          <a:ln/>
        </p:spPr>
      </p:sp>
      <p:sp>
        <p:nvSpPr>
          <p:cNvPr id="20" name="Shape 18"/>
          <p:cNvSpPr/>
          <p:nvPr/>
        </p:nvSpPr>
        <p:spPr>
          <a:xfrm>
            <a:off x="11433445" y="2076396"/>
            <a:ext cx="76679" cy="76679"/>
          </a:xfrm>
          <a:prstGeom prst="ellipse">
            <a:avLst/>
          </a:prstGeom>
          <a:solidFill>
            <a:srgbClr val="3F6F5F"/>
          </a:solidFill>
          <a:ln/>
        </p:spPr>
      </p:sp>
      <p:sp>
        <p:nvSpPr>
          <p:cNvPr id="21" name="Shape 19"/>
          <p:cNvSpPr/>
          <p:nvPr/>
        </p:nvSpPr>
        <p:spPr>
          <a:xfrm>
            <a:off x="10433567" y="1811793"/>
            <a:ext cx="45928" cy="45928"/>
          </a:xfrm>
          <a:prstGeom prst="ellipse">
            <a:avLst/>
          </a:prstGeom>
          <a:solidFill>
            <a:srgbClr val="B9852F"/>
          </a:solidFill>
          <a:ln/>
        </p:spPr>
      </p:sp>
      <p:sp>
        <p:nvSpPr>
          <p:cNvPr id="22" name="Shape 20"/>
          <p:cNvSpPr/>
          <p:nvPr/>
        </p:nvSpPr>
        <p:spPr>
          <a:xfrm>
            <a:off x="10341739" y="1205348"/>
            <a:ext cx="66867" cy="66867"/>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TimeCapsuleLLM, a small GPT trained from scratch on nothing but 1800s London publications, and "Speak, Memory" (Bamman's lab), which probes which books GPT-4 has effectively memorized.</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A period model speaks only for the period's published, surviving, digitized voices. And memorization isn't reading: models score higher on memorized books, so an LLM that seems to read your corpus may be partly reciting it, a validity problem, not just an ethics one.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Stress-test the finding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Bollen's method, applied to your own finding: remove the slice that most concerns you and re-run.</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If the pattern survives, report it with the check shown. If it does not, you have learned what the finding depended on.</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Minimum bar: ONE robustness check, the one that most threatens your result.</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 expected X, the data doesn't show it, here's how I know" is a complete, publishable result.</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Memorization isn't reading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Speak, Memory (Chang et al., 2023): name-cloze tests show GPT-4 has memorized many novels; it fills in "___ Bennet" without reading anything.</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model may be reciting your corpus rather than analyzing it: a validity problem, not only an ethics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TimeCapsuleLLM: train only on 1800s London text and the model speaks its era. A model is bounded by its corpus.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of every model you used: what was in its training data, and does that undercut MY claim?</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Interrogate your own chart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Does the y-axis start at zero, or is the plotting default manufacturing your trend?</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Is the eye pulled toward a pattern the data won't support?</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What does this chart hide that a different one would show?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interrogating other people's charts. These ten minutes are for yours. Fix one thing.</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show-your-work appendix</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method choices, your moments of doubt, what you cut, what the AI got wrong.</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Name where a reader could reasonably disagree with you, before they do.</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honesty you demanded of published work all term, turned on yourself. (Data Feminism's practice, run quietly all course.)</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What a trained model is: a compression of its corpus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TimeCapsuleLLM and "Speak, Memory," screenshots ready. (These period models, and supplements like MonadGPT and MacBERTh, live on Hugging Face, where you can download and run open models, or fine-tune your own.)</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0:07</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Stress-test the finding, one continuous arc on your own results: shuffle the labels and re-run; split the corpus in half; ask "compared to what?". Then compress whatever survived into one headline sentence.</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0:52</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1:02</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writing block: write your one-sentence interpretation yourself.</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1:22</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Writing workshop: opening question, what you found, what it does not show, the choices you made. Distill the Data Biography into the corpus note, and close on your main chart while the draft is open: interrogate it and fix one thing.</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Ted Chiang, ChatGPT Is a Blurry JPEG of the Web (2023), the compression idea this week is built 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TimeCapsuleLLM and Speak, Memory; period models MonadGPT and MacBERTh</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Da, The Computational Case Against Computational Literary Studies (2019), the field's sharpest critique, read against your own robustness checks</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Expand to 600 to 1,000 words; write your show-your-work appendix and which checks survived.</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your headline finding, and what it does not show. (Competencies 3,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Whose data, at full scale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is its corpus: bound the corpus and you bound the mind.</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Memorization isn't reading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may recite your corpus rather than read it, a validity problem, not just ethics.</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Test it, then keep what survives</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Week 2 trial's method, now applied to your own finding.</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your headline finding, and what it does not show. (Competencies 3,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8</a:t>
            </a:r>
            <a:endParaRPr lang="en-US" sz="1200" dirty="0"/>
          </a:p>
        </p:txBody>
      </p:sp>
      <p:sp>
        <p:nvSpPr>
          <p:cNvPr id="5" name="Shape 3"/>
          <p:cNvSpPr/>
          <p:nvPr/>
        </p:nvSpPr>
        <p:spPr>
          <a:xfrm>
            <a:off x="10473555" y="5054087"/>
            <a:ext cx="78741" cy="78741"/>
          </a:xfrm>
          <a:prstGeom prst="ellipse">
            <a:avLst/>
          </a:prstGeom>
          <a:solidFill>
            <a:srgbClr val="7A3B2E"/>
          </a:solidFill>
          <a:ln/>
        </p:spPr>
      </p:sp>
      <p:sp>
        <p:nvSpPr>
          <p:cNvPr id="6" name="Shape 4"/>
          <p:cNvSpPr/>
          <p:nvPr/>
        </p:nvSpPr>
        <p:spPr>
          <a:xfrm>
            <a:off x="9755671" y="5241251"/>
            <a:ext cx="78006" cy="78006"/>
          </a:xfrm>
          <a:prstGeom prst="ellipse">
            <a:avLst/>
          </a:prstGeom>
          <a:solidFill>
            <a:srgbClr val="3F6F5F"/>
          </a:solidFill>
          <a:ln/>
        </p:spPr>
      </p:sp>
      <p:sp>
        <p:nvSpPr>
          <p:cNvPr id="7" name="Shape 5"/>
          <p:cNvSpPr/>
          <p:nvPr/>
        </p:nvSpPr>
        <p:spPr>
          <a:xfrm>
            <a:off x="10383141" y="6003513"/>
            <a:ext cx="66475" cy="66475"/>
          </a:xfrm>
          <a:prstGeom prst="ellipse">
            <a:avLst/>
          </a:prstGeom>
          <a:solidFill>
            <a:srgbClr val="B9852F"/>
          </a:solidFill>
          <a:ln/>
        </p:spPr>
      </p:sp>
      <p:sp>
        <p:nvSpPr>
          <p:cNvPr id="8" name="Shape 6"/>
          <p:cNvSpPr/>
          <p:nvPr/>
        </p:nvSpPr>
        <p:spPr>
          <a:xfrm>
            <a:off x="10862443" y="4590054"/>
            <a:ext cx="67009" cy="67009"/>
          </a:xfrm>
          <a:prstGeom prst="ellipse">
            <a:avLst/>
          </a:prstGeom>
          <a:solidFill>
            <a:srgbClr val="7A3B2E"/>
          </a:solidFill>
          <a:ln/>
        </p:spPr>
      </p:sp>
      <p:sp>
        <p:nvSpPr>
          <p:cNvPr id="9" name="Shape 7"/>
          <p:cNvSpPr/>
          <p:nvPr/>
        </p:nvSpPr>
        <p:spPr>
          <a:xfrm>
            <a:off x="9700059" y="5199492"/>
            <a:ext cx="47604" cy="47604"/>
          </a:xfrm>
          <a:prstGeom prst="ellipse">
            <a:avLst/>
          </a:prstGeom>
          <a:solidFill>
            <a:srgbClr val="3F6F5F"/>
          </a:solidFill>
          <a:ln/>
        </p:spPr>
      </p:sp>
      <p:sp>
        <p:nvSpPr>
          <p:cNvPr id="10" name="Shape 8"/>
          <p:cNvSpPr/>
          <p:nvPr/>
        </p:nvSpPr>
        <p:spPr>
          <a:xfrm>
            <a:off x="10523109" y="5081010"/>
            <a:ext cx="85984" cy="85984"/>
          </a:xfrm>
          <a:prstGeom prst="ellipse">
            <a:avLst/>
          </a:prstGeom>
          <a:solidFill>
            <a:srgbClr val="B9852F"/>
          </a:solidFill>
          <a:ln/>
        </p:spPr>
      </p:sp>
      <p:sp>
        <p:nvSpPr>
          <p:cNvPr id="11" name="Shape 9"/>
          <p:cNvSpPr/>
          <p:nvPr/>
        </p:nvSpPr>
        <p:spPr>
          <a:xfrm>
            <a:off x="9277751" y="4958505"/>
            <a:ext cx="95281" cy="95281"/>
          </a:xfrm>
          <a:prstGeom prst="ellipse">
            <a:avLst/>
          </a:prstGeom>
          <a:solidFill>
            <a:srgbClr val="7A3B2E"/>
          </a:solidFill>
          <a:ln/>
        </p:spPr>
      </p:sp>
      <p:sp>
        <p:nvSpPr>
          <p:cNvPr id="12" name="Shape 10"/>
          <p:cNvSpPr/>
          <p:nvPr/>
        </p:nvSpPr>
        <p:spPr>
          <a:xfrm>
            <a:off x="9591107" y="5555879"/>
            <a:ext cx="98355" cy="98355"/>
          </a:xfrm>
          <a:prstGeom prst="ellipse">
            <a:avLst/>
          </a:prstGeom>
          <a:solidFill>
            <a:srgbClr val="3F6F5F"/>
          </a:solidFill>
          <a:ln/>
        </p:spPr>
      </p:sp>
      <p:sp>
        <p:nvSpPr>
          <p:cNvPr id="13" name="Shape 11"/>
          <p:cNvSpPr/>
          <p:nvPr/>
        </p:nvSpPr>
        <p:spPr>
          <a:xfrm>
            <a:off x="9969657" y="5859671"/>
            <a:ext cx="63202" cy="63202"/>
          </a:xfrm>
          <a:prstGeom prst="ellipse">
            <a:avLst/>
          </a:prstGeom>
          <a:solidFill>
            <a:srgbClr val="B9852F"/>
          </a:solidFill>
          <a:ln/>
        </p:spPr>
      </p:sp>
      <p:sp>
        <p:nvSpPr>
          <p:cNvPr id="14" name="Shape 12"/>
          <p:cNvSpPr/>
          <p:nvPr/>
        </p:nvSpPr>
        <p:spPr>
          <a:xfrm>
            <a:off x="11480199" y="4856422"/>
            <a:ext cx="67546" cy="67546"/>
          </a:xfrm>
          <a:prstGeom prst="ellipse">
            <a:avLst/>
          </a:prstGeom>
          <a:solidFill>
            <a:srgbClr val="7A3B2E"/>
          </a:solidFill>
          <a:ln/>
        </p:spPr>
      </p:sp>
      <p:sp>
        <p:nvSpPr>
          <p:cNvPr id="15" name="Shape 13"/>
          <p:cNvSpPr/>
          <p:nvPr/>
        </p:nvSpPr>
        <p:spPr>
          <a:xfrm>
            <a:off x="10068896" y="5007391"/>
            <a:ext cx="79383" cy="79383"/>
          </a:xfrm>
          <a:prstGeom prst="ellipse">
            <a:avLst/>
          </a:prstGeom>
          <a:solidFill>
            <a:srgbClr val="3F6F5F"/>
          </a:solidFill>
          <a:ln/>
        </p:spPr>
      </p:sp>
      <p:sp>
        <p:nvSpPr>
          <p:cNvPr id="16" name="Shape 14"/>
          <p:cNvSpPr/>
          <p:nvPr/>
        </p:nvSpPr>
        <p:spPr>
          <a:xfrm>
            <a:off x="9362865" y="5299118"/>
            <a:ext cx="66710" cy="66710"/>
          </a:xfrm>
          <a:prstGeom prst="ellipse">
            <a:avLst/>
          </a:prstGeom>
          <a:solidFill>
            <a:srgbClr val="B9852F"/>
          </a:solidFill>
          <a:ln/>
        </p:spPr>
      </p:sp>
      <p:sp>
        <p:nvSpPr>
          <p:cNvPr id="17" name="Shape 15"/>
          <p:cNvSpPr/>
          <p:nvPr/>
        </p:nvSpPr>
        <p:spPr>
          <a:xfrm>
            <a:off x="10428908" y="4718144"/>
            <a:ext cx="52385" cy="52385"/>
          </a:xfrm>
          <a:prstGeom prst="ellipse">
            <a:avLst/>
          </a:prstGeom>
          <a:solidFill>
            <a:srgbClr val="7A3B2E"/>
          </a:solidFill>
          <a:ln/>
        </p:spPr>
      </p:sp>
      <p:sp>
        <p:nvSpPr>
          <p:cNvPr id="18" name="Shape 16"/>
          <p:cNvSpPr/>
          <p:nvPr/>
        </p:nvSpPr>
        <p:spPr>
          <a:xfrm>
            <a:off x="9213184" y="5725728"/>
            <a:ext cx="59269" cy="59269"/>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2026-07-12T21:37:36Z</dcterms:created>
  <dcterms:modified xsi:type="dcterms:W3CDTF">2026-07-12T21:37:36Z</dcterms:modified>
</cp:coreProperties>
</file>