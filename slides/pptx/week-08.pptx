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CULTURE AS DATA</a:t>
            </a:r>
            <a:endParaRPr lang="en-US" sz="1300" dirty="0"/>
          </a:p>
        </p:txBody>
      </p:sp>
      <p:sp>
        <p:nvSpPr>
          <p:cNvPr id="3" name="Text 1"/>
          <p:cNvSpPr/>
          <p:nvPr/>
        </p:nvSpPr>
        <p:spPr>
          <a:xfrm>
            <a:off x="640080" y="1554480"/>
            <a:ext cx="5486400" cy="548640"/>
          </a:xfrm>
          <a:prstGeom prst="rect">
            <a:avLst/>
          </a:prstGeom>
          <a:noFill/>
          <a:ln/>
        </p:spPr>
        <p:txBody>
          <a:bodyPr wrap="square" rtlCol="0" anchor="ctr"/>
          <a:lstStyle/>
          <a:p>
            <a:pPr indent="0" marL="0">
              <a:buNone/>
            </a:pPr>
            <a:r>
              <a:rPr lang="en-US" sz="2000" dirty="0">
                <a:solidFill>
                  <a:srgbClr val="E8DCD6"/>
                </a:solidFill>
                <a:latin typeface="Calibri" pitchFamily="34" charset="0"/>
                <a:ea typeface="Calibri" pitchFamily="34" charset="-122"/>
                <a:cs typeface="Calibri" pitchFamily="34" charset="-120"/>
              </a:rPr>
              <a:t>Week 8</a:t>
            </a:r>
            <a:endParaRPr lang="en-US" sz="2000" dirty="0"/>
          </a:p>
        </p:txBody>
      </p:sp>
      <p:sp>
        <p:nvSpPr>
          <p:cNvPr id="4" name="Text 2"/>
          <p:cNvSpPr/>
          <p:nvPr/>
        </p:nvSpPr>
        <p:spPr>
          <a:xfrm>
            <a:off x="640080" y="2011680"/>
            <a:ext cx="8961120" cy="1828800"/>
          </a:xfrm>
          <a:prstGeom prst="rect">
            <a:avLst/>
          </a:prstGeom>
          <a:noFill/>
          <a:ln/>
        </p:spPr>
        <p:txBody>
          <a:bodyPr wrap="square" rtlCol="0" anchor="t">
            <a:spAutoFit/>
          </a:bodyPr>
          <a:lstStyle/>
          <a:p>
            <a:pPr indent="0" marL="0">
              <a:buNone/>
            </a:pPr>
            <a:r>
              <a:rPr lang="en-US" sz="4000" b="1" dirty="0">
                <a:solidFill>
                  <a:srgbClr val="FFFFFF"/>
                </a:solidFill>
                <a:latin typeface="Cambria" pitchFamily="34" charset="0"/>
                <a:ea typeface="Cambria" pitchFamily="34" charset="-122"/>
                <a:cs typeface="Cambria" pitchFamily="34" charset="-120"/>
              </a:rPr>
              <a:t>Models as Time Capsules + Settle the Finding</a:t>
            </a:r>
            <a:endParaRPr lang="en-US" sz="4000" dirty="0"/>
          </a:p>
        </p:txBody>
      </p:sp>
      <p:sp>
        <p:nvSpPr>
          <p:cNvPr id="5" name="Text 3"/>
          <p:cNvSpPr/>
          <p:nvPr/>
        </p:nvSpPr>
        <p:spPr>
          <a:xfrm>
            <a:off x="640080" y="4114800"/>
            <a:ext cx="7680960" cy="1463040"/>
          </a:xfrm>
          <a:prstGeom prst="rect">
            <a:avLst/>
          </a:prstGeom>
          <a:noFill/>
          <a:ln/>
        </p:spPr>
        <p:txBody>
          <a:bodyPr wrap="square" rtlCol="0" anchor="t">
            <a:spAutoFit/>
          </a:bodyPr>
          <a:lstStyle/>
          <a:p>
            <a:pPr indent="0" marL="0">
              <a:buNone/>
            </a:pPr>
            <a:r>
              <a:rPr lang="en-US" sz="1600" i="1" dirty="0">
                <a:solidFill>
                  <a:srgbClr val="E8DCD6"/>
                </a:solidFill>
                <a:latin typeface="Calibri" pitchFamily="34" charset="0"/>
                <a:ea typeface="Calibri" pitchFamily="34" charset="-122"/>
                <a:cs typeface="Calibri" pitchFamily="34" charset="-120"/>
              </a:rPr>
              <a:t>Meet models that live entirely inside one historical period, learn what a famous model has secretly memorized, stress-test your own finding to see what survives, and leave with a prose draft.</a:t>
            </a:r>
            <a:endParaRPr lang="en-US" sz="1600" dirty="0"/>
          </a:p>
        </p:txBody>
      </p:sp>
      <p:sp>
        <p:nvSpPr>
          <p:cNvPr id="6" name="Text 4"/>
          <p:cNvSpPr/>
          <p:nvPr/>
        </p:nvSpPr>
        <p:spPr>
          <a:xfrm>
            <a:off x="640080" y="6035040"/>
            <a:ext cx="10058400" cy="365760"/>
          </a:xfrm>
          <a:prstGeom prst="rect">
            <a:avLst/>
          </a:prstGeom>
          <a:noFill/>
          <a:ln/>
        </p:spPr>
        <p:txBody>
          <a:bodyPr wrap="square" rtlCol="0" anchor="ctr"/>
          <a:lstStyle/>
          <a:p>
            <a:pPr indent="0" marL="0">
              <a:buNone/>
            </a:pPr>
            <a:r>
              <a:rPr lang="en-US" sz="1200" dirty="0">
                <a:solidFill>
                  <a:srgbClr val="B9852F"/>
                </a:solidFill>
                <a:latin typeface="Calibri" pitchFamily="34" charset="0"/>
                <a:ea typeface="Calibri" pitchFamily="34" charset="-122"/>
                <a:cs typeface="Calibri" pitchFamily="34" charset="-120"/>
              </a:rPr>
              <a:t>Tool / method:  What a trained model is: a compression of its corpus</a:t>
            </a:r>
            <a:endParaRPr lang="en-US" sz="1200" dirty="0"/>
          </a:p>
        </p:txBody>
      </p:sp>
      <p:sp>
        <p:nvSpPr>
          <p:cNvPr id="7" name="Shape 5"/>
          <p:cNvSpPr/>
          <p:nvPr/>
        </p:nvSpPr>
        <p:spPr>
          <a:xfrm>
            <a:off x="9452210" y="1192947"/>
            <a:ext cx="45775" cy="45775"/>
          </a:xfrm>
          <a:prstGeom prst="ellipse">
            <a:avLst/>
          </a:prstGeom>
          <a:solidFill>
            <a:srgbClr val="7A3B2E"/>
          </a:solidFill>
          <a:ln/>
        </p:spPr>
      </p:sp>
      <p:sp>
        <p:nvSpPr>
          <p:cNvPr id="8" name="Shape 6"/>
          <p:cNvSpPr/>
          <p:nvPr/>
        </p:nvSpPr>
        <p:spPr>
          <a:xfrm>
            <a:off x="10135082" y="1752786"/>
            <a:ext cx="51727" cy="51727"/>
          </a:xfrm>
          <a:prstGeom prst="ellipse">
            <a:avLst/>
          </a:prstGeom>
          <a:solidFill>
            <a:srgbClr val="3F6F5F"/>
          </a:solidFill>
          <a:ln/>
        </p:spPr>
      </p:sp>
      <p:sp>
        <p:nvSpPr>
          <p:cNvPr id="9" name="Shape 7"/>
          <p:cNvSpPr/>
          <p:nvPr/>
        </p:nvSpPr>
        <p:spPr>
          <a:xfrm>
            <a:off x="10583004" y="1246882"/>
            <a:ext cx="86509" cy="86509"/>
          </a:xfrm>
          <a:prstGeom prst="ellipse">
            <a:avLst/>
          </a:prstGeom>
          <a:solidFill>
            <a:srgbClr val="B9852F"/>
          </a:solidFill>
          <a:ln/>
        </p:spPr>
      </p:sp>
      <p:sp>
        <p:nvSpPr>
          <p:cNvPr id="10" name="Shape 8"/>
          <p:cNvSpPr/>
          <p:nvPr/>
        </p:nvSpPr>
        <p:spPr>
          <a:xfrm>
            <a:off x="9195776" y="2136497"/>
            <a:ext cx="63252" cy="63252"/>
          </a:xfrm>
          <a:prstGeom prst="ellipse">
            <a:avLst/>
          </a:prstGeom>
          <a:solidFill>
            <a:srgbClr val="7A3B2E"/>
          </a:solidFill>
          <a:ln/>
        </p:spPr>
      </p:sp>
      <p:sp>
        <p:nvSpPr>
          <p:cNvPr id="11" name="Shape 9"/>
          <p:cNvSpPr/>
          <p:nvPr/>
        </p:nvSpPr>
        <p:spPr>
          <a:xfrm>
            <a:off x="9859598" y="1670811"/>
            <a:ext cx="59680" cy="59680"/>
          </a:xfrm>
          <a:prstGeom prst="ellipse">
            <a:avLst/>
          </a:prstGeom>
          <a:solidFill>
            <a:srgbClr val="3F6F5F"/>
          </a:solidFill>
          <a:ln/>
        </p:spPr>
      </p:sp>
      <p:sp>
        <p:nvSpPr>
          <p:cNvPr id="12" name="Shape 10"/>
          <p:cNvSpPr/>
          <p:nvPr/>
        </p:nvSpPr>
        <p:spPr>
          <a:xfrm>
            <a:off x="10974270" y="2311082"/>
            <a:ext cx="98652" cy="98652"/>
          </a:xfrm>
          <a:prstGeom prst="ellipse">
            <a:avLst/>
          </a:prstGeom>
          <a:solidFill>
            <a:srgbClr val="B9852F"/>
          </a:solidFill>
          <a:ln/>
        </p:spPr>
      </p:sp>
      <p:sp>
        <p:nvSpPr>
          <p:cNvPr id="13" name="Shape 11"/>
          <p:cNvSpPr/>
          <p:nvPr/>
        </p:nvSpPr>
        <p:spPr>
          <a:xfrm>
            <a:off x="10939592" y="1306493"/>
            <a:ext cx="93302" cy="93302"/>
          </a:xfrm>
          <a:prstGeom prst="ellipse">
            <a:avLst/>
          </a:prstGeom>
          <a:solidFill>
            <a:srgbClr val="7A3B2E"/>
          </a:solidFill>
          <a:ln/>
        </p:spPr>
      </p:sp>
      <p:sp>
        <p:nvSpPr>
          <p:cNvPr id="14" name="Shape 12"/>
          <p:cNvSpPr/>
          <p:nvPr/>
        </p:nvSpPr>
        <p:spPr>
          <a:xfrm>
            <a:off x="10898564" y="1118301"/>
            <a:ext cx="66489" cy="66489"/>
          </a:xfrm>
          <a:prstGeom prst="ellipse">
            <a:avLst/>
          </a:prstGeom>
          <a:solidFill>
            <a:srgbClr val="3F6F5F"/>
          </a:solidFill>
          <a:ln/>
        </p:spPr>
      </p:sp>
      <p:sp>
        <p:nvSpPr>
          <p:cNvPr id="15" name="Shape 13"/>
          <p:cNvSpPr/>
          <p:nvPr/>
        </p:nvSpPr>
        <p:spPr>
          <a:xfrm>
            <a:off x="9250986" y="733048"/>
            <a:ext cx="95937" cy="95937"/>
          </a:xfrm>
          <a:prstGeom prst="ellipse">
            <a:avLst/>
          </a:prstGeom>
          <a:solidFill>
            <a:srgbClr val="B9852F"/>
          </a:solidFill>
          <a:ln/>
        </p:spPr>
      </p:sp>
      <p:sp>
        <p:nvSpPr>
          <p:cNvPr id="16" name="Shape 14"/>
          <p:cNvSpPr/>
          <p:nvPr/>
        </p:nvSpPr>
        <p:spPr>
          <a:xfrm>
            <a:off x="9883058" y="874633"/>
            <a:ext cx="94778" cy="94778"/>
          </a:xfrm>
          <a:prstGeom prst="ellipse">
            <a:avLst/>
          </a:prstGeom>
          <a:solidFill>
            <a:srgbClr val="7A3B2E"/>
          </a:solidFill>
          <a:ln/>
        </p:spPr>
      </p:sp>
      <p:sp>
        <p:nvSpPr>
          <p:cNvPr id="17" name="Shape 15"/>
          <p:cNvSpPr/>
          <p:nvPr/>
        </p:nvSpPr>
        <p:spPr>
          <a:xfrm>
            <a:off x="11194580" y="2266956"/>
            <a:ext cx="85871" cy="85871"/>
          </a:xfrm>
          <a:prstGeom prst="ellipse">
            <a:avLst/>
          </a:prstGeom>
          <a:solidFill>
            <a:srgbClr val="3F6F5F"/>
          </a:solidFill>
          <a:ln/>
        </p:spPr>
      </p:sp>
      <p:sp>
        <p:nvSpPr>
          <p:cNvPr id="18" name="Shape 16"/>
          <p:cNvSpPr/>
          <p:nvPr/>
        </p:nvSpPr>
        <p:spPr>
          <a:xfrm>
            <a:off x="11585352" y="2159198"/>
            <a:ext cx="92078" cy="92078"/>
          </a:xfrm>
          <a:prstGeom prst="ellipse">
            <a:avLst/>
          </a:prstGeom>
          <a:solidFill>
            <a:srgbClr val="B9852F"/>
          </a:solidFill>
          <a:ln/>
        </p:spPr>
      </p:sp>
      <p:sp>
        <p:nvSpPr>
          <p:cNvPr id="19" name="Shape 17"/>
          <p:cNvSpPr/>
          <p:nvPr/>
        </p:nvSpPr>
        <p:spPr>
          <a:xfrm>
            <a:off x="9455174" y="1275258"/>
            <a:ext cx="81394" cy="81394"/>
          </a:xfrm>
          <a:prstGeom prst="ellipse">
            <a:avLst/>
          </a:prstGeom>
          <a:solidFill>
            <a:srgbClr val="7A3B2E"/>
          </a:solidFill>
          <a:ln/>
        </p:spPr>
      </p:sp>
      <p:sp>
        <p:nvSpPr>
          <p:cNvPr id="20" name="Shape 18"/>
          <p:cNvSpPr/>
          <p:nvPr/>
        </p:nvSpPr>
        <p:spPr>
          <a:xfrm>
            <a:off x="11433445" y="2076396"/>
            <a:ext cx="76679" cy="76679"/>
          </a:xfrm>
          <a:prstGeom prst="ellipse">
            <a:avLst/>
          </a:prstGeom>
          <a:solidFill>
            <a:srgbClr val="3F6F5F"/>
          </a:solidFill>
          <a:ln/>
        </p:spPr>
      </p:sp>
      <p:sp>
        <p:nvSpPr>
          <p:cNvPr id="21" name="Shape 19"/>
          <p:cNvSpPr/>
          <p:nvPr/>
        </p:nvSpPr>
        <p:spPr>
          <a:xfrm>
            <a:off x="10433567" y="1811793"/>
            <a:ext cx="45928" cy="45928"/>
          </a:xfrm>
          <a:prstGeom prst="ellipse">
            <a:avLst/>
          </a:prstGeom>
          <a:solidFill>
            <a:srgbClr val="B9852F"/>
          </a:solidFill>
          <a:ln/>
        </p:spPr>
      </p:sp>
      <p:sp>
        <p:nvSpPr>
          <p:cNvPr id="22" name="Shape 20"/>
          <p:cNvSpPr/>
          <p:nvPr/>
        </p:nvSpPr>
        <p:spPr>
          <a:xfrm>
            <a:off x="10341739" y="1205348"/>
            <a:ext cx="66867" cy="66867"/>
          </a:xfrm>
          <a:prstGeom prst="ellipse">
            <a:avLst/>
          </a:prstGeom>
          <a:solidFill>
            <a:srgbClr val="7A3B2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1371600"/>
            <a:ext cx="2377440" cy="2377440"/>
          </a:xfrm>
          <a:prstGeom prst="ellipse">
            <a:avLst/>
          </a:prstGeom>
          <a:solidFill>
            <a:srgbClr val="F4EEE8"/>
          </a:solidFill>
          <a:ln/>
        </p:spPr>
      </p:sp>
      <p:sp>
        <p:nvSpPr>
          <p:cNvPr id="3" name="Shape 1"/>
          <p:cNvSpPr/>
          <p:nvPr/>
        </p:nvSpPr>
        <p:spPr>
          <a:xfrm>
            <a:off x="1325880" y="2423160"/>
            <a:ext cx="146304" cy="146304"/>
          </a:xfrm>
          <a:prstGeom prst="ellipse">
            <a:avLst/>
          </a:prstGeom>
          <a:solidFill>
            <a:srgbClr val="7A3B2E"/>
          </a:solidFill>
          <a:ln/>
        </p:spPr>
      </p:sp>
      <p:sp>
        <p:nvSpPr>
          <p:cNvPr id="4" name="Shape 2"/>
          <p:cNvSpPr/>
          <p:nvPr/>
        </p:nvSpPr>
        <p:spPr>
          <a:xfrm>
            <a:off x="1563624" y="2514600"/>
            <a:ext cx="146304" cy="146304"/>
          </a:xfrm>
          <a:prstGeom prst="ellipse">
            <a:avLst/>
          </a:prstGeom>
          <a:solidFill>
            <a:srgbClr val="3F6F5F"/>
          </a:solidFill>
          <a:ln/>
        </p:spPr>
      </p:sp>
      <p:sp>
        <p:nvSpPr>
          <p:cNvPr id="5" name="Shape 3"/>
          <p:cNvSpPr/>
          <p:nvPr/>
        </p:nvSpPr>
        <p:spPr>
          <a:xfrm>
            <a:off x="1801368" y="2423160"/>
            <a:ext cx="146304" cy="146304"/>
          </a:xfrm>
          <a:prstGeom prst="ellipse">
            <a:avLst/>
          </a:prstGeom>
          <a:solidFill>
            <a:srgbClr val="B9852F"/>
          </a:solidFill>
          <a:ln/>
        </p:spPr>
      </p:sp>
      <p:sp>
        <p:nvSpPr>
          <p:cNvPr id="6" name="Text 4"/>
          <p:cNvSpPr/>
          <p:nvPr/>
        </p:nvSpPr>
        <p:spPr>
          <a:xfrm>
            <a:off x="3657600" y="914400"/>
            <a:ext cx="73152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LOOK AT THIS</a:t>
            </a:r>
            <a:endParaRPr lang="en-US" sz="1300" dirty="0"/>
          </a:p>
        </p:txBody>
      </p:sp>
      <p:sp>
        <p:nvSpPr>
          <p:cNvPr id="7" name="Text 5"/>
          <p:cNvSpPr/>
          <p:nvPr/>
        </p:nvSpPr>
        <p:spPr>
          <a:xfrm>
            <a:off x="3657600" y="1280160"/>
            <a:ext cx="786384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study we open with</a:t>
            </a:r>
            <a:endParaRPr lang="en-US" sz="3000" dirty="0"/>
          </a:p>
        </p:txBody>
      </p:sp>
      <p:sp>
        <p:nvSpPr>
          <p:cNvPr id="8" name="Text 6"/>
          <p:cNvSpPr/>
          <p:nvPr/>
        </p:nvSpPr>
        <p:spPr>
          <a:xfrm>
            <a:off x="3657600" y="2286000"/>
            <a:ext cx="7863840" cy="3291840"/>
          </a:xfrm>
          <a:prstGeom prst="rect">
            <a:avLst/>
          </a:prstGeom>
          <a:noFill/>
          <a:ln/>
        </p:spPr>
        <p:txBody>
          <a:bodyPr wrap="square" rtlCol="0" anchor="t">
            <a:spAutoFit/>
          </a:bodyPr>
          <a:lstStyle/>
          <a:p>
            <a:pPr indent="0" marL="0">
              <a:lnSpc>
                <a:spcPct val="115000"/>
              </a:lnSpc>
              <a:buNone/>
            </a:pPr>
            <a:r>
              <a:rPr lang="en-US" sz="1900" dirty="0">
                <a:solidFill>
                  <a:srgbClr val="1A1A1A"/>
                </a:solidFill>
                <a:latin typeface="Calibri" pitchFamily="34" charset="0"/>
                <a:ea typeface="Calibri" pitchFamily="34" charset="-122"/>
                <a:cs typeface="Calibri" pitchFamily="34" charset="-120"/>
              </a:rPr>
              <a:t>TimeCapsuleLLM, a small GPT trained from scratch on nothing but 1800s London publications, and "Speak, Memory" (Bamman's lab), which probes which books GPT-4 has effectively memorized.</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822960"/>
            <a:ext cx="73152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QUESTION IT</a:t>
            </a:r>
            <a:endParaRPr lang="en-US" sz="1300" dirty="0"/>
          </a:p>
        </p:txBody>
      </p:sp>
      <p:sp>
        <p:nvSpPr>
          <p:cNvPr id="3" name="Text 1"/>
          <p:cNvSpPr/>
          <p:nvPr/>
        </p:nvSpPr>
        <p:spPr>
          <a:xfrm>
            <a:off x="640080" y="1188720"/>
            <a:ext cx="10881360" cy="914400"/>
          </a:xfrm>
          <a:prstGeom prst="rect">
            <a:avLst/>
          </a:prstGeom>
          <a:noFill/>
          <a:ln/>
        </p:spPr>
        <p:txBody>
          <a:bodyPr wrap="square" rtlCol="0" anchor="ctr">
            <a:spAutoFit/>
          </a:bodyPr>
          <a:lstStyle/>
          <a:p>
            <a:pPr indent="0" marL="0">
              <a:buNone/>
            </a:pPr>
            <a:r>
              <a:rPr lang="en-US" sz="2600" b="1" dirty="0">
                <a:solidFill>
                  <a:srgbClr val="1A1A1A"/>
                </a:solidFill>
                <a:latin typeface="Cambria" pitchFamily="34" charset="0"/>
                <a:ea typeface="Cambria" pitchFamily="34" charset="-122"/>
                <a:cs typeface="Cambria" pitchFamily="34" charset="-120"/>
              </a:rPr>
              <a:t>What did they choose, and where might it be wrong?</a:t>
            </a:r>
            <a:endParaRPr lang="en-US" sz="2600" dirty="0"/>
          </a:p>
        </p:txBody>
      </p:sp>
      <p:sp>
        <p:nvSpPr>
          <p:cNvPr id="4" name="Shape 2"/>
          <p:cNvSpPr/>
          <p:nvPr/>
        </p:nvSpPr>
        <p:spPr>
          <a:xfrm>
            <a:off x="640080" y="2468880"/>
            <a:ext cx="256032" cy="256032"/>
          </a:xfrm>
          <a:prstGeom prst="ellipse">
            <a:avLst/>
          </a:prstGeom>
          <a:solidFill>
            <a:srgbClr val="B9852F"/>
          </a:solidFill>
          <a:ln/>
        </p:spPr>
      </p:sp>
      <p:sp>
        <p:nvSpPr>
          <p:cNvPr id="5" name="Text 3"/>
          <p:cNvSpPr/>
          <p:nvPr/>
        </p:nvSpPr>
        <p:spPr>
          <a:xfrm>
            <a:off x="1097280" y="2286000"/>
            <a:ext cx="10241280" cy="3657600"/>
          </a:xfrm>
          <a:prstGeom prst="rect">
            <a:avLst/>
          </a:prstGeom>
          <a:noFill/>
          <a:ln/>
        </p:spPr>
        <p:txBody>
          <a:bodyPr wrap="square" rtlCol="0" anchor="t">
            <a:spAutoFit/>
          </a:bodyPr>
          <a:lstStyle/>
          <a:p>
            <a:pPr indent="0" marL="0">
              <a:lnSpc>
                <a:spcPct val="120000"/>
              </a:lnSpc>
              <a:buNone/>
            </a:pPr>
            <a:r>
              <a:rPr lang="en-US" sz="2000" dirty="0">
                <a:solidFill>
                  <a:srgbClr val="1A1A1A"/>
                </a:solidFill>
                <a:latin typeface="Calibri" pitchFamily="34" charset="0"/>
                <a:ea typeface="Calibri" pitchFamily="34" charset="-122"/>
                <a:cs typeface="Calibri" pitchFamily="34" charset="-120"/>
              </a:rPr>
              <a:t>A period model speaks only for the period's published, surviving, digitized voices. And memorization isn't reading: models score higher on memorized books, so an LLM that seems to read your corpus may be partly reciting it, a validity problem, not just an ethics one.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8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Stress-test the finding</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Bollen's method, applied to your own finding: remove the slice that most concerns you and re-run.</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If the pattern survives, report it with the check shown. If it does not, you have learned what the finding depended on.</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Minimum bar: ONE robustness check, the one that most threatens your result.</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"I expected X, the data doesn't show it, here's how I know" is a complete, publishable result.</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F6F5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3F6F5F"/>
                </a:solidFill>
                <a:latin typeface="Calibri" pitchFamily="34" charset="0"/>
                <a:ea typeface="Calibri" pitchFamily="34" charset="-122"/>
                <a:cs typeface="Calibri" pitchFamily="34" charset="-120"/>
              </a:rPr>
              <a:t>WEEK 8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Memorization isn't reading</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Speak, Memory (Chang et al., 2023): name-cloze tests show GPT-4 has memorized many novels; it fills in "___ Bennet" without reading anything.</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A model may be reciting your corpus rather than analyzing it: a validity problem, not only an ethics one.</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TimeCapsuleLLM: train only on 1800s London text and the model speaks its era. A model is bounded by its corpus.</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Ask of every model you used: what was in its training data, and does that undercut MY claim?</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852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B9852F"/>
                </a:solidFill>
                <a:latin typeface="Calibri" pitchFamily="34" charset="0"/>
                <a:ea typeface="Calibri" pitchFamily="34" charset="-122"/>
                <a:cs typeface="Calibri" pitchFamily="34" charset="-120"/>
              </a:rPr>
              <a:t>WEEK 8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Interrogate your own chart</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Does the y-axis start at zero, or is the plotting default manufacturing your trend?</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Is the eye pulled toward a pattern the data won't support?</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What does this chart hide that a different one would show?</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Ten weeks interrogating other people's charts. These ten minutes are for yours. Fix one thing.</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8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show-your-work appendix</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5156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Your method choices, your moments of doubt, what you cut, what the AI got wrong.</a:t>
            </a:r>
            <a:endParaRPr lang="en-US" sz="1650" dirty="0"/>
          </a:p>
        </p:txBody>
      </p:sp>
      <p:sp>
        <p:nvSpPr>
          <p:cNvPr id="7" name="Shape 5"/>
          <p:cNvSpPr/>
          <p:nvPr/>
        </p:nvSpPr>
        <p:spPr>
          <a:xfrm>
            <a:off x="640080" y="3383280"/>
            <a:ext cx="201168" cy="201168"/>
          </a:xfrm>
          <a:prstGeom prst="ellipse">
            <a:avLst/>
          </a:prstGeom>
          <a:solidFill>
            <a:srgbClr val="3F6F5F"/>
          </a:solidFill>
          <a:ln/>
        </p:spPr>
      </p:sp>
      <p:sp>
        <p:nvSpPr>
          <p:cNvPr id="8" name="Text 6"/>
          <p:cNvSpPr/>
          <p:nvPr/>
        </p:nvSpPr>
        <p:spPr>
          <a:xfrm>
            <a:off x="1097280" y="3291840"/>
            <a:ext cx="10607040" cy="105156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Name where a reader could reasonably disagree with you, before they do.</a:t>
            </a:r>
            <a:endParaRPr lang="en-US" sz="1650" dirty="0"/>
          </a:p>
        </p:txBody>
      </p:sp>
      <p:sp>
        <p:nvSpPr>
          <p:cNvPr id="9" name="Shape 7"/>
          <p:cNvSpPr/>
          <p:nvPr/>
        </p:nvSpPr>
        <p:spPr>
          <a:xfrm>
            <a:off x="640080" y="4434840"/>
            <a:ext cx="201168" cy="201168"/>
          </a:xfrm>
          <a:prstGeom prst="ellipse">
            <a:avLst/>
          </a:prstGeom>
          <a:solidFill>
            <a:srgbClr val="B9852F"/>
          </a:solidFill>
          <a:ln/>
        </p:spPr>
      </p:sp>
      <p:sp>
        <p:nvSpPr>
          <p:cNvPr id="10" name="Text 8"/>
          <p:cNvSpPr/>
          <p:nvPr/>
        </p:nvSpPr>
        <p:spPr>
          <a:xfrm>
            <a:off x="1097280" y="4343400"/>
            <a:ext cx="10607040" cy="105156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honesty you demanded of published work all term, turned on yourself. (Data Feminism's practice, run quietly all course.)</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Three modes today</a:t>
            </a:r>
            <a:endParaRPr lang="en-US" sz="3000" dirty="0"/>
          </a:p>
        </p:txBody>
      </p:sp>
      <p:sp>
        <p:nvSpPr>
          <p:cNvPr id="3" name="Text 1"/>
          <p:cNvSpPr/>
          <p:nvPr/>
        </p:nvSpPr>
        <p:spPr>
          <a:xfrm>
            <a:off x="640080" y="1417320"/>
            <a:ext cx="10058400" cy="365760"/>
          </a:xfrm>
          <a:prstGeom prst="rect">
            <a:avLst/>
          </a:prstGeom>
          <a:noFill/>
          <a:ln/>
        </p:spPr>
        <p:txBody>
          <a:bodyPr wrap="square" rtlCol="0" anchor="ctr"/>
          <a:lstStyle/>
          <a:p>
            <a:pPr indent="0" marL="0">
              <a:buNone/>
            </a:pPr>
            <a:r>
              <a:rPr lang="en-US" sz="1400" i="1" dirty="0">
                <a:solidFill>
                  <a:srgbClr val="6B6B63"/>
                </a:solidFill>
                <a:latin typeface="Calibri" pitchFamily="34" charset="0"/>
                <a:ea typeface="Calibri" pitchFamily="34" charset="-122"/>
                <a:cs typeface="Calibri" pitchFamily="34" charset="-120"/>
              </a:rPr>
              <a:t>about a third of the session each</a:t>
            </a:r>
            <a:endParaRPr lang="en-US" sz="1400" dirty="0"/>
          </a:p>
        </p:txBody>
      </p:sp>
      <p:sp>
        <p:nvSpPr>
          <p:cNvPr id="4" name="Shape 2"/>
          <p:cNvSpPr/>
          <p:nvPr/>
        </p:nvSpPr>
        <p:spPr>
          <a:xfrm>
            <a:off x="640080" y="2194560"/>
            <a:ext cx="3383280" cy="3291840"/>
          </a:xfrm>
          <a:prstGeom prst="roundRect">
            <a:avLst>
              <a:gd name="adj" fmla="val 3333"/>
            </a:avLst>
          </a:prstGeom>
          <a:solidFill>
            <a:srgbClr val="F4EEE8"/>
          </a:solidFill>
          <a:ln/>
        </p:spPr>
      </p:sp>
      <p:sp>
        <p:nvSpPr>
          <p:cNvPr id="5" name="Shape 3"/>
          <p:cNvSpPr/>
          <p:nvPr/>
        </p:nvSpPr>
        <p:spPr>
          <a:xfrm>
            <a:off x="1051560" y="2606040"/>
            <a:ext cx="548640" cy="548640"/>
          </a:xfrm>
          <a:prstGeom prst="ellipse">
            <a:avLst/>
          </a:prstGeom>
          <a:solidFill>
            <a:srgbClr val="7A3B2E"/>
          </a:solidFill>
          <a:ln/>
        </p:spPr>
      </p:sp>
      <p:sp>
        <p:nvSpPr>
          <p:cNvPr id="6" name="Text 4"/>
          <p:cNvSpPr/>
          <p:nvPr/>
        </p:nvSpPr>
        <p:spPr>
          <a:xfrm>
            <a:off x="10058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Lecture / demo</a:t>
            </a:r>
            <a:endParaRPr lang="en-US" sz="2100" dirty="0"/>
          </a:p>
        </p:txBody>
      </p:sp>
      <p:sp>
        <p:nvSpPr>
          <p:cNvPr id="7" name="Text 5"/>
          <p:cNvSpPr/>
          <p:nvPr/>
        </p:nvSpPr>
        <p:spPr>
          <a:xfrm>
            <a:off x="10058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What a trained model is: a compression of its corpus</a:t>
            </a:r>
            <a:endParaRPr lang="en-US" sz="1500" dirty="0"/>
          </a:p>
        </p:txBody>
      </p:sp>
      <p:sp>
        <p:nvSpPr>
          <p:cNvPr id="8" name="Shape 6"/>
          <p:cNvSpPr/>
          <p:nvPr/>
        </p:nvSpPr>
        <p:spPr>
          <a:xfrm>
            <a:off x="4526280" y="2194560"/>
            <a:ext cx="3383280" cy="3291840"/>
          </a:xfrm>
          <a:prstGeom prst="roundRect">
            <a:avLst>
              <a:gd name="adj" fmla="val 3333"/>
            </a:avLst>
          </a:prstGeom>
          <a:solidFill>
            <a:srgbClr val="F4EEE8"/>
          </a:solidFill>
          <a:ln/>
        </p:spPr>
      </p:sp>
      <p:sp>
        <p:nvSpPr>
          <p:cNvPr id="9" name="Shape 7"/>
          <p:cNvSpPr/>
          <p:nvPr/>
        </p:nvSpPr>
        <p:spPr>
          <a:xfrm>
            <a:off x="4937760" y="2606040"/>
            <a:ext cx="548640" cy="548640"/>
          </a:xfrm>
          <a:prstGeom prst="ellipse">
            <a:avLst/>
          </a:prstGeom>
          <a:solidFill>
            <a:srgbClr val="3F6F5F"/>
          </a:solidFill>
          <a:ln/>
        </p:spPr>
      </p:sp>
      <p:sp>
        <p:nvSpPr>
          <p:cNvPr id="10" name="Text 8"/>
          <p:cNvSpPr/>
          <p:nvPr/>
        </p:nvSpPr>
        <p:spPr>
          <a:xfrm>
            <a:off x="48920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Workshop</a:t>
            </a:r>
            <a:endParaRPr lang="en-US" sz="2100" dirty="0"/>
          </a:p>
        </p:txBody>
      </p:sp>
      <p:sp>
        <p:nvSpPr>
          <p:cNvPr id="11" name="Text 9"/>
          <p:cNvSpPr/>
          <p:nvPr/>
        </p:nvSpPr>
        <p:spPr>
          <a:xfrm>
            <a:off x="48920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Build hands-on on your own data.</a:t>
            </a:r>
            <a:endParaRPr lang="en-US" sz="1500" dirty="0"/>
          </a:p>
        </p:txBody>
      </p:sp>
      <p:sp>
        <p:nvSpPr>
          <p:cNvPr id="12" name="Shape 10"/>
          <p:cNvSpPr/>
          <p:nvPr/>
        </p:nvSpPr>
        <p:spPr>
          <a:xfrm>
            <a:off x="8412480" y="2194560"/>
            <a:ext cx="3383280" cy="3291840"/>
          </a:xfrm>
          <a:prstGeom prst="roundRect">
            <a:avLst>
              <a:gd name="adj" fmla="val 3333"/>
            </a:avLst>
          </a:prstGeom>
          <a:solidFill>
            <a:srgbClr val="F4EEE8"/>
          </a:solidFill>
          <a:ln/>
        </p:spPr>
      </p:sp>
      <p:sp>
        <p:nvSpPr>
          <p:cNvPr id="13" name="Shape 11"/>
          <p:cNvSpPr/>
          <p:nvPr/>
        </p:nvSpPr>
        <p:spPr>
          <a:xfrm>
            <a:off x="8823960" y="2606040"/>
            <a:ext cx="548640" cy="548640"/>
          </a:xfrm>
          <a:prstGeom prst="ellipse">
            <a:avLst/>
          </a:prstGeom>
          <a:solidFill>
            <a:srgbClr val="B9852F"/>
          </a:solidFill>
          <a:ln/>
        </p:spPr>
      </p:sp>
      <p:sp>
        <p:nvSpPr>
          <p:cNvPr id="14" name="Text 12"/>
          <p:cNvSpPr/>
          <p:nvPr/>
        </p:nvSpPr>
        <p:spPr>
          <a:xfrm>
            <a:off x="87782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Discussion</a:t>
            </a:r>
            <a:endParaRPr lang="en-US" sz="2100" dirty="0"/>
          </a:p>
        </p:txBody>
      </p:sp>
      <p:sp>
        <p:nvSpPr>
          <p:cNvPr id="15" name="Text 13"/>
          <p:cNvSpPr/>
          <p:nvPr/>
        </p:nvSpPr>
        <p:spPr>
          <a:xfrm>
            <a:off x="87782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Interrogate the study, debate it, or critique each other's work.</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session</a:t>
            </a:r>
            <a:endParaRPr lang="en-US" sz="3000" dirty="0"/>
          </a:p>
        </p:txBody>
      </p:sp>
      <p:sp>
        <p:nvSpPr>
          <p:cNvPr id="3" name="Shape 1"/>
          <p:cNvSpPr/>
          <p:nvPr/>
        </p:nvSpPr>
        <p:spPr>
          <a:xfrm>
            <a:off x="640080" y="1572768"/>
            <a:ext cx="868680" cy="457200"/>
          </a:xfrm>
          <a:prstGeom prst="roundRect">
            <a:avLst>
              <a:gd name="adj" fmla="val 12000"/>
            </a:avLst>
          </a:prstGeom>
          <a:solidFill>
            <a:srgbClr val="7A3B2E"/>
          </a:solidFill>
          <a:ln/>
        </p:spPr>
      </p:sp>
      <p:sp>
        <p:nvSpPr>
          <p:cNvPr id="4" name="Text 2"/>
          <p:cNvSpPr/>
          <p:nvPr/>
        </p:nvSpPr>
        <p:spPr>
          <a:xfrm>
            <a:off x="640080" y="1572768"/>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0:00</a:t>
            </a:r>
            <a:endParaRPr lang="en-US" sz="1100" dirty="0"/>
          </a:p>
        </p:txBody>
      </p:sp>
      <p:sp>
        <p:nvSpPr>
          <p:cNvPr id="5" name="Text 3"/>
          <p:cNvSpPr/>
          <p:nvPr/>
        </p:nvSpPr>
        <p:spPr>
          <a:xfrm>
            <a:off x="1691640" y="1554480"/>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Warm-up + Look at This: TimeCapsuleLLM and "Speak, Memory," screenshots ready. (These period models, and supplements like MonadGPT and MacBERTh, live on Hugging Face, where you can download and run open models, or fine-tune your own.)</a:t>
            </a:r>
            <a:endParaRPr lang="en-US" sz="1250" dirty="0"/>
          </a:p>
        </p:txBody>
      </p:sp>
      <p:sp>
        <p:nvSpPr>
          <p:cNvPr id="6" name="Shape 4"/>
          <p:cNvSpPr/>
          <p:nvPr/>
        </p:nvSpPr>
        <p:spPr>
          <a:xfrm>
            <a:off x="640080" y="2139696"/>
            <a:ext cx="868680" cy="457200"/>
          </a:xfrm>
          <a:prstGeom prst="roundRect">
            <a:avLst>
              <a:gd name="adj" fmla="val 12000"/>
            </a:avLst>
          </a:prstGeom>
          <a:solidFill>
            <a:srgbClr val="7A3B2E"/>
          </a:solidFill>
          <a:ln/>
        </p:spPr>
      </p:sp>
      <p:sp>
        <p:nvSpPr>
          <p:cNvPr id="7" name="Text 5"/>
          <p:cNvSpPr/>
          <p:nvPr/>
        </p:nvSpPr>
        <p:spPr>
          <a:xfrm>
            <a:off x="640080" y="2139696"/>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0:07</a:t>
            </a:r>
            <a:endParaRPr lang="en-US" sz="1100" dirty="0"/>
          </a:p>
        </p:txBody>
      </p:sp>
      <p:sp>
        <p:nvSpPr>
          <p:cNvPr id="8" name="Text 6"/>
          <p:cNvSpPr/>
          <p:nvPr/>
        </p:nvSpPr>
        <p:spPr>
          <a:xfrm>
            <a:off x="1691640" y="2121408"/>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Stress-test the finding, one continuous arc on your own results: shuffle the labels and re-run; split the corpus in half; ask "compared to what?". Then compress whatever survived into one headline sentence.</a:t>
            </a:r>
            <a:endParaRPr lang="en-US" sz="1250" dirty="0"/>
          </a:p>
        </p:txBody>
      </p:sp>
      <p:sp>
        <p:nvSpPr>
          <p:cNvPr id="9" name="Shape 7"/>
          <p:cNvSpPr/>
          <p:nvPr/>
        </p:nvSpPr>
        <p:spPr>
          <a:xfrm>
            <a:off x="640080" y="2706624"/>
            <a:ext cx="868680" cy="457200"/>
          </a:xfrm>
          <a:prstGeom prst="roundRect">
            <a:avLst>
              <a:gd name="adj" fmla="val 12000"/>
            </a:avLst>
          </a:prstGeom>
          <a:solidFill>
            <a:srgbClr val="7A3B2E"/>
          </a:solidFill>
          <a:ln/>
        </p:spPr>
      </p:sp>
      <p:sp>
        <p:nvSpPr>
          <p:cNvPr id="10" name="Text 8"/>
          <p:cNvSpPr/>
          <p:nvPr/>
        </p:nvSpPr>
        <p:spPr>
          <a:xfrm>
            <a:off x="640080" y="2706624"/>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0:52</a:t>
            </a:r>
            <a:endParaRPr lang="en-US" sz="1100" dirty="0"/>
          </a:p>
        </p:txBody>
      </p:sp>
      <p:sp>
        <p:nvSpPr>
          <p:cNvPr id="11" name="Text 9"/>
          <p:cNvSpPr/>
          <p:nvPr/>
        </p:nvSpPr>
        <p:spPr>
          <a:xfrm>
            <a:off x="1691640" y="2688336"/>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Break</a:t>
            </a:r>
            <a:endParaRPr lang="en-US" sz="1250" dirty="0"/>
          </a:p>
        </p:txBody>
      </p:sp>
      <p:sp>
        <p:nvSpPr>
          <p:cNvPr id="12" name="Shape 10"/>
          <p:cNvSpPr/>
          <p:nvPr/>
        </p:nvSpPr>
        <p:spPr>
          <a:xfrm>
            <a:off x="640080" y="3273552"/>
            <a:ext cx="868680" cy="457200"/>
          </a:xfrm>
          <a:prstGeom prst="roundRect">
            <a:avLst>
              <a:gd name="adj" fmla="val 12000"/>
            </a:avLst>
          </a:prstGeom>
          <a:solidFill>
            <a:srgbClr val="7A3B2E"/>
          </a:solidFill>
          <a:ln/>
        </p:spPr>
      </p:sp>
      <p:sp>
        <p:nvSpPr>
          <p:cNvPr id="13" name="Text 11"/>
          <p:cNvSpPr/>
          <p:nvPr/>
        </p:nvSpPr>
        <p:spPr>
          <a:xfrm>
            <a:off x="640080" y="3273552"/>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1:02</a:t>
            </a:r>
            <a:endParaRPr lang="en-US" sz="1100" dirty="0"/>
          </a:p>
        </p:txBody>
      </p:sp>
      <p:sp>
        <p:nvSpPr>
          <p:cNvPr id="14" name="Text 12"/>
          <p:cNvSpPr/>
          <p:nvPr/>
        </p:nvSpPr>
        <p:spPr>
          <a:xfrm>
            <a:off x="1691640" y="3255264"/>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Gemini-free writing block: write your one-sentence interpretation yourself.</a:t>
            </a:r>
            <a:endParaRPr lang="en-US" sz="1250" dirty="0"/>
          </a:p>
        </p:txBody>
      </p:sp>
      <p:sp>
        <p:nvSpPr>
          <p:cNvPr id="15" name="Shape 13"/>
          <p:cNvSpPr/>
          <p:nvPr/>
        </p:nvSpPr>
        <p:spPr>
          <a:xfrm>
            <a:off x="640080" y="3840480"/>
            <a:ext cx="868680" cy="457200"/>
          </a:xfrm>
          <a:prstGeom prst="roundRect">
            <a:avLst>
              <a:gd name="adj" fmla="val 12000"/>
            </a:avLst>
          </a:prstGeom>
          <a:solidFill>
            <a:srgbClr val="7A3B2E"/>
          </a:solidFill>
          <a:ln/>
        </p:spPr>
      </p:sp>
      <p:sp>
        <p:nvSpPr>
          <p:cNvPr id="16" name="Text 14"/>
          <p:cNvSpPr/>
          <p:nvPr/>
        </p:nvSpPr>
        <p:spPr>
          <a:xfrm>
            <a:off x="640080" y="3840480"/>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1:22</a:t>
            </a:r>
            <a:endParaRPr lang="en-US" sz="1100" dirty="0"/>
          </a:p>
        </p:txBody>
      </p:sp>
      <p:sp>
        <p:nvSpPr>
          <p:cNvPr id="17" name="Text 15"/>
          <p:cNvSpPr/>
          <p:nvPr/>
        </p:nvSpPr>
        <p:spPr>
          <a:xfrm>
            <a:off x="1691640" y="3822192"/>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Writing workshop: opening question, what you found, what it does not show, the choices you made. Distill the Data Biography into the corpus note, and close on your main chart while the draft is open: interrogate it and fix one thing.</a:t>
            </a:r>
            <a:endParaRPr lang="en-US" sz="1250" dirty="0"/>
          </a:p>
        </p:txBody>
      </p:sp>
      <p:sp>
        <p:nvSpPr>
          <p:cNvPr id="18" name="Shape 16"/>
          <p:cNvSpPr/>
          <p:nvPr/>
        </p:nvSpPr>
        <p:spPr>
          <a:xfrm>
            <a:off x="640080" y="4407408"/>
            <a:ext cx="868680" cy="457200"/>
          </a:xfrm>
          <a:prstGeom prst="roundRect">
            <a:avLst>
              <a:gd name="adj" fmla="val 12000"/>
            </a:avLst>
          </a:prstGeom>
          <a:solidFill>
            <a:srgbClr val="7A3B2E"/>
          </a:solidFill>
          <a:ln/>
        </p:spPr>
      </p:sp>
      <p:sp>
        <p:nvSpPr>
          <p:cNvPr id="19" name="Text 17"/>
          <p:cNvSpPr/>
          <p:nvPr/>
        </p:nvSpPr>
        <p:spPr>
          <a:xfrm>
            <a:off x="640080" y="4407408"/>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1:50</a:t>
            </a:r>
            <a:endParaRPr lang="en-US" sz="1100" dirty="0"/>
          </a:p>
        </p:txBody>
      </p:sp>
      <p:sp>
        <p:nvSpPr>
          <p:cNvPr id="20" name="Text 18"/>
          <p:cNvSpPr/>
          <p:nvPr/>
        </p:nvSpPr>
        <p:spPr>
          <a:xfrm>
            <a:off x="1691640" y="4389120"/>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Check and check-out.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Reading &amp; homework</a:t>
            </a:r>
            <a:endParaRPr lang="en-US" sz="3000" dirty="0"/>
          </a:p>
        </p:txBody>
      </p:sp>
      <p:sp>
        <p:nvSpPr>
          <p:cNvPr id="3" name="Shape 1"/>
          <p:cNvSpPr/>
          <p:nvPr/>
        </p:nvSpPr>
        <p:spPr>
          <a:xfrm>
            <a:off x="640080" y="1673352"/>
            <a:ext cx="219456" cy="219456"/>
          </a:xfrm>
          <a:prstGeom prst="ellipse">
            <a:avLst/>
          </a:prstGeom>
          <a:solidFill>
            <a:srgbClr val="7A3B2E"/>
          </a:solidFill>
          <a:ln/>
        </p:spPr>
      </p:sp>
      <p:sp>
        <p:nvSpPr>
          <p:cNvPr id="4" name="Text 2"/>
          <p:cNvSpPr/>
          <p:nvPr/>
        </p:nvSpPr>
        <p:spPr>
          <a:xfrm>
            <a:off x="1051560" y="160020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Reading</a:t>
            </a:r>
            <a:endParaRPr lang="en-US" sz="1500" dirty="0"/>
          </a:p>
        </p:txBody>
      </p:sp>
      <p:sp>
        <p:nvSpPr>
          <p:cNvPr id="5" name="Text 3"/>
          <p:cNvSpPr/>
          <p:nvPr/>
        </p:nvSpPr>
        <p:spPr>
          <a:xfrm>
            <a:off x="1051560" y="198424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Ted Chiang, ChatGPT Is a Blurry JPEG of the Web (2023), the compression idea this week is built on</a:t>
            </a:r>
            <a:endParaRPr lang="en-US" sz="1400" dirty="0"/>
          </a:p>
        </p:txBody>
      </p:sp>
      <p:sp>
        <p:nvSpPr>
          <p:cNvPr id="6" name="Shape 4"/>
          <p:cNvSpPr/>
          <p:nvPr/>
        </p:nvSpPr>
        <p:spPr>
          <a:xfrm>
            <a:off x="640080" y="2633472"/>
            <a:ext cx="219456" cy="219456"/>
          </a:xfrm>
          <a:prstGeom prst="ellipse">
            <a:avLst/>
          </a:prstGeom>
          <a:solidFill>
            <a:srgbClr val="3F6F5F"/>
          </a:solidFill>
          <a:ln/>
        </p:spPr>
      </p:sp>
      <p:sp>
        <p:nvSpPr>
          <p:cNvPr id="7" name="Text 5"/>
          <p:cNvSpPr/>
          <p:nvPr/>
        </p:nvSpPr>
        <p:spPr>
          <a:xfrm>
            <a:off x="1051560" y="256032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Supplement</a:t>
            </a:r>
            <a:endParaRPr lang="en-US" sz="1500" dirty="0"/>
          </a:p>
        </p:txBody>
      </p:sp>
      <p:sp>
        <p:nvSpPr>
          <p:cNvPr id="8" name="Text 6"/>
          <p:cNvSpPr/>
          <p:nvPr/>
        </p:nvSpPr>
        <p:spPr>
          <a:xfrm>
            <a:off x="1051560" y="294436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Wolfram, What Is ChatGPT Doing (opening sections), counting all the way down; TimeCapsuleLLM and Speak, Memory; period models MonadGPT and MacBERTh</a:t>
            </a:r>
            <a:endParaRPr lang="en-US" sz="1400" dirty="0"/>
          </a:p>
        </p:txBody>
      </p:sp>
      <p:sp>
        <p:nvSpPr>
          <p:cNvPr id="9" name="Shape 7"/>
          <p:cNvSpPr/>
          <p:nvPr/>
        </p:nvSpPr>
        <p:spPr>
          <a:xfrm>
            <a:off x="640080" y="3593592"/>
            <a:ext cx="219456" cy="219456"/>
          </a:xfrm>
          <a:prstGeom prst="ellipse">
            <a:avLst/>
          </a:prstGeom>
          <a:solidFill>
            <a:srgbClr val="B9852F"/>
          </a:solidFill>
          <a:ln/>
        </p:spPr>
      </p:sp>
      <p:sp>
        <p:nvSpPr>
          <p:cNvPr id="10" name="Text 8"/>
          <p:cNvSpPr/>
          <p:nvPr/>
        </p:nvSpPr>
        <p:spPr>
          <a:xfrm>
            <a:off x="1051560" y="3520440"/>
            <a:ext cx="10424160" cy="365760"/>
          </a:xfrm>
          <a:prstGeom prst="rect">
            <a:avLst/>
          </a:prstGeom>
          <a:noFill/>
          <a:ln/>
        </p:spPr>
        <p:txBody>
          <a:bodyPr wrap="square" rtlCol="0" anchor="ctr"/>
          <a:lstStyle/>
          <a:p>
            <a:pPr indent="0" marL="0">
              <a:buNone/>
            </a:pPr>
            <a:r>
              <a:rPr lang="en-US" sz="1500" b="1" dirty="0">
                <a:solidFill>
                  <a:srgbClr val="B9852F"/>
                </a:solidFill>
                <a:latin typeface="Calibri" pitchFamily="34" charset="0"/>
                <a:ea typeface="Calibri" pitchFamily="34" charset="-122"/>
                <a:cs typeface="Calibri" pitchFamily="34" charset="-120"/>
              </a:rPr>
              <a:t>Deeper (optional)</a:t>
            </a:r>
            <a:endParaRPr lang="en-US" sz="1500" dirty="0"/>
          </a:p>
        </p:txBody>
      </p:sp>
      <p:sp>
        <p:nvSpPr>
          <p:cNvPr id="11" name="Text 9"/>
          <p:cNvSpPr/>
          <p:nvPr/>
        </p:nvSpPr>
        <p:spPr>
          <a:xfrm>
            <a:off x="1051560" y="390448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Da (2019), rereread now that the robustness checks are yours: which of her objections does your own project survive?</a:t>
            </a:r>
            <a:endParaRPr lang="en-US" sz="1400" dirty="0"/>
          </a:p>
        </p:txBody>
      </p:sp>
      <p:sp>
        <p:nvSpPr>
          <p:cNvPr id="12" name="Shape 10"/>
          <p:cNvSpPr/>
          <p:nvPr/>
        </p:nvSpPr>
        <p:spPr>
          <a:xfrm>
            <a:off x="640080" y="4553712"/>
            <a:ext cx="219456" cy="219456"/>
          </a:xfrm>
          <a:prstGeom prst="ellipse">
            <a:avLst/>
          </a:prstGeom>
          <a:solidFill>
            <a:srgbClr val="3F6F5F"/>
          </a:solidFill>
          <a:ln/>
        </p:spPr>
      </p:sp>
      <p:sp>
        <p:nvSpPr>
          <p:cNvPr id="13" name="Text 11"/>
          <p:cNvSpPr/>
          <p:nvPr/>
        </p:nvSpPr>
        <p:spPr>
          <a:xfrm>
            <a:off x="1051560" y="448056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Sketch</a:t>
            </a:r>
            <a:endParaRPr lang="en-US" sz="1500" dirty="0"/>
          </a:p>
        </p:txBody>
      </p:sp>
      <p:sp>
        <p:nvSpPr>
          <p:cNvPr id="14" name="Text 12"/>
          <p:cNvSpPr/>
          <p:nvPr/>
        </p:nvSpPr>
        <p:spPr>
          <a:xfrm>
            <a:off x="1051560" y="486460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Expand to 600 to 1,000 words; write your show-your-work appendix and which checks survived.</a:t>
            </a:r>
            <a:endParaRPr lang="en-US" sz="1400" dirty="0"/>
          </a:p>
        </p:txBody>
      </p:sp>
      <p:sp>
        <p:nvSpPr>
          <p:cNvPr id="15" name="Shape 13"/>
          <p:cNvSpPr/>
          <p:nvPr/>
        </p:nvSpPr>
        <p:spPr>
          <a:xfrm>
            <a:off x="640080" y="5513832"/>
            <a:ext cx="219456" cy="219456"/>
          </a:xfrm>
          <a:prstGeom prst="ellipse">
            <a:avLst/>
          </a:prstGeom>
          <a:solidFill>
            <a:srgbClr val="7A3B2E"/>
          </a:solidFill>
          <a:ln/>
        </p:spPr>
      </p:sp>
      <p:sp>
        <p:nvSpPr>
          <p:cNvPr id="16" name="Text 14"/>
          <p:cNvSpPr/>
          <p:nvPr/>
        </p:nvSpPr>
        <p:spPr>
          <a:xfrm>
            <a:off x="1051560" y="544068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Check (AI closed)</a:t>
            </a:r>
            <a:endParaRPr lang="en-US" sz="1500" dirty="0"/>
          </a:p>
        </p:txBody>
      </p:sp>
      <p:sp>
        <p:nvSpPr>
          <p:cNvPr id="17" name="Text 15"/>
          <p:cNvSpPr/>
          <p:nvPr/>
        </p:nvSpPr>
        <p:spPr>
          <a:xfrm>
            <a:off x="1051560" y="582472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Explain it: your headline finding, and what it does not show. (Competencies 3, 4.)</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HOW THIS WEEK CONNECTS</a:t>
            </a:r>
            <a:endParaRPr lang="en-US" sz="1300" dirty="0"/>
          </a:p>
        </p:txBody>
      </p:sp>
      <p:sp>
        <p:nvSpPr>
          <p:cNvPr id="3" name="Text 1"/>
          <p:cNvSpPr/>
          <p:nvPr/>
        </p:nvSpPr>
        <p:spPr>
          <a:xfrm>
            <a:off x="640080" y="987552"/>
            <a:ext cx="10058400" cy="640080"/>
          </a:xfrm>
          <a:prstGeom prst="rect">
            <a:avLst/>
          </a:prstGeom>
          <a:noFill/>
          <a:ln/>
        </p:spPr>
        <p:txBody>
          <a:bodyPr wrap="square"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The course's through-lines</a:t>
            </a:r>
            <a:endParaRPr lang="en-US" sz="2800" dirty="0"/>
          </a:p>
        </p:txBody>
      </p:sp>
      <p:sp>
        <p:nvSpPr>
          <p:cNvPr id="4" name="Shape 2"/>
          <p:cNvSpPr/>
          <p:nvPr/>
        </p:nvSpPr>
        <p:spPr>
          <a:xfrm>
            <a:off x="640080" y="2057400"/>
            <a:ext cx="457200" cy="457200"/>
          </a:xfrm>
          <a:prstGeom prst="roundRect">
            <a:avLst>
              <a:gd name="adj" fmla="val 16000"/>
            </a:avLst>
          </a:prstGeom>
          <a:solidFill>
            <a:srgbClr val="7A3B2E"/>
          </a:solidFill>
          <a:ln/>
        </p:spPr>
      </p:sp>
      <p:sp>
        <p:nvSpPr>
          <p:cNvPr id="5" name="Text 3"/>
          <p:cNvSpPr/>
          <p:nvPr/>
        </p:nvSpPr>
        <p:spPr>
          <a:xfrm>
            <a:off x="640080" y="205740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71600" y="2020824"/>
            <a:ext cx="10332720" cy="411480"/>
          </a:xfrm>
          <a:prstGeom prst="rect">
            <a:avLst/>
          </a:prstGeom>
          <a:noFill/>
          <a:ln/>
        </p:spPr>
        <p:txBody>
          <a:bodyPr wrap="square" rtlCol="0" anchor="ctr"/>
          <a:lstStyle/>
          <a:p>
            <a:pPr indent="0" marL="0">
              <a:buNone/>
            </a:pPr>
            <a:r>
              <a:rPr lang="en-US" sz="1900" b="1" dirty="0">
                <a:solidFill>
                  <a:srgbClr val="7A3B2E"/>
                </a:solidFill>
                <a:latin typeface="Cambria" pitchFamily="34" charset="0"/>
                <a:ea typeface="Cambria" pitchFamily="34" charset="-122"/>
                <a:cs typeface="Cambria" pitchFamily="34" charset="-120"/>
              </a:rPr>
              <a:t>Whose data, at full scale</a:t>
            </a:r>
            <a:endParaRPr lang="en-US" sz="1900" dirty="0"/>
          </a:p>
        </p:txBody>
      </p:sp>
      <p:sp>
        <p:nvSpPr>
          <p:cNvPr id="7" name="Text 5"/>
          <p:cNvSpPr/>
          <p:nvPr/>
        </p:nvSpPr>
        <p:spPr>
          <a:xfrm>
            <a:off x="1371600" y="244144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A model is its corpus: bound the corpus and you bound the mind.</a:t>
            </a:r>
            <a:endParaRPr lang="en-US" sz="1450" dirty="0"/>
          </a:p>
        </p:txBody>
      </p:sp>
      <p:sp>
        <p:nvSpPr>
          <p:cNvPr id="8" name="Shape 6"/>
          <p:cNvSpPr/>
          <p:nvPr/>
        </p:nvSpPr>
        <p:spPr>
          <a:xfrm>
            <a:off x="640080" y="3520440"/>
            <a:ext cx="457200" cy="457200"/>
          </a:xfrm>
          <a:prstGeom prst="roundRect">
            <a:avLst>
              <a:gd name="adj" fmla="val 16000"/>
            </a:avLst>
          </a:prstGeom>
          <a:solidFill>
            <a:srgbClr val="3F6F5F"/>
          </a:solidFill>
          <a:ln/>
        </p:spPr>
      </p:sp>
      <p:sp>
        <p:nvSpPr>
          <p:cNvPr id="9" name="Text 7"/>
          <p:cNvSpPr/>
          <p:nvPr/>
        </p:nvSpPr>
        <p:spPr>
          <a:xfrm>
            <a:off x="640080" y="352044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71600" y="3483864"/>
            <a:ext cx="10332720" cy="411480"/>
          </a:xfrm>
          <a:prstGeom prst="rect">
            <a:avLst/>
          </a:prstGeom>
          <a:noFill/>
          <a:ln/>
        </p:spPr>
        <p:txBody>
          <a:bodyPr wrap="square" rtlCol="0" anchor="ctr"/>
          <a:lstStyle/>
          <a:p>
            <a:pPr indent="0" marL="0">
              <a:buNone/>
            </a:pPr>
            <a:r>
              <a:rPr lang="en-US" sz="1900" b="1" dirty="0">
                <a:solidFill>
                  <a:srgbClr val="3F6F5F"/>
                </a:solidFill>
                <a:latin typeface="Cambria" pitchFamily="34" charset="0"/>
                <a:ea typeface="Cambria" pitchFamily="34" charset="-122"/>
                <a:cs typeface="Cambria" pitchFamily="34" charset="-120"/>
              </a:rPr>
              <a:t>Memorization isn't reading</a:t>
            </a:r>
            <a:endParaRPr lang="en-US" sz="1900" dirty="0"/>
          </a:p>
        </p:txBody>
      </p:sp>
      <p:sp>
        <p:nvSpPr>
          <p:cNvPr id="11" name="Text 9"/>
          <p:cNvSpPr/>
          <p:nvPr/>
        </p:nvSpPr>
        <p:spPr>
          <a:xfrm>
            <a:off x="1371600" y="390448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A model may recite your corpus rather than read it, a validity problem, not just ethics.</a:t>
            </a:r>
            <a:endParaRPr lang="en-US" sz="1450" dirty="0"/>
          </a:p>
        </p:txBody>
      </p:sp>
      <p:sp>
        <p:nvSpPr>
          <p:cNvPr id="12" name="Shape 10"/>
          <p:cNvSpPr/>
          <p:nvPr/>
        </p:nvSpPr>
        <p:spPr>
          <a:xfrm>
            <a:off x="640080" y="4983480"/>
            <a:ext cx="457200" cy="457200"/>
          </a:xfrm>
          <a:prstGeom prst="roundRect">
            <a:avLst>
              <a:gd name="adj" fmla="val 16000"/>
            </a:avLst>
          </a:prstGeom>
          <a:solidFill>
            <a:srgbClr val="B9852F"/>
          </a:solidFill>
          <a:ln/>
        </p:spPr>
      </p:sp>
      <p:sp>
        <p:nvSpPr>
          <p:cNvPr id="13" name="Text 11"/>
          <p:cNvSpPr/>
          <p:nvPr/>
        </p:nvSpPr>
        <p:spPr>
          <a:xfrm>
            <a:off x="640080" y="498348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71600" y="4946904"/>
            <a:ext cx="10332720" cy="411480"/>
          </a:xfrm>
          <a:prstGeom prst="rect">
            <a:avLst/>
          </a:prstGeom>
          <a:noFill/>
          <a:ln/>
        </p:spPr>
        <p:txBody>
          <a:bodyPr wrap="square" rtlCol="0" anchor="ctr"/>
          <a:lstStyle/>
          <a:p>
            <a:pPr indent="0" marL="0">
              <a:buNone/>
            </a:pPr>
            <a:r>
              <a:rPr lang="en-US" sz="1900" b="1" dirty="0">
                <a:solidFill>
                  <a:srgbClr val="B9852F"/>
                </a:solidFill>
                <a:latin typeface="Cambria" pitchFamily="34" charset="0"/>
                <a:ea typeface="Cambria" pitchFamily="34" charset="-122"/>
                <a:cs typeface="Cambria" pitchFamily="34" charset="-120"/>
              </a:rPr>
              <a:t>Test it, then keep what survives</a:t>
            </a:r>
            <a:endParaRPr lang="en-US" sz="1900" dirty="0"/>
          </a:p>
        </p:txBody>
      </p:sp>
      <p:sp>
        <p:nvSpPr>
          <p:cNvPr id="15" name="Text 13"/>
          <p:cNvSpPr/>
          <p:nvPr/>
        </p:nvSpPr>
        <p:spPr>
          <a:xfrm>
            <a:off x="1371600" y="536752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The Week 2 trial's method, now applied to your own finding.</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1005840"/>
            <a:ext cx="82296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THE CHECK, AI CLOSED</a:t>
            </a:r>
            <a:endParaRPr lang="en-US" sz="1300" dirty="0"/>
          </a:p>
        </p:txBody>
      </p:sp>
      <p:sp>
        <p:nvSpPr>
          <p:cNvPr id="3" name="Text 1"/>
          <p:cNvSpPr/>
          <p:nvPr/>
        </p:nvSpPr>
        <p:spPr>
          <a:xfrm>
            <a:off x="640080" y="1645920"/>
            <a:ext cx="8686800" cy="3108960"/>
          </a:xfrm>
          <a:prstGeom prst="rect">
            <a:avLst/>
          </a:prstGeom>
          <a:noFill/>
          <a:ln/>
        </p:spPr>
        <p:txBody>
          <a:bodyPr wrap="square" rtlCol="0" anchor="t">
            <a:spAutoFit/>
          </a:bodyPr>
          <a:lstStyle/>
          <a:p>
            <a:pPr indent="0" marL="0">
              <a:lnSpc>
                <a:spcPct val="115000"/>
              </a:lnSpc>
              <a:buNone/>
            </a:pPr>
            <a:r>
              <a:rPr lang="en-US" sz="2600" dirty="0">
                <a:solidFill>
                  <a:srgbClr val="FFFFFF"/>
                </a:solidFill>
                <a:latin typeface="Cambria" pitchFamily="34" charset="0"/>
                <a:ea typeface="Cambria" pitchFamily="34" charset="-122"/>
                <a:cs typeface="Cambria" pitchFamily="34" charset="-120"/>
              </a:rPr>
              <a:t>Explain it: your headline finding, and what it does not show. (Competencies 3, 4.)</a:t>
            </a:r>
            <a:endParaRPr lang="en-US" sz="2600" dirty="0"/>
          </a:p>
        </p:txBody>
      </p:sp>
      <p:sp>
        <p:nvSpPr>
          <p:cNvPr id="4" name="Text 2"/>
          <p:cNvSpPr/>
          <p:nvPr/>
        </p:nvSpPr>
        <p:spPr>
          <a:xfrm>
            <a:off x="640080" y="6126480"/>
            <a:ext cx="7315200" cy="365760"/>
          </a:xfrm>
          <a:prstGeom prst="rect">
            <a:avLst/>
          </a:prstGeom>
          <a:noFill/>
          <a:ln/>
        </p:spPr>
        <p:txBody>
          <a:bodyPr wrap="square" rtlCol="0" anchor="ctr"/>
          <a:lstStyle/>
          <a:p>
            <a:pPr indent="0" marL="0">
              <a:buNone/>
            </a:pPr>
            <a:r>
              <a:rPr lang="en-US" sz="1200" dirty="0">
                <a:solidFill>
                  <a:srgbClr val="E8DCD6"/>
                </a:solidFill>
                <a:latin typeface="Calibri" pitchFamily="34" charset="0"/>
                <a:ea typeface="Calibri" pitchFamily="34" charset="-122"/>
                <a:cs typeface="Calibri" pitchFamily="34" charset="-120"/>
              </a:rPr>
              <a:t>Culture as Data  ·  Week 8</a:t>
            </a:r>
            <a:endParaRPr lang="en-US" sz="1200" dirty="0"/>
          </a:p>
        </p:txBody>
      </p:sp>
      <p:sp>
        <p:nvSpPr>
          <p:cNvPr id="5" name="Shape 3"/>
          <p:cNvSpPr/>
          <p:nvPr/>
        </p:nvSpPr>
        <p:spPr>
          <a:xfrm>
            <a:off x="10473555" y="5054087"/>
            <a:ext cx="78741" cy="78741"/>
          </a:xfrm>
          <a:prstGeom prst="ellipse">
            <a:avLst/>
          </a:prstGeom>
          <a:solidFill>
            <a:srgbClr val="7A3B2E"/>
          </a:solidFill>
          <a:ln/>
        </p:spPr>
      </p:sp>
      <p:sp>
        <p:nvSpPr>
          <p:cNvPr id="6" name="Shape 4"/>
          <p:cNvSpPr/>
          <p:nvPr/>
        </p:nvSpPr>
        <p:spPr>
          <a:xfrm>
            <a:off x="9755671" y="5241251"/>
            <a:ext cx="78006" cy="78006"/>
          </a:xfrm>
          <a:prstGeom prst="ellipse">
            <a:avLst/>
          </a:prstGeom>
          <a:solidFill>
            <a:srgbClr val="3F6F5F"/>
          </a:solidFill>
          <a:ln/>
        </p:spPr>
      </p:sp>
      <p:sp>
        <p:nvSpPr>
          <p:cNvPr id="7" name="Shape 5"/>
          <p:cNvSpPr/>
          <p:nvPr/>
        </p:nvSpPr>
        <p:spPr>
          <a:xfrm>
            <a:off x="10383141" y="6003513"/>
            <a:ext cx="66475" cy="66475"/>
          </a:xfrm>
          <a:prstGeom prst="ellipse">
            <a:avLst/>
          </a:prstGeom>
          <a:solidFill>
            <a:srgbClr val="B9852F"/>
          </a:solidFill>
          <a:ln/>
        </p:spPr>
      </p:sp>
      <p:sp>
        <p:nvSpPr>
          <p:cNvPr id="8" name="Shape 6"/>
          <p:cNvSpPr/>
          <p:nvPr/>
        </p:nvSpPr>
        <p:spPr>
          <a:xfrm>
            <a:off x="10862443" y="4590054"/>
            <a:ext cx="67009" cy="67009"/>
          </a:xfrm>
          <a:prstGeom prst="ellipse">
            <a:avLst/>
          </a:prstGeom>
          <a:solidFill>
            <a:srgbClr val="7A3B2E"/>
          </a:solidFill>
          <a:ln/>
        </p:spPr>
      </p:sp>
      <p:sp>
        <p:nvSpPr>
          <p:cNvPr id="9" name="Shape 7"/>
          <p:cNvSpPr/>
          <p:nvPr/>
        </p:nvSpPr>
        <p:spPr>
          <a:xfrm>
            <a:off x="9700059" y="5199492"/>
            <a:ext cx="47604" cy="47604"/>
          </a:xfrm>
          <a:prstGeom prst="ellipse">
            <a:avLst/>
          </a:prstGeom>
          <a:solidFill>
            <a:srgbClr val="3F6F5F"/>
          </a:solidFill>
          <a:ln/>
        </p:spPr>
      </p:sp>
      <p:sp>
        <p:nvSpPr>
          <p:cNvPr id="10" name="Shape 8"/>
          <p:cNvSpPr/>
          <p:nvPr/>
        </p:nvSpPr>
        <p:spPr>
          <a:xfrm>
            <a:off x="10523109" y="5081010"/>
            <a:ext cx="85984" cy="85984"/>
          </a:xfrm>
          <a:prstGeom prst="ellipse">
            <a:avLst/>
          </a:prstGeom>
          <a:solidFill>
            <a:srgbClr val="B9852F"/>
          </a:solidFill>
          <a:ln/>
        </p:spPr>
      </p:sp>
      <p:sp>
        <p:nvSpPr>
          <p:cNvPr id="11" name="Shape 9"/>
          <p:cNvSpPr/>
          <p:nvPr/>
        </p:nvSpPr>
        <p:spPr>
          <a:xfrm>
            <a:off x="9277751" y="4958505"/>
            <a:ext cx="95281" cy="95281"/>
          </a:xfrm>
          <a:prstGeom prst="ellipse">
            <a:avLst/>
          </a:prstGeom>
          <a:solidFill>
            <a:srgbClr val="7A3B2E"/>
          </a:solidFill>
          <a:ln/>
        </p:spPr>
      </p:sp>
      <p:sp>
        <p:nvSpPr>
          <p:cNvPr id="12" name="Shape 10"/>
          <p:cNvSpPr/>
          <p:nvPr/>
        </p:nvSpPr>
        <p:spPr>
          <a:xfrm>
            <a:off x="9591107" y="5555879"/>
            <a:ext cx="98355" cy="98355"/>
          </a:xfrm>
          <a:prstGeom prst="ellipse">
            <a:avLst/>
          </a:prstGeom>
          <a:solidFill>
            <a:srgbClr val="3F6F5F"/>
          </a:solidFill>
          <a:ln/>
        </p:spPr>
      </p:sp>
      <p:sp>
        <p:nvSpPr>
          <p:cNvPr id="13" name="Shape 11"/>
          <p:cNvSpPr/>
          <p:nvPr/>
        </p:nvSpPr>
        <p:spPr>
          <a:xfrm>
            <a:off x="9969657" y="5859671"/>
            <a:ext cx="63202" cy="63202"/>
          </a:xfrm>
          <a:prstGeom prst="ellipse">
            <a:avLst/>
          </a:prstGeom>
          <a:solidFill>
            <a:srgbClr val="B9852F"/>
          </a:solidFill>
          <a:ln/>
        </p:spPr>
      </p:sp>
      <p:sp>
        <p:nvSpPr>
          <p:cNvPr id="14" name="Shape 12"/>
          <p:cNvSpPr/>
          <p:nvPr/>
        </p:nvSpPr>
        <p:spPr>
          <a:xfrm>
            <a:off x="11480199" y="4856422"/>
            <a:ext cx="67546" cy="67546"/>
          </a:xfrm>
          <a:prstGeom prst="ellipse">
            <a:avLst/>
          </a:prstGeom>
          <a:solidFill>
            <a:srgbClr val="7A3B2E"/>
          </a:solidFill>
          <a:ln/>
        </p:spPr>
      </p:sp>
      <p:sp>
        <p:nvSpPr>
          <p:cNvPr id="15" name="Shape 13"/>
          <p:cNvSpPr/>
          <p:nvPr/>
        </p:nvSpPr>
        <p:spPr>
          <a:xfrm>
            <a:off x="10068896" y="5007391"/>
            <a:ext cx="79383" cy="79383"/>
          </a:xfrm>
          <a:prstGeom prst="ellipse">
            <a:avLst/>
          </a:prstGeom>
          <a:solidFill>
            <a:srgbClr val="3F6F5F"/>
          </a:solidFill>
          <a:ln/>
        </p:spPr>
      </p:sp>
      <p:sp>
        <p:nvSpPr>
          <p:cNvPr id="16" name="Shape 14"/>
          <p:cNvSpPr/>
          <p:nvPr/>
        </p:nvSpPr>
        <p:spPr>
          <a:xfrm>
            <a:off x="9362865" y="5299118"/>
            <a:ext cx="66710" cy="66710"/>
          </a:xfrm>
          <a:prstGeom prst="ellipse">
            <a:avLst/>
          </a:prstGeom>
          <a:solidFill>
            <a:srgbClr val="B9852F"/>
          </a:solidFill>
          <a:ln/>
        </p:spPr>
      </p:sp>
      <p:sp>
        <p:nvSpPr>
          <p:cNvPr id="17" name="Shape 15"/>
          <p:cNvSpPr/>
          <p:nvPr/>
        </p:nvSpPr>
        <p:spPr>
          <a:xfrm>
            <a:off x="10428908" y="4718144"/>
            <a:ext cx="52385" cy="52385"/>
          </a:xfrm>
          <a:prstGeom prst="ellipse">
            <a:avLst/>
          </a:prstGeom>
          <a:solidFill>
            <a:srgbClr val="7A3B2E"/>
          </a:solidFill>
          <a:ln/>
        </p:spPr>
      </p:sp>
      <p:sp>
        <p:nvSpPr>
          <p:cNvPr id="18" name="Shape 16"/>
          <p:cNvSpPr/>
          <p:nvPr/>
        </p:nvSpPr>
        <p:spPr>
          <a:xfrm>
            <a:off x="9213184" y="5725728"/>
            <a:ext cx="59269" cy="59269"/>
          </a:xfrm>
          <a:prstGeom prst="ellipse">
            <a:avLst/>
          </a:prstGeom>
          <a:solidFill>
            <a:srgbClr val="3F6F5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2026-07-13T03:34:16Z</dcterms:created>
  <dcterms:modified xsi:type="dcterms:W3CDTF">2026-07-13T03:34:16Z</dcterms:modified>
</cp:coreProperties>
</file>