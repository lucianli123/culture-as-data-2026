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554480"/>
            <a:ext cx="5486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8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640080" y="2011680"/>
            <a:ext cx="8961120" cy="18288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Models as Time Capsules + Settle the Finding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640080" y="411480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600" i="1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Meet models that live entirely inside one historical period, learn what a famous model has secretly memorized, stress-test your own finding to see what survives, and leave with a prose draft.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603504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/ method:  What a trained model is: a compression of its corpus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9452210" y="1192947"/>
            <a:ext cx="45775" cy="45775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8" name="Shape 6"/>
          <p:cNvSpPr/>
          <p:nvPr/>
        </p:nvSpPr>
        <p:spPr>
          <a:xfrm>
            <a:off x="10135082" y="1752786"/>
            <a:ext cx="51727" cy="51727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9" name="Shape 7"/>
          <p:cNvSpPr/>
          <p:nvPr/>
        </p:nvSpPr>
        <p:spPr>
          <a:xfrm>
            <a:off x="10583004" y="1246882"/>
            <a:ext cx="86509" cy="86509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Shape 8"/>
          <p:cNvSpPr/>
          <p:nvPr/>
        </p:nvSpPr>
        <p:spPr>
          <a:xfrm>
            <a:off x="9195776" y="2136497"/>
            <a:ext cx="63252" cy="63252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1" name="Shape 9"/>
          <p:cNvSpPr/>
          <p:nvPr/>
        </p:nvSpPr>
        <p:spPr>
          <a:xfrm>
            <a:off x="9859598" y="1670811"/>
            <a:ext cx="59680" cy="59680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2" name="Shape 10"/>
          <p:cNvSpPr/>
          <p:nvPr/>
        </p:nvSpPr>
        <p:spPr>
          <a:xfrm>
            <a:off x="10974270" y="2311082"/>
            <a:ext cx="98652" cy="9865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3" name="Shape 11"/>
          <p:cNvSpPr/>
          <p:nvPr/>
        </p:nvSpPr>
        <p:spPr>
          <a:xfrm>
            <a:off x="10939592" y="1306493"/>
            <a:ext cx="93302" cy="93302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4" name="Shape 12"/>
          <p:cNvSpPr/>
          <p:nvPr/>
        </p:nvSpPr>
        <p:spPr>
          <a:xfrm>
            <a:off x="10898564" y="1118301"/>
            <a:ext cx="66489" cy="66489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5" name="Shape 13"/>
          <p:cNvSpPr/>
          <p:nvPr/>
        </p:nvSpPr>
        <p:spPr>
          <a:xfrm>
            <a:off x="9250986" y="733048"/>
            <a:ext cx="95937" cy="95937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6" name="Shape 14"/>
          <p:cNvSpPr/>
          <p:nvPr/>
        </p:nvSpPr>
        <p:spPr>
          <a:xfrm>
            <a:off x="9883058" y="874633"/>
            <a:ext cx="94778" cy="9477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7" name="Shape 15"/>
          <p:cNvSpPr/>
          <p:nvPr/>
        </p:nvSpPr>
        <p:spPr>
          <a:xfrm>
            <a:off x="11194580" y="2266956"/>
            <a:ext cx="85871" cy="85871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8" name="Shape 16"/>
          <p:cNvSpPr/>
          <p:nvPr/>
        </p:nvSpPr>
        <p:spPr>
          <a:xfrm>
            <a:off x="11585352" y="2159198"/>
            <a:ext cx="92078" cy="9207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9" name="Shape 17"/>
          <p:cNvSpPr/>
          <p:nvPr/>
        </p:nvSpPr>
        <p:spPr>
          <a:xfrm>
            <a:off x="9455174" y="1275258"/>
            <a:ext cx="81394" cy="81394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20" name="Shape 18"/>
          <p:cNvSpPr/>
          <p:nvPr/>
        </p:nvSpPr>
        <p:spPr>
          <a:xfrm>
            <a:off x="11433445" y="2076396"/>
            <a:ext cx="76679" cy="76679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21" name="Shape 19"/>
          <p:cNvSpPr/>
          <p:nvPr/>
        </p:nvSpPr>
        <p:spPr>
          <a:xfrm>
            <a:off x="10433567" y="1811793"/>
            <a:ext cx="45928" cy="4592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22" name="Shape 20"/>
          <p:cNvSpPr/>
          <p:nvPr/>
        </p:nvSpPr>
        <p:spPr>
          <a:xfrm>
            <a:off x="10341739" y="1205348"/>
            <a:ext cx="66867" cy="66867"/>
          </a:xfrm>
          <a:prstGeom prst="ellipse">
            <a:avLst/>
          </a:prstGeom>
          <a:solidFill>
            <a:srgbClr val="7A3B2E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371600"/>
            <a:ext cx="2377440" cy="2377440"/>
          </a:xfrm>
          <a:prstGeom prst="ellipse">
            <a:avLst/>
          </a:prstGeom>
          <a:solidFill>
            <a:srgbClr val="F4EEE8"/>
          </a:solidFill>
          <a:ln/>
        </p:spPr>
      </p:sp>
      <p:sp>
        <p:nvSpPr>
          <p:cNvPr id="3" name="Shape 1"/>
          <p:cNvSpPr/>
          <p:nvPr/>
        </p:nvSpPr>
        <p:spPr>
          <a:xfrm>
            <a:off x="1325880" y="2423160"/>
            <a:ext cx="146304" cy="146304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4" name="Shape 2"/>
          <p:cNvSpPr/>
          <p:nvPr/>
        </p:nvSpPr>
        <p:spPr>
          <a:xfrm>
            <a:off x="1563624" y="2514600"/>
            <a:ext cx="146304" cy="146304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5" name="Shape 3"/>
          <p:cNvSpPr/>
          <p:nvPr/>
        </p:nvSpPr>
        <p:spPr>
          <a:xfrm>
            <a:off x="1801368" y="2423160"/>
            <a:ext cx="146304" cy="146304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6" name="Text 4"/>
          <p:cNvSpPr/>
          <p:nvPr/>
        </p:nvSpPr>
        <p:spPr>
          <a:xfrm>
            <a:off x="3657600" y="9144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AT THIS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657600" y="1280160"/>
            <a:ext cx="7863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study we open with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3657600" y="2286000"/>
            <a:ext cx="7863840" cy="329184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9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TimeCapsuleLLM, a small GPT trained from scratch on nothing but 1800s London publications, and "Speak, Memory" (Bamman's lab), which probes which books GPT-4 has effectively memorized.</a:t>
            </a:r>
            <a:endParaRPr lang="en-US" sz="1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82296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IT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18872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did they choose, and where might it be wrong?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40080" y="2468880"/>
            <a:ext cx="256032" cy="25603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5" name="Text 3"/>
          <p:cNvSpPr/>
          <p:nvPr/>
        </p:nvSpPr>
        <p:spPr>
          <a:xfrm>
            <a:off x="1097280" y="2286000"/>
            <a:ext cx="10241280" cy="3657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period model speaks only for the period's published, surviving, digitized voices. And memorization isn't reading: models score higher on memorized books, so an LLM that seems to read your corpus may be partly reciting it, a validity problem, not just an ethics one.</a:t>
            </a:r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A3B2E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8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Stress-test the finding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Bollen's method, applied to your own finding: remove the slice that most concerns you and re-run.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the pattern survives, report it with the check shown. If it does not, you have learned what the finding depended on.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Minimum bar: ONE robustness check, the one that most threatens your result.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"I expected X, the data doesn't show it, here's how I know" is a complete, publishable result.</a:t>
            </a:r>
            <a:endParaRPr lang="en-US" sz="16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F6F5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8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Memorization isn't reading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Speak, Memory (Chang et al., 2023): name-cloze tests show GPT-4 has memorized many novels; it fills in "___ Bennet" without reading anything.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model may be reciting your corpus rather than analyzing it: a validity problem, not only an ethics one.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TimeCapsuleLLM: train only on 1800s London text and the model speaks its era. A model is bounded by its corpus.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of every model you used: what was in its training data, and does that undercut MY claim?</a:t>
            </a:r>
            <a:endParaRPr lang="en-US" sz="16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B9852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8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show-your-work appendix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method choices, your moments of doubt, what you cut, what the AI got wrong.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8328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9184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 where a reader could reasonably disagree with you, before they do.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43484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34340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honesty you demanded of published work all term, turned on yourself. (Data Feminism's practice, run quietly all course.)</a:t>
            </a:r>
            <a:endParaRPr lang="en-US" sz="16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73152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modes today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141732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a third of the session each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5" name="Shape 3"/>
          <p:cNvSpPr/>
          <p:nvPr/>
        </p:nvSpPr>
        <p:spPr>
          <a:xfrm>
            <a:off x="1051560" y="2606040"/>
            <a:ext cx="548640" cy="548640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Lecture / demo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10058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a trained model is: a compression of its corpus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262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9" name="Shape 7"/>
          <p:cNvSpPr/>
          <p:nvPr/>
        </p:nvSpPr>
        <p:spPr>
          <a:xfrm>
            <a:off x="4937760" y="2606040"/>
            <a:ext cx="548640" cy="548640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0" name="Text 8"/>
          <p:cNvSpPr/>
          <p:nvPr/>
        </p:nvSpPr>
        <p:spPr>
          <a:xfrm>
            <a:off x="48920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Workshop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48920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hands-on on your own data.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84124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13" name="Shape 11"/>
          <p:cNvSpPr/>
          <p:nvPr/>
        </p:nvSpPr>
        <p:spPr>
          <a:xfrm>
            <a:off x="8823960" y="2606040"/>
            <a:ext cx="548640" cy="548640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4" name="Text 12"/>
          <p:cNvSpPr/>
          <p:nvPr/>
        </p:nvSpPr>
        <p:spPr>
          <a:xfrm>
            <a:off x="87782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Discussion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87782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Interrogate the study, debate it, or critique each other's work.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session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572768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572768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0:00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691640" y="1554480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Warm-up + Look at This: TimeCapsuleLLM and "Speak, Memory," screenshots ready. (These period models, and supplements like MonadGPT and MacBERTh, live on Hugging Face, where you can download and run open models, or fine-tune your own.)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640080" y="2139696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2139696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0:07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691640" y="2121408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Stress-test the finding, one continuous arc on your own results: shuffle the labels and re-run; split the corpus in half; ask "compared to what?". Then compress whatever survived into one headline sentence.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40080" y="2706624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2706624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0:52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691640" y="2688336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40080" y="3273552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3273552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1:02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691640" y="3255264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Gemini-free writing block: write your one-sentence interpretation yourself.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40080" y="3840480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6" name="Text 14"/>
          <p:cNvSpPr/>
          <p:nvPr/>
        </p:nvSpPr>
        <p:spPr>
          <a:xfrm>
            <a:off x="640080" y="3840480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1:22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691640" y="3822192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Writing workshop: opening question, what you found, what it does not show, the choices you made. Distill the Data Biography into the corpus note.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640080" y="4407408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9" name="Text 17"/>
          <p:cNvSpPr/>
          <p:nvPr/>
        </p:nvSpPr>
        <p:spPr>
          <a:xfrm>
            <a:off x="640080" y="4407408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1:50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1691640" y="4389120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and check-out.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Reading &amp; homework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673352"/>
            <a:ext cx="219456" cy="2194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4" name="Text 2"/>
          <p:cNvSpPr/>
          <p:nvPr/>
        </p:nvSpPr>
        <p:spPr>
          <a:xfrm>
            <a:off x="1051560" y="160020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051560" y="198424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Ted Chiang, ChatGPT Is a Blurry JPEG of the Web (2023), the compression idea this week is built on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40080" y="2633472"/>
            <a:ext cx="219456" cy="21945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7" name="Text 5"/>
          <p:cNvSpPr/>
          <p:nvPr/>
        </p:nvSpPr>
        <p:spPr>
          <a:xfrm>
            <a:off x="1051560" y="256032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Supplement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051560" y="294436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TimeCapsuleLLM and Speak, Memory; period models MonadGPT and MacBERTh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" y="3593592"/>
            <a:ext cx="219456" cy="219456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51560" y="352044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Deeper (optional)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051560" y="390448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Da, The Computational Case Against Computational Literary Studies (2019), the field's sharpest critique, read against your own robustness checks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40080" y="4553712"/>
            <a:ext cx="219456" cy="21945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3" name="Text 11"/>
          <p:cNvSpPr/>
          <p:nvPr/>
        </p:nvSpPr>
        <p:spPr>
          <a:xfrm>
            <a:off x="1051560" y="448056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Sketch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051560" y="486460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Expand to 600 to 1,000 words; write your show-your-work appendix and which checks survived.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40080" y="5513832"/>
            <a:ext cx="219456" cy="2194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6" name="Text 14"/>
          <p:cNvSpPr/>
          <p:nvPr/>
        </p:nvSpPr>
        <p:spPr>
          <a:xfrm>
            <a:off x="1051560" y="544068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(AI closed)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051560" y="582472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it: your headline finding, and what it does not show. (Competencies 3, 4.)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THIS WEEK CONNECTS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987552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course's through-lines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205740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7A3B2E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20574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371600" y="202082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7A3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Whose data, at full scale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1371600" y="244144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model is its corpus: bound the corpus and you bound the mind.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40080" y="352044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3F6F5F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35204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1371600" y="348386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F6F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Memorization isn't reading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1371600" y="390448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model may recite your corpus rather than read it, a validity problem, not just ethics.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640080" y="498348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B9852F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49834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371600" y="494690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B985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Test it, then keep what survives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1371600" y="536752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Week 2 trial's method, now applied to your own finding.</a:t>
            </a:r>
            <a:endParaRPr lang="en-US" sz="14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0058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CHECK, AI CLOSED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645920"/>
            <a:ext cx="8686800" cy="31089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Explain it: your headline finding, and what it does not show. (Competencies 3, 4.)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40080" y="61264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  ·  Week 8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10473555" y="5054087"/>
            <a:ext cx="78741" cy="78741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Shape 4"/>
          <p:cNvSpPr/>
          <p:nvPr/>
        </p:nvSpPr>
        <p:spPr>
          <a:xfrm>
            <a:off x="9755671" y="5241251"/>
            <a:ext cx="78006" cy="7800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7" name="Shape 5"/>
          <p:cNvSpPr/>
          <p:nvPr/>
        </p:nvSpPr>
        <p:spPr>
          <a:xfrm>
            <a:off x="10383141" y="6003513"/>
            <a:ext cx="66475" cy="66475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8" name="Shape 6"/>
          <p:cNvSpPr/>
          <p:nvPr/>
        </p:nvSpPr>
        <p:spPr>
          <a:xfrm>
            <a:off x="10862443" y="4590054"/>
            <a:ext cx="67009" cy="67009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9" name="Shape 7"/>
          <p:cNvSpPr/>
          <p:nvPr/>
        </p:nvSpPr>
        <p:spPr>
          <a:xfrm>
            <a:off x="9700059" y="5199492"/>
            <a:ext cx="47604" cy="47604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0" name="Shape 8"/>
          <p:cNvSpPr/>
          <p:nvPr/>
        </p:nvSpPr>
        <p:spPr>
          <a:xfrm>
            <a:off x="10523109" y="5081010"/>
            <a:ext cx="85984" cy="85984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1" name="Shape 9"/>
          <p:cNvSpPr/>
          <p:nvPr/>
        </p:nvSpPr>
        <p:spPr>
          <a:xfrm>
            <a:off x="9277751" y="4958505"/>
            <a:ext cx="95281" cy="95281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Shape 10"/>
          <p:cNvSpPr/>
          <p:nvPr/>
        </p:nvSpPr>
        <p:spPr>
          <a:xfrm>
            <a:off x="9591107" y="5555879"/>
            <a:ext cx="98355" cy="98355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3" name="Shape 11"/>
          <p:cNvSpPr/>
          <p:nvPr/>
        </p:nvSpPr>
        <p:spPr>
          <a:xfrm>
            <a:off x="9969657" y="5859671"/>
            <a:ext cx="63202" cy="6320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4" name="Shape 12"/>
          <p:cNvSpPr/>
          <p:nvPr/>
        </p:nvSpPr>
        <p:spPr>
          <a:xfrm>
            <a:off x="11480199" y="4856422"/>
            <a:ext cx="67546" cy="6754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5" name="Shape 13"/>
          <p:cNvSpPr/>
          <p:nvPr/>
        </p:nvSpPr>
        <p:spPr>
          <a:xfrm>
            <a:off x="10068896" y="5007391"/>
            <a:ext cx="79383" cy="79383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6" name="Shape 14"/>
          <p:cNvSpPr/>
          <p:nvPr/>
        </p:nvSpPr>
        <p:spPr>
          <a:xfrm>
            <a:off x="9362865" y="5299118"/>
            <a:ext cx="66710" cy="66710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7" name="Shape 15"/>
          <p:cNvSpPr/>
          <p:nvPr/>
        </p:nvSpPr>
        <p:spPr>
          <a:xfrm>
            <a:off x="10428908" y="4718144"/>
            <a:ext cx="52385" cy="52385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8" name="Shape 16"/>
          <p:cNvSpPr/>
          <p:nvPr/>
        </p:nvSpPr>
        <p:spPr>
          <a:xfrm>
            <a:off x="9213184" y="5725728"/>
            <a:ext cx="59269" cy="59269"/>
          </a:xfrm>
          <a:prstGeom prst="ellipse">
            <a:avLst/>
          </a:prstGeom>
          <a:solidFill>
            <a:srgbClr val="3F6F5F"/>
          </a:solidFill>
          <a:ln/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2026-07-06T05:18:27Z</dcterms:created>
  <dcterms:modified xsi:type="dcterms:W3CDTF">2026-07-06T05:18:27Z</dcterms:modified>
</cp:coreProperties>
</file>