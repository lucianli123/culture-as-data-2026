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4E26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CULTURE AS DATA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1554480"/>
            <a:ext cx="5486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E8DC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4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640080" y="2011680"/>
            <a:ext cx="8961120" cy="18288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Pick a Corpus. Pick Two Methods. Commit.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640080" y="4114800"/>
            <a:ext cx="7680960" cy="146304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600" i="1" dirty="0">
                <a:solidFill>
                  <a:srgbClr val="E8DC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Leave with a pitched project, two chosen methods, your Data Biography drafted, and the skill that makes "bring your own corpus" real: getting data off the web.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640080" y="603504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 / method:  The project (no new mechanism this week)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9724225" y="1688744"/>
            <a:ext cx="60133" cy="60133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8" name="Shape 6"/>
          <p:cNvSpPr/>
          <p:nvPr/>
        </p:nvSpPr>
        <p:spPr>
          <a:xfrm>
            <a:off x="10618764" y="1674825"/>
            <a:ext cx="86575" cy="86575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9" name="Shape 7"/>
          <p:cNvSpPr/>
          <p:nvPr/>
        </p:nvSpPr>
        <p:spPr>
          <a:xfrm>
            <a:off x="9754353" y="1946444"/>
            <a:ext cx="93078" cy="9307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Shape 8"/>
          <p:cNvSpPr/>
          <p:nvPr/>
        </p:nvSpPr>
        <p:spPr>
          <a:xfrm>
            <a:off x="11017191" y="1490141"/>
            <a:ext cx="47638" cy="4763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1" name="Shape 9"/>
          <p:cNvSpPr/>
          <p:nvPr/>
        </p:nvSpPr>
        <p:spPr>
          <a:xfrm>
            <a:off x="10063880" y="1029817"/>
            <a:ext cx="82844" cy="82844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2" name="Shape 10"/>
          <p:cNvSpPr/>
          <p:nvPr/>
        </p:nvSpPr>
        <p:spPr>
          <a:xfrm>
            <a:off x="10780618" y="1289371"/>
            <a:ext cx="56962" cy="56962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3" name="Shape 11"/>
          <p:cNvSpPr/>
          <p:nvPr/>
        </p:nvSpPr>
        <p:spPr>
          <a:xfrm>
            <a:off x="11567207" y="1255343"/>
            <a:ext cx="47717" cy="47717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4" name="Shape 12"/>
          <p:cNvSpPr/>
          <p:nvPr/>
        </p:nvSpPr>
        <p:spPr>
          <a:xfrm>
            <a:off x="10823446" y="1651633"/>
            <a:ext cx="77969" cy="77969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5" name="Shape 13"/>
          <p:cNvSpPr/>
          <p:nvPr/>
        </p:nvSpPr>
        <p:spPr>
          <a:xfrm>
            <a:off x="9692334" y="1464782"/>
            <a:ext cx="60850" cy="60850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6" name="Shape 14"/>
          <p:cNvSpPr/>
          <p:nvPr/>
        </p:nvSpPr>
        <p:spPr>
          <a:xfrm>
            <a:off x="9316873" y="1418690"/>
            <a:ext cx="74084" cy="74084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7" name="Shape 15"/>
          <p:cNvSpPr/>
          <p:nvPr/>
        </p:nvSpPr>
        <p:spPr>
          <a:xfrm>
            <a:off x="10840061" y="2237255"/>
            <a:ext cx="85667" cy="85667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8" name="Shape 16"/>
          <p:cNvSpPr/>
          <p:nvPr/>
        </p:nvSpPr>
        <p:spPr>
          <a:xfrm>
            <a:off x="9918500" y="1169659"/>
            <a:ext cx="63595" cy="63595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9" name="Shape 17"/>
          <p:cNvSpPr/>
          <p:nvPr/>
        </p:nvSpPr>
        <p:spPr>
          <a:xfrm>
            <a:off x="10438389" y="677161"/>
            <a:ext cx="85592" cy="85592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20" name="Shape 18"/>
          <p:cNvSpPr/>
          <p:nvPr/>
        </p:nvSpPr>
        <p:spPr>
          <a:xfrm>
            <a:off x="10799527" y="1483662"/>
            <a:ext cx="64790" cy="64790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21" name="Shape 19"/>
          <p:cNvSpPr/>
          <p:nvPr/>
        </p:nvSpPr>
        <p:spPr>
          <a:xfrm>
            <a:off x="9401716" y="838341"/>
            <a:ext cx="78914" cy="78914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22" name="Shape 20"/>
          <p:cNvSpPr/>
          <p:nvPr/>
        </p:nvSpPr>
        <p:spPr>
          <a:xfrm>
            <a:off x="10131155" y="1202458"/>
            <a:ext cx="95958" cy="95958"/>
          </a:xfrm>
          <a:prstGeom prst="ellipse">
            <a:avLst/>
          </a:prstGeom>
          <a:solidFill>
            <a:srgbClr val="7A3B2E"/>
          </a:solidFill>
          <a:ln/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1371600"/>
            <a:ext cx="2377440" cy="2377440"/>
          </a:xfrm>
          <a:prstGeom prst="ellipse">
            <a:avLst/>
          </a:prstGeom>
          <a:solidFill>
            <a:srgbClr val="F4EEE8"/>
          </a:solidFill>
          <a:ln/>
        </p:spPr>
      </p:sp>
      <p:sp>
        <p:nvSpPr>
          <p:cNvPr id="3" name="Shape 1"/>
          <p:cNvSpPr/>
          <p:nvPr/>
        </p:nvSpPr>
        <p:spPr>
          <a:xfrm>
            <a:off x="1325880" y="2423160"/>
            <a:ext cx="146304" cy="146304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4" name="Shape 2"/>
          <p:cNvSpPr/>
          <p:nvPr/>
        </p:nvSpPr>
        <p:spPr>
          <a:xfrm>
            <a:off x="1563624" y="2514600"/>
            <a:ext cx="146304" cy="146304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5" name="Shape 3"/>
          <p:cNvSpPr/>
          <p:nvPr/>
        </p:nvSpPr>
        <p:spPr>
          <a:xfrm>
            <a:off x="1801368" y="2423160"/>
            <a:ext cx="146304" cy="146304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6" name="Text 4"/>
          <p:cNvSpPr/>
          <p:nvPr/>
        </p:nvSpPr>
        <p:spPr>
          <a:xfrm>
            <a:off x="3657600" y="91440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LOOK AT THIS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3657600" y="1280160"/>
            <a:ext cx="78638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study we open with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3657600" y="2286000"/>
            <a:ext cx="7863840" cy="329184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9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Pudding "How We Made…" process post, the messy middle, where every polished piece had a moment its maker thought it wouldn't work.</a:t>
            </a:r>
            <a:endParaRPr lang="en-US" sz="1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82296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 IT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118872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did they choose, and where might it be wrong?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640080" y="2468880"/>
            <a:ext cx="256032" cy="256032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5" name="Text 3"/>
          <p:cNvSpPr/>
          <p:nvPr/>
        </p:nvSpPr>
        <p:spPr>
          <a:xfrm>
            <a:off x="1097280" y="2286000"/>
            <a:ext cx="10241280" cy="3657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20000"/>
              </a:lnSpc>
              <a:buNone/>
            </a:pPr>
            <a:r>
              <a:rPr lang="en-US" sz="2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across the pitches for questions too vague to answer, corpora that don't exist as accessible data, methods chosen for vibes, and the quiet scaling-down of ambition.</a:t>
            </a:r>
            <a:endParaRPr lang="en-US" sz="2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73152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modes today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640080" y="141732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about a third of the session each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40080" y="2194560"/>
            <a:ext cx="3383280" cy="3291840"/>
          </a:xfrm>
          <a:prstGeom prst="roundRect">
            <a:avLst>
              <a:gd name="adj" fmla="val 3333"/>
            </a:avLst>
          </a:prstGeom>
          <a:solidFill>
            <a:srgbClr val="F4EEE8"/>
          </a:solidFill>
          <a:ln/>
        </p:spPr>
      </p:sp>
      <p:sp>
        <p:nvSpPr>
          <p:cNvPr id="5" name="Shape 3"/>
          <p:cNvSpPr/>
          <p:nvPr/>
        </p:nvSpPr>
        <p:spPr>
          <a:xfrm>
            <a:off x="1051560" y="2606040"/>
            <a:ext cx="548640" cy="548640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3383280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Lecture / demo</a:t>
            </a:r>
            <a:endParaRPr lang="en-US" sz="2100" dirty="0"/>
          </a:p>
        </p:txBody>
      </p:sp>
      <p:sp>
        <p:nvSpPr>
          <p:cNvPr id="7" name="Text 5"/>
          <p:cNvSpPr/>
          <p:nvPr/>
        </p:nvSpPr>
        <p:spPr>
          <a:xfrm>
            <a:off x="1005840" y="3977640"/>
            <a:ext cx="2651760" cy="1371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project (no new mechanism this week)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4526280" y="2194560"/>
            <a:ext cx="3383280" cy="3291840"/>
          </a:xfrm>
          <a:prstGeom prst="roundRect">
            <a:avLst>
              <a:gd name="adj" fmla="val 3333"/>
            </a:avLst>
          </a:prstGeom>
          <a:solidFill>
            <a:srgbClr val="F4EEE8"/>
          </a:solidFill>
          <a:ln/>
        </p:spPr>
      </p:sp>
      <p:sp>
        <p:nvSpPr>
          <p:cNvPr id="9" name="Shape 7"/>
          <p:cNvSpPr/>
          <p:nvPr/>
        </p:nvSpPr>
        <p:spPr>
          <a:xfrm>
            <a:off x="4937760" y="2606040"/>
            <a:ext cx="548640" cy="548640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0" name="Text 8"/>
          <p:cNvSpPr/>
          <p:nvPr/>
        </p:nvSpPr>
        <p:spPr>
          <a:xfrm>
            <a:off x="4892040" y="3383280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Workshop</a:t>
            </a:r>
            <a:endParaRPr lang="en-US" sz="2100" dirty="0"/>
          </a:p>
        </p:txBody>
      </p:sp>
      <p:sp>
        <p:nvSpPr>
          <p:cNvPr id="11" name="Text 9"/>
          <p:cNvSpPr/>
          <p:nvPr/>
        </p:nvSpPr>
        <p:spPr>
          <a:xfrm>
            <a:off x="4892040" y="3977640"/>
            <a:ext cx="2651760" cy="1371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hands-on on your own data.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8412480" y="2194560"/>
            <a:ext cx="3383280" cy="3291840"/>
          </a:xfrm>
          <a:prstGeom prst="roundRect">
            <a:avLst>
              <a:gd name="adj" fmla="val 3333"/>
            </a:avLst>
          </a:prstGeom>
          <a:solidFill>
            <a:srgbClr val="F4EEE8"/>
          </a:solidFill>
          <a:ln/>
        </p:spPr>
      </p:sp>
      <p:sp>
        <p:nvSpPr>
          <p:cNvPr id="13" name="Shape 11"/>
          <p:cNvSpPr/>
          <p:nvPr/>
        </p:nvSpPr>
        <p:spPr>
          <a:xfrm>
            <a:off x="8823960" y="2606040"/>
            <a:ext cx="548640" cy="548640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4" name="Text 12"/>
          <p:cNvSpPr/>
          <p:nvPr/>
        </p:nvSpPr>
        <p:spPr>
          <a:xfrm>
            <a:off x="8778240" y="3383280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Discussion</a:t>
            </a:r>
            <a:endParaRPr lang="en-US" sz="2100" dirty="0"/>
          </a:p>
        </p:txBody>
      </p:sp>
      <p:sp>
        <p:nvSpPr>
          <p:cNvPr id="15" name="Text 13"/>
          <p:cNvSpPr/>
          <p:nvPr/>
        </p:nvSpPr>
        <p:spPr>
          <a:xfrm>
            <a:off x="8778240" y="3977640"/>
            <a:ext cx="2651760" cy="1371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Interrogate the study, debate it, or critique each other's work.</a:t>
            </a:r>
            <a:endParaRPr lang="en-US" sz="15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session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1572768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572768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0:00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691640" y="1554480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Warm-up + Look at This: the process post.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640080" y="2139696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7" name="Text 5"/>
          <p:cNvSpPr/>
          <p:nvPr/>
        </p:nvSpPr>
        <p:spPr>
          <a:xfrm>
            <a:off x="640080" y="2139696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0:08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1691640" y="2121408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Pitches, three-minute hard cap each: your corpus (existence proof shown), your two methods, what would count as a finding.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640080" y="2706624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10" name="Text 8"/>
          <p:cNvSpPr/>
          <p:nvPr/>
        </p:nvSpPr>
        <p:spPr>
          <a:xfrm>
            <a:off x="640080" y="2706624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0:48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1691640" y="2688336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Break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640080" y="3273552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13" name="Text 11"/>
          <p:cNvSpPr/>
          <p:nvPr/>
        </p:nvSpPr>
        <p:spPr>
          <a:xfrm>
            <a:off x="640080" y="3273552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0:58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691640" y="3255264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data conversation: the licensing one-pager (CC0 museums and public-domain books go anywhere; academic-only sets analyze-don't-redistribute; lyrics and review text metadata-only; AO3 and other community-opposed archives a small attributed sample at most, never a shared dataset; live firehoses we discuss, don't scrape; pirated full-text books from shadow libraries like LibGen never, the line the field's $1.5B settlement was about), and the Data Biography introduced.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640080" y="3840480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16" name="Text 14"/>
          <p:cNvSpPr/>
          <p:nvPr/>
        </p:nvSpPr>
        <p:spPr>
          <a:xfrm>
            <a:off x="640080" y="3840480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1:10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1691640" y="3822192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Getting the data, APIs and scraping, demoed live with the AI writing the code. API first (the Met or Art Institute, no key); scraping second, with the robots.txt / ToS / rate-limit / anti-republish check.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640080" y="4407408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19" name="Text 17"/>
          <p:cNvSpPr/>
          <p:nvPr/>
        </p:nvSpPr>
        <p:spPr>
          <a:xfrm>
            <a:off x="640080" y="4407408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1:30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1691640" y="4389120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Collect-and-build lab: point the cookbook notebook at your corpus, reshape it, and save it to your Drive project folder so it's there next week (when the Week 1 Drive mount pays off), and fork the publishing template. Your project repo is born today.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640080" y="4974336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22" name="Text 20"/>
          <p:cNvSpPr/>
          <p:nvPr/>
        </p:nvSpPr>
        <p:spPr>
          <a:xfrm>
            <a:off x="640080" y="4974336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1:55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1691640" y="4956048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Commit, with the pivot kit named as insurance. A null result honestly shown is a complete project. Check-out.</a:t>
            </a:r>
            <a:endParaRPr lang="en-US" sz="12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Reading &amp; homework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1810512"/>
            <a:ext cx="219456" cy="219456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4" name="Text 2"/>
          <p:cNvSpPr/>
          <p:nvPr/>
        </p:nvSpPr>
        <p:spPr>
          <a:xfrm>
            <a:off x="1051560" y="173736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1051560" y="212140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Krause, Data Biographies (We All Count)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640080" y="2953512"/>
            <a:ext cx="219456" cy="219456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7" name="Text 5"/>
          <p:cNvSpPr/>
          <p:nvPr/>
        </p:nvSpPr>
        <p:spPr>
          <a:xfrm>
            <a:off x="1051560" y="288036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F6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Supplement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1051560" y="326440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Freelon, Post-API Age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" y="4096512"/>
            <a:ext cx="219456" cy="219456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51560" y="402336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Sketch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1051560" y="440740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Data Biography (~400 words) and actually collect your corpus with the cookbook.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640080" y="5239512"/>
            <a:ext cx="219456" cy="219456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3" name="Text 11"/>
          <p:cNvSpPr/>
          <p:nvPr/>
        </p:nvSpPr>
        <p:spPr>
          <a:xfrm>
            <a:off x="1051560" y="516636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(AI closed)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1051560" y="555040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 it: your question aloud, what it omits, and where your data actually comes from. (Competencies 2, 6.)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THIS WEEK CONNECTS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987552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course's through-lines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40080" y="205740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7A3B2E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205740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1371600" y="2020824"/>
            <a:ext cx="10332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7A3B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Whose data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1371600" y="2441448"/>
            <a:ext cx="1033272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Data Biography: where it came from, who is missing, what it cannot say.</a:t>
            </a: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640080" y="352044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3F6F5F"/>
          </a:solidFill>
          <a:ln/>
        </p:spPr>
      </p:sp>
      <p:sp>
        <p:nvSpPr>
          <p:cNvPr id="9" name="Text 7"/>
          <p:cNvSpPr/>
          <p:nvPr/>
        </p:nvSpPr>
        <p:spPr>
          <a:xfrm>
            <a:off x="640080" y="352044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1371600" y="3483864"/>
            <a:ext cx="10332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3F6F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licensing line</a:t>
            </a:r>
            <a:endParaRPr lang="en-US" sz="1900" dirty="0"/>
          </a:p>
        </p:txBody>
      </p:sp>
      <p:sp>
        <p:nvSpPr>
          <p:cNvPr id="11" name="Text 9"/>
          <p:cNvSpPr/>
          <p:nvPr/>
        </p:nvSpPr>
        <p:spPr>
          <a:xfrm>
            <a:off x="1371600" y="3904488"/>
            <a:ext cx="1033272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CC0, to scrape-with-care, to never (LibGen). Judgment, not a rulebook.</a:t>
            </a:r>
            <a:endParaRPr lang="en-US" sz="1450" dirty="0"/>
          </a:p>
        </p:txBody>
      </p:sp>
      <p:sp>
        <p:nvSpPr>
          <p:cNvPr id="12" name="Shape 10"/>
          <p:cNvSpPr/>
          <p:nvPr/>
        </p:nvSpPr>
        <p:spPr>
          <a:xfrm>
            <a:off x="640080" y="498348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B9852F"/>
          </a:solidFill>
          <a:ln/>
        </p:spPr>
      </p:sp>
      <p:sp>
        <p:nvSpPr>
          <p:cNvPr id="13" name="Text 11"/>
          <p:cNvSpPr/>
          <p:nvPr/>
        </p:nvSpPr>
        <p:spPr>
          <a:xfrm>
            <a:off x="640080" y="49834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1371600" y="4946904"/>
            <a:ext cx="10332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B985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Make something real</a:t>
            </a:r>
            <a:endParaRPr lang="en-US" sz="1900" dirty="0"/>
          </a:p>
        </p:txBody>
      </p:sp>
      <p:sp>
        <p:nvSpPr>
          <p:cNvPr id="15" name="Text 13"/>
          <p:cNvSpPr/>
          <p:nvPr/>
        </p:nvSpPr>
        <p:spPr>
          <a:xfrm>
            <a:off x="1371600" y="5367528"/>
            <a:ext cx="1033272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leave with a real corpus in hand and a project repo born.</a:t>
            </a:r>
            <a:endParaRPr lang="en-US" sz="14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4E26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0058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CHECK, AI CLOSED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1645920"/>
            <a:ext cx="8686800" cy="310896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Explain it: your question aloud, what it omits, and where your data actually comes from. (Competencies 2, 6.)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640080" y="612648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8DC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Culture as Data  ·  Week 4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9314870" y="4684302"/>
            <a:ext cx="97826" cy="97826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Shape 4"/>
          <p:cNvSpPr/>
          <p:nvPr/>
        </p:nvSpPr>
        <p:spPr>
          <a:xfrm>
            <a:off x="10817510" y="5927824"/>
            <a:ext cx="55265" cy="55265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7" name="Shape 5"/>
          <p:cNvSpPr/>
          <p:nvPr/>
        </p:nvSpPr>
        <p:spPr>
          <a:xfrm>
            <a:off x="9967264" y="4657804"/>
            <a:ext cx="50677" cy="50677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8" name="Shape 6"/>
          <p:cNvSpPr/>
          <p:nvPr/>
        </p:nvSpPr>
        <p:spPr>
          <a:xfrm>
            <a:off x="10391251" y="5072862"/>
            <a:ext cx="52058" cy="5205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9" name="Shape 7"/>
          <p:cNvSpPr/>
          <p:nvPr/>
        </p:nvSpPr>
        <p:spPr>
          <a:xfrm>
            <a:off x="10595952" y="6159539"/>
            <a:ext cx="82267" cy="82267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0" name="Shape 8"/>
          <p:cNvSpPr/>
          <p:nvPr/>
        </p:nvSpPr>
        <p:spPr>
          <a:xfrm>
            <a:off x="9087846" y="5167014"/>
            <a:ext cx="54438" cy="5443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1" name="Shape 9"/>
          <p:cNvSpPr/>
          <p:nvPr/>
        </p:nvSpPr>
        <p:spPr>
          <a:xfrm>
            <a:off x="9494053" y="4556547"/>
            <a:ext cx="46294" cy="46294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2" name="Shape 10"/>
          <p:cNvSpPr/>
          <p:nvPr/>
        </p:nvSpPr>
        <p:spPr>
          <a:xfrm>
            <a:off x="10321053" y="5052039"/>
            <a:ext cx="80695" cy="80695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3" name="Shape 11"/>
          <p:cNvSpPr/>
          <p:nvPr/>
        </p:nvSpPr>
        <p:spPr>
          <a:xfrm>
            <a:off x="10075327" y="5640029"/>
            <a:ext cx="70772" cy="70772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4" name="Shape 12"/>
          <p:cNvSpPr/>
          <p:nvPr/>
        </p:nvSpPr>
        <p:spPr>
          <a:xfrm>
            <a:off x="9823674" y="5307057"/>
            <a:ext cx="94251" cy="94251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5" name="Shape 13"/>
          <p:cNvSpPr/>
          <p:nvPr/>
        </p:nvSpPr>
        <p:spPr>
          <a:xfrm>
            <a:off x="10632895" y="4777024"/>
            <a:ext cx="64263" cy="64263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6" name="Shape 14"/>
          <p:cNvSpPr/>
          <p:nvPr/>
        </p:nvSpPr>
        <p:spPr>
          <a:xfrm>
            <a:off x="11009469" y="4773829"/>
            <a:ext cx="58532" cy="58532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7" name="Shape 15"/>
          <p:cNvSpPr/>
          <p:nvPr/>
        </p:nvSpPr>
        <p:spPr>
          <a:xfrm>
            <a:off x="9459876" y="6021372"/>
            <a:ext cx="99917" cy="99917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8" name="Shape 16"/>
          <p:cNvSpPr/>
          <p:nvPr/>
        </p:nvSpPr>
        <p:spPr>
          <a:xfrm>
            <a:off x="9611236" y="5768834"/>
            <a:ext cx="46688" cy="46688"/>
          </a:xfrm>
          <a:prstGeom prst="ellipse">
            <a:avLst/>
          </a:prstGeom>
          <a:solidFill>
            <a:srgbClr val="3F6F5F"/>
          </a:solidFill>
          <a:ln/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2026-07-05T03:25:18Z</dcterms:created>
  <dcterms:modified xsi:type="dcterms:W3CDTF">2026-07-05T03:25:18Z</dcterms:modified>
</cp:coreProperties>
</file>