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4</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How Machines Learn to Read: Neural Networks and Word Embeddings</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See what your Week 3 classifier becomes when you stack it, learn where word vectors come from and what they can and cannot do, and leave with your own corpus collected, saved and committed to.</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Neural networks and word embeddings, plus getting data off the web</a:t>
            </a:r>
            <a:endParaRPr lang="en-US" sz="1200" dirty="0"/>
          </a:p>
        </p:txBody>
      </p:sp>
      <p:sp>
        <p:nvSpPr>
          <p:cNvPr id="7" name="Shape 5"/>
          <p:cNvSpPr/>
          <p:nvPr/>
        </p:nvSpPr>
        <p:spPr>
          <a:xfrm>
            <a:off x="9724225" y="1688744"/>
            <a:ext cx="60133" cy="60133"/>
          </a:xfrm>
          <a:prstGeom prst="ellipse">
            <a:avLst/>
          </a:prstGeom>
          <a:solidFill>
            <a:srgbClr val="7A3B2E"/>
          </a:solidFill>
          <a:ln/>
        </p:spPr>
      </p:sp>
      <p:sp>
        <p:nvSpPr>
          <p:cNvPr id="8" name="Shape 6"/>
          <p:cNvSpPr/>
          <p:nvPr/>
        </p:nvSpPr>
        <p:spPr>
          <a:xfrm>
            <a:off x="10618764" y="1674825"/>
            <a:ext cx="86575" cy="86575"/>
          </a:xfrm>
          <a:prstGeom prst="ellipse">
            <a:avLst/>
          </a:prstGeom>
          <a:solidFill>
            <a:srgbClr val="3F6F5F"/>
          </a:solidFill>
          <a:ln/>
        </p:spPr>
      </p:sp>
      <p:sp>
        <p:nvSpPr>
          <p:cNvPr id="9" name="Shape 7"/>
          <p:cNvSpPr/>
          <p:nvPr/>
        </p:nvSpPr>
        <p:spPr>
          <a:xfrm>
            <a:off x="9754353" y="1946444"/>
            <a:ext cx="93078" cy="93078"/>
          </a:xfrm>
          <a:prstGeom prst="ellipse">
            <a:avLst/>
          </a:prstGeom>
          <a:solidFill>
            <a:srgbClr val="B9852F"/>
          </a:solidFill>
          <a:ln/>
        </p:spPr>
      </p:sp>
      <p:sp>
        <p:nvSpPr>
          <p:cNvPr id="10" name="Shape 8"/>
          <p:cNvSpPr/>
          <p:nvPr/>
        </p:nvSpPr>
        <p:spPr>
          <a:xfrm>
            <a:off x="11017191" y="1490141"/>
            <a:ext cx="47638" cy="47638"/>
          </a:xfrm>
          <a:prstGeom prst="ellipse">
            <a:avLst/>
          </a:prstGeom>
          <a:solidFill>
            <a:srgbClr val="7A3B2E"/>
          </a:solidFill>
          <a:ln/>
        </p:spPr>
      </p:sp>
      <p:sp>
        <p:nvSpPr>
          <p:cNvPr id="11" name="Shape 9"/>
          <p:cNvSpPr/>
          <p:nvPr/>
        </p:nvSpPr>
        <p:spPr>
          <a:xfrm>
            <a:off x="10063880" y="1029817"/>
            <a:ext cx="82844" cy="82844"/>
          </a:xfrm>
          <a:prstGeom prst="ellipse">
            <a:avLst/>
          </a:prstGeom>
          <a:solidFill>
            <a:srgbClr val="3F6F5F"/>
          </a:solidFill>
          <a:ln/>
        </p:spPr>
      </p:sp>
      <p:sp>
        <p:nvSpPr>
          <p:cNvPr id="12" name="Shape 10"/>
          <p:cNvSpPr/>
          <p:nvPr/>
        </p:nvSpPr>
        <p:spPr>
          <a:xfrm>
            <a:off x="10780618" y="1289371"/>
            <a:ext cx="56962" cy="56962"/>
          </a:xfrm>
          <a:prstGeom prst="ellipse">
            <a:avLst/>
          </a:prstGeom>
          <a:solidFill>
            <a:srgbClr val="B9852F"/>
          </a:solidFill>
          <a:ln/>
        </p:spPr>
      </p:sp>
      <p:sp>
        <p:nvSpPr>
          <p:cNvPr id="13" name="Shape 11"/>
          <p:cNvSpPr/>
          <p:nvPr/>
        </p:nvSpPr>
        <p:spPr>
          <a:xfrm>
            <a:off x="11567207" y="1255343"/>
            <a:ext cx="47717" cy="47717"/>
          </a:xfrm>
          <a:prstGeom prst="ellipse">
            <a:avLst/>
          </a:prstGeom>
          <a:solidFill>
            <a:srgbClr val="7A3B2E"/>
          </a:solidFill>
          <a:ln/>
        </p:spPr>
      </p:sp>
      <p:sp>
        <p:nvSpPr>
          <p:cNvPr id="14" name="Shape 12"/>
          <p:cNvSpPr/>
          <p:nvPr/>
        </p:nvSpPr>
        <p:spPr>
          <a:xfrm>
            <a:off x="10823446" y="1651633"/>
            <a:ext cx="77969" cy="77969"/>
          </a:xfrm>
          <a:prstGeom prst="ellipse">
            <a:avLst/>
          </a:prstGeom>
          <a:solidFill>
            <a:srgbClr val="3F6F5F"/>
          </a:solidFill>
          <a:ln/>
        </p:spPr>
      </p:sp>
      <p:sp>
        <p:nvSpPr>
          <p:cNvPr id="15" name="Shape 13"/>
          <p:cNvSpPr/>
          <p:nvPr/>
        </p:nvSpPr>
        <p:spPr>
          <a:xfrm>
            <a:off x="9692334" y="1464782"/>
            <a:ext cx="60850" cy="60850"/>
          </a:xfrm>
          <a:prstGeom prst="ellipse">
            <a:avLst/>
          </a:prstGeom>
          <a:solidFill>
            <a:srgbClr val="B9852F"/>
          </a:solidFill>
          <a:ln/>
        </p:spPr>
      </p:sp>
      <p:sp>
        <p:nvSpPr>
          <p:cNvPr id="16" name="Shape 14"/>
          <p:cNvSpPr/>
          <p:nvPr/>
        </p:nvSpPr>
        <p:spPr>
          <a:xfrm>
            <a:off x="9316873" y="1418690"/>
            <a:ext cx="74084" cy="74084"/>
          </a:xfrm>
          <a:prstGeom prst="ellipse">
            <a:avLst/>
          </a:prstGeom>
          <a:solidFill>
            <a:srgbClr val="7A3B2E"/>
          </a:solidFill>
          <a:ln/>
        </p:spPr>
      </p:sp>
      <p:sp>
        <p:nvSpPr>
          <p:cNvPr id="17" name="Shape 15"/>
          <p:cNvSpPr/>
          <p:nvPr/>
        </p:nvSpPr>
        <p:spPr>
          <a:xfrm>
            <a:off x="10840061" y="2237255"/>
            <a:ext cx="85667" cy="85667"/>
          </a:xfrm>
          <a:prstGeom prst="ellipse">
            <a:avLst/>
          </a:prstGeom>
          <a:solidFill>
            <a:srgbClr val="3F6F5F"/>
          </a:solidFill>
          <a:ln/>
        </p:spPr>
      </p:sp>
      <p:sp>
        <p:nvSpPr>
          <p:cNvPr id="18" name="Shape 16"/>
          <p:cNvSpPr/>
          <p:nvPr/>
        </p:nvSpPr>
        <p:spPr>
          <a:xfrm>
            <a:off x="9918500" y="1169659"/>
            <a:ext cx="63595" cy="63595"/>
          </a:xfrm>
          <a:prstGeom prst="ellipse">
            <a:avLst/>
          </a:prstGeom>
          <a:solidFill>
            <a:srgbClr val="B9852F"/>
          </a:solidFill>
          <a:ln/>
        </p:spPr>
      </p:sp>
      <p:sp>
        <p:nvSpPr>
          <p:cNvPr id="19" name="Shape 17"/>
          <p:cNvSpPr/>
          <p:nvPr/>
        </p:nvSpPr>
        <p:spPr>
          <a:xfrm>
            <a:off x="10438389" y="677161"/>
            <a:ext cx="85592" cy="85592"/>
          </a:xfrm>
          <a:prstGeom prst="ellipse">
            <a:avLst/>
          </a:prstGeom>
          <a:solidFill>
            <a:srgbClr val="7A3B2E"/>
          </a:solidFill>
          <a:ln/>
        </p:spPr>
      </p:sp>
      <p:sp>
        <p:nvSpPr>
          <p:cNvPr id="20" name="Shape 18"/>
          <p:cNvSpPr/>
          <p:nvPr/>
        </p:nvSpPr>
        <p:spPr>
          <a:xfrm>
            <a:off x="10799527" y="1483662"/>
            <a:ext cx="64790" cy="64790"/>
          </a:xfrm>
          <a:prstGeom prst="ellipse">
            <a:avLst/>
          </a:prstGeom>
          <a:solidFill>
            <a:srgbClr val="3F6F5F"/>
          </a:solidFill>
          <a:ln/>
        </p:spPr>
      </p:sp>
      <p:sp>
        <p:nvSpPr>
          <p:cNvPr id="21" name="Shape 19"/>
          <p:cNvSpPr/>
          <p:nvPr/>
        </p:nvSpPr>
        <p:spPr>
          <a:xfrm>
            <a:off x="9401716" y="838341"/>
            <a:ext cx="78914" cy="78914"/>
          </a:xfrm>
          <a:prstGeom prst="ellipse">
            <a:avLst/>
          </a:prstGeom>
          <a:solidFill>
            <a:srgbClr val="B9852F"/>
          </a:solidFill>
          <a:ln/>
        </p:spPr>
      </p:sp>
      <p:sp>
        <p:nvSpPr>
          <p:cNvPr id="22" name="Shape 20"/>
          <p:cNvSpPr/>
          <p:nvPr/>
        </p:nvSpPr>
        <p:spPr>
          <a:xfrm>
            <a:off x="10131155" y="1202458"/>
            <a:ext cx="95958" cy="95958"/>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The word2vec analogy that made the field pay attention: king - man + woman lands near queen. A model nobody told about royalty or gender, trained only to guess neighbouring words, ends up with those relationships as directions in space.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The analogy is real and it is also a magic trick: the arithmetic is nudged (the query word is excluded from the answer), most analogies fail, and the same geometry that gives you queen gives you the occupational stereotypes Bolukbasi found. What the vectors know, they learned from us.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Your classifier, redrawn as a neuron</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Inputs (word counts), one weight each, add them up, squash to a probability. That is Week 3, and it is one neuron.</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 network stacks them: a hidden layer between the words and the answer.</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What stacking buys: features nobody hand-wrote. Combinations of words the model invents because they help.</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What it costs: the weights stop being readable. That is the trade Week 7 asks you to accept knowingly.</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How it learns: downhill, in small steps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 loss is one number saying how wrong the model currently is.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Gradient descent: nudge every weight in the direction that lowers the loss, then repeat.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No calculus today. Rolling downhill in fog, feeling for the slope, is the honest picture.</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TensorFlow Playground, live on the spiral: watch the hidden units carve the space into pieces.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problem embeddings solve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In a bag of words, happy and joyful share nothing. Neither do Oakland and Berkeley.</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Counting has no notion of meaning. That is its honest floor, and you have lived with it since Week 2.</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distributional idea: a word is known by the company it keeps.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So put every word in a space where words that keep similar company land near each other.</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Where word vectors come from</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word2vec is a small neural net trained on a fake task: given a word, guess its neighbours.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Nobody wants the predictions. The by-product is the point: the hidden layer becomes one vector per word.</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Similarity is the angle between two vectors, the same cosine as Week 2's vector space.</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king - man + woman lands near queen. Directions in the space carry relationships nobody labelled.</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analogy, with its caveats attached</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arithmetic is nudged: the query words are excluded, or king comes back as its own nearest neighbour.</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Most analogies fail. The famous four are the ones that worked.</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same geometry gives doctor - man + woman = nurse (Bolukbasi 2016). Week 5 argues about what that means.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Static vectors: one per word. Contextual models: one per occurrence. Week 5 embeds whole sentences.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Where a corpus comes from</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Route 1, and most projects should stop here: a prepared file. pd.read_csv(url), gdown, load_dataset().</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Route 2, an API: a documented URL returning JSON. Endpoint, key, pagination, rate limit - all four on screen as we call the Met.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Route 3, a small scrape, only when there is no file and no API. BeautifulSoup, slowly.</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check that comes with route 3: robots.txt and the terms, request slowly, take only what you need, never republish.</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4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licensing line, in three sentences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CC0 museum data and public-domain books: use freely, republish freely.</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Academic corpora and community text: analyze, do not redistribute. Lyrics and reviews: metadata and counts only.</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Shadow-library books: never. That line is what the field's $1.5B settlement was about.</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Data Biography answers the rest: where it came from, who is missing, what it cannot say.</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Neural networks and word embeddings, plus getting data off the web</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7200"/>
          </a:xfrm>
          <a:prstGeom prst="roundRect">
            <a:avLst>
              <a:gd name="adj" fmla="val 12000"/>
            </a:avLst>
          </a:prstGeom>
          <a:solidFill>
            <a:srgbClr val="7A3B2E"/>
          </a:solidFill>
          <a:ln/>
        </p:spPr>
      </p:sp>
      <p:sp>
        <p:nvSpPr>
          <p:cNvPr id="4" name="Text 2"/>
          <p:cNvSpPr/>
          <p:nvPr/>
        </p:nvSpPr>
        <p:spPr>
          <a:xfrm>
            <a:off x="640080" y="157276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Warm-up: where Week 3 left off, and one sentence on where today goes. The classifier you built is one neuron; today it grows.</a:t>
            </a:r>
            <a:endParaRPr lang="en-US" sz="1250" dirty="0"/>
          </a:p>
        </p:txBody>
      </p:sp>
      <p:sp>
        <p:nvSpPr>
          <p:cNvPr id="6" name="Shape 4"/>
          <p:cNvSpPr/>
          <p:nvPr/>
        </p:nvSpPr>
        <p:spPr>
          <a:xfrm>
            <a:off x="640080" y="2139696"/>
            <a:ext cx="868680" cy="457200"/>
          </a:xfrm>
          <a:prstGeom prst="roundRect">
            <a:avLst>
              <a:gd name="adj" fmla="val 12000"/>
            </a:avLst>
          </a:prstGeom>
          <a:solidFill>
            <a:srgbClr val="7A3B2E"/>
          </a:solidFill>
          <a:ln/>
        </p:spPr>
      </p:sp>
      <p:sp>
        <p:nvSpPr>
          <p:cNvPr id="7" name="Text 5"/>
          <p:cNvSpPr/>
          <p:nvPr/>
        </p:nvSpPr>
        <p:spPr>
          <a:xfrm>
            <a:off x="640080" y="213969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0:05</a:t>
            </a:r>
            <a:endParaRPr lang="en-US" sz="1100" dirty="0"/>
          </a:p>
        </p:txBody>
      </p:sp>
      <p:sp>
        <p:nvSpPr>
          <p:cNvPr id="8" name="Text 6"/>
          <p:cNvSpPr/>
          <p:nvPr/>
        </p:nvSpPr>
        <p:spPr>
          <a:xfrm>
            <a:off x="1691640" y="212140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Lecture one, from one neuron to a network (25 min). Your logistic regression, redrawn: inputs, one weight each, a sum, a squash. Then stack it, hidden layer first, and what stacking buys you: features nobody hand-wrote. Training as rolling downhill, loss and gradient descent without the calculus. TensorFlow Playground live on the spiral, watching hidden units carve the space. What it costs: the weights stop being readable, which is exactly the trade Week 7 asks you to accept.</a:t>
            </a:r>
            <a:endParaRPr lang="en-US" sz="1250" dirty="0"/>
          </a:p>
        </p:txBody>
      </p:sp>
      <p:sp>
        <p:nvSpPr>
          <p:cNvPr id="9" name="Shape 7"/>
          <p:cNvSpPr/>
          <p:nvPr/>
        </p:nvSpPr>
        <p:spPr>
          <a:xfrm>
            <a:off x="640080" y="2706624"/>
            <a:ext cx="868680" cy="457200"/>
          </a:xfrm>
          <a:prstGeom prst="roundRect">
            <a:avLst>
              <a:gd name="adj" fmla="val 12000"/>
            </a:avLst>
          </a:prstGeom>
          <a:solidFill>
            <a:srgbClr val="7A3B2E"/>
          </a:solidFill>
          <a:ln/>
        </p:spPr>
      </p:sp>
      <p:sp>
        <p:nvSpPr>
          <p:cNvPr id="10" name="Text 8"/>
          <p:cNvSpPr/>
          <p:nvPr/>
        </p:nvSpPr>
        <p:spPr>
          <a:xfrm>
            <a:off x="640080" y="2706624"/>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0:30</a:t>
            </a:r>
            <a:endParaRPr lang="en-US" sz="1100" dirty="0"/>
          </a:p>
        </p:txBody>
      </p:sp>
      <p:sp>
        <p:nvSpPr>
          <p:cNvPr id="11" name="Text 9"/>
          <p:cNvSpPr/>
          <p:nvPr/>
        </p:nvSpPr>
        <p:spPr>
          <a:xfrm>
            <a:off x="1691640" y="2688336"/>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Lecture two, word embeddings (30 min). The problem first: to a bag of words, happy and joyful are unrelated columns, which is counting's honest floor. The distributional idea, a word is known by the company it keeps. word2vec as a small neural net trained on a fake task, predict the neighbouring word, whose by-product is the vector. Then the geometry: nearest neighbours, cosine similarity, and the king - man + woman analogy with its caveats shown. The Embedding Projector live on a real vocabulary. Closing distinction, one line each: static vectors (one per word) versus contextual ones (one per occurrence), and the sentence embeddings Week 5 actually uses.</a:t>
            </a:r>
            <a:endParaRPr lang="en-US" sz="1250" dirty="0"/>
          </a:p>
        </p:txBody>
      </p:sp>
      <p:sp>
        <p:nvSpPr>
          <p:cNvPr id="12" name="Shape 10"/>
          <p:cNvSpPr/>
          <p:nvPr/>
        </p:nvSpPr>
        <p:spPr>
          <a:xfrm>
            <a:off x="640080" y="3273552"/>
            <a:ext cx="868680" cy="457200"/>
          </a:xfrm>
          <a:prstGeom prst="roundRect">
            <a:avLst>
              <a:gd name="adj" fmla="val 12000"/>
            </a:avLst>
          </a:prstGeom>
          <a:solidFill>
            <a:srgbClr val="7A3B2E"/>
          </a:solidFill>
          <a:ln/>
        </p:spPr>
      </p:sp>
      <p:sp>
        <p:nvSpPr>
          <p:cNvPr id="13" name="Text 11"/>
          <p:cNvSpPr/>
          <p:nvPr/>
        </p:nvSpPr>
        <p:spPr>
          <a:xfrm>
            <a:off x="640080" y="3273552"/>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14" name="Text 12"/>
          <p:cNvSpPr/>
          <p:nvPr/>
        </p:nvSpPr>
        <p:spPr>
          <a:xfrm>
            <a:off x="1691640" y="3255264"/>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Break</a:t>
            </a:r>
            <a:endParaRPr lang="en-US" sz="1250" dirty="0"/>
          </a:p>
        </p:txBody>
      </p:sp>
      <p:sp>
        <p:nvSpPr>
          <p:cNvPr id="15" name="Shape 13"/>
          <p:cNvSpPr/>
          <p:nvPr/>
        </p:nvSpPr>
        <p:spPr>
          <a:xfrm>
            <a:off x="640080" y="3840480"/>
            <a:ext cx="868680" cy="457200"/>
          </a:xfrm>
          <a:prstGeom prst="roundRect">
            <a:avLst>
              <a:gd name="adj" fmla="val 12000"/>
            </a:avLst>
          </a:prstGeom>
          <a:solidFill>
            <a:srgbClr val="7A3B2E"/>
          </a:solidFill>
          <a:ln/>
        </p:spPr>
      </p:sp>
      <p:sp>
        <p:nvSpPr>
          <p:cNvPr id="16" name="Text 14"/>
          <p:cNvSpPr/>
          <p:nvPr/>
        </p:nvSpPr>
        <p:spPr>
          <a:xfrm>
            <a:off x="640080" y="3840480"/>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1:10</a:t>
            </a:r>
            <a:endParaRPr lang="en-US" sz="1100" dirty="0"/>
          </a:p>
        </p:txBody>
      </p:sp>
      <p:sp>
        <p:nvSpPr>
          <p:cNvPr id="17" name="Text 15"/>
          <p:cNvSpPr/>
          <p:nvPr/>
        </p:nvSpPr>
        <p:spPr>
          <a:xfrm>
            <a:off x="1691640" y="3822192"/>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Where a corpus comes from, APIs and scraping (20 min), demoed live with the AI writing the code. Route one, the prepared file most projects should use. Route two, an API: hit the Met or Art Institute endpoint, no key, and name what an endpoint, a key, pagination and a rate limit are as they appear on screen. Route three, a small scrape with BeautifulSoup, and the four-line check that comes with it: read robots.txt and the terms, request slowly, take only what you need, never republish. The licensing line in three sentences: CC0 and public domain go anywhere, academic sets are analyze-don't-redistribute, shadow libraries never.</a:t>
            </a:r>
            <a:endParaRPr lang="en-US" sz="1250" dirty="0"/>
          </a:p>
        </p:txBody>
      </p:sp>
      <p:sp>
        <p:nvSpPr>
          <p:cNvPr id="18" name="Shape 16"/>
          <p:cNvSpPr/>
          <p:nvPr/>
        </p:nvSpPr>
        <p:spPr>
          <a:xfrm>
            <a:off x="640080" y="4407408"/>
            <a:ext cx="868680" cy="457200"/>
          </a:xfrm>
          <a:prstGeom prst="roundRect">
            <a:avLst>
              <a:gd name="adj" fmla="val 12000"/>
            </a:avLst>
          </a:prstGeom>
          <a:solidFill>
            <a:srgbClr val="7A3B2E"/>
          </a:solidFill>
          <a:ln/>
        </p:spPr>
      </p:sp>
      <p:sp>
        <p:nvSpPr>
          <p:cNvPr id="19" name="Text 17"/>
          <p:cNvSpPr/>
          <p:nvPr/>
        </p:nvSpPr>
        <p:spPr>
          <a:xfrm>
            <a:off x="640080" y="440740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1:30</a:t>
            </a:r>
            <a:endParaRPr lang="en-US" sz="1100" dirty="0"/>
          </a:p>
        </p:txBody>
      </p:sp>
      <p:sp>
        <p:nvSpPr>
          <p:cNvPr id="20" name="Text 18"/>
          <p:cNvSpPr/>
          <p:nvPr/>
        </p:nvSpPr>
        <p:spPr>
          <a:xfrm>
            <a:off x="1691640" y="438912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Collect-and-build lab (20 min): point the cookbook notebook at your corpus, reshape it, and save it to your Drive project folder so it is there next week. Fork the publishing template with GitHub Pages on, so a live placeholder URL exists from today.</a:t>
            </a:r>
            <a:endParaRPr lang="en-US" sz="1250" dirty="0"/>
          </a:p>
        </p:txBody>
      </p:sp>
      <p:sp>
        <p:nvSpPr>
          <p:cNvPr id="21" name="Shape 19"/>
          <p:cNvSpPr/>
          <p:nvPr/>
        </p:nvSpPr>
        <p:spPr>
          <a:xfrm>
            <a:off x="640080" y="4974336"/>
            <a:ext cx="868680" cy="457200"/>
          </a:xfrm>
          <a:prstGeom prst="roundRect">
            <a:avLst>
              <a:gd name="adj" fmla="val 12000"/>
            </a:avLst>
          </a:prstGeom>
          <a:solidFill>
            <a:srgbClr val="7A3B2E"/>
          </a:solidFill>
          <a:ln/>
        </p:spPr>
      </p:sp>
      <p:sp>
        <p:nvSpPr>
          <p:cNvPr id="22" name="Text 20"/>
          <p:cNvSpPr/>
          <p:nvPr/>
        </p:nvSpPr>
        <p:spPr>
          <a:xfrm>
            <a:off x="640080" y="497433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a:t>
            </a:r>
            <a:endParaRPr lang="en-US" sz="1100" dirty="0"/>
          </a:p>
        </p:txBody>
      </p:sp>
      <p:sp>
        <p:nvSpPr>
          <p:cNvPr id="23" name="Text 21"/>
          <p:cNvSpPr/>
          <p:nvPr/>
        </p:nvSpPr>
        <p:spPr>
          <a:xfrm>
            <a:off x="1691640" y="495604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Pitch in pairs, two minutes each: your corpus, your two methods, what would count as a finding. Then commit, with the pivot kit named as insurance and a null result named as a real result. Check-out.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Alammar, The Illustrated Word2Vec: where word vectors come from, drawn one picture at a time. The lecture assumes the pictures, so read it first</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Krause, Data Biographies (We All Count), the frame for this week's sketch; Freelon, Post-API Age, on what happens when the front door closes</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3Blue1Brown, Neural Networks, chapters 1 and 2, the same lecture with better animation; then Mikolov et al. (2013), the four-page paper that started it</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Data Biography (~400 words), collect your corpus with the cookbook, and one surprising neighbour from the Embedding Projector.</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Explain it: what a word vector is, in your own words, and one thing it cannot tell you. Plus your question aloud, what it omits, and where your data comes from. (Competencies 2, 6.)</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One neuron, then many</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Week 3's classifier is a single neuron. Stack them and the machine learns features nobody wrote down - and you stop being able to read the weights.</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Beyond counting</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To a bag of words, happy and joyful are unrelated columns. Embeddings are the fix, and the reason Week 5 exists.</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Whose data</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Where your corpus comes from, what the licence allows, and what the Data Biography has to answer.</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Explain it: what a word vector is, in your own words, and one thing it cannot tell you. Plus your question aloud, what it omits, and where your data comes from. (Competencies 2, 6.)</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4</a:t>
            </a:r>
            <a:endParaRPr lang="en-US" sz="1200" dirty="0"/>
          </a:p>
        </p:txBody>
      </p:sp>
      <p:sp>
        <p:nvSpPr>
          <p:cNvPr id="5" name="Shape 3"/>
          <p:cNvSpPr/>
          <p:nvPr/>
        </p:nvSpPr>
        <p:spPr>
          <a:xfrm>
            <a:off x="9314870" y="4684302"/>
            <a:ext cx="97826" cy="97826"/>
          </a:xfrm>
          <a:prstGeom prst="ellipse">
            <a:avLst/>
          </a:prstGeom>
          <a:solidFill>
            <a:srgbClr val="7A3B2E"/>
          </a:solidFill>
          <a:ln/>
        </p:spPr>
      </p:sp>
      <p:sp>
        <p:nvSpPr>
          <p:cNvPr id="6" name="Shape 4"/>
          <p:cNvSpPr/>
          <p:nvPr/>
        </p:nvSpPr>
        <p:spPr>
          <a:xfrm>
            <a:off x="10817510" y="5927824"/>
            <a:ext cx="55265" cy="55265"/>
          </a:xfrm>
          <a:prstGeom prst="ellipse">
            <a:avLst/>
          </a:prstGeom>
          <a:solidFill>
            <a:srgbClr val="3F6F5F"/>
          </a:solidFill>
          <a:ln/>
        </p:spPr>
      </p:sp>
      <p:sp>
        <p:nvSpPr>
          <p:cNvPr id="7" name="Shape 5"/>
          <p:cNvSpPr/>
          <p:nvPr/>
        </p:nvSpPr>
        <p:spPr>
          <a:xfrm>
            <a:off x="9967264" y="4657804"/>
            <a:ext cx="50677" cy="50677"/>
          </a:xfrm>
          <a:prstGeom prst="ellipse">
            <a:avLst/>
          </a:prstGeom>
          <a:solidFill>
            <a:srgbClr val="B9852F"/>
          </a:solidFill>
          <a:ln/>
        </p:spPr>
      </p:sp>
      <p:sp>
        <p:nvSpPr>
          <p:cNvPr id="8" name="Shape 6"/>
          <p:cNvSpPr/>
          <p:nvPr/>
        </p:nvSpPr>
        <p:spPr>
          <a:xfrm>
            <a:off x="10391251" y="5072862"/>
            <a:ext cx="52058" cy="52058"/>
          </a:xfrm>
          <a:prstGeom prst="ellipse">
            <a:avLst/>
          </a:prstGeom>
          <a:solidFill>
            <a:srgbClr val="7A3B2E"/>
          </a:solidFill>
          <a:ln/>
        </p:spPr>
      </p:sp>
      <p:sp>
        <p:nvSpPr>
          <p:cNvPr id="9" name="Shape 7"/>
          <p:cNvSpPr/>
          <p:nvPr/>
        </p:nvSpPr>
        <p:spPr>
          <a:xfrm>
            <a:off x="10595952" y="6159539"/>
            <a:ext cx="82267" cy="82267"/>
          </a:xfrm>
          <a:prstGeom prst="ellipse">
            <a:avLst/>
          </a:prstGeom>
          <a:solidFill>
            <a:srgbClr val="3F6F5F"/>
          </a:solidFill>
          <a:ln/>
        </p:spPr>
      </p:sp>
      <p:sp>
        <p:nvSpPr>
          <p:cNvPr id="10" name="Shape 8"/>
          <p:cNvSpPr/>
          <p:nvPr/>
        </p:nvSpPr>
        <p:spPr>
          <a:xfrm>
            <a:off x="9087846" y="5167014"/>
            <a:ext cx="54438" cy="54438"/>
          </a:xfrm>
          <a:prstGeom prst="ellipse">
            <a:avLst/>
          </a:prstGeom>
          <a:solidFill>
            <a:srgbClr val="B9852F"/>
          </a:solidFill>
          <a:ln/>
        </p:spPr>
      </p:sp>
      <p:sp>
        <p:nvSpPr>
          <p:cNvPr id="11" name="Shape 9"/>
          <p:cNvSpPr/>
          <p:nvPr/>
        </p:nvSpPr>
        <p:spPr>
          <a:xfrm>
            <a:off x="9494053" y="4556547"/>
            <a:ext cx="46294" cy="46294"/>
          </a:xfrm>
          <a:prstGeom prst="ellipse">
            <a:avLst/>
          </a:prstGeom>
          <a:solidFill>
            <a:srgbClr val="7A3B2E"/>
          </a:solidFill>
          <a:ln/>
        </p:spPr>
      </p:sp>
      <p:sp>
        <p:nvSpPr>
          <p:cNvPr id="12" name="Shape 10"/>
          <p:cNvSpPr/>
          <p:nvPr/>
        </p:nvSpPr>
        <p:spPr>
          <a:xfrm>
            <a:off x="10321053" y="5052039"/>
            <a:ext cx="80695" cy="80695"/>
          </a:xfrm>
          <a:prstGeom prst="ellipse">
            <a:avLst/>
          </a:prstGeom>
          <a:solidFill>
            <a:srgbClr val="3F6F5F"/>
          </a:solidFill>
          <a:ln/>
        </p:spPr>
      </p:sp>
      <p:sp>
        <p:nvSpPr>
          <p:cNvPr id="13" name="Shape 11"/>
          <p:cNvSpPr/>
          <p:nvPr/>
        </p:nvSpPr>
        <p:spPr>
          <a:xfrm>
            <a:off x="10075327" y="5640029"/>
            <a:ext cx="70772" cy="70772"/>
          </a:xfrm>
          <a:prstGeom prst="ellipse">
            <a:avLst/>
          </a:prstGeom>
          <a:solidFill>
            <a:srgbClr val="B9852F"/>
          </a:solidFill>
          <a:ln/>
        </p:spPr>
      </p:sp>
      <p:sp>
        <p:nvSpPr>
          <p:cNvPr id="14" name="Shape 12"/>
          <p:cNvSpPr/>
          <p:nvPr/>
        </p:nvSpPr>
        <p:spPr>
          <a:xfrm>
            <a:off x="9823674" y="5307057"/>
            <a:ext cx="94251" cy="94251"/>
          </a:xfrm>
          <a:prstGeom prst="ellipse">
            <a:avLst/>
          </a:prstGeom>
          <a:solidFill>
            <a:srgbClr val="7A3B2E"/>
          </a:solidFill>
          <a:ln/>
        </p:spPr>
      </p:sp>
      <p:sp>
        <p:nvSpPr>
          <p:cNvPr id="15" name="Shape 13"/>
          <p:cNvSpPr/>
          <p:nvPr/>
        </p:nvSpPr>
        <p:spPr>
          <a:xfrm>
            <a:off x="10632895" y="4777024"/>
            <a:ext cx="64263" cy="64263"/>
          </a:xfrm>
          <a:prstGeom prst="ellipse">
            <a:avLst/>
          </a:prstGeom>
          <a:solidFill>
            <a:srgbClr val="3F6F5F"/>
          </a:solidFill>
          <a:ln/>
        </p:spPr>
      </p:sp>
      <p:sp>
        <p:nvSpPr>
          <p:cNvPr id="16" name="Shape 14"/>
          <p:cNvSpPr/>
          <p:nvPr/>
        </p:nvSpPr>
        <p:spPr>
          <a:xfrm>
            <a:off x="11009469" y="4773829"/>
            <a:ext cx="58532" cy="58532"/>
          </a:xfrm>
          <a:prstGeom prst="ellipse">
            <a:avLst/>
          </a:prstGeom>
          <a:solidFill>
            <a:srgbClr val="B9852F"/>
          </a:solidFill>
          <a:ln/>
        </p:spPr>
      </p:sp>
      <p:sp>
        <p:nvSpPr>
          <p:cNvPr id="17" name="Shape 15"/>
          <p:cNvSpPr/>
          <p:nvPr/>
        </p:nvSpPr>
        <p:spPr>
          <a:xfrm>
            <a:off x="9459876" y="6021372"/>
            <a:ext cx="99917" cy="99917"/>
          </a:xfrm>
          <a:prstGeom prst="ellipse">
            <a:avLst/>
          </a:prstGeom>
          <a:solidFill>
            <a:srgbClr val="7A3B2E"/>
          </a:solidFill>
          <a:ln/>
        </p:spPr>
      </p:sp>
      <p:sp>
        <p:nvSpPr>
          <p:cNvPr id="18" name="Shape 16"/>
          <p:cNvSpPr/>
          <p:nvPr/>
        </p:nvSpPr>
        <p:spPr>
          <a:xfrm>
            <a:off x="9611236" y="5768834"/>
            <a:ext cx="46688" cy="46688"/>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2026-08-08T01:14:49Z</dcterms:created>
  <dcterms:modified xsi:type="dcterms:W3CDTF">2026-08-08T01:14:49Z</dcterms:modified>
</cp:coreProperties>
</file>