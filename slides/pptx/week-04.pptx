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33" autoAdjust="0"/>
    <p:restoredTop sz="94711" autoAdjust="0"/>
  </p:normalViewPr>
  <p:slideViewPr>
    <p:cSldViewPr snapToGrid="0" snapToObjects="1">
      <p:cViewPr varScale="1">
        <p:scale>
          <a:sx n="84" d="100"/>
          <a:sy n="84" d="100"/>
        </p:scale>
        <p:origin x="1278" y="6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?>
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1" Type="http://schemas.openxmlformats.org/officeDocument/2006/relationships/viewProps" Target="viewProps.xml" /><Relationship Id="rId1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3" Type="http://schemas.openxmlformats.org/officeDocument/2006/relationships/tableStyles" Target="tableStyles.xml" /><Relationship Id="rId1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4/5/2019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4/5/2019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4/5/2019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4/5/2019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4/5/2019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4/5/2019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4/5/2019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4/5/2019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4/5/2019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4/5/2019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4/5/2019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4/5/2019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jn.org/stories/data-biographies-getting-to-know-your-data/" TargetMode="External" /><Relationship Id="rId3" Type="http://schemas.openxmlformats.org/officeDocument/2006/relationships/hyperlink" Target="https://dfreelon.org/publications/2018_Computational_research_in_the_postAPI_age.pdf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pPr lvl="0" marL="0" indent="0">
              <a:buNone/>
            </a:pPr>
            <a:r>
              <a:rPr/>
              <a:t>Week</a:t>
            </a:r>
            <a:r>
              <a:rPr/>
              <a:t> </a:t>
            </a:r>
            <a:r>
              <a:rPr/>
              <a:t>4:</a:t>
            </a:r>
            <a:r>
              <a:rPr/>
              <a:t> </a:t>
            </a:r>
            <a:r>
              <a:rPr/>
              <a:t>Pick</a:t>
            </a:r>
            <a:r>
              <a:rPr/>
              <a:t> </a:t>
            </a:r>
            <a:r>
              <a:rPr/>
              <a:t>a</a:t>
            </a:r>
            <a:r>
              <a:rPr/>
              <a:t> </a:t>
            </a:r>
            <a:r>
              <a:rPr/>
              <a:t>Corpus.</a:t>
            </a:r>
            <a:r>
              <a:rPr/>
              <a:t> </a:t>
            </a:r>
            <a:r>
              <a:rPr/>
              <a:t>Pick</a:t>
            </a:r>
            <a:r>
              <a:rPr/>
              <a:t> </a:t>
            </a:r>
            <a:r>
              <a:rPr/>
              <a:t>Two</a:t>
            </a:r>
            <a:r>
              <a:rPr/>
              <a:t> </a:t>
            </a:r>
            <a:r>
              <a:rPr/>
              <a:t>Methods.</a:t>
            </a:r>
            <a:r>
              <a:rPr/>
              <a:t> </a:t>
            </a:r>
            <a:r>
              <a:rPr/>
              <a:t>Commit.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/>
          <a:p>
            <a:pPr lvl="0" marL="0" indent="0">
              <a:buNone/>
            </a:pPr>
            <a:r>
              <a:rPr/>
              <a:t>Culture</a:t>
            </a:r>
            <a:r>
              <a:rPr/>
              <a:t> </a:t>
            </a:r>
            <a:r>
              <a:rPr/>
              <a:t>as</a:t>
            </a:r>
            <a:r>
              <a:rPr/>
              <a:t> </a:t>
            </a:r>
            <a:r>
              <a:rPr/>
              <a:t>Data</a:t>
            </a:r>
            <a:r>
              <a:rPr/>
              <a:t> </a:t>
            </a:r>
            <a:r>
              <a:rPr/>
              <a:t>·</a:t>
            </a:r>
            <a:r>
              <a:rPr/>
              <a:t> </a:t>
            </a:r>
            <a:r>
              <a:rPr/>
              <a:t>draft</a:t>
            </a:r>
            <a:r>
              <a:rPr/>
              <a:t> </a:t>
            </a:r>
            <a:r>
              <a:rPr/>
              <a:t>slides</a:t>
            </a: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/>
          <a:lstStyle/>
          <a:p>
            <a:pPr lvl="0" marL="0" indent="0">
              <a:buNone/>
            </a:pPr>
            <a:r>
              <a:rPr/>
              <a:t>Week</a:t>
            </a:r>
            <a:r>
              <a:rPr/>
              <a:t> </a:t>
            </a:r>
            <a:r>
              <a:rPr/>
              <a:t>4</a:t>
            </a:r>
            <a:r>
              <a:rPr/>
              <a:t> </a:t>
            </a:r>
            <a:r>
              <a:rPr/>
              <a:t>·</a:t>
            </a:r>
            <a:r>
              <a:rPr/>
              <a:t> </a:t>
            </a:r>
            <a:r>
              <a:rPr/>
              <a:t>Pick</a:t>
            </a:r>
            <a:r>
              <a:rPr/>
              <a:t> </a:t>
            </a:r>
            <a:r>
              <a:rPr/>
              <a:t>a</a:t>
            </a:r>
            <a:r>
              <a:rPr/>
              <a:t> </a:t>
            </a:r>
            <a:r>
              <a:rPr/>
              <a:t>Corpus.</a:t>
            </a:r>
            <a:r>
              <a:rPr/>
              <a:t> </a:t>
            </a:r>
            <a:r>
              <a:rPr/>
              <a:t>Pick</a:t>
            </a:r>
            <a:r>
              <a:rPr/>
              <a:t> </a:t>
            </a:r>
            <a:r>
              <a:rPr/>
              <a:t>Two</a:t>
            </a:r>
            <a:r>
              <a:rPr/>
              <a:t> </a:t>
            </a:r>
            <a:r>
              <a:rPr/>
              <a:t>Methods.</a:t>
            </a:r>
            <a:r>
              <a:rPr/>
              <a:t> </a:t>
            </a:r>
            <a:r>
              <a:rPr/>
              <a:t>Commit.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1270000" indent="0">
              <a:buNone/>
            </a:pPr>
            <a:r>
              <a:rPr sz="2000"/>
              <a:t>Leave with a pitched project, two chosen methods, your Data Biography drafted, and the skill that makes “bring your own corpus” real: getting data off the web.</a:t>
            </a:r>
          </a:p>
          <a:p>
            <a:pPr lvl="0" marL="0" indent="0">
              <a:buNone/>
            </a:pPr>
            <a:r>
              <a:rPr i="1"/>
              <a:t>Tool / method: The project (no new mechanism this week) · Competencies: 2, 6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Look</a:t>
            </a:r>
            <a:r>
              <a:rPr/>
              <a:t> </a:t>
            </a:r>
            <a:r>
              <a:rPr/>
              <a:t>at</a:t>
            </a:r>
            <a:r>
              <a:rPr/>
              <a:t> </a:t>
            </a:r>
            <a:r>
              <a:rPr/>
              <a:t>This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A Pudding “How We Made…” process post, the messy middle, where every polished piece had a moment its maker thought it wouldn’t work.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Question</a:t>
            </a:r>
            <a:r>
              <a:rPr/>
              <a:t> </a:t>
            </a:r>
            <a:r>
              <a:rPr/>
              <a:t>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Listen across the pitches for questions too vague to answer, corpora that don’t exist as accessible data, methods chosen for vibes, and the quiet scaling-down of ambition.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Three</a:t>
            </a:r>
            <a:r>
              <a:rPr/>
              <a:t> </a:t>
            </a:r>
            <a:r>
              <a:rPr/>
              <a:t>modes</a:t>
            </a:r>
            <a:r>
              <a:rPr/>
              <a:t> </a:t>
            </a:r>
            <a:r>
              <a:rPr/>
              <a:t>today</a:t>
            </a:r>
            <a:r>
              <a:rPr/>
              <a:t> </a:t>
            </a:r>
            <a:r>
              <a:rPr/>
              <a:t>(about</a:t>
            </a:r>
            <a:r>
              <a:rPr/>
              <a:t> </a:t>
            </a:r>
            <a:r>
              <a:rPr/>
              <a:t>a</a:t>
            </a:r>
            <a:r>
              <a:rPr/>
              <a:t> </a:t>
            </a:r>
            <a:r>
              <a:rPr/>
              <a:t>third</a:t>
            </a:r>
            <a:r>
              <a:rPr/>
              <a:t> </a:t>
            </a:r>
            <a:r>
              <a:rPr/>
              <a:t>each)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rPr b="1"/>
              <a:t>Lecture / demo:</a:t>
            </a:r>
            <a:r>
              <a:rPr/>
              <a:t> The project (no new mechanism this week)</a:t>
            </a:r>
          </a:p>
          <a:p>
            <a:pPr lvl="1"/>
            <a:r>
              <a:rPr b="1"/>
              <a:t>Workshop:</a:t>
            </a:r>
            <a:r>
              <a:rPr/>
              <a:t> build hands-on on your own data</a:t>
            </a:r>
          </a:p>
          <a:p>
            <a:pPr lvl="1"/>
            <a:r>
              <a:rPr b="1"/>
              <a:t>Discussion:</a:t>
            </a:r>
            <a:r>
              <a:rPr/>
              <a:t> the study above, interrogate it, debate it, or critique each other’s work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The</a:t>
            </a:r>
            <a:r>
              <a:rPr/>
              <a:t> </a:t>
            </a:r>
            <a:r>
              <a:rPr/>
              <a:t>session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rPr b="1"/>
              <a:t>0:00</a:t>
            </a:r>
            <a:r>
              <a:rPr/>
              <a:t> Warm-up + Look at This: the process post.</a:t>
            </a:r>
          </a:p>
          <a:p>
            <a:pPr lvl="1"/>
            <a:r>
              <a:rPr b="1"/>
              <a:t>0:08</a:t>
            </a:r>
            <a:r>
              <a:rPr/>
              <a:t> Pitches, three-minute hard cap each: your corpus (existence proof shown), your two methods, what would count as a finding.</a:t>
            </a:r>
          </a:p>
          <a:p>
            <a:pPr lvl="1"/>
            <a:r>
              <a:rPr b="1"/>
              <a:t>0:48</a:t>
            </a:r>
            <a:r>
              <a:rPr/>
              <a:t> Break</a:t>
            </a:r>
          </a:p>
          <a:p>
            <a:pPr lvl="1"/>
            <a:r>
              <a:rPr b="1"/>
              <a:t>0:58</a:t>
            </a:r>
            <a:r>
              <a:rPr/>
              <a:t> The data conversation: the licensing one-pager (CC0 museums and public-domain books go anywhere; academic-only sets analyze-don’t-redistribute; lyrics and review text metadata-only; AO3 and other community-opposed archives a small attributed sample at most, never a shared dataset; live firehoses we discuss, don’t scrape; pirated full-text books from shadow libraries like LibGen never, the line the field’s $1.5B settlement was about), and the Data Biography introduced.</a:t>
            </a:r>
          </a:p>
          <a:p>
            <a:pPr lvl="1"/>
            <a:r>
              <a:rPr b="1"/>
              <a:t>1:10</a:t>
            </a:r>
            <a:r>
              <a:rPr/>
              <a:t> Getting the data, APIs and scraping, demoed live with the AI writing the code. API first (the Met or Art Institute, no key); scraping second, with the robots.txt / ToS / rate-limit / anti-republish check.</a:t>
            </a:r>
          </a:p>
          <a:p>
            <a:pPr lvl="1"/>
            <a:r>
              <a:rPr b="1"/>
              <a:t>1:30</a:t>
            </a:r>
            <a:r>
              <a:rPr/>
              <a:t> Collect-and-build lab: point the cookbook notebook at your corpus, reshape it, and save it to your Drive project folder so it’s there next week (when the Week 1 Drive mount pays off), and fork the publishing template. Your project repo is born today.</a:t>
            </a:r>
          </a:p>
          <a:p>
            <a:pPr lvl="1"/>
            <a:r>
              <a:rPr b="1"/>
              <a:t>1:55</a:t>
            </a:r>
            <a:r>
              <a:rPr/>
              <a:t> Commit, with the pivot kit named as insurance. A null result honestly shown is a complete project. Check-out.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Reading</a:t>
            </a:r>
            <a:r>
              <a:rPr/>
              <a:t> </a:t>
            </a:r>
            <a:r>
              <a:rPr/>
              <a:t>&amp;</a:t>
            </a:r>
            <a:r>
              <a:rPr/>
              <a:t> </a:t>
            </a:r>
            <a:r>
              <a:rPr/>
              <a:t>homework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rPr b="1"/>
              <a:t>Reading:</a:t>
            </a:r>
            <a:r>
              <a:rPr/>
              <a:t> </a:t>
            </a:r>
            <a:r>
              <a:rPr>
                <a:hlinkClick r:id="rId2"/>
              </a:rPr>
              <a:t>Krause, Data Biographies</a:t>
            </a:r>
            <a:r>
              <a:rPr/>
              <a:t> (We All Count)</a:t>
            </a:r>
          </a:p>
          <a:p>
            <a:pPr lvl="1"/>
            <a:r>
              <a:rPr b="1"/>
              <a:t>Supplement:</a:t>
            </a:r>
            <a:r>
              <a:rPr/>
              <a:t> </a:t>
            </a:r>
            <a:r>
              <a:rPr>
                <a:hlinkClick r:id="rId3"/>
              </a:rPr>
              <a:t>Freelon, Post-API Age</a:t>
            </a:r>
          </a:p>
          <a:p>
            <a:pPr lvl="1"/>
            <a:r>
              <a:rPr b="1"/>
              <a:t>Sketch:</a:t>
            </a:r>
            <a:r>
              <a:rPr/>
              <a:t> Write your Data Biography (~400 words) and actually collect your corpus with the cookbook.</a:t>
            </a:r>
          </a:p>
          <a:p>
            <a:pPr lvl="1"/>
            <a:r>
              <a:rPr b="1"/>
              <a:t>Check (AI closed):</a:t>
            </a:r>
            <a:r>
              <a:rPr/>
              <a:t> Explain it: your question aloud, what it omits, and where your data actually comes from. (Competencies 2, 6.)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Office PowerPoint</Application>
  <PresentationFormat>On-screen Show (4:3)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Week 4: Pick a Corpus. Pick Two Methods. Commit.</dc:title>
  <dc:creator/>
  <cp:keywords/>
  <dcterms:created xsi:type="dcterms:W3CDTF">2026-06-29T04:14:03Z</dcterms:created>
  <dcterms:modified xsi:type="dcterms:W3CDTF">2026-06-29T04:14:03Z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format">
    <vt:lpwstr>revealjs</vt:lpwstr>
  </property>
  <property fmtid="{D5CDD505-2E9C-101B-9397-08002B2CF9AE}" pid="3" name="subtitle">
    <vt:lpwstr>Culture as Data · draft slides</vt:lpwstr>
  </property>
</Properties>
</file>