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5</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Embeddings: A Map of Meaning</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Watch your own corpus, text or images, sort itself by meaning, see the finding counting couldn't give you, and learn the same trick is how "For You" feeds place you.</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Embeddings, the heart of the course, the leap past counting</a:t>
            </a:r>
            <a:endParaRPr lang="en-US" sz="1200" dirty="0"/>
          </a:p>
        </p:txBody>
      </p:sp>
      <p:sp>
        <p:nvSpPr>
          <p:cNvPr id="7" name="Shape 5"/>
          <p:cNvSpPr/>
          <p:nvPr/>
        </p:nvSpPr>
        <p:spPr>
          <a:xfrm>
            <a:off x="11027822" y="1564795"/>
            <a:ext cx="83975" cy="83975"/>
          </a:xfrm>
          <a:prstGeom prst="ellipse">
            <a:avLst/>
          </a:prstGeom>
          <a:solidFill>
            <a:srgbClr val="7A3B2E"/>
          </a:solidFill>
          <a:ln/>
        </p:spPr>
      </p:sp>
      <p:sp>
        <p:nvSpPr>
          <p:cNvPr id="8" name="Shape 6"/>
          <p:cNvSpPr/>
          <p:nvPr/>
        </p:nvSpPr>
        <p:spPr>
          <a:xfrm>
            <a:off x="10497844" y="1694315"/>
            <a:ext cx="50431" cy="50431"/>
          </a:xfrm>
          <a:prstGeom prst="ellipse">
            <a:avLst/>
          </a:prstGeom>
          <a:solidFill>
            <a:srgbClr val="3F6F5F"/>
          </a:solidFill>
          <a:ln/>
        </p:spPr>
      </p:sp>
      <p:sp>
        <p:nvSpPr>
          <p:cNvPr id="9" name="Shape 7"/>
          <p:cNvSpPr/>
          <p:nvPr/>
        </p:nvSpPr>
        <p:spPr>
          <a:xfrm>
            <a:off x="11333115" y="1771554"/>
            <a:ext cx="77720" cy="77720"/>
          </a:xfrm>
          <a:prstGeom prst="ellipse">
            <a:avLst/>
          </a:prstGeom>
          <a:solidFill>
            <a:srgbClr val="B9852F"/>
          </a:solidFill>
          <a:ln/>
        </p:spPr>
      </p:sp>
      <p:sp>
        <p:nvSpPr>
          <p:cNvPr id="10" name="Shape 8"/>
          <p:cNvSpPr/>
          <p:nvPr/>
        </p:nvSpPr>
        <p:spPr>
          <a:xfrm>
            <a:off x="9190237" y="783050"/>
            <a:ext cx="78974" cy="78974"/>
          </a:xfrm>
          <a:prstGeom prst="ellipse">
            <a:avLst/>
          </a:prstGeom>
          <a:solidFill>
            <a:srgbClr val="7A3B2E"/>
          </a:solidFill>
          <a:ln/>
        </p:spPr>
      </p:sp>
      <p:sp>
        <p:nvSpPr>
          <p:cNvPr id="11" name="Shape 9"/>
          <p:cNvSpPr/>
          <p:nvPr/>
        </p:nvSpPr>
        <p:spPr>
          <a:xfrm>
            <a:off x="10698609" y="1190065"/>
            <a:ext cx="77053" cy="77053"/>
          </a:xfrm>
          <a:prstGeom prst="ellipse">
            <a:avLst/>
          </a:prstGeom>
          <a:solidFill>
            <a:srgbClr val="3F6F5F"/>
          </a:solidFill>
          <a:ln/>
        </p:spPr>
      </p:sp>
      <p:sp>
        <p:nvSpPr>
          <p:cNvPr id="12" name="Shape 10"/>
          <p:cNvSpPr/>
          <p:nvPr/>
        </p:nvSpPr>
        <p:spPr>
          <a:xfrm>
            <a:off x="11514831" y="1979139"/>
            <a:ext cx="94816" cy="94816"/>
          </a:xfrm>
          <a:prstGeom prst="ellipse">
            <a:avLst/>
          </a:prstGeom>
          <a:solidFill>
            <a:srgbClr val="B9852F"/>
          </a:solidFill>
          <a:ln/>
        </p:spPr>
      </p:sp>
      <p:sp>
        <p:nvSpPr>
          <p:cNvPr id="13" name="Shape 11"/>
          <p:cNvSpPr/>
          <p:nvPr/>
        </p:nvSpPr>
        <p:spPr>
          <a:xfrm>
            <a:off x="10038703" y="2136810"/>
            <a:ext cx="100261" cy="100261"/>
          </a:xfrm>
          <a:prstGeom prst="ellipse">
            <a:avLst/>
          </a:prstGeom>
          <a:solidFill>
            <a:srgbClr val="7A3B2E"/>
          </a:solidFill>
          <a:ln/>
        </p:spPr>
      </p:sp>
      <p:sp>
        <p:nvSpPr>
          <p:cNvPr id="14" name="Shape 12"/>
          <p:cNvSpPr/>
          <p:nvPr/>
        </p:nvSpPr>
        <p:spPr>
          <a:xfrm>
            <a:off x="10156425" y="649620"/>
            <a:ext cx="61383" cy="61383"/>
          </a:xfrm>
          <a:prstGeom prst="ellipse">
            <a:avLst/>
          </a:prstGeom>
          <a:solidFill>
            <a:srgbClr val="3F6F5F"/>
          </a:solidFill>
          <a:ln/>
        </p:spPr>
      </p:sp>
      <p:sp>
        <p:nvSpPr>
          <p:cNvPr id="15" name="Shape 13"/>
          <p:cNvSpPr/>
          <p:nvPr/>
        </p:nvSpPr>
        <p:spPr>
          <a:xfrm>
            <a:off x="10267797" y="1716189"/>
            <a:ext cx="55906" cy="55906"/>
          </a:xfrm>
          <a:prstGeom prst="ellipse">
            <a:avLst/>
          </a:prstGeom>
          <a:solidFill>
            <a:srgbClr val="B9852F"/>
          </a:solidFill>
          <a:ln/>
        </p:spPr>
      </p:sp>
      <p:sp>
        <p:nvSpPr>
          <p:cNvPr id="16" name="Shape 14"/>
          <p:cNvSpPr/>
          <p:nvPr/>
        </p:nvSpPr>
        <p:spPr>
          <a:xfrm>
            <a:off x="11515819" y="848335"/>
            <a:ext cx="51825" cy="51825"/>
          </a:xfrm>
          <a:prstGeom prst="ellipse">
            <a:avLst/>
          </a:prstGeom>
          <a:solidFill>
            <a:srgbClr val="7A3B2E"/>
          </a:solidFill>
          <a:ln/>
        </p:spPr>
      </p:sp>
      <p:sp>
        <p:nvSpPr>
          <p:cNvPr id="17" name="Shape 15"/>
          <p:cNvSpPr/>
          <p:nvPr/>
        </p:nvSpPr>
        <p:spPr>
          <a:xfrm>
            <a:off x="9557091" y="2244680"/>
            <a:ext cx="72002" cy="72002"/>
          </a:xfrm>
          <a:prstGeom prst="ellipse">
            <a:avLst/>
          </a:prstGeom>
          <a:solidFill>
            <a:srgbClr val="3F6F5F"/>
          </a:solidFill>
          <a:ln/>
        </p:spPr>
      </p:sp>
      <p:sp>
        <p:nvSpPr>
          <p:cNvPr id="18" name="Shape 16"/>
          <p:cNvSpPr/>
          <p:nvPr/>
        </p:nvSpPr>
        <p:spPr>
          <a:xfrm>
            <a:off x="11021013" y="1417044"/>
            <a:ext cx="84432" cy="84432"/>
          </a:xfrm>
          <a:prstGeom prst="ellipse">
            <a:avLst/>
          </a:prstGeom>
          <a:solidFill>
            <a:srgbClr val="B9852F"/>
          </a:solidFill>
          <a:ln/>
        </p:spPr>
      </p:sp>
      <p:sp>
        <p:nvSpPr>
          <p:cNvPr id="19" name="Shape 17"/>
          <p:cNvSpPr/>
          <p:nvPr/>
        </p:nvSpPr>
        <p:spPr>
          <a:xfrm>
            <a:off x="11564185" y="826685"/>
            <a:ext cx="57111" cy="57111"/>
          </a:xfrm>
          <a:prstGeom prst="ellipse">
            <a:avLst/>
          </a:prstGeom>
          <a:solidFill>
            <a:srgbClr val="7A3B2E"/>
          </a:solidFill>
          <a:ln/>
        </p:spPr>
      </p:sp>
      <p:sp>
        <p:nvSpPr>
          <p:cNvPr id="20" name="Shape 18"/>
          <p:cNvSpPr/>
          <p:nvPr/>
        </p:nvSpPr>
        <p:spPr>
          <a:xfrm>
            <a:off x="9586407" y="1197505"/>
            <a:ext cx="67762" cy="67762"/>
          </a:xfrm>
          <a:prstGeom prst="ellipse">
            <a:avLst/>
          </a:prstGeom>
          <a:solidFill>
            <a:srgbClr val="3F6F5F"/>
          </a:solidFill>
          <a:ln/>
        </p:spPr>
      </p:sp>
      <p:sp>
        <p:nvSpPr>
          <p:cNvPr id="21" name="Shape 19"/>
          <p:cNvSpPr/>
          <p:nvPr/>
        </p:nvSpPr>
        <p:spPr>
          <a:xfrm>
            <a:off x="8973879" y="1516044"/>
            <a:ext cx="84383" cy="84383"/>
          </a:xfrm>
          <a:prstGeom prst="ellipse">
            <a:avLst/>
          </a:prstGeom>
          <a:solidFill>
            <a:srgbClr val="B9852F"/>
          </a:solidFill>
          <a:ln/>
        </p:spPr>
      </p:sp>
      <p:sp>
        <p:nvSpPr>
          <p:cNvPr id="22" name="Shape 20"/>
          <p:cNvSpPr/>
          <p:nvPr/>
        </p:nvSpPr>
        <p:spPr>
          <a:xfrm>
            <a:off x="10869601" y="768840"/>
            <a:ext cx="74969" cy="74969"/>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A debate, two readings of one fact: embeddings encode the associations in a corpus.</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To Caliskan et al. (2017) that's a warning, a model trained on human text launders human prejudice. To Soni, Klein &amp; Eisenstein (2021) the same mirror is a method, embeddings on abolitionist newspapers reveal which papers led the movement's language. The room decides: when is reading a corpus's associations a discovery, and when is it laundering bias?</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Embeddings, the heart of the course, the leap past counting</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embeddings debate.</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beyond-counting moment: put Week 2 beside today. There you counted adjectives near she vs. he; now embed those descriptions and watch them cluster. Same question, two tools, the second visibly richer. Name the idea: an item becomes a vector, position learned from the company it keeps.</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Embed your own corpus, text or images. Image projects embed their pictures and watch them group by untagged style. The embedding model is an open one from Hugging Face, the hub where open models live (the same place Week 8's period models come from). And here charts stop being neutral: switch PCA to t-SNE and the same data rearranges. A visualization is an argument with decisions baked in.</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0:55</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1:05</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Project lab: push your embeddings, hunt the surprise cluster. A five-minute recommenders aside: "For You" is this same map plus your history. One-on-ones begin at the side.</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810512"/>
            <a:ext cx="219456" cy="219456"/>
          </a:xfrm>
          <a:prstGeom prst="ellipse">
            <a:avLst/>
          </a:prstGeom>
          <a:solidFill>
            <a:srgbClr val="7A3B2E"/>
          </a:solidFill>
          <a:ln/>
        </p:spPr>
      </p:sp>
      <p:sp>
        <p:nvSpPr>
          <p:cNvPr id="4" name="Text 2"/>
          <p:cNvSpPr/>
          <p:nvPr/>
        </p:nvSpPr>
        <p:spPr>
          <a:xfrm>
            <a:off x="1051560" y="173736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21214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Alammar, The Illustrated Word2Vec, plus the debate: Soni/Klein, How Words Lead to Justice vs. Caliskan et al. (2017)</a:t>
            </a:r>
            <a:endParaRPr lang="en-US" sz="1400" dirty="0"/>
          </a:p>
        </p:txBody>
      </p:sp>
      <p:sp>
        <p:nvSpPr>
          <p:cNvPr id="6" name="Shape 4"/>
          <p:cNvSpPr/>
          <p:nvPr/>
        </p:nvSpPr>
        <p:spPr>
          <a:xfrm>
            <a:off x="640080" y="2953512"/>
            <a:ext cx="219456" cy="219456"/>
          </a:xfrm>
          <a:prstGeom prst="ellipse">
            <a:avLst/>
          </a:prstGeom>
          <a:solidFill>
            <a:srgbClr val="3F6F5F"/>
          </a:solidFill>
          <a:ln/>
        </p:spPr>
      </p:sp>
      <p:sp>
        <p:nvSpPr>
          <p:cNvPr id="7" name="Text 5"/>
          <p:cNvSpPr/>
          <p:nvPr/>
        </p:nvSpPr>
        <p:spPr>
          <a:xfrm>
            <a:off x="1051560" y="28803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32644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Garg et al. (PNAS 2018); Anderson et al., Spotify diversity</a:t>
            </a:r>
            <a:endParaRPr lang="en-US" sz="1400" dirty="0"/>
          </a:p>
        </p:txBody>
      </p:sp>
      <p:sp>
        <p:nvSpPr>
          <p:cNvPr id="9" name="Shape 7"/>
          <p:cNvSpPr/>
          <p:nvPr/>
        </p:nvSpPr>
        <p:spPr>
          <a:xfrm>
            <a:off x="640080" y="4096512"/>
            <a:ext cx="219456" cy="219456"/>
          </a:xfrm>
          <a:prstGeom prst="ellipse">
            <a:avLst/>
          </a:prstGeom>
          <a:solidFill>
            <a:srgbClr val="B9852F"/>
          </a:solidFill>
          <a:ln/>
        </p:spPr>
      </p:sp>
      <p:sp>
        <p:nvSpPr>
          <p:cNvPr id="10" name="Text 8"/>
          <p:cNvSpPr/>
          <p:nvPr/>
        </p:nvSpPr>
        <p:spPr>
          <a:xfrm>
            <a:off x="1051560" y="402336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Sketch</a:t>
            </a:r>
            <a:endParaRPr lang="en-US" sz="1500" dirty="0"/>
          </a:p>
        </p:txBody>
      </p:sp>
      <p:sp>
        <p:nvSpPr>
          <p:cNvPr id="11" name="Text 9"/>
          <p:cNvSpPr/>
          <p:nvPr/>
        </p:nvSpPr>
        <p:spPr>
          <a:xfrm>
            <a:off x="1051560" y="44074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Toggle PCA vs. t-SNE and screenshot how the map changes; name one cluster you believe and one you don't.</a:t>
            </a:r>
            <a:endParaRPr lang="en-US" sz="1400" dirty="0"/>
          </a:p>
        </p:txBody>
      </p:sp>
      <p:sp>
        <p:nvSpPr>
          <p:cNvPr id="12" name="Shape 10"/>
          <p:cNvSpPr/>
          <p:nvPr/>
        </p:nvSpPr>
        <p:spPr>
          <a:xfrm>
            <a:off x="640080" y="5239512"/>
            <a:ext cx="219456" cy="219456"/>
          </a:xfrm>
          <a:prstGeom prst="ellipse">
            <a:avLst/>
          </a:prstGeom>
          <a:solidFill>
            <a:srgbClr val="7A3B2E"/>
          </a:solidFill>
          <a:ln/>
        </p:spPr>
      </p:sp>
      <p:sp>
        <p:nvSpPr>
          <p:cNvPr id="13" name="Text 11"/>
          <p:cNvSpPr/>
          <p:nvPr/>
        </p:nvSpPr>
        <p:spPr>
          <a:xfrm>
            <a:off x="1051560" y="516636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4" name="Text 12"/>
          <p:cNvSpPr/>
          <p:nvPr/>
        </p:nvSpPr>
        <p:spPr>
          <a:xfrm>
            <a:off x="1051560" y="55504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on your map, name one cluster you believe is real and one that's probably a projection artifact, and how you'd tell. (Competency 4.)</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Beyond counting (the payoff)</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same she/he question from Week 2, now embedded, clusters counting could not see.</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Every chart is a choice</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PCA vs t-SNE rearranges the same data; the picture made a decision.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Whose data</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Embeddings mirror the corpus, discovery (Soni/Klein) or laundered bias (Caliskan)?</a:t>
            </a:r>
            <a:endParaRPr lang="en-US" sz="14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on your map, name one cluster you believe is real and one that's probably a projection artifact, and how you'd tell. (Competency 4.)</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5</a:t>
            </a:r>
            <a:endParaRPr lang="en-US" sz="1200" dirty="0"/>
          </a:p>
        </p:txBody>
      </p:sp>
      <p:sp>
        <p:nvSpPr>
          <p:cNvPr id="5" name="Shape 3"/>
          <p:cNvSpPr/>
          <p:nvPr/>
        </p:nvSpPr>
        <p:spPr>
          <a:xfrm>
            <a:off x="9604541" y="5211088"/>
            <a:ext cx="51907" cy="51907"/>
          </a:xfrm>
          <a:prstGeom prst="ellipse">
            <a:avLst/>
          </a:prstGeom>
          <a:solidFill>
            <a:srgbClr val="7A3B2E"/>
          </a:solidFill>
          <a:ln/>
        </p:spPr>
      </p:sp>
      <p:sp>
        <p:nvSpPr>
          <p:cNvPr id="6" name="Shape 4"/>
          <p:cNvSpPr/>
          <p:nvPr/>
        </p:nvSpPr>
        <p:spPr>
          <a:xfrm>
            <a:off x="9271891" y="6190521"/>
            <a:ext cx="74666" cy="74666"/>
          </a:xfrm>
          <a:prstGeom prst="ellipse">
            <a:avLst/>
          </a:prstGeom>
          <a:solidFill>
            <a:srgbClr val="3F6F5F"/>
          </a:solidFill>
          <a:ln/>
        </p:spPr>
      </p:sp>
      <p:sp>
        <p:nvSpPr>
          <p:cNvPr id="7" name="Shape 5"/>
          <p:cNvSpPr/>
          <p:nvPr/>
        </p:nvSpPr>
        <p:spPr>
          <a:xfrm>
            <a:off x="10071233" y="5862911"/>
            <a:ext cx="82058" cy="82058"/>
          </a:xfrm>
          <a:prstGeom prst="ellipse">
            <a:avLst/>
          </a:prstGeom>
          <a:solidFill>
            <a:srgbClr val="B9852F"/>
          </a:solidFill>
          <a:ln/>
        </p:spPr>
      </p:sp>
      <p:sp>
        <p:nvSpPr>
          <p:cNvPr id="8" name="Shape 6"/>
          <p:cNvSpPr/>
          <p:nvPr/>
        </p:nvSpPr>
        <p:spPr>
          <a:xfrm>
            <a:off x="10509049" y="4952160"/>
            <a:ext cx="96943" cy="96943"/>
          </a:xfrm>
          <a:prstGeom prst="ellipse">
            <a:avLst/>
          </a:prstGeom>
          <a:solidFill>
            <a:srgbClr val="7A3B2E"/>
          </a:solidFill>
          <a:ln/>
        </p:spPr>
      </p:sp>
      <p:sp>
        <p:nvSpPr>
          <p:cNvPr id="9" name="Shape 7"/>
          <p:cNvSpPr/>
          <p:nvPr/>
        </p:nvSpPr>
        <p:spPr>
          <a:xfrm>
            <a:off x="9091819" y="5919527"/>
            <a:ext cx="87317" cy="87317"/>
          </a:xfrm>
          <a:prstGeom prst="ellipse">
            <a:avLst/>
          </a:prstGeom>
          <a:solidFill>
            <a:srgbClr val="3F6F5F"/>
          </a:solidFill>
          <a:ln/>
        </p:spPr>
      </p:sp>
      <p:sp>
        <p:nvSpPr>
          <p:cNvPr id="10" name="Shape 8"/>
          <p:cNvSpPr/>
          <p:nvPr/>
        </p:nvSpPr>
        <p:spPr>
          <a:xfrm>
            <a:off x="9446661" y="6014193"/>
            <a:ext cx="76041" cy="76041"/>
          </a:xfrm>
          <a:prstGeom prst="ellipse">
            <a:avLst/>
          </a:prstGeom>
          <a:solidFill>
            <a:srgbClr val="B9852F"/>
          </a:solidFill>
          <a:ln/>
        </p:spPr>
      </p:sp>
      <p:sp>
        <p:nvSpPr>
          <p:cNvPr id="11" name="Shape 9"/>
          <p:cNvSpPr/>
          <p:nvPr/>
        </p:nvSpPr>
        <p:spPr>
          <a:xfrm>
            <a:off x="10080057" y="5960057"/>
            <a:ext cx="85973" cy="85973"/>
          </a:xfrm>
          <a:prstGeom prst="ellipse">
            <a:avLst/>
          </a:prstGeom>
          <a:solidFill>
            <a:srgbClr val="7A3B2E"/>
          </a:solidFill>
          <a:ln/>
        </p:spPr>
      </p:sp>
      <p:sp>
        <p:nvSpPr>
          <p:cNvPr id="12" name="Shape 10"/>
          <p:cNvSpPr/>
          <p:nvPr/>
        </p:nvSpPr>
        <p:spPr>
          <a:xfrm>
            <a:off x="9498487" y="4743659"/>
            <a:ext cx="85110" cy="85110"/>
          </a:xfrm>
          <a:prstGeom prst="ellipse">
            <a:avLst/>
          </a:prstGeom>
          <a:solidFill>
            <a:srgbClr val="3F6F5F"/>
          </a:solidFill>
          <a:ln/>
        </p:spPr>
      </p:sp>
      <p:sp>
        <p:nvSpPr>
          <p:cNvPr id="13" name="Shape 11"/>
          <p:cNvSpPr/>
          <p:nvPr/>
        </p:nvSpPr>
        <p:spPr>
          <a:xfrm>
            <a:off x="11329069" y="4826259"/>
            <a:ext cx="96312" cy="96312"/>
          </a:xfrm>
          <a:prstGeom prst="ellipse">
            <a:avLst/>
          </a:prstGeom>
          <a:solidFill>
            <a:srgbClr val="B9852F"/>
          </a:solidFill>
          <a:ln/>
        </p:spPr>
      </p:sp>
      <p:sp>
        <p:nvSpPr>
          <p:cNvPr id="14" name="Shape 12"/>
          <p:cNvSpPr/>
          <p:nvPr/>
        </p:nvSpPr>
        <p:spPr>
          <a:xfrm>
            <a:off x="11517966" y="5194398"/>
            <a:ext cx="87575" cy="87575"/>
          </a:xfrm>
          <a:prstGeom prst="ellipse">
            <a:avLst/>
          </a:prstGeom>
          <a:solidFill>
            <a:srgbClr val="7A3B2E"/>
          </a:solidFill>
          <a:ln/>
        </p:spPr>
      </p:sp>
      <p:sp>
        <p:nvSpPr>
          <p:cNvPr id="15" name="Shape 13"/>
          <p:cNvSpPr/>
          <p:nvPr/>
        </p:nvSpPr>
        <p:spPr>
          <a:xfrm>
            <a:off x="11131975" y="4834616"/>
            <a:ext cx="81759" cy="81759"/>
          </a:xfrm>
          <a:prstGeom prst="ellipse">
            <a:avLst/>
          </a:prstGeom>
          <a:solidFill>
            <a:srgbClr val="3F6F5F"/>
          </a:solidFill>
          <a:ln/>
        </p:spPr>
      </p:sp>
      <p:sp>
        <p:nvSpPr>
          <p:cNvPr id="16" name="Shape 14"/>
          <p:cNvSpPr/>
          <p:nvPr/>
        </p:nvSpPr>
        <p:spPr>
          <a:xfrm>
            <a:off x="11237898" y="6208171"/>
            <a:ext cx="46860" cy="46860"/>
          </a:xfrm>
          <a:prstGeom prst="ellipse">
            <a:avLst/>
          </a:prstGeom>
          <a:solidFill>
            <a:srgbClr val="B9852F"/>
          </a:solidFill>
          <a:ln/>
        </p:spPr>
      </p:sp>
      <p:sp>
        <p:nvSpPr>
          <p:cNvPr id="17" name="Shape 15"/>
          <p:cNvSpPr/>
          <p:nvPr/>
        </p:nvSpPr>
        <p:spPr>
          <a:xfrm>
            <a:off x="10342214" y="4826885"/>
            <a:ext cx="60602" cy="60602"/>
          </a:xfrm>
          <a:prstGeom prst="ellipse">
            <a:avLst/>
          </a:prstGeom>
          <a:solidFill>
            <a:srgbClr val="7A3B2E"/>
          </a:solidFill>
          <a:ln/>
        </p:spPr>
      </p:sp>
      <p:sp>
        <p:nvSpPr>
          <p:cNvPr id="18" name="Shape 16"/>
          <p:cNvSpPr/>
          <p:nvPr/>
        </p:nvSpPr>
        <p:spPr>
          <a:xfrm>
            <a:off x="9511723" y="4889377"/>
            <a:ext cx="90981" cy="9098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2026-06-29T04:30:12Z</dcterms:created>
  <dcterms:modified xsi:type="dcterms:W3CDTF">2026-06-29T04:30:12Z</dcterms:modified>
</cp:coreProperties>
</file>