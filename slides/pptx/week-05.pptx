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5</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Embeddings: A Map of Meaning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Watch your own corpus, text or images, sort itself by meaning, see the finding counting could not give you, and learn that the same technique drives "For You" recommendation feeds.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Embeddings, the heart of the course, the leap past counting</a:t>
            </a:r>
            <a:endParaRPr lang="en-US" sz="1200" dirty="0"/>
          </a:p>
        </p:txBody>
      </p:sp>
      <p:sp>
        <p:nvSpPr>
          <p:cNvPr id="7" name="Shape 5"/>
          <p:cNvSpPr/>
          <p:nvPr/>
        </p:nvSpPr>
        <p:spPr>
          <a:xfrm>
            <a:off x="11027822" y="1564795"/>
            <a:ext cx="83975" cy="83975"/>
          </a:xfrm>
          <a:prstGeom prst="ellipse">
            <a:avLst/>
          </a:prstGeom>
          <a:solidFill>
            <a:srgbClr val="7A3B2E"/>
          </a:solidFill>
          <a:ln/>
        </p:spPr>
      </p:sp>
      <p:sp>
        <p:nvSpPr>
          <p:cNvPr id="8" name="Shape 6"/>
          <p:cNvSpPr/>
          <p:nvPr/>
        </p:nvSpPr>
        <p:spPr>
          <a:xfrm>
            <a:off x="10497844" y="1694315"/>
            <a:ext cx="50431" cy="50431"/>
          </a:xfrm>
          <a:prstGeom prst="ellipse">
            <a:avLst/>
          </a:prstGeom>
          <a:solidFill>
            <a:srgbClr val="3F6F5F"/>
          </a:solidFill>
          <a:ln/>
        </p:spPr>
      </p:sp>
      <p:sp>
        <p:nvSpPr>
          <p:cNvPr id="9" name="Shape 7"/>
          <p:cNvSpPr/>
          <p:nvPr/>
        </p:nvSpPr>
        <p:spPr>
          <a:xfrm>
            <a:off x="11333115" y="1771554"/>
            <a:ext cx="77720" cy="77720"/>
          </a:xfrm>
          <a:prstGeom prst="ellipse">
            <a:avLst/>
          </a:prstGeom>
          <a:solidFill>
            <a:srgbClr val="B9852F"/>
          </a:solidFill>
          <a:ln/>
        </p:spPr>
      </p:sp>
      <p:sp>
        <p:nvSpPr>
          <p:cNvPr id="10" name="Shape 8"/>
          <p:cNvSpPr/>
          <p:nvPr/>
        </p:nvSpPr>
        <p:spPr>
          <a:xfrm>
            <a:off x="9190237" y="783050"/>
            <a:ext cx="78974" cy="78974"/>
          </a:xfrm>
          <a:prstGeom prst="ellipse">
            <a:avLst/>
          </a:prstGeom>
          <a:solidFill>
            <a:srgbClr val="7A3B2E"/>
          </a:solidFill>
          <a:ln/>
        </p:spPr>
      </p:sp>
      <p:sp>
        <p:nvSpPr>
          <p:cNvPr id="11" name="Shape 9"/>
          <p:cNvSpPr/>
          <p:nvPr/>
        </p:nvSpPr>
        <p:spPr>
          <a:xfrm>
            <a:off x="10698609" y="1190065"/>
            <a:ext cx="77053" cy="77053"/>
          </a:xfrm>
          <a:prstGeom prst="ellipse">
            <a:avLst/>
          </a:prstGeom>
          <a:solidFill>
            <a:srgbClr val="3F6F5F"/>
          </a:solidFill>
          <a:ln/>
        </p:spPr>
      </p:sp>
      <p:sp>
        <p:nvSpPr>
          <p:cNvPr id="12" name="Shape 10"/>
          <p:cNvSpPr/>
          <p:nvPr/>
        </p:nvSpPr>
        <p:spPr>
          <a:xfrm>
            <a:off x="11514831" y="1979139"/>
            <a:ext cx="94816" cy="94816"/>
          </a:xfrm>
          <a:prstGeom prst="ellipse">
            <a:avLst/>
          </a:prstGeom>
          <a:solidFill>
            <a:srgbClr val="B9852F"/>
          </a:solidFill>
          <a:ln/>
        </p:spPr>
      </p:sp>
      <p:sp>
        <p:nvSpPr>
          <p:cNvPr id="13" name="Shape 11"/>
          <p:cNvSpPr/>
          <p:nvPr/>
        </p:nvSpPr>
        <p:spPr>
          <a:xfrm>
            <a:off x="10038703" y="2136810"/>
            <a:ext cx="100261" cy="100261"/>
          </a:xfrm>
          <a:prstGeom prst="ellipse">
            <a:avLst/>
          </a:prstGeom>
          <a:solidFill>
            <a:srgbClr val="7A3B2E"/>
          </a:solidFill>
          <a:ln/>
        </p:spPr>
      </p:sp>
      <p:sp>
        <p:nvSpPr>
          <p:cNvPr id="14" name="Shape 12"/>
          <p:cNvSpPr/>
          <p:nvPr/>
        </p:nvSpPr>
        <p:spPr>
          <a:xfrm>
            <a:off x="10156425" y="649620"/>
            <a:ext cx="61383" cy="61383"/>
          </a:xfrm>
          <a:prstGeom prst="ellipse">
            <a:avLst/>
          </a:prstGeom>
          <a:solidFill>
            <a:srgbClr val="3F6F5F"/>
          </a:solidFill>
          <a:ln/>
        </p:spPr>
      </p:sp>
      <p:sp>
        <p:nvSpPr>
          <p:cNvPr id="15" name="Shape 13"/>
          <p:cNvSpPr/>
          <p:nvPr/>
        </p:nvSpPr>
        <p:spPr>
          <a:xfrm>
            <a:off x="10267797" y="1716189"/>
            <a:ext cx="55906" cy="55906"/>
          </a:xfrm>
          <a:prstGeom prst="ellipse">
            <a:avLst/>
          </a:prstGeom>
          <a:solidFill>
            <a:srgbClr val="B9852F"/>
          </a:solidFill>
          <a:ln/>
        </p:spPr>
      </p:sp>
      <p:sp>
        <p:nvSpPr>
          <p:cNvPr id="16" name="Shape 14"/>
          <p:cNvSpPr/>
          <p:nvPr/>
        </p:nvSpPr>
        <p:spPr>
          <a:xfrm>
            <a:off x="11515819" y="848335"/>
            <a:ext cx="51825" cy="51825"/>
          </a:xfrm>
          <a:prstGeom prst="ellipse">
            <a:avLst/>
          </a:prstGeom>
          <a:solidFill>
            <a:srgbClr val="7A3B2E"/>
          </a:solidFill>
          <a:ln/>
        </p:spPr>
      </p:sp>
      <p:sp>
        <p:nvSpPr>
          <p:cNvPr id="17" name="Shape 15"/>
          <p:cNvSpPr/>
          <p:nvPr/>
        </p:nvSpPr>
        <p:spPr>
          <a:xfrm>
            <a:off x="9557091" y="2244680"/>
            <a:ext cx="72002" cy="72002"/>
          </a:xfrm>
          <a:prstGeom prst="ellipse">
            <a:avLst/>
          </a:prstGeom>
          <a:solidFill>
            <a:srgbClr val="3F6F5F"/>
          </a:solidFill>
          <a:ln/>
        </p:spPr>
      </p:sp>
      <p:sp>
        <p:nvSpPr>
          <p:cNvPr id="18" name="Shape 16"/>
          <p:cNvSpPr/>
          <p:nvPr/>
        </p:nvSpPr>
        <p:spPr>
          <a:xfrm>
            <a:off x="11021013" y="1417044"/>
            <a:ext cx="84432" cy="84432"/>
          </a:xfrm>
          <a:prstGeom prst="ellipse">
            <a:avLst/>
          </a:prstGeom>
          <a:solidFill>
            <a:srgbClr val="B9852F"/>
          </a:solidFill>
          <a:ln/>
        </p:spPr>
      </p:sp>
      <p:sp>
        <p:nvSpPr>
          <p:cNvPr id="19" name="Shape 17"/>
          <p:cNvSpPr/>
          <p:nvPr/>
        </p:nvSpPr>
        <p:spPr>
          <a:xfrm>
            <a:off x="11564185" y="826685"/>
            <a:ext cx="57111" cy="57111"/>
          </a:xfrm>
          <a:prstGeom prst="ellipse">
            <a:avLst/>
          </a:prstGeom>
          <a:solidFill>
            <a:srgbClr val="7A3B2E"/>
          </a:solidFill>
          <a:ln/>
        </p:spPr>
      </p:sp>
      <p:sp>
        <p:nvSpPr>
          <p:cNvPr id="20" name="Shape 18"/>
          <p:cNvSpPr/>
          <p:nvPr/>
        </p:nvSpPr>
        <p:spPr>
          <a:xfrm>
            <a:off x="9586407" y="1197505"/>
            <a:ext cx="67762" cy="67762"/>
          </a:xfrm>
          <a:prstGeom prst="ellipse">
            <a:avLst/>
          </a:prstGeom>
          <a:solidFill>
            <a:srgbClr val="3F6F5F"/>
          </a:solidFill>
          <a:ln/>
        </p:spPr>
      </p:sp>
      <p:sp>
        <p:nvSpPr>
          <p:cNvPr id="21" name="Shape 19"/>
          <p:cNvSpPr/>
          <p:nvPr/>
        </p:nvSpPr>
        <p:spPr>
          <a:xfrm>
            <a:off x="8973879" y="1516044"/>
            <a:ext cx="84383" cy="84383"/>
          </a:xfrm>
          <a:prstGeom prst="ellipse">
            <a:avLst/>
          </a:prstGeom>
          <a:solidFill>
            <a:srgbClr val="B9852F"/>
          </a:solidFill>
          <a:ln/>
        </p:spPr>
      </p:sp>
      <p:sp>
        <p:nvSpPr>
          <p:cNvPr id="22" name="Shape 20"/>
          <p:cNvSpPr/>
          <p:nvPr/>
        </p:nvSpPr>
        <p:spPr>
          <a:xfrm>
            <a:off x="10869601" y="768840"/>
            <a:ext cx="74969" cy="74969"/>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A debate, two readings of one discovery: embedding space contains directions.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Kozlowski, Taddy &amp; Evans (2019) find a rich–poor axis in embedding space and read it as the cultural structure of social class, measurable across a century. Bolukbasi et al. (2016) find the same kind of direction, a gender axis pairing men with "programmer" and women with "homemaker," and read it as prejudice to remove. Identical technique, opposite verdicts. The room decides: when is a dimension found in a corpus a discovery about culture, and when is it the corpus's own bias read back?</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problem counting cannot solve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To a counter, "happy" and "joyful" are unrelated strings. Zero overlap.</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An embedding turns each item into a vector, a few hundred numbers, positioned by the company the item keeps.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in that space means similar in learned context: happy and joyful end up neighbors because they appear in the same company.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Neighbors are context-mates, not dictionary synonyms. Correct this misconception explicitly.</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debate: discovery, or bias read back?</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Kozlowski, Taddy &amp; Evans (2019): a rich-poor direction in embedding space tracks the cultural structure of class across a century. Culture made measurable.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Bolukbasi et al. (2016): the same kind of direction pairs man:programmer :: woman:homemaker. Prejudice the model absorbed, to be removed.</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Identical technique. Opposite verdicts.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room settles it: what makes a found dimension a discovery vs. the corpus's own bias, the data, the purpose, or what you do with the result?</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chart is a choice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PCA and t-SNE flatten the same vectors two ways: clusters tighten, distances shift, a grouping you trusted can dissolve.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means probably similar. Exact distances on the flattened map mean little.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visualization is an argument with decisions baked in: projection, axes, what's dropped.</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Homework: toggle PCA against t-SNE on your own map. Name one cluster you believe and one you do not.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recommender aside (five minutes, strictly limited)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"For You" is this same map plus your history: you are a point in taste-space, the feed is your nearest neighbors.</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Spotify's own researchers found algorithmic listening less diverse than organic listening (Anderson et al., 2020).</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 built the same machinery today.</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Embeddings, the heart of the course, the leap past counting</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embeddings debate.</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beyond-counting moment: put Week 2 beside today. There you counted the words around an axis you care about; now embed them and watch them cluster. Run it on something the room enjoys, a beloved artist's songs sorted by mood and era, and groupings appear that counting couldn't see. Same question, two tools, the second visibly richer. Name the idea: an item becomes a vector, position learned from the company it keeps.</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Project lab: extend your embeddings and look for unexpected clusters. A five-minute aside on recommenders: "For You" is this same map plus your history. One-on-ones begin at the side.</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Alammar, The Illustrated Word2Vec, plus the debate: Kozlowski/Taddy/Evans, The Geometry of Culture (ASR 2019) vs. Bolukbasi et al. (2016)</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The second pairing: Caliskan et al. (2017) vs. Soni/Klein, How Words Lead to Justice; Anderson et al., Spotify diversity</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Kozlowski et al., The Geometry of Culture (2019) in full; Wattenberg, Viégas &amp;amp; Johnson, How to Use t-SNE Effectively (Distill 2016)</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Toggle PCA vs. t-SNE and screenshot how the map changes; name one cluster you believe and one you don't.</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on your map, name one cluster you believe is real and one that's probably a projection artifact, and how you'd tell. (Competency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Beyond counting (the payoff)</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same counting question from Week 2, now embedded: clusters counting could not see.</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Every chart is a choice</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PCA vs t-SNE rearranges the same data; the picture made a decision.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Whose data</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direction found in the corpus: cultural discovery (Kozlowski) or encoded prejudice (Bolukbasi)?</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on your map, name one cluster you believe is real and one that's probably a projection artifact, and how you'd tell. (Competency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5</a:t>
            </a:r>
            <a:endParaRPr lang="en-US" sz="1200" dirty="0"/>
          </a:p>
        </p:txBody>
      </p:sp>
      <p:sp>
        <p:nvSpPr>
          <p:cNvPr id="5" name="Shape 3"/>
          <p:cNvSpPr/>
          <p:nvPr/>
        </p:nvSpPr>
        <p:spPr>
          <a:xfrm>
            <a:off x="9604541" y="5211088"/>
            <a:ext cx="51907" cy="51907"/>
          </a:xfrm>
          <a:prstGeom prst="ellipse">
            <a:avLst/>
          </a:prstGeom>
          <a:solidFill>
            <a:srgbClr val="7A3B2E"/>
          </a:solidFill>
          <a:ln/>
        </p:spPr>
      </p:sp>
      <p:sp>
        <p:nvSpPr>
          <p:cNvPr id="6" name="Shape 4"/>
          <p:cNvSpPr/>
          <p:nvPr/>
        </p:nvSpPr>
        <p:spPr>
          <a:xfrm>
            <a:off x="9271891" y="6190521"/>
            <a:ext cx="74666" cy="74666"/>
          </a:xfrm>
          <a:prstGeom prst="ellipse">
            <a:avLst/>
          </a:prstGeom>
          <a:solidFill>
            <a:srgbClr val="3F6F5F"/>
          </a:solidFill>
          <a:ln/>
        </p:spPr>
      </p:sp>
      <p:sp>
        <p:nvSpPr>
          <p:cNvPr id="7" name="Shape 5"/>
          <p:cNvSpPr/>
          <p:nvPr/>
        </p:nvSpPr>
        <p:spPr>
          <a:xfrm>
            <a:off x="10071233" y="5862911"/>
            <a:ext cx="82058" cy="82058"/>
          </a:xfrm>
          <a:prstGeom prst="ellipse">
            <a:avLst/>
          </a:prstGeom>
          <a:solidFill>
            <a:srgbClr val="B9852F"/>
          </a:solidFill>
          <a:ln/>
        </p:spPr>
      </p:sp>
      <p:sp>
        <p:nvSpPr>
          <p:cNvPr id="8" name="Shape 6"/>
          <p:cNvSpPr/>
          <p:nvPr/>
        </p:nvSpPr>
        <p:spPr>
          <a:xfrm>
            <a:off x="10509049" y="4952160"/>
            <a:ext cx="96943" cy="96943"/>
          </a:xfrm>
          <a:prstGeom prst="ellipse">
            <a:avLst/>
          </a:prstGeom>
          <a:solidFill>
            <a:srgbClr val="7A3B2E"/>
          </a:solidFill>
          <a:ln/>
        </p:spPr>
      </p:sp>
      <p:sp>
        <p:nvSpPr>
          <p:cNvPr id="9" name="Shape 7"/>
          <p:cNvSpPr/>
          <p:nvPr/>
        </p:nvSpPr>
        <p:spPr>
          <a:xfrm>
            <a:off x="9091819" y="5919527"/>
            <a:ext cx="87317" cy="87317"/>
          </a:xfrm>
          <a:prstGeom prst="ellipse">
            <a:avLst/>
          </a:prstGeom>
          <a:solidFill>
            <a:srgbClr val="3F6F5F"/>
          </a:solidFill>
          <a:ln/>
        </p:spPr>
      </p:sp>
      <p:sp>
        <p:nvSpPr>
          <p:cNvPr id="10" name="Shape 8"/>
          <p:cNvSpPr/>
          <p:nvPr/>
        </p:nvSpPr>
        <p:spPr>
          <a:xfrm>
            <a:off x="9446661" y="6014193"/>
            <a:ext cx="76041" cy="76041"/>
          </a:xfrm>
          <a:prstGeom prst="ellipse">
            <a:avLst/>
          </a:prstGeom>
          <a:solidFill>
            <a:srgbClr val="B9852F"/>
          </a:solidFill>
          <a:ln/>
        </p:spPr>
      </p:sp>
      <p:sp>
        <p:nvSpPr>
          <p:cNvPr id="11" name="Shape 9"/>
          <p:cNvSpPr/>
          <p:nvPr/>
        </p:nvSpPr>
        <p:spPr>
          <a:xfrm>
            <a:off x="10080057" y="5960057"/>
            <a:ext cx="85973" cy="85973"/>
          </a:xfrm>
          <a:prstGeom prst="ellipse">
            <a:avLst/>
          </a:prstGeom>
          <a:solidFill>
            <a:srgbClr val="7A3B2E"/>
          </a:solidFill>
          <a:ln/>
        </p:spPr>
      </p:sp>
      <p:sp>
        <p:nvSpPr>
          <p:cNvPr id="12" name="Shape 10"/>
          <p:cNvSpPr/>
          <p:nvPr/>
        </p:nvSpPr>
        <p:spPr>
          <a:xfrm>
            <a:off x="9498487" y="4743659"/>
            <a:ext cx="85110" cy="85110"/>
          </a:xfrm>
          <a:prstGeom prst="ellipse">
            <a:avLst/>
          </a:prstGeom>
          <a:solidFill>
            <a:srgbClr val="3F6F5F"/>
          </a:solidFill>
          <a:ln/>
        </p:spPr>
      </p:sp>
      <p:sp>
        <p:nvSpPr>
          <p:cNvPr id="13" name="Shape 11"/>
          <p:cNvSpPr/>
          <p:nvPr/>
        </p:nvSpPr>
        <p:spPr>
          <a:xfrm>
            <a:off x="11329069" y="4826259"/>
            <a:ext cx="96312" cy="96312"/>
          </a:xfrm>
          <a:prstGeom prst="ellipse">
            <a:avLst/>
          </a:prstGeom>
          <a:solidFill>
            <a:srgbClr val="B9852F"/>
          </a:solidFill>
          <a:ln/>
        </p:spPr>
      </p:sp>
      <p:sp>
        <p:nvSpPr>
          <p:cNvPr id="14" name="Shape 12"/>
          <p:cNvSpPr/>
          <p:nvPr/>
        </p:nvSpPr>
        <p:spPr>
          <a:xfrm>
            <a:off x="11517966" y="5194398"/>
            <a:ext cx="87575" cy="87575"/>
          </a:xfrm>
          <a:prstGeom prst="ellipse">
            <a:avLst/>
          </a:prstGeom>
          <a:solidFill>
            <a:srgbClr val="7A3B2E"/>
          </a:solidFill>
          <a:ln/>
        </p:spPr>
      </p:sp>
      <p:sp>
        <p:nvSpPr>
          <p:cNvPr id="15" name="Shape 13"/>
          <p:cNvSpPr/>
          <p:nvPr/>
        </p:nvSpPr>
        <p:spPr>
          <a:xfrm>
            <a:off x="11131975" y="4834616"/>
            <a:ext cx="81759" cy="81759"/>
          </a:xfrm>
          <a:prstGeom prst="ellipse">
            <a:avLst/>
          </a:prstGeom>
          <a:solidFill>
            <a:srgbClr val="3F6F5F"/>
          </a:solidFill>
          <a:ln/>
        </p:spPr>
      </p:sp>
      <p:sp>
        <p:nvSpPr>
          <p:cNvPr id="16" name="Shape 14"/>
          <p:cNvSpPr/>
          <p:nvPr/>
        </p:nvSpPr>
        <p:spPr>
          <a:xfrm>
            <a:off x="11237898" y="6208171"/>
            <a:ext cx="46860" cy="46860"/>
          </a:xfrm>
          <a:prstGeom prst="ellipse">
            <a:avLst/>
          </a:prstGeom>
          <a:solidFill>
            <a:srgbClr val="B9852F"/>
          </a:solidFill>
          <a:ln/>
        </p:spPr>
      </p:sp>
      <p:sp>
        <p:nvSpPr>
          <p:cNvPr id="17" name="Shape 15"/>
          <p:cNvSpPr/>
          <p:nvPr/>
        </p:nvSpPr>
        <p:spPr>
          <a:xfrm>
            <a:off x="10342214" y="4826885"/>
            <a:ext cx="60602" cy="60602"/>
          </a:xfrm>
          <a:prstGeom prst="ellipse">
            <a:avLst/>
          </a:prstGeom>
          <a:solidFill>
            <a:srgbClr val="7A3B2E"/>
          </a:solidFill>
          <a:ln/>
        </p:spPr>
      </p:sp>
      <p:sp>
        <p:nvSpPr>
          <p:cNvPr id="18" name="Shape 16"/>
          <p:cNvSpPr/>
          <p:nvPr/>
        </p:nvSpPr>
        <p:spPr>
          <a:xfrm>
            <a:off x="9511723" y="4889377"/>
            <a:ext cx="90981" cy="9098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2026-07-06T05:18:26Z</dcterms:created>
  <dcterms:modified xsi:type="dcterms:W3CDTF">2026-07-06T05:18:26Z</dcterms:modified>
</cp:coreProperties>
</file>