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3" autoAdjust="0"/>
    <p:restoredTop sz="94711" autoAdjust="0"/>
  </p:normalViewPr>
  <p:slideViewPr>
    <p:cSldViewPr snapToGrid="0" snapToObjects="1">
      <p:cViewPr varScale="1">
        <p:scale>
          <a:sx n="84" d="100"/>
          <a:sy n="84" d="100"/>
        </p:scale>
        <p:origin x="1278" y="6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241EB5C9-1307-BA42-ABA2-0BC069CD8E7F}" type="datetimeFigureOut">
              <a:rPr lang="en-US" smtClean="0"/>
              <a:t>4/5/2019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241EB5C9-1307-BA42-ABA2-0BC069CD8E7F}" type="datetimeFigureOut">
              <a:rPr lang="en-US" smtClean="0"/>
              <a:t>4/5/2019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241EB5C9-1307-BA42-ABA2-0BC069CD8E7F}" type="datetimeFigureOut">
              <a:rPr lang="en-US" smtClean="0"/>
              <a:t>4/5/2019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4/5/2019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4/5/2019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4/5/2019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41EB5C9-1307-BA42-ABA2-0BC069CD8E7F}" type="datetimeFigureOut">
              <a:rPr lang="en-US" smtClean="0"/>
              <a:t>4/5/2019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1EB5C9-1307-BA42-ABA2-0BC069CD8E7F}" type="datetimeFigureOut">
              <a:rPr lang="en-US" smtClean="0"/>
              <a:t>4/5/2019</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jalammar.github.io/illustrated-word2vec/" TargetMode="External" /><Relationship Id="rId3" Type="http://schemas.openxmlformats.org/officeDocument/2006/relationships/hyperlink" Target="https://www.publicbooks.org/how-words-lead-to-justice/" TargetMode="External" /><Relationship Id="rId4" Type="http://schemas.openxmlformats.org/officeDocument/2006/relationships/hyperlink" Target="https://arxiv.org/abs/1608.07187" TargetMode="External" /><Relationship Id="rId5" Type="http://schemas.openxmlformats.org/officeDocument/2006/relationships/hyperlink" Target="https://www.pnas.org/doi/10.1073/pnas.1720347115" TargetMode="External" /><Relationship Id="rId6" Type="http://schemas.openxmlformats.org/officeDocument/2006/relationships/hyperlink" Target="https://research.atspotify.com/algorithmic-effects-on-the-diversity-of-consumption-on-spotify/"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pPr lvl="0" marL="0" indent="0">
              <a:buNone/>
            </a:pPr>
            <a:r>
              <a:rPr/>
              <a:t>Week</a:t>
            </a:r>
            <a:r>
              <a:rPr/>
              <a:t> </a:t>
            </a:r>
            <a:r>
              <a:rPr/>
              <a:t>5:</a:t>
            </a:r>
            <a:r>
              <a:rPr/>
              <a:t> </a:t>
            </a:r>
            <a:r>
              <a:rPr/>
              <a:t>Embeddings:</a:t>
            </a:r>
            <a:r>
              <a:rPr/>
              <a:t> </a:t>
            </a:r>
            <a:r>
              <a:rPr/>
              <a:t>A</a:t>
            </a:r>
            <a:r>
              <a:rPr/>
              <a:t> </a:t>
            </a:r>
            <a:r>
              <a:rPr/>
              <a:t>Map</a:t>
            </a:r>
            <a:r>
              <a:rPr/>
              <a:t> </a:t>
            </a:r>
            <a:r>
              <a:rPr/>
              <a:t>of</a:t>
            </a:r>
            <a:r>
              <a:rPr/>
              <a:t> </a:t>
            </a:r>
            <a:r>
              <a:rPr/>
              <a:t>Meaning</a:t>
            </a:r>
          </a:p>
        </p:txBody>
      </p:sp>
      <p:sp>
        <p:nvSpPr>
          <p:cNvPr id="3" name="Subtitle 2"/>
          <p:cNvSpPr>
            <a:spLocks noGrp="1"/>
          </p:cNvSpPr>
          <p:nvPr>
            <p:ph type="subTitle" idx="1"/>
          </p:nvPr>
        </p:nvSpPr>
        <p:spPr>
          <a:xfrm>
            <a:off x="1371600" y="3886200"/>
            <a:ext cx="6400800" cy="1752600"/>
          </a:xfrm>
        </p:spPr>
        <p:txBody>
          <a:bodyPr/>
          <a:lstStyle/>
          <a:p>
            <a:pPr lvl="0" marL="0" indent="0">
              <a:buNone/>
            </a:pPr>
            <a:r>
              <a:rPr/>
              <a:t>Culture</a:t>
            </a:r>
            <a:r>
              <a:rPr/>
              <a:t> </a:t>
            </a:r>
            <a:r>
              <a:rPr/>
              <a:t>as</a:t>
            </a:r>
            <a:r>
              <a:rPr/>
              <a:t> </a:t>
            </a:r>
            <a:r>
              <a:rPr/>
              <a:t>Data</a:t>
            </a:r>
            <a:r>
              <a:rPr/>
              <a:t> </a:t>
            </a:r>
            <a:r>
              <a:rPr/>
              <a:t>·</a:t>
            </a:r>
            <a:r>
              <a:rPr/>
              <a:t> </a:t>
            </a:r>
            <a:r>
              <a:rPr/>
              <a:t>draft</a:t>
            </a:r>
            <a:r>
              <a:rPr/>
              <a:t> </a:t>
            </a:r>
            <a:r>
              <a:rPr/>
              <a:t>slides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p>
            <a:pPr lvl="0" marL="0" indent="0">
              <a:buNone/>
            </a:pPr>
            <a:r>
              <a:rPr/>
              <a:t>Week</a:t>
            </a:r>
            <a:r>
              <a:rPr/>
              <a:t> </a:t>
            </a:r>
            <a:r>
              <a:rPr/>
              <a:t>5</a:t>
            </a:r>
            <a:r>
              <a:rPr/>
              <a:t> </a:t>
            </a:r>
            <a:r>
              <a:rPr/>
              <a:t>·</a:t>
            </a:r>
            <a:r>
              <a:rPr/>
              <a:t> </a:t>
            </a:r>
            <a:r>
              <a:rPr/>
              <a:t>Embeddings:</a:t>
            </a:r>
            <a:r>
              <a:rPr/>
              <a:t> </a:t>
            </a:r>
            <a:r>
              <a:rPr/>
              <a:t>A</a:t>
            </a:r>
            <a:r>
              <a:rPr/>
              <a:t> </a:t>
            </a:r>
            <a:r>
              <a:rPr/>
              <a:t>Map</a:t>
            </a:r>
            <a:r>
              <a:rPr/>
              <a:t> </a:t>
            </a:r>
            <a:r>
              <a:rPr/>
              <a:t>of</a:t>
            </a:r>
            <a:r>
              <a:rPr/>
              <a:t> </a:t>
            </a:r>
            <a:r>
              <a:rPr/>
              <a:t>Meaning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1270000" indent="0">
              <a:buNone/>
            </a:pPr>
            <a:r>
              <a:rPr sz="2000"/>
              <a:t>Watch your own corpus, text or images, sort itself by meaning, see the finding counting couldn’t give you, and learn the same trick is how “For You” feeds place you.</a:t>
            </a:r>
          </a:p>
          <a:p>
            <a:pPr lvl="0" marL="0" indent="0">
              <a:buNone/>
            </a:pPr>
            <a:r>
              <a:rPr i="1"/>
              <a:t>Tool / method: Embeddings, the heart of the course, the leap past counting · Competencies: 4, 5</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Look</a:t>
            </a:r>
            <a:r>
              <a:rPr/>
              <a:t> </a:t>
            </a:r>
            <a:r>
              <a:rPr/>
              <a:t>at</a:t>
            </a:r>
            <a:r>
              <a:rPr/>
              <a:t> </a:t>
            </a:r>
            <a:r>
              <a:rPr/>
              <a:t>This</a:t>
            </a:r>
          </a:p>
        </p:txBody>
      </p:sp>
      <p:sp>
        <p:nvSpPr>
          <p:cNvPr id="3" name="Content Placeholder 2"/>
          <p:cNvSpPr>
            <a:spLocks noGrp="1"/>
          </p:cNvSpPr>
          <p:nvPr>
            <p:ph idx="1"/>
          </p:nvPr>
        </p:nvSpPr>
        <p:spPr/>
        <p:txBody>
          <a:bodyPr/>
          <a:lstStyle/>
          <a:p>
            <a:pPr lvl="0" marL="0" indent="0">
              <a:buNone/>
            </a:pPr>
            <a:r>
              <a:rPr/>
              <a:t>A debate, two readings of one fact: embeddings encode the associations in a corpus.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Question</a:t>
            </a:r>
            <a:r>
              <a:rPr/>
              <a:t> </a:t>
            </a:r>
            <a:r>
              <a:rPr/>
              <a:t>It</a:t>
            </a:r>
          </a:p>
        </p:txBody>
      </p:sp>
      <p:sp>
        <p:nvSpPr>
          <p:cNvPr id="3" name="Content Placeholder 2"/>
          <p:cNvSpPr>
            <a:spLocks noGrp="1"/>
          </p:cNvSpPr>
          <p:nvPr>
            <p:ph idx="1"/>
          </p:nvPr>
        </p:nvSpPr>
        <p:spPr/>
        <p:txBody>
          <a:bodyPr/>
          <a:lstStyle/>
          <a:p>
            <a:pPr lvl="0" marL="0" indent="0">
              <a:buNone/>
            </a:pPr>
            <a:r>
              <a:rPr/>
              <a:t>To Caliskan et al. (2017) that’s a warning, a model trained on human text launders human prejudice. To Soni, Klein &amp; Eisenstein (2021) the same mirror is a method, embeddings on abolitionist newspapers reveal which papers led the movement’s language. The room decides: when is reading a corpus’s associations a discovery, and when is it laundering bias?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Three</a:t>
            </a:r>
            <a:r>
              <a:rPr/>
              <a:t> </a:t>
            </a:r>
            <a:r>
              <a:rPr/>
              <a:t>modes</a:t>
            </a:r>
            <a:r>
              <a:rPr/>
              <a:t> </a:t>
            </a:r>
            <a:r>
              <a:rPr/>
              <a:t>today</a:t>
            </a:r>
            <a:r>
              <a:rPr/>
              <a:t> </a:t>
            </a:r>
            <a:r>
              <a:rPr/>
              <a:t>(about</a:t>
            </a:r>
            <a:r>
              <a:rPr/>
              <a:t> </a:t>
            </a:r>
            <a:r>
              <a:rPr/>
              <a:t>a</a:t>
            </a:r>
            <a:r>
              <a:rPr/>
              <a:t> </a:t>
            </a:r>
            <a:r>
              <a:rPr/>
              <a:t>third</a:t>
            </a:r>
            <a:r>
              <a:rPr/>
              <a:t> </a:t>
            </a:r>
            <a:r>
              <a:rPr/>
              <a:t>each)</a:t>
            </a:r>
          </a:p>
        </p:txBody>
      </p:sp>
      <p:sp>
        <p:nvSpPr>
          <p:cNvPr id="3" name="Content Placeholder 2"/>
          <p:cNvSpPr>
            <a:spLocks noGrp="1"/>
          </p:cNvSpPr>
          <p:nvPr>
            <p:ph idx="1"/>
          </p:nvPr>
        </p:nvSpPr>
        <p:spPr/>
        <p:txBody>
          <a:bodyPr/>
          <a:lstStyle/>
          <a:p>
            <a:pPr lvl="1"/>
            <a:r>
              <a:rPr b="1"/>
              <a:t>Lecture / demo:</a:t>
            </a:r>
            <a:r>
              <a:rPr/>
              <a:t> Embeddings, the heart of the course, the leap past counting</a:t>
            </a:r>
          </a:p>
          <a:p>
            <a:pPr lvl="1"/>
            <a:r>
              <a:rPr b="1"/>
              <a:t>Workshop:</a:t>
            </a:r>
            <a:r>
              <a:rPr/>
              <a:t> build hands-on on your own data</a:t>
            </a:r>
          </a:p>
          <a:p>
            <a:pPr lvl="1"/>
            <a:r>
              <a:rPr b="1"/>
              <a:t>Discussion:</a:t>
            </a:r>
            <a:r>
              <a:rPr/>
              <a:t> the study above, interrogate it, debate it, or critique each other’s work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The</a:t>
            </a:r>
            <a:r>
              <a:rPr/>
              <a:t> </a:t>
            </a:r>
            <a:r>
              <a:rPr/>
              <a:t>session</a:t>
            </a:r>
          </a:p>
        </p:txBody>
      </p:sp>
      <p:sp>
        <p:nvSpPr>
          <p:cNvPr id="3" name="Content Placeholder 2"/>
          <p:cNvSpPr>
            <a:spLocks noGrp="1"/>
          </p:cNvSpPr>
          <p:nvPr>
            <p:ph idx="1"/>
          </p:nvPr>
        </p:nvSpPr>
        <p:spPr/>
        <p:txBody>
          <a:bodyPr/>
          <a:lstStyle/>
          <a:p>
            <a:pPr lvl="1"/>
            <a:r>
              <a:rPr b="1"/>
              <a:t>0:00</a:t>
            </a:r>
            <a:r>
              <a:rPr/>
              <a:t> Warm-up + Look at This, room names the choice first: the embeddings debate.</a:t>
            </a:r>
          </a:p>
          <a:p>
            <a:pPr lvl="1"/>
            <a:r>
              <a:rPr b="1"/>
              <a:t>0:10</a:t>
            </a:r>
            <a:r>
              <a:rPr/>
              <a:t> The beyond-counting moment: put Week 2 beside today. There you counted adjectives near she vs. he; now embed those descriptions and watch them cluster. Same question, two tools, the second visibly richer. Name the idea: an item becomes a vector, position learned from the company it keeps.</a:t>
            </a:r>
          </a:p>
          <a:p>
            <a:pPr lvl="1"/>
            <a:r>
              <a:rPr b="1"/>
              <a:t>0:25</a:t>
            </a:r>
            <a:r>
              <a:rPr/>
              <a:t> 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p>
          <a:p>
            <a:pPr lvl="1"/>
            <a:r>
              <a:rPr b="1"/>
              <a:t>0:55</a:t>
            </a:r>
            <a:r>
              <a:rPr/>
              <a:t> Break</a:t>
            </a:r>
          </a:p>
          <a:p>
            <a:pPr lvl="1"/>
            <a:r>
              <a:rPr b="1"/>
              <a:t>1:05</a:t>
            </a:r>
            <a:r>
              <a:rPr/>
              <a:t> Project lab: push your embeddings, hunt the surprise cluster. A five-minute recommenders aside: “For You” is this same map plus your history. One-on-ones begin at the side.</a:t>
            </a:r>
          </a:p>
          <a:p>
            <a:pPr lvl="1"/>
            <a:r>
              <a:rPr b="1"/>
              <a:t>1:50</a:t>
            </a:r>
            <a:r>
              <a:rPr/>
              <a:t> Gemini-free check and check-out.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Reading</a:t>
            </a:r>
            <a:r>
              <a:rPr/>
              <a:t> </a:t>
            </a:r>
            <a:r>
              <a:rPr/>
              <a:t>&amp;</a:t>
            </a:r>
            <a:r>
              <a:rPr/>
              <a:t> </a:t>
            </a:r>
            <a:r>
              <a:rPr/>
              <a:t>homework</a:t>
            </a:r>
          </a:p>
        </p:txBody>
      </p:sp>
      <p:sp>
        <p:nvSpPr>
          <p:cNvPr id="3" name="Content Placeholder 2"/>
          <p:cNvSpPr>
            <a:spLocks noGrp="1"/>
          </p:cNvSpPr>
          <p:nvPr>
            <p:ph idx="1"/>
          </p:nvPr>
        </p:nvSpPr>
        <p:spPr/>
        <p:txBody>
          <a:bodyPr/>
          <a:lstStyle/>
          <a:p>
            <a:pPr lvl="1"/>
            <a:r>
              <a:rPr b="1"/>
              <a:t>Reading:</a:t>
            </a:r>
            <a:r>
              <a:rPr/>
              <a:t> </a:t>
            </a:r>
            <a:r>
              <a:rPr>
                <a:hlinkClick r:id="rId2"/>
              </a:rPr>
              <a:t>Alammar, The Illustrated Word2Vec</a:t>
            </a:r>
            <a:r>
              <a:rPr/>
              <a:t>, plus the debate: </a:t>
            </a:r>
            <a:r>
              <a:rPr>
                <a:hlinkClick r:id="rId3"/>
              </a:rPr>
              <a:t>Soni/Klein, How Words Lead to Justice</a:t>
            </a:r>
            <a:r>
              <a:rPr/>
              <a:t> vs. </a:t>
            </a:r>
            <a:r>
              <a:rPr>
                <a:hlinkClick r:id="rId4"/>
              </a:rPr>
              <a:t>Caliskan et al. (2017)</a:t>
            </a:r>
          </a:p>
          <a:p>
            <a:pPr lvl="1"/>
            <a:r>
              <a:rPr b="1"/>
              <a:t>Supplement:</a:t>
            </a:r>
            <a:r>
              <a:rPr/>
              <a:t> </a:t>
            </a:r>
            <a:r>
              <a:rPr>
                <a:hlinkClick r:id="rId5"/>
              </a:rPr>
              <a:t>Garg et al. (PNAS 2018)</a:t>
            </a:r>
            <a:r>
              <a:rPr/>
              <a:t>; </a:t>
            </a:r>
            <a:r>
              <a:rPr>
                <a:hlinkClick r:id="rId6"/>
              </a:rPr>
              <a:t>Anderson et al., Spotify diversity</a:t>
            </a:r>
          </a:p>
          <a:p>
            <a:pPr lvl="1"/>
            <a:r>
              <a:rPr b="1"/>
              <a:t>Sketch:</a:t>
            </a:r>
            <a:r>
              <a:rPr/>
              <a:t> Toggle PCA vs. t-SNE and screenshot how the map changes; name one cluster you believe and one you don’t.</a:t>
            </a:r>
          </a:p>
          <a:p>
            <a:pPr lvl="1"/>
            <a:r>
              <a:rPr b="1"/>
              <a:t>Check (AI closed):</a:t>
            </a:r>
            <a:r>
              <a:rPr/>
              <a:t> Explain it: on your map, name one cluster you believe is real and one that’s probably a projection artifact, and how you’d tell. (Competency 4.)</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49</Words>
  <Application>Microsoft Office PowerPoint</Application>
  <PresentationFormat>On-screen Show (4:3)</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5: Embeddings: A Map of Meaning</dc:title>
  <dc:creator/>
  <cp:keywords/>
  <dcterms:created xsi:type="dcterms:W3CDTF">2026-06-29T04:14:03Z</dcterms:created>
  <dcterms:modified xsi:type="dcterms:W3CDTF">2026-06-29T04:14:03Z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format">
    <vt:lpwstr>revealjs</vt:lpwstr>
  </property>
  <property fmtid="{D5CDD505-2E9C-101B-9397-08002B2CF9AE}" pid="3" name="subtitle">
    <vt:lpwstr>Culture as Data · draft slides</vt:lpwstr>
  </property>
</Properties>
</file>