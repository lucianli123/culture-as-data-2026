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E261D"/>
        </a:solidFill>
      </p:bgPr>
    </p:bg>
    <p:spTree>
      <p:nvGrpSpPr>
        <p:cNvPr id="1" name=""/>
        <p:cNvGrpSpPr/>
        <p:nvPr/>
      </p:nvGrpSpPr>
      <p:grpSpPr>
        <a:xfrm>
          <a:off x="0" y="0"/>
          <a:ext cx="0" cy="0"/>
          <a:chOff x="0" y="0"/>
          <a:chExt cx="0" cy="0"/>
        </a:xfrm>
      </p:grpSpPr>
      <p:sp>
        <p:nvSpPr>
          <p:cNvPr id="2" name="Text 0"/>
          <p:cNvSpPr/>
          <p:nvPr/>
        </p:nvSpPr>
        <p:spPr>
          <a:xfrm>
            <a:off x="640080" y="502920"/>
            <a:ext cx="7315200" cy="27432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CULTURE AS DATA</a:t>
            </a:r>
            <a:endParaRPr lang="en-US" sz="1300" dirty="0"/>
          </a:p>
        </p:txBody>
      </p:sp>
      <p:sp>
        <p:nvSpPr>
          <p:cNvPr id="3" name="Text 1"/>
          <p:cNvSpPr/>
          <p:nvPr/>
        </p:nvSpPr>
        <p:spPr>
          <a:xfrm>
            <a:off x="640080" y="1554480"/>
            <a:ext cx="5486400" cy="548640"/>
          </a:xfrm>
          <a:prstGeom prst="rect">
            <a:avLst/>
          </a:prstGeom>
          <a:noFill/>
          <a:ln/>
        </p:spPr>
        <p:txBody>
          <a:bodyPr wrap="square" rtlCol="0" anchor="ctr"/>
          <a:lstStyle/>
          <a:p>
            <a:pPr indent="0" marL="0">
              <a:buNone/>
            </a:pPr>
            <a:r>
              <a:rPr lang="en-US" sz="2000" dirty="0">
                <a:solidFill>
                  <a:srgbClr val="E8DCD6"/>
                </a:solidFill>
                <a:latin typeface="Calibri" pitchFamily="34" charset="0"/>
                <a:ea typeface="Calibri" pitchFamily="34" charset="-122"/>
                <a:cs typeface="Calibri" pitchFamily="34" charset="-120"/>
              </a:rPr>
              <a:t>Week 5</a:t>
            </a:r>
            <a:endParaRPr lang="en-US" sz="2000" dirty="0"/>
          </a:p>
        </p:txBody>
      </p:sp>
      <p:sp>
        <p:nvSpPr>
          <p:cNvPr id="4" name="Text 2"/>
          <p:cNvSpPr/>
          <p:nvPr/>
        </p:nvSpPr>
        <p:spPr>
          <a:xfrm>
            <a:off x="640080" y="2011680"/>
            <a:ext cx="8961120" cy="1828800"/>
          </a:xfrm>
          <a:prstGeom prst="rect">
            <a:avLst/>
          </a:prstGeom>
          <a:noFill/>
          <a:ln/>
        </p:spPr>
        <p:txBody>
          <a:bodyPr wrap="square" rtlCol="0" anchor="t">
            <a:spAutoFit/>
          </a:bodyPr>
          <a:lstStyle/>
          <a:p>
            <a:pPr indent="0" marL="0">
              <a:buNone/>
            </a:pPr>
            <a:r>
              <a:rPr lang="en-US" sz="4000" b="1" dirty="0">
                <a:solidFill>
                  <a:srgbClr val="FFFFFF"/>
                </a:solidFill>
                <a:latin typeface="Cambria" pitchFamily="34" charset="0"/>
                <a:ea typeface="Cambria" pitchFamily="34" charset="-122"/>
                <a:cs typeface="Cambria" pitchFamily="34" charset="-120"/>
              </a:rPr>
              <a:t>Embeddings: A Map of Meaning</a:t>
            </a:r>
            <a:endParaRPr lang="en-US" sz="4000" dirty="0"/>
          </a:p>
        </p:txBody>
      </p:sp>
      <p:sp>
        <p:nvSpPr>
          <p:cNvPr id="5" name="Text 3"/>
          <p:cNvSpPr/>
          <p:nvPr/>
        </p:nvSpPr>
        <p:spPr>
          <a:xfrm>
            <a:off x="640080" y="4114800"/>
            <a:ext cx="7680960" cy="1463040"/>
          </a:xfrm>
          <a:prstGeom prst="rect">
            <a:avLst/>
          </a:prstGeom>
          <a:noFill/>
          <a:ln/>
        </p:spPr>
        <p:txBody>
          <a:bodyPr wrap="square" rtlCol="0" anchor="t">
            <a:spAutoFit/>
          </a:bodyPr>
          <a:lstStyle/>
          <a:p>
            <a:pPr indent="0" marL="0">
              <a:buNone/>
            </a:pPr>
            <a:r>
              <a:rPr lang="en-US" sz="1600" i="1" dirty="0">
                <a:solidFill>
                  <a:srgbClr val="E8DCD6"/>
                </a:solidFill>
                <a:latin typeface="Calibri" pitchFamily="34" charset="0"/>
                <a:ea typeface="Calibri" pitchFamily="34" charset="-122"/>
                <a:cs typeface="Calibri" pitchFamily="34" charset="-120"/>
              </a:rPr>
              <a:t>Watch your own corpus, text or images, sort itself by meaning, see the finding counting could not give you, and learn that the same technique drives "For You" recommendation feeds.</a:t>
            </a:r>
            <a:endParaRPr lang="en-US" sz="1600" dirty="0"/>
          </a:p>
        </p:txBody>
      </p:sp>
      <p:sp>
        <p:nvSpPr>
          <p:cNvPr id="6" name="Text 4"/>
          <p:cNvSpPr/>
          <p:nvPr/>
        </p:nvSpPr>
        <p:spPr>
          <a:xfrm>
            <a:off x="640080" y="6035040"/>
            <a:ext cx="10058400" cy="365760"/>
          </a:xfrm>
          <a:prstGeom prst="rect">
            <a:avLst/>
          </a:prstGeom>
          <a:noFill/>
          <a:ln/>
        </p:spPr>
        <p:txBody>
          <a:bodyPr wrap="square" rtlCol="0" anchor="ctr"/>
          <a:lstStyle/>
          <a:p>
            <a:pPr indent="0" marL="0">
              <a:buNone/>
            </a:pPr>
            <a:r>
              <a:rPr lang="en-US" sz="1200" dirty="0">
                <a:solidFill>
                  <a:srgbClr val="B9852F"/>
                </a:solidFill>
                <a:latin typeface="Calibri" pitchFamily="34" charset="0"/>
                <a:ea typeface="Calibri" pitchFamily="34" charset="-122"/>
                <a:cs typeface="Calibri" pitchFamily="34" charset="-120"/>
              </a:rPr>
              <a:t>Tool / method:  Embeddings, the heart of the course, the leap past counting</a:t>
            </a:r>
            <a:endParaRPr lang="en-US" sz="1200" dirty="0"/>
          </a:p>
        </p:txBody>
      </p:sp>
      <p:sp>
        <p:nvSpPr>
          <p:cNvPr id="7" name="Shape 5"/>
          <p:cNvSpPr/>
          <p:nvPr/>
        </p:nvSpPr>
        <p:spPr>
          <a:xfrm>
            <a:off x="11027822" y="1564795"/>
            <a:ext cx="83975" cy="83975"/>
          </a:xfrm>
          <a:prstGeom prst="ellipse">
            <a:avLst/>
          </a:prstGeom>
          <a:solidFill>
            <a:srgbClr val="7A3B2E"/>
          </a:solidFill>
          <a:ln/>
        </p:spPr>
      </p:sp>
      <p:sp>
        <p:nvSpPr>
          <p:cNvPr id="8" name="Shape 6"/>
          <p:cNvSpPr/>
          <p:nvPr/>
        </p:nvSpPr>
        <p:spPr>
          <a:xfrm>
            <a:off x="10497844" y="1694315"/>
            <a:ext cx="50431" cy="50431"/>
          </a:xfrm>
          <a:prstGeom prst="ellipse">
            <a:avLst/>
          </a:prstGeom>
          <a:solidFill>
            <a:srgbClr val="3F6F5F"/>
          </a:solidFill>
          <a:ln/>
        </p:spPr>
      </p:sp>
      <p:sp>
        <p:nvSpPr>
          <p:cNvPr id="9" name="Shape 7"/>
          <p:cNvSpPr/>
          <p:nvPr/>
        </p:nvSpPr>
        <p:spPr>
          <a:xfrm>
            <a:off x="11333115" y="1771554"/>
            <a:ext cx="77720" cy="77720"/>
          </a:xfrm>
          <a:prstGeom prst="ellipse">
            <a:avLst/>
          </a:prstGeom>
          <a:solidFill>
            <a:srgbClr val="B9852F"/>
          </a:solidFill>
          <a:ln/>
        </p:spPr>
      </p:sp>
      <p:sp>
        <p:nvSpPr>
          <p:cNvPr id="10" name="Shape 8"/>
          <p:cNvSpPr/>
          <p:nvPr/>
        </p:nvSpPr>
        <p:spPr>
          <a:xfrm>
            <a:off x="9190237" y="783050"/>
            <a:ext cx="78974" cy="78974"/>
          </a:xfrm>
          <a:prstGeom prst="ellipse">
            <a:avLst/>
          </a:prstGeom>
          <a:solidFill>
            <a:srgbClr val="7A3B2E"/>
          </a:solidFill>
          <a:ln/>
        </p:spPr>
      </p:sp>
      <p:sp>
        <p:nvSpPr>
          <p:cNvPr id="11" name="Shape 9"/>
          <p:cNvSpPr/>
          <p:nvPr/>
        </p:nvSpPr>
        <p:spPr>
          <a:xfrm>
            <a:off x="10698609" y="1190065"/>
            <a:ext cx="77053" cy="77053"/>
          </a:xfrm>
          <a:prstGeom prst="ellipse">
            <a:avLst/>
          </a:prstGeom>
          <a:solidFill>
            <a:srgbClr val="3F6F5F"/>
          </a:solidFill>
          <a:ln/>
        </p:spPr>
      </p:sp>
      <p:sp>
        <p:nvSpPr>
          <p:cNvPr id="12" name="Shape 10"/>
          <p:cNvSpPr/>
          <p:nvPr/>
        </p:nvSpPr>
        <p:spPr>
          <a:xfrm>
            <a:off x="11514831" y="1979139"/>
            <a:ext cx="94816" cy="94816"/>
          </a:xfrm>
          <a:prstGeom prst="ellipse">
            <a:avLst/>
          </a:prstGeom>
          <a:solidFill>
            <a:srgbClr val="B9852F"/>
          </a:solidFill>
          <a:ln/>
        </p:spPr>
      </p:sp>
      <p:sp>
        <p:nvSpPr>
          <p:cNvPr id="13" name="Shape 11"/>
          <p:cNvSpPr/>
          <p:nvPr/>
        </p:nvSpPr>
        <p:spPr>
          <a:xfrm>
            <a:off x="10038703" y="2136810"/>
            <a:ext cx="100261" cy="100261"/>
          </a:xfrm>
          <a:prstGeom prst="ellipse">
            <a:avLst/>
          </a:prstGeom>
          <a:solidFill>
            <a:srgbClr val="7A3B2E"/>
          </a:solidFill>
          <a:ln/>
        </p:spPr>
      </p:sp>
      <p:sp>
        <p:nvSpPr>
          <p:cNvPr id="14" name="Shape 12"/>
          <p:cNvSpPr/>
          <p:nvPr/>
        </p:nvSpPr>
        <p:spPr>
          <a:xfrm>
            <a:off x="10156425" y="649620"/>
            <a:ext cx="61383" cy="61383"/>
          </a:xfrm>
          <a:prstGeom prst="ellipse">
            <a:avLst/>
          </a:prstGeom>
          <a:solidFill>
            <a:srgbClr val="3F6F5F"/>
          </a:solidFill>
          <a:ln/>
        </p:spPr>
      </p:sp>
      <p:sp>
        <p:nvSpPr>
          <p:cNvPr id="15" name="Shape 13"/>
          <p:cNvSpPr/>
          <p:nvPr/>
        </p:nvSpPr>
        <p:spPr>
          <a:xfrm>
            <a:off x="10267797" y="1716189"/>
            <a:ext cx="55906" cy="55906"/>
          </a:xfrm>
          <a:prstGeom prst="ellipse">
            <a:avLst/>
          </a:prstGeom>
          <a:solidFill>
            <a:srgbClr val="B9852F"/>
          </a:solidFill>
          <a:ln/>
        </p:spPr>
      </p:sp>
      <p:sp>
        <p:nvSpPr>
          <p:cNvPr id="16" name="Shape 14"/>
          <p:cNvSpPr/>
          <p:nvPr/>
        </p:nvSpPr>
        <p:spPr>
          <a:xfrm>
            <a:off x="11515819" y="848335"/>
            <a:ext cx="51825" cy="51825"/>
          </a:xfrm>
          <a:prstGeom prst="ellipse">
            <a:avLst/>
          </a:prstGeom>
          <a:solidFill>
            <a:srgbClr val="7A3B2E"/>
          </a:solidFill>
          <a:ln/>
        </p:spPr>
      </p:sp>
      <p:sp>
        <p:nvSpPr>
          <p:cNvPr id="17" name="Shape 15"/>
          <p:cNvSpPr/>
          <p:nvPr/>
        </p:nvSpPr>
        <p:spPr>
          <a:xfrm>
            <a:off x="9557091" y="2244680"/>
            <a:ext cx="72002" cy="72002"/>
          </a:xfrm>
          <a:prstGeom prst="ellipse">
            <a:avLst/>
          </a:prstGeom>
          <a:solidFill>
            <a:srgbClr val="3F6F5F"/>
          </a:solidFill>
          <a:ln/>
        </p:spPr>
      </p:sp>
      <p:sp>
        <p:nvSpPr>
          <p:cNvPr id="18" name="Shape 16"/>
          <p:cNvSpPr/>
          <p:nvPr/>
        </p:nvSpPr>
        <p:spPr>
          <a:xfrm>
            <a:off x="11021013" y="1417044"/>
            <a:ext cx="84432" cy="84432"/>
          </a:xfrm>
          <a:prstGeom prst="ellipse">
            <a:avLst/>
          </a:prstGeom>
          <a:solidFill>
            <a:srgbClr val="B9852F"/>
          </a:solidFill>
          <a:ln/>
        </p:spPr>
      </p:sp>
      <p:sp>
        <p:nvSpPr>
          <p:cNvPr id="19" name="Shape 17"/>
          <p:cNvSpPr/>
          <p:nvPr/>
        </p:nvSpPr>
        <p:spPr>
          <a:xfrm>
            <a:off x="11564185" y="826685"/>
            <a:ext cx="57111" cy="57111"/>
          </a:xfrm>
          <a:prstGeom prst="ellipse">
            <a:avLst/>
          </a:prstGeom>
          <a:solidFill>
            <a:srgbClr val="7A3B2E"/>
          </a:solidFill>
          <a:ln/>
        </p:spPr>
      </p:sp>
      <p:sp>
        <p:nvSpPr>
          <p:cNvPr id="20" name="Shape 18"/>
          <p:cNvSpPr/>
          <p:nvPr/>
        </p:nvSpPr>
        <p:spPr>
          <a:xfrm>
            <a:off x="9586407" y="1197505"/>
            <a:ext cx="67762" cy="67762"/>
          </a:xfrm>
          <a:prstGeom prst="ellipse">
            <a:avLst/>
          </a:prstGeom>
          <a:solidFill>
            <a:srgbClr val="3F6F5F"/>
          </a:solidFill>
          <a:ln/>
        </p:spPr>
      </p:sp>
      <p:sp>
        <p:nvSpPr>
          <p:cNvPr id="21" name="Shape 19"/>
          <p:cNvSpPr/>
          <p:nvPr/>
        </p:nvSpPr>
        <p:spPr>
          <a:xfrm>
            <a:off x="8973879" y="1516044"/>
            <a:ext cx="84383" cy="84383"/>
          </a:xfrm>
          <a:prstGeom prst="ellipse">
            <a:avLst/>
          </a:prstGeom>
          <a:solidFill>
            <a:srgbClr val="B9852F"/>
          </a:solidFill>
          <a:ln/>
        </p:spPr>
      </p:sp>
      <p:sp>
        <p:nvSpPr>
          <p:cNvPr id="22" name="Shape 20"/>
          <p:cNvSpPr/>
          <p:nvPr/>
        </p:nvSpPr>
        <p:spPr>
          <a:xfrm>
            <a:off x="10869601" y="768840"/>
            <a:ext cx="74969" cy="74969"/>
          </a:xfrm>
          <a:prstGeom prst="ellipse">
            <a:avLst/>
          </a:prstGeom>
          <a:solidFill>
            <a:srgbClr val="7A3B2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1371600"/>
            <a:ext cx="2377440" cy="2377440"/>
          </a:xfrm>
          <a:prstGeom prst="ellipse">
            <a:avLst/>
          </a:prstGeom>
          <a:solidFill>
            <a:srgbClr val="F4EEE8"/>
          </a:solidFill>
          <a:ln/>
        </p:spPr>
      </p:sp>
      <p:sp>
        <p:nvSpPr>
          <p:cNvPr id="3" name="Shape 1"/>
          <p:cNvSpPr/>
          <p:nvPr/>
        </p:nvSpPr>
        <p:spPr>
          <a:xfrm>
            <a:off x="1325880" y="2423160"/>
            <a:ext cx="146304" cy="146304"/>
          </a:xfrm>
          <a:prstGeom prst="ellipse">
            <a:avLst/>
          </a:prstGeom>
          <a:solidFill>
            <a:srgbClr val="7A3B2E"/>
          </a:solidFill>
          <a:ln/>
        </p:spPr>
      </p:sp>
      <p:sp>
        <p:nvSpPr>
          <p:cNvPr id="4" name="Shape 2"/>
          <p:cNvSpPr/>
          <p:nvPr/>
        </p:nvSpPr>
        <p:spPr>
          <a:xfrm>
            <a:off x="1563624" y="2514600"/>
            <a:ext cx="146304" cy="146304"/>
          </a:xfrm>
          <a:prstGeom prst="ellipse">
            <a:avLst/>
          </a:prstGeom>
          <a:solidFill>
            <a:srgbClr val="3F6F5F"/>
          </a:solidFill>
          <a:ln/>
        </p:spPr>
      </p:sp>
      <p:sp>
        <p:nvSpPr>
          <p:cNvPr id="5" name="Shape 3"/>
          <p:cNvSpPr/>
          <p:nvPr/>
        </p:nvSpPr>
        <p:spPr>
          <a:xfrm>
            <a:off x="1801368" y="2423160"/>
            <a:ext cx="146304" cy="146304"/>
          </a:xfrm>
          <a:prstGeom prst="ellipse">
            <a:avLst/>
          </a:prstGeom>
          <a:solidFill>
            <a:srgbClr val="B9852F"/>
          </a:solidFill>
          <a:ln/>
        </p:spPr>
      </p:sp>
      <p:sp>
        <p:nvSpPr>
          <p:cNvPr id="6" name="Text 4"/>
          <p:cNvSpPr/>
          <p:nvPr/>
        </p:nvSpPr>
        <p:spPr>
          <a:xfrm>
            <a:off x="3657600" y="914400"/>
            <a:ext cx="7315200" cy="32004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LOOK AT THIS</a:t>
            </a:r>
            <a:endParaRPr lang="en-US" sz="1300" dirty="0"/>
          </a:p>
        </p:txBody>
      </p:sp>
      <p:sp>
        <p:nvSpPr>
          <p:cNvPr id="7" name="Text 5"/>
          <p:cNvSpPr/>
          <p:nvPr/>
        </p:nvSpPr>
        <p:spPr>
          <a:xfrm>
            <a:off x="3657600" y="1280160"/>
            <a:ext cx="786384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study we open with</a:t>
            </a:r>
            <a:endParaRPr lang="en-US" sz="3000" dirty="0"/>
          </a:p>
        </p:txBody>
      </p:sp>
      <p:sp>
        <p:nvSpPr>
          <p:cNvPr id="8" name="Text 6"/>
          <p:cNvSpPr/>
          <p:nvPr/>
        </p:nvSpPr>
        <p:spPr>
          <a:xfrm>
            <a:off x="3657600" y="2286000"/>
            <a:ext cx="7863840" cy="3291840"/>
          </a:xfrm>
          <a:prstGeom prst="rect">
            <a:avLst/>
          </a:prstGeom>
          <a:noFill/>
          <a:ln/>
        </p:spPr>
        <p:txBody>
          <a:bodyPr wrap="square" rtlCol="0" anchor="t">
            <a:spAutoFit/>
          </a:bodyPr>
          <a:lstStyle/>
          <a:p>
            <a:pPr indent="0" marL="0">
              <a:lnSpc>
                <a:spcPct val="115000"/>
              </a:lnSpc>
              <a:buNone/>
            </a:pPr>
            <a:r>
              <a:rPr lang="en-US" sz="1900" dirty="0">
                <a:solidFill>
                  <a:srgbClr val="1A1A1A"/>
                </a:solidFill>
                <a:latin typeface="Calibri" pitchFamily="34" charset="0"/>
                <a:ea typeface="Calibri" pitchFamily="34" charset="-122"/>
                <a:cs typeface="Calibri" pitchFamily="34" charset="-120"/>
              </a:rPr>
              <a:t>A debate, two readings of one discovery: embedding space contains directions.</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822960"/>
            <a:ext cx="7315200" cy="320040"/>
          </a:xfrm>
          <a:prstGeom prst="rect">
            <a:avLst/>
          </a:prstGeom>
          <a:noFill/>
          <a:ln/>
        </p:spPr>
        <p:txBody>
          <a:bodyPr wrap="square" rtlCol="0" anchor="ctr"/>
          <a:lstStyle/>
          <a:p>
            <a:pPr indent="0" marL="0">
              <a:buNone/>
            </a:pPr>
            <a:r>
              <a:rPr lang="en-US" sz="1300" b="1" spc="300" kern="0" dirty="0">
                <a:solidFill>
                  <a:srgbClr val="7A3B2E"/>
                </a:solidFill>
                <a:latin typeface="Calibri" pitchFamily="34" charset="0"/>
                <a:ea typeface="Calibri" pitchFamily="34" charset="-122"/>
                <a:cs typeface="Calibri" pitchFamily="34" charset="-120"/>
              </a:rPr>
              <a:t>QUESTION IT</a:t>
            </a:r>
            <a:endParaRPr lang="en-US" sz="1300" dirty="0"/>
          </a:p>
        </p:txBody>
      </p:sp>
      <p:sp>
        <p:nvSpPr>
          <p:cNvPr id="3" name="Text 1"/>
          <p:cNvSpPr/>
          <p:nvPr/>
        </p:nvSpPr>
        <p:spPr>
          <a:xfrm>
            <a:off x="640080" y="1188720"/>
            <a:ext cx="10881360" cy="914400"/>
          </a:xfrm>
          <a:prstGeom prst="rect">
            <a:avLst/>
          </a:prstGeom>
          <a:noFill/>
          <a:ln/>
        </p:spPr>
        <p:txBody>
          <a:bodyPr wrap="square" rtlCol="0" anchor="ctr">
            <a:spAutoFit/>
          </a:bodyPr>
          <a:lstStyle/>
          <a:p>
            <a:pPr indent="0" marL="0">
              <a:buNone/>
            </a:pPr>
            <a:r>
              <a:rPr lang="en-US" sz="2600" b="1" dirty="0">
                <a:solidFill>
                  <a:srgbClr val="1A1A1A"/>
                </a:solidFill>
                <a:latin typeface="Cambria" pitchFamily="34" charset="0"/>
                <a:ea typeface="Cambria" pitchFamily="34" charset="-122"/>
                <a:cs typeface="Cambria" pitchFamily="34" charset="-120"/>
              </a:rPr>
              <a:t>What did they choose, and where might it be wrong?</a:t>
            </a:r>
            <a:endParaRPr lang="en-US" sz="2600" dirty="0"/>
          </a:p>
        </p:txBody>
      </p:sp>
      <p:sp>
        <p:nvSpPr>
          <p:cNvPr id="4" name="Shape 2"/>
          <p:cNvSpPr/>
          <p:nvPr/>
        </p:nvSpPr>
        <p:spPr>
          <a:xfrm>
            <a:off x="640080" y="2468880"/>
            <a:ext cx="256032" cy="256032"/>
          </a:xfrm>
          <a:prstGeom prst="ellipse">
            <a:avLst/>
          </a:prstGeom>
          <a:solidFill>
            <a:srgbClr val="B9852F"/>
          </a:solidFill>
          <a:ln/>
        </p:spPr>
      </p:sp>
      <p:sp>
        <p:nvSpPr>
          <p:cNvPr id="5" name="Text 3"/>
          <p:cNvSpPr/>
          <p:nvPr/>
        </p:nvSpPr>
        <p:spPr>
          <a:xfrm>
            <a:off x="1097280" y="2286000"/>
            <a:ext cx="10241280" cy="3657600"/>
          </a:xfrm>
          <a:prstGeom prst="rect">
            <a:avLst/>
          </a:prstGeom>
          <a:noFill/>
          <a:ln/>
        </p:spPr>
        <p:txBody>
          <a:bodyPr wrap="square" rtlCol="0" anchor="t">
            <a:spAutoFit/>
          </a:bodyPr>
          <a:lstStyle/>
          <a:p>
            <a:pPr indent="0" marL="0">
              <a:lnSpc>
                <a:spcPct val="120000"/>
              </a:lnSpc>
              <a:buNone/>
            </a:pPr>
            <a:r>
              <a:rPr lang="en-US" sz="2000" dirty="0">
                <a:solidFill>
                  <a:srgbClr val="1A1A1A"/>
                </a:solidFill>
                <a:latin typeface="Calibri" pitchFamily="34" charset="0"/>
                <a:ea typeface="Calibri" pitchFamily="34" charset="-122"/>
                <a:cs typeface="Calibri" pitchFamily="34" charset="-120"/>
              </a:rPr>
              <a:t>Kozlowski, Taddy &amp; Evans (2019) find a rich–poor axis in embedding space and read it as the cultural structure of social class, measurable across a century. Bolukbasi et al. (2016) find the same kind of direction, a gender axis pairing men with "programmer" and women with "homemaker," and read it as prejudice to remove. Identical technique, opposite verdicts. The room decides: when is a dimension found in a corpus a discovery about culture, and when is it the corpus's own bias read back?</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5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The problem counting cannot solve</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To a counter, "happy" and "joyful" are unrelated strings. Zero overlap.</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An embedding turns each item into a vector, a few hundred numbers, positioned by the company the item keeps.</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Near in that space means similar in learned context: happy and joyful end up neighbors because they appear in the same company.</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Neighbors are context-mates, not dictionary synonyms. Correct this misconception explicitly.</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F6F5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3F6F5F"/>
                </a:solidFill>
                <a:latin typeface="Calibri" pitchFamily="34" charset="0"/>
                <a:ea typeface="Calibri" pitchFamily="34" charset="-122"/>
                <a:cs typeface="Calibri" pitchFamily="34" charset="-120"/>
              </a:rPr>
              <a:t>WEEK 5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The debate: discovery, or bias read back?</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Kozlowski, Taddy &amp; Evans (2019): a rich-poor direction in embedding space tracks the cultural structure of class across a century. Culture made measurable.</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Bolukbasi et al. (2016): the same kind of direction pairs man:programmer :: woman:homemaker. Prejudice the model absorbed, to be removed.</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Identical technique. Opposite verdicts.</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The room settles it: what makes a found dimension a discovery vs. the corpus's own bias, the data, the purpose, or what you do with the result?</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9852F"/>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B9852F"/>
                </a:solidFill>
                <a:latin typeface="Calibri" pitchFamily="34" charset="0"/>
                <a:ea typeface="Calibri" pitchFamily="34" charset="-122"/>
                <a:cs typeface="Calibri" pitchFamily="34" charset="-120"/>
              </a:rPr>
              <a:t>WEEK 5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The chart is a choice</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PCA and t-SNE flatten the same vectors two ways: clusters tighten, distances shift, a grouping you trusted can dissolve.</a:t>
            </a:r>
            <a:endParaRPr lang="en-US" sz="1650" dirty="0"/>
          </a:p>
        </p:txBody>
      </p:sp>
      <p:sp>
        <p:nvSpPr>
          <p:cNvPr id="7" name="Shape 5"/>
          <p:cNvSpPr/>
          <p:nvPr/>
        </p:nvSpPr>
        <p:spPr>
          <a:xfrm>
            <a:off x="640080" y="3348990"/>
            <a:ext cx="201168" cy="201168"/>
          </a:xfrm>
          <a:prstGeom prst="ellipse">
            <a:avLst/>
          </a:prstGeom>
          <a:solidFill>
            <a:srgbClr val="3F6F5F"/>
          </a:solidFill>
          <a:ln/>
        </p:spPr>
      </p:sp>
      <p:sp>
        <p:nvSpPr>
          <p:cNvPr id="8" name="Text 6"/>
          <p:cNvSpPr/>
          <p:nvPr/>
        </p:nvSpPr>
        <p:spPr>
          <a:xfrm>
            <a:off x="1097280" y="325755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"Near" means probably similar. Exact distances on the flattened map mean little.</a:t>
            </a:r>
            <a:endParaRPr lang="en-US" sz="1650" dirty="0"/>
          </a:p>
        </p:txBody>
      </p:sp>
      <p:sp>
        <p:nvSpPr>
          <p:cNvPr id="9" name="Shape 7"/>
          <p:cNvSpPr/>
          <p:nvPr/>
        </p:nvSpPr>
        <p:spPr>
          <a:xfrm>
            <a:off x="640080" y="4366260"/>
            <a:ext cx="201168" cy="201168"/>
          </a:xfrm>
          <a:prstGeom prst="ellipse">
            <a:avLst/>
          </a:prstGeom>
          <a:solidFill>
            <a:srgbClr val="B9852F"/>
          </a:solidFill>
          <a:ln/>
        </p:spPr>
      </p:sp>
      <p:sp>
        <p:nvSpPr>
          <p:cNvPr id="10" name="Text 8"/>
          <p:cNvSpPr/>
          <p:nvPr/>
        </p:nvSpPr>
        <p:spPr>
          <a:xfrm>
            <a:off x="1097280" y="427482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A visualization is an argument with decisions baked in: projection, axes, what's dropped.</a:t>
            </a:r>
            <a:endParaRPr lang="en-US" sz="1650" dirty="0"/>
          </a:p>
        </p:txBody>
      </p:sp>
      <p:sp>
        <p:nvSpPr>
          <p:cNvPr id="11" name="Shape 9"/>
          <p:cNvSpPr/>
          <p:nvPr/>
        </p:nvSpPr>
        <p:spPr>
          <a:xfrm>
            <a:off x="640080" y="5383530"/>
            <a:ext cx="201168" cy="201168"/>
          </a:xfrm>
          <a:prstGeom prst="ellipse">
            <a:avLst/>
          </a:prstGeom>
          <a:solidFill>
            <a:srgbClr val="7A3B2E"/>
          </a:solidFill>
          <a:ln/>
        </p:spPr>
      </p:sp>
      <p:sp>
        <p:nvSpPr>
          <p:cNvPr id="12" name="Text 10"/>
          <p:cNvSpPr/>
          <p:nvPr/>
        </p:nvSpPr>
        <p:spPr>
          <a:xfrm>
            <a:off x="1097280" y="5292090"/>
            <a:ext cx="10607040" cy="101727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Homework: toggle PCA against t-SNE on your own map. Name one cluster you believe and one you do not.</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3B2E"/>
          </a:solidFill>
          <a:ln/>
        </p:spPr>
      </p:sp>
      <p:sp>
        <p:nvSpPr>
          <p:cNvPr id="3" name="Text 1"/>
          <p:cNvSpPr/>
          <p:nvPr/>
        </p:nvSpPr>
        <p:spPr>
          <a:xfrm>
            <a:off x="640080" y="640080"/>
            <a:ext cx="10058400" cy="320040"/>
          </a:xfrm>
          <a:prstGeom prst="rect">
            <a:avLst/>
          </a:prstGeom>
          <a:noFill/>
          <a:ln/>
        </p:spPr>
        <p:txBody>
          <a:bodyPr wrap="square" rtlCol="0" anchor="ctr"/>
          <a:lstStyle/>
          <a:p>
            <a:pPr indent="0" marL="0">
              <a:buNone/>
            </a:pPr>
            <a:r>
              <a:rPr lang="en-US" sz="1200" b="1" spc="300" kern="0" dirty="0">
                <a:solidFill>
                  <a:srgbClr val="7A3B2E"/>
                </a:solidFill>
                <a:latin typeface="Calibri" pitchFamily="34" charset="0"/>
                <a:ea typeface="Calibri" pitchFamily="34" charset="-122"/>
                <a:cs typeface="Calibri" pitchFamily="34" charset="-120"/>
              </a:rPr>
              <a:t>WEEK 5 · KEY POINTS</a:t>
            </a:r>
            <a:endParaRPr lang="en-US" sz="1200" dirty="0"/>
          </a:p>
        </p:txBody>
      </p:sp>
      <p:sp>
        <p:nvSpPr>
          <p:cNvPr id="4" name="Text 2"/>
          <p:cNvSpPr/>
          <p:nvPr/>
        </p:nvSpPr>
        <p:spPr>
          <a:xfrm>
            <a:off x="640080" y="1005840"/>
            <a:ext cx="10881360" cy="914400"/>
          </a:xfrm>
          <a:prstGeom prst="rect">
            <a:avLst/>
          </a:prstGeom>
          <a:noFill/>
          <a:ln/>
        </p:spPr>
        <p:txBody>
          <a:bodyPr wrap="square" rtlCol="0" anchor="t">
            <a:spAutoFit/>
          </a:bodyPr>
          <a:lstStyle/>
          <a:p>
            <a:pPr indent="0" marL="0">
              <a:buNone/>
            </a:pPr>
            <a:r>
              <a:rPr lang="en-US" sz="3000" b="1" dirty="0">
                <a:solidFill>
                  <a:srgbClr val="1A1A1A"/>
                </a:solidFill>
                <a:latin typeface="Cambria" pitchFamily="34" charset="0"/>
                <a:ea typeface="Cambria" pitchFamily="34" charset="-122"/>
                <a:cs typeface="Cambria" pitchFamily="34" charset="-120"/>
              </a:rPr>
              <a:t>The recommender aside (five minutes, strictly limited)</a:t>
            </a:r>
            <a:endParaRPr lang="en-US" sz="3000" dirty="0"/>
          </a:p>
        </p:txBody>
      </p:sp>
      <p:sp>
        <p:nvSpPr>
          <p:cNvPr id="5" name="Shape 3"/>
          <p:cNvSpPr/>
          <p:nvPr/>
        </p:nvSpPr>
        <p:spPr>
          <a:xfrm>
            <a:off x="640080" y="2331720"/>
            <a:ext cx="201168" cy="201168"/>
          </a:xfrm>
          <a:prstGeom prst="ellipse">
            <a:avLst/>
          </a:prstGeom>
          <a:solidFill>
            <a:srgbClr val="7A3B2E"/>
          </a:solidFill>
          <a:ln/>
        </p:spPr>
      </p:sp>
      <p:sp>
        <p:nvSpPr>
          <p:cNvPr id="6" name="Text 4"/>
          <p:cNvSpPr/>
          <p:nvPr/>
        </p:nvSpPr>
        <p:spPr>
          <a:xfrm>
            <a:off x="1097280" y="2240280"/>
            <a:ext cx="10607040" cy="105156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"For You" is this same map plus your history: you are a point in taste-space, the feed is your nearest neighbors.</a:t>
            </a:r>
            <a:endParaRPr lang="en-US" sz="1650" dirty="0"/>
          </a:p>
        </p:txBody>
      </p:sp>
      <p:sp>
        <p:nvSpPr>
          <p:cNvPr id="7" name="Shape 5"/>
          <p:cNvSpPr/>
          <p:nvPr/>
        </p:nvSpPr>
        <p:spPr>
          <a:xfrm>
            <a:off x="640080" y="3383280"/>
            <a:ext cx="201168" cy="201168"/>
          </a:xfrm>
          <a:prstGeom prst="ellipse">
            <a:avLst/>
          </a:prstGeom>
          <a:solidFill>
            <a:srgbClr val="3F6F5F"/>
          </a:solidFill>
          <a:ln/>
        </p:spPr>
      </p:sp>
      <p:sp>
        <p:nvSpPr>
          <p:cNvPr id="8" name="Text 6"/>
          <p:cNvSpPr/>
          <p:nvPr/>
        </p:nvSpPr>
        <p:spPr>
          <a:xfrm>
            <a:off x="1097280" y="3291840"/>
            <a:ext cx="10607040" cy="105156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Spotify's own researchers found algorithmic listening less diverse than organic listening (Anderson et al., 2020).</a:t>
            </a:r>
            <a:endParaRPr lang="en-US" sz="1650" dirty="0"/>
          </a:p>
        </p:txBody>
      </p:sp>
      <p:sp>
        <p:nvSpPr>
          <p:cNvPr id="9" name="Shape 7"/>
          <p:cNvSpPr/>
          <p:nvPr/>
        </p:nvSpPr>
        <p:spPr>
          <a:xfrm>
            <a:off x="640080" y="4434840"/>
            <a:ext cx="201168" cy="201168"/>
          </a:xfrm>
          <a:prstGeom prst="ellipse">
            <a:avLst/>
          </a:prstGeom>
          <a:solidFill>
            <a:srgbClr val="B9852F"/>
          </a:solidFill>
          <a:ln/>
        </p:spPr>
      </p:sp>
      <p:sp>
        <p:nvSpPr>
          <p:cNvPr id="10" name="Text 8"/>
          <p:cNvSpPr/>
          <p:nvPr/>
        </p:nvSpPr>
        <p:spPr>
          <a:xfrm>
            <a:off x="1097280" y="4343400"/>
            <a:ext cx="10607040" cy="1051560"/>
          </a:xfrm>
          <a:prstGeom prst="rect">
            <a:avLst/>
          </a:prstGeom>
          <a:noFill/>
          <a:ln/>
        </p:spPr>
        <p:txBody>
          <a:bodyPr wrap="square" rtlCol="0" anchor="t">
            <a:spAutoFit/>
          </a:bodyPr>
          <a:lstStyle/>
          <a:p>
            <a:pPr indent="0" marL="0">
              <a:lnSpc>
                <a:spcPct val="112000"/>
              </a:lnSpc>
              <a:buNone/>
            </a:pPr>
            <a:r>
              <a:rPr lang="en-US" sz="1650" dirty="0">
                <a:solidFill>
                  <a:srgbClr val="1A1A1A"/>
                </a:solidFill>
                <a:latin typeface="Calibri" pitchFamily="34" charset="0"/>
                <a:ea typeface="Calibri" pitchFamily="34" charset="-122"/>
                <a:cs typeface="Calibri" pitchFamily="34" charset="-120"/>
              </a:rPr>
              <a:t>You built the same machinery today.</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73152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Three modes today</a:t>
            </a:r>
            <a:endParaRPr lang="en-US" sz="3000" dirty="0"/>
          </a:p>
        </p:txBody>
      </p:sp>
      <p:sp>
        <p:nvSpPr>
          <p:cNvPr id="3" name="Text 1"/>
          <p:cNvSpPr/>
          <p:nvPr/>
        </p:nvSpPr>
        <p:spPr>
          <a:xfrm>
            <a:off x="640080" y="1417320"/>
            <a:ext cx="10058400" cy="365760"/>
          </a:xfrm>
          <a:prstGeom prst="rect">
            <a:avLst/>
          </a:prstGeom>
          <a:noFill/>
          <a:ln/>
        </p:spPr>
        <p:txBody>
          <a:bodyPr wrap="square" rtlCol="0" anchor="ctr"/>
          <a:lstStyle/>
          <a:p>
            <a:pPr indent="0" marL="0">
              <a:buNone/>
            </a:pPr>
            <a:r>
              <a:rPr lang="en-US" sz="1400" i="1" dirty="0">
                <a:solidFill>
                  <a:srgbClr val="6B6B63"/>
                </a:solidFill>
                <a:latin typeface="Calibri" pitchFamily="34" charset="0"/>
                <a:ea typeface="Calibri" pitchFamily="34" charset="-122"/>
                <a:cs typeface="Calibri" pitchFamily="34" charset="-120"/>
              </a:rPr>
              <a:t>about a third of the session each</a:t>
            </a:r>
            <a:endParaRPr lang="en-US" sz="1400" dirty="0"/>
          </a:p>
        </p:txBody>
      </p:sp>
      <p:sp>
        <p:nvSpPr>
          <p:cNvPr id="4" name="Shape 2"/>
          <p:cNvSpPr/>
          <p:nvPr/>
        </p:nvSpPr>
        <p:spPr>
          <a:xfrm>
            <a:off x="640080" y="2194560"/>
            <a:ext cx="3383280" cy="3291840"/>
          </a:xfrm>
          <a:prstGeom prst="roundRect">
            <a:avLst>
              <a:gd name="adj" fmla="val 3333"/>
            </a:avLst>
          </a:prstGeom>
          <a:solidFill>
            <a:srgbClr val="F4EEE8"/>
          </a:solidFill>
          <a:ln/>
        </p:spPr>
      </p:sp>
      <p:sp>
        <p:nvSpPr>
          <p:cNvPr id="5" name="Shape 3"/>
          <p:cNvSpPr/>
          <p:nvPr/>
        </p:nvSpPr>
        <p:spPr>
          <a:xfrm>
            <a:off x="1051560" y="2606040"/>
            <a:ext cx="548640" cy="548640"/>
          </a:xfrm>
          <a:prstGeom prst="ellipse">
            <a:avLst/>
          </a:prstGeom>
          <a:solidFill>
            <a:srgbClr val="7A3B2E"/>
          </a:solidFill>
          <a:ln/>
        </p:spPr>
      </p:sp>
      <p:sp>
        <p:nvSpPr>
          <p:cNvPr id="6" name="Text 4"/>
          <p:cNvSpPr/>
          <p:nvPr/>
        </p:nvSpPr>
        <p:spPr>
          <a:xfrm>
            <a:off x="10058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Lecture / demo</a:t>
            </a:r>
            <a:endParaRPr lang="en-US" sz="2100" dirty="0"/>
          </a:p>
        </p:txBody>
      </p:sp>
      <p:sp>
        <p:nvSpPr>
          <p:cNvPr id="7" name="Text 5"/>
          <p:cNvSpPr/>
          <p:nvPr/>
        </p:nvSpPr>
        <p:spPr>
          <a:xfrm>
            <a:off x="10058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Embeddings, the heart of the course, the leap past counting</a:t>
            </a:r>
            <a:endParaRPr lang="en-US" sz="1500" dirty="0"/>
          </a:p>
        </p:txBody>
      </p:sp>
      <p:sp>
        <p:nvSpPr>
          <p:cNvPr id="8" name="Shape 6"/>
          <p:cNvSpPr/>
          <p:nvPr/>
        </p:nvSpPr>
        <p:spPr>
          <a:xfrm>
            <a:off x="4526280" y="2194560"/>
            <a:ext cx="3383280" cy="3291840"/>
          </a:xfrm>
          <a:prstGeom prst="roundRect">
            <a:avLst>
              <a:gd name="adj" fmla="val 3333"/>
            </a:avLst>
          </a:prstGeom>
          <a:solidFill>
            <a:srgbClr val="F4EEE8"/>
          </a:solidFill>
          <a:ln/>
        </p:spPr>
      </p:sp>
      <p:sp>
        <p:nvSpPr>
          <p:cNvPr id="9" name="Shape 7"/>
          <p:cNvSpPr/>
          <p:nvPr/>
        </p:nvSpPr>
        <p:spPr>
          <a:xfrm>
            <a:off x="4937760" y="2606040"/>
            <a:ext cx="548640" cy="548640"/>
          </a:xfrm>
          <a:prstGeom prst="ellipse">
            <a:avLst/>
          </a:prstGeom>
          <a:solidFill>
            <a:srgbClr val="3F6F5F"/>
          </a:solidFill>
          <a:ln/>
        </p:spPr>
      </p:sp>
      <p:sp>
        <p:nvSpPr>
          <p:cNvPr id="10" name="Text 8"/>
          <p:cNvSpPr/>
          <p:nvPr/>
        </p:nvSpPr>
        <p:spPr>
          <a:xfrm>
            <a:off x="48920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Workshop</a:t>
            </a:r>
            <a:endParaRPr lang="en-US" sz="2100" dirty="0"/>
          </a:p>
        </p:txBody>
      </p:sp>
      <p:sp>
        <p:nvSpPr>
          <p:cNvPr id="11" name="Text 9"/>
          <p:cNvSpPr/>
          <p:nvPr/>
        </p:nvSpPr>
        <p:spPr>
          <a:xfrm>
            <a:off x="48920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Build hands-on on your own data.</a:t>
            </a:r>
            <a:endParaRPr lang="en-US" sz="1500" dirty="0"/>
          </a:p>
        </p:txBody>
      </p:sp>
      <p:sp>
        <p:nvSpPr>
          <p:cNvPr id="12" name="Shape 10"/>
          <p:cNvSpPr/>
          <p:nvPr/>
        </p:nvSpPr>
        <p:spPr>
          <a:xfrm>
            <a:off x="8412480" y="2194560"/>
            <a:ext cx="3383280" cy="3291840"/>
          </a:xfrm>
          <a:prstGeom prst="roundRect">
            <a:avLst>
              <a:gd name="adj" fmla="val 3333"/>
            </a:avLst>
          </a:prstGeom>
          <a:solidFill>
            <a:srgbClr val="F4EEE8"/>
          </a:solidFill>
          <a:ln/>
        </p:spPr>
      </p:sp>
      <p:sp>
        <p:nvSpPr>
          <p:cNvPr id="13" name="Shape 11"/>
          <p:cNvSpPr/>
          <p:nvPr/>
        </p:nvSpPr>
        <p:spPr>
          <a:xfrm>
            <a:off x="8823960" y="2606040"/>
            <a:ext cx="548640" cy="548640"/>
          </a:xfrm>
          <a:prstGeom prst="ellipse">
            <a:avLst/>
          </a:prstGeom>
          <a:solidFill>
            <a:srgbClr val="B9852F"/>
          </a:solidFill>
          <a:ln/>
        </p:spPr>
      </p:sp>
      <p:sp>
        <p:nvSpPr>
          <p:cNvPr id="14" name="Text 12"/>
          <p:cNvSpPr/>
          <p:nvPr/>
        </p:nvSpPr>
        <p:spPr>
          <a:xfrm>
            <a:off x="8778240" y="3383280"/>
            <a:ext cx="2651760" cy="548640"/>
          </a:xfrm>
          <a:prstGeom prst="rect">
            <a:avLst/>
          </a:prstGeom>
          <a:noFill/>
          <a:ln/>
        </p:spPr>
        <p:txBody>
          <a:bodyPr wrap="square" rtlCol="0" anchor="ctr"/>
          <a:lstStyle/>
          <a:p>
            <a:pPr indent="0" marL="0">
              <a:buNone/>
            </a:pPr>
            <a:r>
              <a:rPr lang="en-US" sz="2100" b="1" dirty="0">
                <a:solidFill>
                  <a:srgbClr val="1A1A1A"/>
                </a:solidFill>
                <a:latin typeface="Cambria" pitchFamily="34" charset="0"/>
                <a:ea typeface="Cambria" pitchFamily="34" charset="-122"/>
                <a:cs typeface="Cambria" pitchFamily="34" charset="-120"/>
              </a:rPr>
              <a:t>Discussion</a:t>
            </a:r>
            <a:endParaRPr lang="en-US" sz="2100" dirty="0"/>
          </a:p>
        </p:txBody>
      </p:sp>
      <p:sp>
        <p:nvSpPr>
          <p:cNvPr id="15" name="Text 13"/>
          <p:cNvSpPr/>
          <p:nvPr/>
        </p:nvSpPr>
        <p:spPr>
          <a:xfrm>
            <a:off x="8778240" y="3977640"/>
            <a:ext cx="2651760" cy="1371600"/>
          </a:xfrm>
          <a:prstGeom prst="rect">
            <a:avLst/>
          </a:prstGeom>
          <a:noFill/>
          <a:ln/>
        </p:spPr>
        <p:txBody>
          <a:bodyPr wrap="square" rtlCol="0" anchor="t">
            <a:spAutoFit/>
          </a:bodyPr>
          <a:lstStyle/>
          <a:p>
            <a:pPr indent="0" marL="0">
              <a:lnSpc>
                <a:spcPct val="115000"/>
              </a:lnSpc>
              <a:buNone/>
            </a:pPr>
            <a:r>
              <a:rPr lang="en-US" sz="1500" dirty="0">
                <a:solidFill>
                  <a:srgbClr val="1A1A1A"/>
                </a:solidFill>
                <a:latin typeface="Calibri" pitchFamily="34" charset="0"/>
                <a:ea typeface="Calibri" pitchFamily="34" charset="-122"/>
                <a:cs typeface="Calibri" pitchFamily="34" charset="-120"/>
              </a:rPr>
              <a:t>Interrogate the study, debate it, or critique each other's work.</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The session</a:t>
            </a:r>
            <a:endParaRPr lang="en-US" sz="3000" dirty="0"/>
          </a:p>
        </p:txBody>
      </p:sp>
      <p:sp>
        <p:nvSpPr>
          <p:cNvPr id="3" name="Shape 1"/>
          <p:cNvSpPr/>
          <p:nvPr/>
        </p:nvSpPr>
        <p:spPr>
          <a:xfrm>
            <a:off x="640080" y="1572768"/>
            <a:ext cx="868680" cy="457200"/>
          </a:xfrm>
          <a:prstGeom prst="roundRect">
            <a:avLst>
              <a:gd name="adj" fmla="val 12000"/>
            </a:avLst>
          </a:prstGeom>
          <a:solidFill>
            <a:srgbClr val="7A3B2E"/>
          </a:solidFill>
          <a:ln/>
        </p:spPr>
      </p:sp>
      <p:sp>
        <p:nvSpPr>
          <p:cNvPr id="4" name="Text 2"/>
          <p:cNvSpPr/>
          <p:nvPr/>
        </p:nvSpPr>
        <p:spPr>
          <a:xfrm>
            <a:off x="640080" y="1572768"/>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0:00</a:t>
            </a:r>
            <a:endParaRPr lang="en-US" sz="1100" dirty="0"/>
          </a:p>
        </p:txBody>
      </p:sp>
      <p:sp>
        <p:nvSpPr>
          <p:cNvPr id="5" name="Text 3"/>
          <p:cNvSpPr/>
          <p:nvPr/>
        </p:nvSpPr>
        <p:spPr>
          <a:xfrm>
            <a:off x="1691640" y="1554480"/>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Warm-up + Look at This, room names the choice first: the embeddings debate.</a:t>
            </a:r>
            <a:endParaRPr lang="en-US" sz="1250" dirty="0"/>
          </a:p>
        </p:txBody>
      </p:sp>
      <p:sp>
        <p:nvSpPr>
          <p:cNvPr id="6" name="Shape 4"/>
          <p:cNvSpPr/>
          <p:nvPr/>
        </p:nvSpPr>
        <p:spPr>
          <a:xfrm>
            <a:off x="640080" y="2139696"/>
            <a:ext cx="868680" cy="457200"/>
          </a:xfrm>
          <a:prstGeom prst="roundRect">
            <a:avLst>
              <a:gd name="adj" fmla="val 12000"/>
            </a:avLst>
          </a:prstGeom>
          <a:solidFill>
            <a:srgbClr val="7A3B2E"/>
          </a:solidFill>
          <a:ln/>
        </p:spPr>
      </p:sp>
      <p:sp>
        <p:nvSpPr>
          <p:cNvPr id="7" name="Text 5"/>
          <p:cNvSpPr/>
          <p:nvPr/>
        </p:nvSpPr>
        <p:spPr>
          <a:xfrm>
            <a:off x="640080" y="2139696"/>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0:10</a:t>
            </a:r>
            <a:endParaRPr lang="en-US" sz="1100" dirty="0"/>
          </a:p>
        </p:txBody>
      </p:sp>
      <p:sp>
        <p:nvSpPr>
          <p:cNvPr id="8" name="Text 6"/>
          <p:cNvSpPr/>
          <p:nvPr/>
        </p:nvSpPr>
        <p:spPr>
          <a:xfrm>
            <a:off x="1691640" y="2121408"/>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The beyond-counting moment: put Week 2 beside today. There you counted the words around an axis you care about; now embed them and watch them cluster. Run it on something the room enjoys, a beloved artist's songs sorted by mood and era, and groupings appear that counting couldn't see. Same question, two tools, the second visibly richer. Name the idea: an item becomes a vector, position learned from the company it keeps.</a:t>
            </a:r>
            <a:endParaRPr lang="en-US" sz="1250" dirty="0"/>
          </a:p>
        </p:txBody>
      </p:sp>
      <p:sp>
        <p:nvSpPr>
          <p:cNvPr id="9" name="Shape 7"/>
          <p:cNvSpPr/>
          <p:nvPr/>
        </p:nvSpPr>
        <p:spPr>
          <a:xfrm>
            <a:off x="640080" y="2706624"/>
            <a:ext cx="868680" cy="457200"/>
          </a:xfrm>
          <a:prstGeom prst="roundRect">
            <a:avLst>
              <a:gd name="adj" fmla="val 12000"/>
            </a:avLst>
          </a:prstGeom>
          <a:solidFill>
            <a:srgbClr val="7A3B2E"/>
          </a:solidFill>
          <a:ln/>
        </p:spPr>
      </p:sp>
      <p:sp>
        <p:nvSpPr>
          <p:cNvPr id="10" name="Text 8"/>
          <p:cNvSpPr/>
          <p:nvPr/>
        </p:nvSpPr>
        <p:spPr>
          <a:xfrm>
            <a:off x="640080" y="2706624"/>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0:25</a:t>
            </a:r>
            <a:endParaRPr lang="en-US" sz="1100" dirty="0"/>
          </a:p>
        </p:txBody>
      </p:sp>
      <p:sp>
        <p:nvSpPr>
          <p:cNvPr id="11" name="Text 9"/>
          <p:cNvSpPr/>
          <p:nvPr/>
        </p:nvSpPr>
        <p:spPr>
          <a:xfrm>
            <a:off x="1691640" y="2688336"/>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Embed your own corpus, text or images. Image projects embed their pictures and watch them group by untagged style. The embedding model is an open one from Hugging Face, the hub where open models live (the same place Week 8's period models come from). And here charts stop being neutral: switch PCA to t-SNE and the same data rearranges. A visualization is an argument with decisions baked in.</a:t>
            </a:r>
            <a:endParaRPr lang="en-US" sz="1250" dirty="0"/>
          </a:p>
        </p:txBody>
      </p:sp>
      <p:sp>
        <p:nvSpPr>
          <p:cNvPr id="12" name="Shape 10"/>
          <p:cNvSpPr/>
          <p:nvPr/>
        </p:nvSpPr>
        <p:spPr>
          <a:xfrm>
            <a:off x="640080" y="3273552"/>
            <a:ext cx="868680" cy="457200"/>
          </a:xfrm>
          <a:prstGeom prst="roundRect">
            <a:avLst>
              <a:gd name="adj" fmla="val 12000"/>
            </a:avLst>
          </a:prstGeom>
          <a:solidFill>
            <a:srgbClr val="7A3B2E"/>
          </a:solidFill>
          <a:ln/>
        </p:spPr>
      </p:sp>
      <p:sp>
        <p:nvSpPr>
          <p:cNvPr id="13" name="Text 11"/>
          <p:cNvSpPr/>
          <p:nvPr/>
        </p:nvSpPr>
        <p:spPr>
          <a:xfrm>
            <a:off x="640080" y="3273552"/>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0:55</a:t>
            </a:r>
            <a:endParaRPr lang="en-US" sz="1100" dirty="0"/>
          </a:p>
        </p:txBody>
      </p:sp>
      <p:sp>
        <p:nvSpPr>
          <p:cNvPr id="14" name="Text 12"/>
          <p:cNvSpPr/>
          <p:nvPr/>
        </p:nvSpPr>
        <p:spPr>
          <a:xfrm>
            <a:off x="1691640" y="3255264"/>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Break</a:t>
            </a:r>
            <a:endParaRPr lang="en-US" sz="1250" dirty="0"/>
          </a:p>
        </p:txBody>
      </p:sp>
      <p:sp>
        <p:nvSpPr>
          <p:cNvPr id="15" name="Shape 13"/>
          <p:cNvSpPr/>
          <p:nvPr/>
        </p:nvSpPr>
        <p:spPr>
          <a:xfrm>
            <a:off x="640080" y="3840480"/>
            <a:ext cx="868680" cy="457200"/>
          </a:xfrm>
          <a:prstGeom prst="roundRect">
            <a:avLst>
              <a:gd name="adj" fmla="val 12000"/>
            </a:avLst>
          </a:prstGeom>
          <a:solidFill>
            <a:srgbClr val="7A3B2E"/>
          </a:solidFill>
          <a:ln/>
        </p:spPr>
      </p:sp>
      <p:sp>
        <p:nvSpPr>
          <p:cNvPr id="16" name="Text 14"/>
          <p:cNvSpPr/>
          <p:nvPr/>
        </p:nvSpPr>
        <p:spPr>
          <a:xfrm>
            <a:off x="640080" y="3840480"/>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1:05</a:t>
            </a:r>
            <a:endParaRPr lang="en-US" sz="1100" dirty="0"/>
          </a:p>
        </p:txBody>
      </p:sp>
      <p:sp>
        <p:nvSpPr>
          <p:cNvPr id="17" name="Text 15"/>
          <p:cNvSpPr/>
          <p:nvPr/>
        </p:nvSpPr>
        <p:spPr>
          <a:xfrm>
            <a:off x="1691640" y="3822192"/>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Project lab: extend your embeddings and look for unexpected clusters. A five-minute aside on recommenders: "For You" is this same map plus your history. One-on-ones begin at the side.</a:t>
            </a:r>
            <a:endParaRPr lang="en-US" sz="1250" dirty="0"/>
          </a:p>
        </p:txBody>
      </p:sp>
      <p:sp>
        <p:nvSpPr>
          <p:cNvPr id="18" name="Shape 16"/>
          <p:cNvSpPr/>
          <p:nvPr/>
        </p:nvSpPr>
        <p:spPr>
          <a:xfrm>
            <a:off x="640080" y="4407408"/>
            <a:ext cx="868680" cy="457200"/>
          </a:xfrm>
          <a:prstGeom prst="roundRect">
            <a:avLst>
              <a:gd name="adj" fmla="val 12000"/>
            </a:avLst>
          </a:prstGeom>
          <a:solidFill>
            <a:srgbClr val="7A3B2E"/>
          </a:solidFill>
          <a:ln/>
        </p:spPr>
      </p:sp>
      <p:sp>
        <p:nvSpPr>
          <p:cNvPr id="19" name="Text 17"/>
          <p:cNvSpPr/>
          <p:nvPr/>
        </p:nvSpPr>
        <p:spPr>
          <a:xfrm>
            <a:off x="640080" y="4407408"/>
            <a:ext cx="86868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1:50</a:t>
            </a:r>
            <a:endParaRPr lang="en-US" sz="1100" dirty="0"/>
          </a:p>
        </p:txBody>
      </p:sp>
      <p:sp>
        <p:nvSpPr>
          <p:cNvPr id="20" name="Text 18"/>
          <p:cNvSpPr/>
          <p:nvPr/>
        </p:nvSpPr>
        <p:spPr>
          <a:xfrm>
            <a:off x="1691640" y="4389120"/>
            <a:ext cx="9646920" cy="566928"/>
          </a:xfrm>
          <a:prstGeom prst="rect">
            <a:avLst/>
          </a:prstGeom>
          <a:noFill/>
          <a:ln/>
        </p:spPr>
        <p:txBody>
          <a:bodyPr wrap="square" rtlCol="0" anchor="ctr">
            <a:spAutoFit/>
          </a:bodyPr>
          <a:lstStyle/>
          <a:p>
            <a:pPr indent="0" marL="0">
              <a:buNone/>
            </a:pPr>
            <a:r>
              <a:rPr lang="en-US" sz="1250" dirty="0">
                <a:solidFill>
                  <a:srgbClr val="1A1A1A"/>
                </a:solidFill>
                <a:latin typeface="Calibri" pitchFamily="34" charset="0"/>
                <a:ea typeface="Calibri" pitchFamily="34" charset="-122"/>
                <a:cs typeface="Calibri" pitchFamily="34" charset="-120"/>
              </a:rPr>
              <a:t>Gemini-free check and check-out.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731520"/>
          </a:xfrm>
          <a:prstGeom prst="rect">
            <a:avLst/>
          </a:prstGeom>
          <a:noFill/>
          <a:ln/>
        </p:spPr>
        <p:txBody>
          <a:bodyPr wrap="square" rtlCol="0" anchor="ctr"/>
          <a:lstStyle/>
          <a:p>
            <a:pPr indent="0" marL="0">
              <a:buNone/>
            </a:pPr>
            <a:r>
              <a:rPr lang="en-US" sz="3000" b="1" dirty="0">
                <a:solidFill>
                  <a:srgbClr val="1A1A1A"/>
                </a:solidFill>
                <a:latin typeface="Cambria" pitchFamily="34" charset="0"/>
                <a:ea typeface="Cambria" pitchFamily="34" charset="-122"/>
                <a:cs typeface="Cambria" pitchFamily="34" charset="-120"/>
              </a:rPr>
              <a:t>Reading &amp; homework</a:t>
            </a:r>
            <a:endParaRPr lang="en-US" sz="3000" dirty="0"/>
          </a:p>
        </p:txBody>
      </p:sp>
      <p:sp>
        <p:nvSpPr>
          <p:cNvPr id="3" name="Shape 1"/>
          <p:cNvSpPr/>
          <p:nvPr/>
        </p:nvSpPr>
        <p:spPr>
          <a:xfrm>
            <a:off x="640080" y="1673352"/>
            <a:ext cx="219456" cy="219456"/>
          </a:xfrm>
          <a:prstGeom prst="ellipse">
            <a:avLst/>
          </a:prstGeom>
          <a:solidFill>
            <a:srgbClr val="7A3B2E"/>
          </a:solidFill>
          <a:ln/>
        </p:spPr>
      </p:sp>
      <p:sp>
        <p:nvSpPr>
          <p:cNvPr id="4" name="Text 2"/>
          <p:cNvSpPr/>
          <p:nvPr/>
        </p:nvSpPr>
        <p:spPr>
          <a:xfrm>
            <a:off x="1051560" y="1600200"/>
            <a:ext cx="10424160" cy="365760"/>
          </a:xfrm>
          <a:prstGeom prst="rect">
            <a:avLst/>
          </a:prstGeom>
          <a:noFill/>
          <a:ln/>
        </p:spPr>
        <p:txBody>
          <a:bodyPr wrap="square" rtlCol="0" anchor="ctr"/>
          <a:lstStyle/>
          <a:p>
            <a:pPr indent="0" marL="0">
              <a:buNone/>
            </a:pPr>
            <a:r>
              <a:rPr lang="en-US" sz="1500" b="1" dirty="0">
                <a:solidFill>
                  <a:srgbClr val="7A3B2E"/>
                </a:solidFill>
                <a:latin typeface="Calibri" pitchFamily="34" charset="0"/>
                <a:ea typeface="Calibri" pitchFamily="34" charset="-122"/>
                <a:cs typeface="Calibri" pitchFamily="34" charset="-120"/>
              </a:rPr>
              <a:t>Reading</a:t>
            </a:r>
            <a:endParaRPr lang="en-US" sz="1500" dirty="0"/>
          </a:p>
        </p:txBody>
      </p:sp>
      <p:sp>
        <p:nvSpPr>
          <p:cNvPr id="5" name="Text 3"/>
          <p:cNvSpPr/>
          <p:nvPr/>
        </p:nvSpPr>
        <p:spPr>
          <a:xfrm>
            <a:off x="1051560" y="198424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Kozlowski, Taddy &amp;amp; Evans, The Geometry of Culture (2019): the argument that directions in an embedding space are cultural findings rather than artifacts</a:t>
            </a:r>
            <a:endParaRPr lang="en-US" sz="1400" dirty="0"/>
          </a:p>
        </p:txBody>
      </p:sp>
      <p:sp>
        <p:nvSpPr>
          <p:cNvPr id="6" name="Shape 4"/>
          <p:cNvSpPr/>
          <p:nvPr/>
        </p:nvSpPr>
        <p:spPr>
          <a:xfrm>
            <a:off x="640080" y="2633472"/>
            <a:ext cx="219456" cy="219456"/>
          </a:xfrm>
          <a:prstGeom prst="ellipse">
            <a:avLst/>
          </a:prstGeom>
          <a:solidFill>
            <a:srgbClr val="3F6F5F"/>
          </a:solidFill>
          <a:ln/>
        </p:spPr>
      </p:sp>
      <p:sp>
        <p:nvSpPr>
          <p:cNvPr id="7" name="Text 5"/>
          <p:cNvSpPr/>
          <p:nvPr/>
        </p:nvSpPr>
        <p:spPr>
          <a:xfrm>
            <a:off x="1051560" y="2560320"/>
            <a:ext cx="10424160" cy="365760"/>
          </a:xfrm>
          <a:prstGeom prst="rect">
            <a:avLst/>
          </a:prstGeom>
          <a:noFill/>
          <a:ln/>
        </p:spPr>
        <p:txBody>
          <a:bodyPr wrap="square" rtlCol="0" anchor="ctr"/>
          <a:lstStyle/>
          <a:p>
            <a:pPr indent="0" marL="0">
              <a:buNone/>
            </a:pPr>
            <a:r>
              <a:rPr lang="en-US" sz="1500" b="1" dirty="0">
                <a:solidFill>
                  <a:srgbClr val="3F6F5F"/>
                </a:solidFill>
                <a:latin typeface="Calibri" pitchFamily="34" charset="0"/>
                <a:ea typeface="Calibri" pitchFamily="34" charset="-122"/>
                <a:cs typeface="Calibri" pitchFamily="34" charset="-120"/>
              </a:rPr>
              <a:t>Supplement</a:t>
            </a:r>
            <a:endParaRPr lang="en-US" sz="1500" dirty="0"/>
          </a:p>
        </p:txBody>
      </p:sp>
      <p:sp>
        <p:nvSpPr>
          <p:cNvPr id="8" name="Text 6"/>
          <p:cNvSpPr/>
          <p:nvPr/>
        </p:nvSpPr>
        <p:spPr>
          <a:xfrm>
            <a:off x="1051560" y="294436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The debates, for the curious: Bolukbasi et al. (2016) on the same geometry; Caliskan et al. (2017) vs. Soni/Klein, How Words Lead to Justice; Anderson et al., Spotify diversity</a:t>
            </a:r>
            <a:endParaRPr lang="en-US" sz="1400" dirty="0"/>
          </a:p>
        </p:txBody>
      </p:sp>
      <p:sp>
        <p:nvSpPr>
          <p:cNvPr id="9" name="Shape 7"/>
          <p:cNvSpPr/>
          <p:nvPr/>
        </p:nvSpPr>
        <p:spPr>
          <a:xfrm>
            <a:off x="640080" y="3593592"/>
            <a:ext cx="219456" cy="219456"/>
          </a:xfrm>
          <a:prstGeom prst="ellipse">
            <a:avLst/>
          </a:prstGeom>
          <a:solidFill>
            <a:srgbClr val="B9852F"/>
          </a:solidFill>
          <a:ln/>
        </p:spPr>
      </p:sp>
      <p:sp>
        <p:nvSpPr>
          <p:cNvPr id="10" name="Text 8"/>
          <p:cNvSpPr/>
          <p:nvPr/>
        </p:nvSpPr>
        <p:spPr>
          <a:xfrm>
            <a:off x="1051560" y="3520440"/>
            <a:ext cx="10424160" cy="365760"/>
          </a:xfrm>
          <a:prstGeom prst="rect">
            <a:avLst/>
          </a:prstGeom>
          <a:noFill/>
          <a:ln/>
        </p:spPr>
        <p:txBody>
          <a:bodyPr wrap="square" rtlCol="0" anchor="ctr"/>
          <a:lstStyle/>
          <a:p>
            <a:pPr indent="0" marL="0">
              <a:buNone/>
            </a:pPr>
            <a:r>
              <a:rPr lang="en-US" sz="1500" b="1" dirty="0">
                <a:solidFill>
                  <a:srgbClr val="B9852F"/>
                </a:solidFill>
                <a:latin typeface="Calibri" pitchFamily="34" charset="0"/>
                <a:ea typeface="Calibri" pitchFamily="34" charset="-122"/>
                <a:cs typeface="Calibri" pitchFamily="34" charset="-120"/>
              </a:rPr>
              <a:t>Deeper (optional)</a:t>
            </a:r>
            <a:endParaRPr lang="en-US" sz="1500" dirty="0"/>
          </a:p>
        </p:txBody>
      </p:sp>
      <p:sp>
        <p:nvSpPr>
          <p:cNvPr id="11" name="Text 9"/>
          <p:cNvSpPr/>
          <p:nvPr/>
        </p:nvSpPr>
        <p:spPr>
          <a:xfrm>
            <a:off x="1051560" y="390448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Wattenberg, Vi&amp;eacute;gas &amp;amp; Johnson, How to Use t-SNE Effectively (Distill 2016), before you believe any cluster you see</a:t>
            </a:r>
            <a:endParaRPr lang="en-US" sz="1400" dirty="0"/>
          </a:p>
        </p:txBody>
      </p:sp>
      <p:sp>
        <p:nvSpPr>
          <p:cNvPr id="12" name="Shape 10"/>
          <p:cNvSpPr/>
          <p:nvPr/>
        </p:nvSpPr>
        <p:spPr>
          <a:xfrm>
            <a:off x="640080" y="4553712"/>
            <a:ext cx="219456" cy="219456"/>
          </a:xfrm>
          <a:prstGeom prst="ellipse">
            <a:avLst/>
          </a:prstGeom>
          <a:solidFill>
            <a:srgbClr val="3F6F5F"/>
          </a:solidFill>
          <a:ln/>
        </p:spPr>
      </p:sp>
      <p:sp>
        <p:nvSpPr>
          <p:cNvPr id="13" name="Text 11"/>
          <p:cNvSpPr/>
          <p:nvPr/>
        </p:nvSpPr>
        <p:spPr>
          <a:xfrm>
            <a:off x="1051560" y="4480560"/>
            <a:ext cx="10424160" cy="365760"/>
          </a:xfrm>
          <a:prstGeom prst="rect">
            <a:avLst/>
          </a:prstGeom>
          <a:noFill/>
          <a:ln/>
        </p:spPr>
        <p:txBody>
          <a:bodyPr wrap="square" rtlCol="0" anchor="ctr"/>
          <a:lstStyle/>
          <a:p>
            <a:pPr indent="0" marL="0">
              <a:buNone/>
            </a:pPr>
            <a:r>
              <a:rPr lang="en-US" sz="1500" b="1" dirty="0">
                <a:solidFill>
                  <a:srgbClr val="3F6F5F"/>
                </a:solidFill>
                <a:latin typeface="Calibri" pitchFamily="34" charset="0"/>
                <a:ea typeface="Calibri" pitchFamily="34" charset="-122"/>
                <a:cs typeface="Calibri" pitchFamily="34" charset="-120"/>
              </a:rPr>
              <a:t>Sketch</a:t>
            </a:r>
            <a:endParaRPr lang="en-US" sz="1500" dirty="0"/>
          </a:p>
        </p:txBody>
      </p:sp>
      <p:sp>
        <p:nvSpPr>
          <p:cNvPr id="14" name="Text 12"/>
          <p:cNvSpPr/>
          <p:nvPr/>
        </p:nvSpPr>
        <p:spPr>
          <a:xfrm>
            <a:off x="1051560" y="486460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Toggle PCA vs. t-SNE and screenshot how the map changes; name one cluster you believe and one you don't.</a:t>
            </a:r>
            <a:endParaRPr lang="en-US" sz="1400" dirty="0"/>
          </a:p>
        </p:txBody>
      </p:sp>
      <p:sp>
        <p:nvSpPr>
          <p:cNvPr id="15" name="Shape 13"/>
          <p:cNvSpPr/>
          <p:nvPr/>
        </p:nvSpPr>
        <p:spPr>
          <a:xfrm>
            <a:off x="640080" y="5513832"/>
            <a:ext cx="219456" cy="219456"/>
          </a:xfrm>
          <a:prstGeom prst="ellipse">
            <a:avLst/>
          </a:prstGeom>
          <a:solidFill>
            <a:srgbClr val="7A3B2E"/>
          </a:solidFill>
          <a:ln/>
        </p:spPr>
      </p:sp>
      <p:sp>
        <p:nvSpPr>
          <p:cNvPr id="16" name="Text 14"/>
          <p:cNvSpPr/>
          <p:nvPr/>
        </p:nvSpPr>
        <p:spPr>
          <a:xfrm>
            <a:off x="1051560" y="5440680"/>
            <a:ext cx="10424160" cy="365760"/>
          </a:xfrm>
          <a:prstGeom prst="rect">
            <a:avLst/>
          </a:prstGeom>
          <a:noFill/>
          <a:ln/>
        </p:spPr>
        <p:txBody>
          <a:bodyPr wrap="square" rtlCol="0" anchor="ctr"/>
          <a:lstStyle/>
          <a:p>
            <a:pPr indent="0" marL="0">
              <a:buNone/>
            </a:pPr>
            <a:r>
              <a:rPr lang="en-US" sz="1500" b="1" dirty="0">
                <a:solidFill>
                  <a:srgbClr val="7A3B2E"/>
                </a:solidFill>
                <a:latin typeface="Calibri" pitchFamily="34" charset="0"/>
                <a:ea typeface="Calibri" pitchFamily="34" charset="-122"/>
                <a:cs typeface="Calibri" pitchFamily="34" charset="-120"/>
              </a:rPr>
              <a:t>Check (AI closed)</a:t>
            </a:r>
            <a:endParaRPr lang="en-US" sz="1500" dirty="0"/>
          </a:p>
        </p:txBody>
      </p:sp>
      <p:sp>
        <p:nvSpPr>
          <p:cNvPr id="17" name="Text 15"/>
          <p:cNvSpPr/>
          <p:nvPr/>
        </p:nvSpPr>
        <p:spPr>
          <a:xfrm>
            <a:off x="1051560" y="5824728"/>
            <a:ext cx="10424160" cy="731520"/>
          </a:xfrm>
          <a:prstGeom prst="rect">
            <a:avLst/>
          </a:prstGeom>
          <a:noFill/>
          <a:ln/>
        </p:spPr>
        <p:txBody>
          <a:bodyPr wrap="square" rtlCol="0" anchor="t">
            <a:spAutoFit/>
          </a:bodyPr>
          <a:lstStyle/>
          <a:p>
            <a:pPr indent="0" marL="0">
              <a:buNone/>
            </a:pPr>
            <a:r>
              <a:rPr lang="en-US" sz="1400" dirty="0">
                <a:solidFill>
                  <a:srgbClr val="1A1A1A"/>
                </a:solidFill>
                <a:latin typeface="Calibri" pitchFamily="34" charset="0"/>
                <a:ea typeface="Calibri" pitchFamily="34" charset="-122"/>
                <a:cs typeface="Calibri" pitchFamily="34" charset="-120"/>
              </a:rPr>
              <a:t>Explain it: on your map, name one cluster you believe is real and one that's probably a projection artifact, and how you'd tell. (Competency 4.)</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10058400" cy="320040"/>
          </a:xfrm>
          <a:prstGeom prst="rect">
            <a:avLst/>
          </a:prstGeom>
          <a:noFill/>
          <a:ln/>
        </p:spPr>
        <p:txBody>
          <a:bodyPr wrap="square" rtlCol="0" anchor="ctr"/>
          <a:lstStyle/>
          <a:p>
            <a:pPr indent="0" marL="0">
              <a:buNone/>
            </a:pPr>
            <a:r>
              <a:rPr lang="en-US" sz="1300" b="1" spc="300" kern="0" dirty="0">
                <a:solidFill>
                  <a:srgbClr val="7A3B2E"/>
                </a:solidFill>
                <a:latin typeface="Calibri" pitchFamily="34" charset="0"/>
                <a:ea typeface="Calibri" pitchFamily="34" charset="-122"/>
                <a:cs typeface="Calibri" pitchFamily="34" charset="-120"/>
              </a:rPr>
              <a:t>HOW THIS WEEK CONNECTS</a:t>
            </a:r>
            <a:endParaRPr lang="en-US" sz="1300" dirty="0"/>
          </a:p>
        </p:txBody>
      </p:sp>
      <p:sp>
        <p:nvSpPr>
          <p:cNvPr id="3" name="Text 1"/>
          <p:cNvSpPr/>
          <p:nvPr/>
        </p:nvSpPr>
        <p:spPr>
          <a:xfrm>
            <a:off x="640080" y="987552"/>
            <a:ext cx="10058400" cy="640080"/>
          </a:xfrm>
          <a:prstGeom prst="rect">
            <a:avLst/>
          </a:prstGeom>
          <a:noFill/>
          <a:ln/>
        </p:spPr>
        <p:txBody>
          <a:bodyPr wrap="square" rtlCol="0" anchor="ctr"/>
          <a:lstStyle/>
          <a:p>
            <a:pPr indent="0" marL="0">
              <a:buNone/>
            </a:pPr>
            <a:r>
              <a:rPr lang="en-US" sz="2800" b="1" dirty="0">
                <a:solidFill>
                  <a:srgbClr val="1A1A1A"/>
                </a:solidFill>
                <a:latin typeface="Cambria" pitchFamily="34" charset="0"/>
                <a:ea typeface="Cambria" pitchFamily="34" charset="-122"/>
                <a:cs typeface="Cambria" pitchFamily="34" charset="-120"/>
              </a:rPr>
              <a:t>The course's through-lines</a:t>
            </a:r>
            <a:endParaRPr lang="en-US" sz="2800" dirty="0"/>
          </a:p>
        </p:txBody>
      </p:sp>
      <p:sp>
        <p:nvSpPr>
          <p:cNvPr id="4" name="Shape 2"/>
          <p:cNvSpPr/>
          <p:nvPr/>
        </p:nvSpPr>
        <p:spPr>
          <a:xfrm>
            <a:off x="640080" y="2057400"/>
            <a:ext cx="457200" cy="457200"/>
          </a:xfrm>
          <a:prstGeom prst="roundRect">
            <a:avLst>
              <a:gd name="adj" fmla="val 16000"/>
            </a:avLst>
          </a:prstGeom>
          <a:solidFill>
            <a:srgbClr val="7A3B2E"/>
          </a:solidFill>
          <a:ln/>
        </p:spPr>
      </p:sp>
      <p:sp>
        <p:nvSpPr>
          <p:cNvPr id="5" name="Text 3"/>
          <p:cNvSpPr/>
          <p:nvPr/>
        </p:nvSpPr>
        <p:spPr>
          <a:xfrm>
            <a:off x="640080" y="205740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71600" y="2020824"/>
            <a:ext cx="10332720" cy="411480"/>
          </a:xfrm>
          <a:prstGeom prst="rect">
            <a:avLst/>
          </a:prstGeom>
          <a:noFill/>
          <a:ln/>
        </p:spPr>
        <p:txBody>
          <a:bodyPr wrap="square" rtlCol="0" anchor="ctr"/>
          <a:lstStyle/>
          <a:p>
            <a:pPr indent="0" marL="0">
              <a:buNone/>
            </a:pPr>
            <a:r>
              <a:rPr lang="en-US" sz="1900" b="1" dirty="0">
                <a:solidFill>
                  <a:srgbClr val="7A3B2E"/>
                </a:solidFill>
                <a:latin typeface="Cambria" pitchFamily="34" charset="0"/>
                <a:ea typeface="Cambria" pitchFamily="34" charset="-122"/>
                <a:cs typeface="Cambria" pitchFamily="34" charset="-120"/>
              </a:rPr>
              <a:t>Beyond counting (the payoff)</a:t>
            </a:r>
            <a:endParaRPr lang="en-US" sz="1900" dirty="0"/>
          </a:p>
        </p:txBody>
      </p:sp>
      <p:sp>
        <p:nvSpPr>
          <p:cNvPr id="7" name="Text 5"/>
          <p:cNvSpPr/>
          <p:nvPr/>
        </p:nvSpPr>
        <p:spPr>
          <a:xfrm>
            <a:off x="1371600" y="244144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The same counting question from Week 2, now embedded: clusters counting could not see.</a:t>
            </a:r>
            <a:endParaRPr lang="en-US" sz="1450" dirty="0"/>
          </a:p>
        </p:txBody>
      </p:sp>
      <p:sp>
        <p:nvSpPr>
          <p:cNvPr id="8" name="Shape 6"/>
          <p:cNvSpPr/>
          <p:nvPr/>
        </p:nvSpPr>
        <p:spPr>
          <a:xfrm>
            <a:off x="640080" y="3520440"/>
            <a:ext cx="457200" cy="457200"/>
          </a:xfrm>
          <a:prstGeom prst="roundRect">
            <a:avLst>
              <a:gd name="adj" fmla="val 16000"/>
            </a:avLst>
          </a:prstGeom>
          <a:solidFill>
            <a:srgbClr val="3F6F5F"/>
          </a:solidFill>
          <a:ln/>
        </p:spPr>
      </p:sp>
      <p:sp>
        <p:nvSpPr>
          <p:cNvPr id="9" name="Text 7"/>
          <p:cNvSpPr/>
          <p:nvPr/>
        </p:nvSpPr>
        <p:spPr>
          <a:xfrm>
            <a:off x="640080" y="352044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371600" y="3483864"/>
            <a:ext cx="10332720" cy="411480"/>
          </a:xfrm>
          <a:prstGeom prst="rect">
            <a:avLst/>
          </a:prstGeom>
          <a:noFill/>
          <a:ln/>
        </p:spPr>
        <p:txBody>
          <a:bodyPr wrap="square" rtlCol="0" anchor="ctr"/>
          <a:lstStyle/>
          <a:p>
            <a:pPr indent="0" marL="0">
              <a:buNone/>
            </a:pPr>
            <a:r>
              <a:rPr lang="en-US" sz="1900" b="1" dirty="0">
                <a:solidFill>
                  <a:srgbClr val="3F6F5F"/>
                </a:solidFill>
                <a:latin typeface="Cambria" pitchFamily="34" charset="0"/>
                <a:ea typeface="Cambria" pitchFamily="34" charset="-122"/>
                <a:cs typeface="Cambria" pitchFamily="34" charset="-120"/>
              </a:rPr>
              <a:t>Every chart is a choice</a:t>
            </a:r>
            <a:endParaRPr lang="en-US" sz="1900" dirty="0"/>
          </a:p>
        </p:txBody>
      </p:sp>
      <p:sp>
        <p:nvSpPr>
          <p:cNvPr id="11" name="Text 9"/>
          <p:cNvSpPr/>
          <p:nvPr/>
        </p:nvSpPr>
        <p:spPr>
          <a:xfrm>
            <a:off x="1371600" y="390448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PCA vs t-SNE rearranges the same data; the picture made a decision.</a:t>
            </a:r>
            <a:endParaRPr lang="en-US" sz="1450" dirty="0"/>
          </a:p>
        </p:txBody>
      </p:sp>
      <p:sp>
        <p:nvSpPr>
          <p:cNvPr id="12" name="Shape 10"/>
          <p:cNvSpPr/>
          <p:nvPr/>
        </p:nvSpPr>
        <p:spPr>
          <a:xfrm>
            <a:off x="640080" y="4983480"/>
            <a:ext cx="457200" cy="457200"/>
          </a:xfrm>
          <a:prstGeom prst="roundRect">
            <a:avLst>
              <a:gd name="adj" fmla="val 16000"/>
            </a:avLst>
          </a:prstGeom>
          <a:solidFill>
            <a:srgbClr val="B9852F"/>
          </a:solidFill>
          <a:ln/>
        </p:spPr>
      </p:sp>
      <p:sp>
        <p:nvSpPr>
          <p:cNvPr id="13" name="Text 11"/>
          <p:cNvSpPr/>
          <p:nvPr/>
        </p:nvSpPr>
        <p:spPr>
          <a:xfrm>
            <a:off x="640080" y="4983480"/>
            <a:ext cx="457200" cy="45720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371600" y="4946904"/>
            <a:ext cx="10332720" cy="411480"/>
          </a:xfrm>
          <a:prstGeom prst="rect">
            <a:avLst/>
          </a:prstGeom>
          <a:noFill/>
          <a:ln/>
        </p:spPr>
        <p:txBody>
          <a:bodyPr wrap="square" rtlCol="0" anchor="ctr"/>
          <a:lstStyle/>
          <a:p>
            <a:pPr indent="0" marL="0">
              <a:buNone/>
            </a:pPr>
            <a:r>
              <a:rPr lang="en-US" sz="1900" b="1" dirty="0">
                <a:solidFill>
                  <a:srgbClr val="B9852F"/>
                </a:solidFill>
                <a:latin typeface="Cambria" pitchFamily="34" charset="0"/>
                <a:ea typeface="Cambria" pitchFamily="34" charset="-122"/>
                <a:cs typeface="Cambria" pitchFamily="34" charset="-120"/>
              </a:rPr>
              <a:t>Whose data</a:t>
            </a:r>
            <a:endParaRPr lang="en-US" sz="1900" dirty="0"/>
          </a:p>
        </p:txBody>
      </p:sp>
      <p:sp>
        <p:nvSpPr>
          <p:cNvPr id="15" name="Text 13"/>
          <p:cNvSpPr/>
          <p:nvPr/>
        </p:nvSpPr>
        <p:spPr>
          <a:xfrm>
            <a:off x="1371600" y="5367528"/>
            <a:ext cx="10332720" cy="914400"/>
          </a:xfrm>
          <a:prstGeom prst="rect">
            <a:avLst/>
          </a:prstGeom>
          <a:noFill/>
          <a:ln/>
        </p:spPr>
        <p:txBody>
          <a:bodyPr wrap="square" rtlCol="0" anchor="t">
            <a:spAutoFit/>
          </a:bodyPr>
          <a:lstStyle/>
          <a:p>
            <a:pPr indent="0" marL="0">
              <a:lnSpc>
                <a:spcPct val="112000"/>
              </a:lnSpc>
              <a:buNone/>
            </a:pPr>
            <a:r>
              <a:rPr lang="en-US" sz="1450" dirty="0">
                <a:solidFill>
                  <a:srgbClr val="1A1A1A"/>
                </a:solidFill>
                <a:latin typeface="Calibri" pitchFamily="34" charset="0"/>
                <a:ea typeface="Calibri" pitchFamily="34" charset="-122"/>
                <a:cs typeface="Calibri" pitchFamily="34" charset="-120"/>
              </a:rPr>
              <a:t>A direction found in the corpus: cultural discovery (Kozlowski) or encoded prejudice (Bolukbasi)?</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4E261D"/>
        </a:solidFill>
      </p:bgPr>
    </p:bg>
    <p:spTree>
      <p:nvGrpSpPr>
        <p:cNvPr id="1" name=""/>
        <p:cNvGrpSpPr/>
        <p:nvPr/>
      </p:nvGrpSpPr>
      <p:grpSpPr>
        <a:xfrm>
          <a:off x="0" y="0"/>
          <a:ext cx="0" cy="0"/>
          <a:chOff x="0" y="0"/>
          <a:chExt cx="0" cy="0"/>
        </a:xfrm>
      </p:grpSpPr>
      <p:sp>
        <p:nvSpPr>
          <p:cNvPr id="2" name="Text 0"/>
          <p:cNvSpPr/>
          <p:nvPr/>
        </p:nvSpPr>
        <p:spPr>
          <a:xfrm>
            <a:off x="640080" y="1005840"/>
            <a:ext cx="8229600" cy="320040"/>
          </a:xfrm>
          <a:prstGeom prst="rect">
            <a:avLst/>
          </a:prstGeom>
          <a:noFill/>
          <a:ln/>
        </p:spPr>
        <p:txBody>
          <a:bodyPr wrap="square" rtlCol="0" anchor="ctr"/>
          <a:lstStyle/>
          <a:p>
            <a:pPr indent="0" marL="0">
              <a:buNone/>
            </a:pPr>
            <a:r>
              <a:rPr lang="en-US" sz="1300" b="1" spc="300" kern="0" dirty="0">
                <a:solidFill>
                  <a:srgbClr val="B9852F"/>
                </a:solidFill>
                <a:latin typeface="Calibri" pitchFamily="34" charset="0"/>
                <a:ea typeface="Calibri" pitchFamily="34" charset="-122"/>
                <a:cs typeface="Calibri" pitchFamily="34" charset="-120"/>
              </a:rPr>
              <a:t>THE CHECK, AI CLOSED</a:t>
            </a:r>
            <a:endParaRPr lang="en-US" sz="1300" dirty="0"/>
          </a:p>
        </p:txBody>
      </p:sp>
      <p:sp>
        <p:nvSpPr>
          <p:cNvPr id="3" name="Text 1"/>
          <p:cNvSpPr/>
          <p:nvPr/>
        </p:nvSpPr>
        <p:spPr>
          <a:xfrm>
            <a:off x="640080" y="1645920"/>
            <a:ext cx="8686800" cy="3108960"/>
          </a:xfrm>
          <a:prstGeom prst="rect">
            <a:avLst/>
          </a:prstGeom>
          <a:noFill/>
          <a:ln/>
        </p:spPr>
        <p:txBody>
          <a:bodyPr wrap="square" rtlCol="0" anchor="t">
            <a:spAutoFit/>
          </a:bodyPr>
          <a:lstStyle/>
          <a:p>
            <a:pPr indent="0" marL="0">
              <a:lnSpc>
                <a:spcPct val="115000"/>
              </a:lnSpc>
              <a:buNone/>
            </a:pPr>
            <a:r>
              <a:rPr lang="en-US" sz="2600" dirty="0">
                <a:solidFill>
                  <a:srgbClr val="FFFFFF"/>
                </a:solidFill>
                <a:latin typeface="Cambria" pitchFamily="34" charset="0"/>
                <a:ea typeface="Cambria" pitchFamily="34" charset="-122"/>
                <a:cs typeface="Cambria" pitchFamily="34" charset="-120"/>
              </a:rPr>
              <a:t>Explain it: on your map, name one cluster you believe is real and one that's probably a projection artifact, and how you'd tell. (Competency 4.)</a:t>
            </a:r>
            <a:endParaRPr lang="en-US" sz="2600" dirty="0"/>
          </a:p>
        </p:txBody>
      </p:sp>
      <p:sp>
        <p:nvSpPr>
          <p:cNvPr id="4" name="Text 2"/>
          <p:cNvSpPr/>
          <p:nvPr/>
        </p:nvSpPr>
        <p:spPr>
          <a:xfrm>
            <a:off x="640080" y="6126480"/>
            <a:ext cx="7315200" cy="365760"/>
          </a:xfrm>
          <a:prstGeom prst="rect">
            <a:avLst/>
          </a:prstGeom>
          <a:noFill/>
          <a:ln/>
        </p:spPr>
        <p:txBody>
          <a:bodyPr wrap="square" rtlCol="0" anchor="ctr"/>
          <a:lstStyle/>
          <a:p>
            <a:pPr indent="0" marL="0">
              <a:buNone/>
            </a:pPr>
            <a:r>
              <a:rPr lang="en-US" sz="1200" dirty="0">
                <a:solidFill>
                  <a:srgbClr val="E8DCD6"/>
                </a:solidFill>
                <a:latin typeface="Calibri" pitchFamily="34" charset="0"/>
                <a:ea typeface="Calibri" pitchFamily="34" charset="-122"/>
                <a:cs typeface="Calibri" pitchFamily="34" charset="-120"/>
              </a:rPr>
              <a:t>Culture as Data  ·  Week 5</a:t>
            </a:r>
            <a:endParaRPr lang="en-US" sz="1200" dirty="0"/>
          </a:p>
        </p:txBody>
      </p:sp>
      <p:sp>
        <p:nvSpPr>
          <p:cNvPr id="5" name="Shape 3"/>
          <p:cNvSpPr/>
          <p:nvPr/>
        </p:nvSpPr>
        <p:spPr>
          <a:xfrm>
            <a:off x="9604541" y="5211088"/>
            <a:ext cx="51907" cy="51907"/>
          </a:xfrm>
          <a:prstGeom prst="ellipse">
            <a:avLst/>
          </a:prstGeom>
          <a:solidFill>
            <a:srgbClr val="7A3B2E"/>
          </a:solidFill>
          <a:ln/>
        </p:spPr>
      </p:sp>
      <p:sp>
        <p:nvSpPr>
          <p:cNvPr id="6" name="Shape 4"/>
          <p:cNvSpPr/>
          <p:nvPr/>
        </p:nvSpPr>
        <p:spPr>
          <a:xfrm>
            <a:off x="9271891" y="6190521"/>
            <a:ext cx="74666" cy="74666"/>
          </a:xfrm>
          <a:prstGeom prst="ellipse">
            <a:avLst/>
          </a:prstGeom>
          <a:solidFill>
            <a:srgbClr val="3F6F5F"/>
          </a:solidFill>
          <a:ln/>
        </p:spPr>
      </p:sp>
      <p:sp>
        <p:nvSpPr>
          <p:cNvPr id="7" name="Shape 5"/>
          <p:cNvSpPr/>
          <p:nvPr/>
        </p:nvSpPr>
        <p:spPr>
          <a:xfrm>
            <a:off x="10071233" y="5862911"/>
            <a:ext cx="82058" cy="82058"/>
          </a:xfrm>
          <a:prstGeom prst="ellipse">
            <a:avLst/>
          </a:prstGeom>
          <a:solidFill>
            <a:srgbClr val="B9852F"/>
          </a:solidFill>
          <a:ln/>
        </p:spPr>
      </p:sp>
      <p:sp>
        <p:nvSpPr>
          <p:cNvPr id="8" name="Shape 6"/>
          <p:cNvSpPr/>
          <p:nvPr/>
        </p:nvSpPr>
        <p:spPr>
          <a:xfrm>
            <a:off x="10509049" y="4952160"/>
            <a:ext cx="96943" cy="96943"/>
          </a:xfrm>
          <a:prstGeom prst="ellipse">
            <a:avLst/>
          </a:prstGeom>
          <a:solidFill>
            <a:srgbClr val="7A3B2E"/>
          </a:solidFill>
          <a:ln/>
        </p:spPr>
      </p:sp>
      <p:sp>
        <p:nvSpPr>
          <p:cNvPr id="9" name="Shape 7"/>
          <p:cNvSpPr/>
          <p:nvPr/>
        </p:nvSpPr>
        <p:spPr>
          <a:xfrm>
            <a:off x="9091819" y="5919527"/>
            <a:ext cx="87317" cy="87317"/>
          </a:xfrm>
          <a:prstGeom prst="ellipse">
            <a:avLst/>
          </a:prstGeom>
          <a:solidFill>
            <a:srgbClr val="3F6F5F"/>
          </a:solidFill>
          <a:ln/>
        </p:spPr>
      </p:sp>
      <p:sp>
        <p:nvSpPr>
          <p:cNvPr id="10" name="Shape 8"/>
          <p:cNvSpPr/>
          <p:nvPr/>
        </p:nvSpPr>
        <p:spPr>
          <a:xfrm>
            <a:off x="9446661" y="6014193"/>
            <a:ext cx="76041" cy="76041"/>
          </a:xfrm>
          <a:prstGeom prst="ellipse">
            <a:avLst/>
          </a:prstGeom>
          <a:solidFill>
            <a:srgbClr val="B9852F"/>
          </a:solidFill>
          <a:ln/>
        </p:spPr>
      </p:sp>
      <p:sp>
        <p:nvSpPr>
          <p:cNvPr id="11" name="Shape 9"/>
          <p:cNvSpPr/>
          <p:nvPr/>
        </p:nvSpPr>
        <p:spPr>
          <a:xfrm>
            <a:off x="10080057" y="5960057"/>
            <a:ext cx="85973" cy="85973"/>
          </a:xfrm>
          <a:prstGeom prst="ellipse">
            <a:avLst/>
          </a:prstGeom>
          <a:solidFill>
            <a:srgbClr val="7A3B2E"/>
          </a:solidFill>
          <a:ln/>
        </p:spPr>
      </p:sp>
      <p:sp>
        <p:nvSpPr>
          <p:cNvPr id="12" name="Shape 10"/>
          <p:cNvSpPr/>
          <p:nvPr/>
        </p:nvSpPr>
        <p:spPr>
          <a:xfrm>
            <a:off x="9498487" y="4743659"/>
            <a:ext cx="85110" cy="85110"/>
          </a:xfrm>
          <a:prstGeom prst="ellipse">
            <a:avLst/>
          </a:prstGeom>
          <a:solidFill>
            <a:srgbClr val="3F6F5F"/>
          </a:solidFill>
          <a:ln/>
        </p:spPr>
      </p:sp>
      <p:sp>
        <p:nvSpPr>
          <p:cNvPr id="13" name="Shape 11"/>
          <p:cNvSpPr/>
          <p:nvPr/>
        </p:nvSpPr>
        <p:spPr>
          <a:xfrm>
            <a:off x="11329069" y="4826259"/>
            <a:ext cx="96312" cy="96312"/>
          </a:xfrm>
          <a:prstGeom prst="ellipse">
            <a:avLst/>
          </a:prstGeom>
          <a:solidFill>
            <a:srgbClr val="B9852F"/>
          </a:solidFill>
          <a:ln/>
        </p:spPr>
      </p:sp>
      <p:sp>
        <p:nvSpPr>
          <p:cNvPr id="14" name="Shape 12"/>
          <p:cNvSpPr/>
          <p:nvPr/>
        </p:nvSpPr>
        <p:spPr>
          <a:xfrm>
            <a:off x="11517966" y="5194398"/>
            <a:ext cx="87575" cy="87575"/>
          </a:xfrm>
          <a:prstGeom prst="ellipse">
            <a:avLst/>
          </a:prstGeom>
          <a:solidFill>
            <a:srgbClr val="7A3B2E"/>
          </a:solidFill>
          <a:ln/>
        </p:spPr>
      </p:sp>
      <p:sp>
        <p:nvSpPr>
          <p:cNvPr id="15" name="Shape 13"/>
          <p:cNvSpPr/>
          <p:nvPr/>
        </p:nvSpPr>
        <p:spPr>
          <a:xfrm>
            <a:off x="11131975" y="4834616"/>
            <a:ext cx="81759" cy="81759"/>
          </a:xfrm>
          <a:prstGeom prst="ellipse">
            <a:avLst/>
          </a:prstGeom>
          <a:solidFill>
            <a:srgbClr val="3F6F5F"/>
          </a:solidFill>
          <a:ln/>
        </p:spPr>
      </p:sp>
      <p:sp>
        <p:nvSpPr>
          <p:cNvPr id="16" name="Shape 14"/>
          <p:cNvSpPr/>
          <p:nvPr/>
        </p:nvSpPr>
        <p:spPr>
          <a:xfrm>
            <a:off x="11237898" y="6208171"/>
            <a:ext cx="46860" cy="46860"/>
          </a:xfrm>
          <a:prstGeom prst="ellipse">
            <a:avLst/>
          </a:prstGeom>
          <a:solidFill>
            <a:srgbClr val="B9852F"/>
          </a:solidFill>
          <a:ln/>
        </p:spPr>
      </p:sp>
      <p:sp>
        <p:nvSpPr>
          <p:cNvPr id="17" name="Shape 15"/>
          <p:cNvSpPr/>
          <p:nvPr/>
        </p:nvSpPr>
        <p:spPr>
          <a:xfrm>
            <a:off x="10342214" y="4826885"/>
            <a:ext cx="60602" cy="60602"/>
          </a:xfrm>
          <a:prstGeom prst="ellipse">
            <a:avLst/>
          </a:prstGeom>
          <a:solidFill>
            <a:srgbClr val="7A3B2E"/>
          </a:solidFill>
          <a:ln/>
        </p:spPr>
      </p:sp>
      <p:sp>
        <p:nvSpPr>
          <p:cNvPr id="18" name="Shape 16"/>
          <p:cNvSpPr/>
          <p:nvPr/>
        </p:nvSpPr>
        <p:spPr>
          <a:xfrm>
            <a:off x="9511723" y="4889377"/>
            <a:ext cx="90981" cy="90981"/>
          </a:xfrm>
          <a:prstGeom prst="ellipse">
            <a:avLst/>
          </a:prstGeom>
          <a:solidFill>
            <a:srgbClr val="3F6F5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2026-08-08T01:14:49Z</dcterms:created>
  <dcterms:modified xsi:type="dcterms:W3CDTF">2026-08-08T01:14:49Z</dcterms:modified>
</cp:coreProperties>
</file>