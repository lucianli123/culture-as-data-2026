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· WEEK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Machines Learn to Read: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D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Neural Networks and Word Embeddings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Week 3 classifier is one neuron. Today it grows, learns a map of meaning,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then you go and fetch the data you will use it on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0332720" y="566928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7" name="Shape 5"/>
          <p:cNvSpPr/>
          <p:nvPr/>
        </p:nvSpPr>
        <p:spPr>
          <a:xfrm>
            <a:off x="10716768" y="566928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Shape 6"/>
          <p:cNvSpPr/>
          <p:nvPr/>
        </p:nvSpPr>
        <p:spPr>
          <a:xfrm>
            <a:off x="11100816" y="566928"/>
            <a:ext cx="201168" cy="201168"/>
          </a:xfrm>
          <a:prstGeom prst="ellipse">
            <a:avLst/>
          </a:prstGeom>
          <a:solidFill>
            <a:srgbClr val="E8DCD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ideas, then the practical half hour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6771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century, measured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Garg et al.: stereotype change read off an embedding space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0" name="Shape 8"/>
          <p:cNvSpPr/>
          <p:nvPr/>
        </p:nvSpPr>
        <p:spPr>
          <a:xfrm>
            <a:off x="6537960" y="226771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6948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neuron, then many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26948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classifier, stacked - and what stacking buys and costs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685032"/>
            <a:ext cx="566928" cy="56692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0020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as vectors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0020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context pull together, different context push apart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0" name="Shape 18"/>
          <p:cNvSpPr/>
          <p:nvPr/>
        </p:nvSpPr>
        <p:spPr>
          <a:xfrm>
            <a:off x="6537960" y="3685032"/>
            <a:ext cx="566928" cy="566928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26948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rule on pixels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26948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Convolutions, and how CLIP searches a museum by typing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5" name="Shape 23"/>
          <p:cNvSpPr/>
          <p:nvPr/>
        </p:nvSpPr>
        <p:spPr>
          <a:xfrm>
            <a:off x="868680" y="510235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60020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 API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60020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look at before you write the loop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0936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30" name="Shape 28"/>
          <p:cNvSpPr/>
          <p:nvPr/>
        </p:nvSpPr>
        <p:spPr>
          <a:xfrm>
            <a:off x="6537960" y="510235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726948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careful scrape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26948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data in a page, and the four rules attached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 · THIS WEEK'S READING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century, measured as distance</a:t>
            </a:r>
            <a:endParaRPr lang="en-US" sz="3400" dirty="0"/>
          </a:p>
        </p:txBody>
      </p:sp>
      <p:pic>
        <p:nvPicPr>
          <p:cNvPr id="4" name="Image 0" descr="/tmp/figs/w4_paper_ti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737360" y="1737360"/>
            <a:ext cx="877824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Blue: how far occupation words sit from she-words versus he-words, decade by decade. Green: the share of women actually in those jobs.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1b,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EVIDENCE AND NOT A DEMO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vectors agree with the census</a:t>
            </a:r>
            <a:endParaRPr lang="en-US" sz="3400" dirty="0"/>
          </a:p>
        </p:txBody>
      </p:sp>
      <p:pic>
        <p:nvPicPr>
          <p:cNvPr id="4" name="Image 0" descr="/tmp/figs/w4_paper_valid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20240" y="1737360"/>
            <a:ext cx="841248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dot per occupation. Right on the x-axis: the word sits closer to she-words. Up on the y-axis: more women in the job.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1a,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METHOD, POINTED AT ADJECTIVES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words associated with women, by decade</a:t>
            </a:r>
            <a:endParaRPr lang="en-US" sz="3400" dirty="0"/>
          </a:p>
        </p:txBody>
      </p:sp>
      <p:pic>
        <p:nvPicPr>
          <p:cNvPr id="4" name="Image 0" descr="/tmp/figs/w4_paper_adjec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91840" y="1691640"/>
            <a:ext cx="55778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1910 to 1990, from the same embeddings. Read the columns down, then argue about the last one.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2a,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you believe the curve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194560"/>
            <a:ext cx="320040" cy="3200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463040" y="2011680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century is it? Google Books and COHA are what got printed and digitised. Is the shift in the country, or in publishing?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090672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364992"/>
            <a:ext cx="320040" cy="3200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9" name="Text 7"/>
          <p:cNvSpPr/>
          <p:nvPr/>
        </p:nvSpPr>
        <p:spPr>
          <a:xfrm>
            <a:off x="1463040" y="3182112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chose the words? Someone decided which words count as female and which jobs count as occupations. Where in the paper is that list?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261104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4535424"/>
            <a:ext cx="320040" cy="3200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Text 10"/>
          <p:cNvSpPr/>
          <p:nvPr/>
        </p:nvSpPr>
        <p:spPr>
          <a:xfrm>
            <a:off x="1463040" y="4352544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bias it detects is the bias in the text - the same geometry that makes king - man + woman work. Can you keep one and refuse the other?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431536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5705856"/>
            <a:ext cx="320040" cy="32004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5" name="Text 13"/>
          <p:cNvSpPr/>
          <p:nvPr/>
        </p:nvSpPr>
        <p:spPr>
          <a:xfrm>
            <a:off x="1463040" y="5522976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would convince you? Name the check you would want run before repeating this finding out loud.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ONE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already built a neuron</a:t>
            </a:r>
            <a:endParaRPr lang="en-US" sz="3400" dirty="0"/>
          </a:p>
        </p:txBody>
      </p:sp>
      <p:pic>
        <p:nvPicPr>
          <p:cNvPr id="4" name="Image 0" descr="/tmp/figs/w4_neur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3040" y="1737360"/>
            <a:ext cx="92354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Counts in, one weight each, add them up, squash. Week 3's classifier is one neuron.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ONE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 them and something changes</a:t>
            </a:r>
            <a:endParaRPr lang="en-US" sz="3400" dirty="0"/>
          </a:p>
        </p:txBody>
      </p:sp>
      <p:pic>
        <p:nvPicPr>
          <p:cNvPr id="4" name="Image 0" descr="/tmp/figs/w4_netwo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3040" y="1737360"/>
            <a:ext cx="92354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neurons in between, each adding up every word in its own way. Nobody chose those combinations.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COSTS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stop being able to read it</a:t>
            </a:r>
            <a:endParaRPr lang="en-US" sz="3400" dirty="0"/>
          </a:p>
        </p:txBody>
      </p:sp>
      <p:pic>
        <p:nvPicPr>
          <p:cNvPr id="4" name="Image 0" descr="/tmp/figs/w4_readabil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280160" y="1783080"/>
            <a:ext cx="960120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passages, same job: 100% against 99%. You can read the left panel and say why. You cannot do that with the right one.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fitted for this slide on 563 passages of Frankenstein and Dracula.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Some questions a straight line cannot answer</a:t>
            </a:r>
            <a:endParaRPr lang="en-US" sz="3400" dirty="0"/>
          </a:p>
        </p:txBody>
      </p:sp>
      <p:pic>
        <p:nvPicPr>
          <p:cNvPr id="4" name="Image 0" descr="/tmp/figs/w4_spir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737360"/>
            <a:ext cx="996696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points, same training. One neuron: 70%. Two hidden layers: 99%.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fitted for this slide. Next: the same thing live in TensorFlow Playground.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LEARNS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Rolling downhill in fog</a:t>
            </a:r>
            <a:endParaRPr lang="en-US" sz="3400" dirty="0"/>
          </a:p>
        </p:txBody>
      </p:sp>
      <p:pic>
        <p:nvPicPr>
          <p:cNvPr id="4" name="Image 0" descr="/tmp/figs/w4_gradi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1737360"/>
            <a:ext cx="777240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loss says how wrong you are. Step downhill, repeat, thousands of weights at once. No calculus today.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counting cannot do</a:t>
            </a:r>
            <a:endParaRPr lang="en-US" sz="3400" dirty="0"/>
          </a:p>
        </p:txBody>
      </p:sp>
      <p:pic>
        <p:nvPicPr>
          <p:cNvPr id="4" name="Image 0" descr="/tmp/figs/w4_onehot_vs_den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920240"/>
            <a:ext cx="996696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2 gave every word its own column, so night and morning have nothing in common. Nor do night and ship.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Week 3 puts one weight on each column, so what it learns about one word tells it nothing about the next. Trained vectors: night and morning 0.32, night and ship 0.08.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 UNDERNEATH ALL OF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“You shall know a word by the company it keeps”</a:t>
            </a:r>
            <a:endParaRPr lang="en-US" sz="3400" dirty="0"/>
          </a:p>
        </p:txBody>
      </p:sp>
      <p:pic>
        <p:nvPicPr>
          <p:cNvPr id="4" name="Image 0" descr="/tmp/figs/w4_distribution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874520"/>
            <a:ext cx="1033272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the room before you show the answer. Nobody needs a definition of the word; the contexts are enough.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Frege 1884, never ask for the meaning of a word in isolation · Wittgenstein 1953, the meaning of a word is its use · Harris 1954, the distributional hypothesis · Firth 1957, the line above. Lines drawn live from this week's corpus.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context, pull together. Different, push apart</a:t>
            </a:r>
            <a:endParaRPr lang="en-US" sz="3400" dirty="0"/>
          </a:p>
        </p:txBody>
      </p:sp>
      <p:pic>
        <p:nvPicPr>
          <p:cNvPr id="4" name="Image 0" descr="/tmp/figs/w4_contrastive_ide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737360" y="1737360"/>
            <a:ext cx="877824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a word, a context is a few words of text. That is the whole rule. It is called contrastive learning, and most modern embeddings are trained this way.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Underneath it, Week 3's four moves: multiply, add, squash, nudge. The difference is that the prediction is thrown away and the weights are what you keep. 849,738 pairs in one pass.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VECTORS, BEFORE AND AFTER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labelled the blocks</a:t>
            </a:r>
            <a:endParaRPr lang="en-US" sz="3400" dirty="0"/>
          </a:p>
        </p:txBody>
      </p:sp>
      <p:pic>
        <p:nvPicPr>
          <p:cNvPr id="4" name="Image 0" descr="/tmp/figs/w4_contrastive_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0" y="1737360"/>
            <a:ext cx="941832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words, every pair compared. On the left they start as noise. On the right, times of day, family and rooms have found each other.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ON A SMALL CORPUS TOO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Trained on two novels, an hour ago</a:t>
            </a:r>
            <a:endParaRPr lang="en-US" sz="3400" dirty="0"/>
          </a:p>
        </p:txBody>
      </p:sp>
      <p:pic>
        <p:nvPicPr>
          <p:cNvPr id="4" name="Image 0" descr="/tmp/figs/w4_neighbou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54480" y="1828800"/>
            <a:ext cx="905256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225,355 words of Frankenstein and Dracula, and no labels anywhere. Nobody told it what a door is.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Meaning becomes geometry</a:t>
            </a:r>
            <a:endParaRPr lang="en-US" sz="3400" dirty="0"/>
          </a:p>
        </p:txBody>
      </p:sp>
      <p:pic>
        <p:nvPicPr>
          <p:cNvPr id="4" name="Image 0" descr="/tmp/figs/w4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0" y="1737360"/>
            <a:ext cx="813816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words on one side. Door, room and window on the other. Night and morning at the bottom. Nothing was labelled.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dimensions of sixty; the picture always loses something. Next: the Embedding Projector, live.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GEOMETRY, THE OTHER RESULT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Occupations closest to each group's words</a:t>
            </a:r>
            <a:endParaRPr lang="en-US" sz="3400" dirty="0"/>
          </a:p>
        </p:txBody>
      </p:sp>
      <p:pic>
        <p:nvPicPr>
          <p:cNvPr id="4" name="Image 0" descr="/tmp/figs/w4_paper_ethn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0" y="1691640"/>
            <a:ext cx="51206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labelled any of this. It is what a century of printed English put near what.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1c,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FAMOUS TRICK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king − man + woman ≈ queen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1463040"/>
          </a:xfrm>
          <a:prstGeom prst="roundRect">
            <a:avLst>
              <a:gd name="adj" fmla="val 6250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14884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7A3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king − man + woman → queen        paris − france + japan → tokyo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3657600"/>
            <a:ext cx="55778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Directions carry relationships nobody labelled.</a:t>
            </a:r>
            <a:endParaRPr lang="en-US" sz="16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arithmetic is nudged, and most analogies fail. The famous four are the ones that worked.</a:t>
            </a:r>
            <a:endParaRPr lang="en-US" sz="16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geometry, other result: doctor − man + woman → nurse.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92240" y="3657600"/>
            <a:ext cx="5029200" cy="2194560"/>
          </a:xfrm>
          <a:prstGeom prst="roundRect">
            <a:avLst>
              <a:gd name="adj" fmla="val 4167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0" y="3840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vector per word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766560" y="44988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contextual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0" y="44988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occurrence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766560" y="515721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sentence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686800" y="51572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document — Week 5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TRICK, ON PIXELS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convolution, all of it</a:t>
            </a:r>
            <a:endParaRPr lang="en-US" sz="3400" dirty="0"/>
          </a:p>
        </p:txBody>
      </p:sp>
      <p:pic>
        <p:nvPicPr>
          <p:cNvPr id="4" name="Image 0" descr="/tmp/figs/w4_conv_arit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965960"/>
            <a:ext cx="11064240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picture is a grid of numbers. Take nine of them, multiply by nine other numbers, add them up: -162. Move one pixel across and repeat.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read off a Met painting from the Week 1 data. Nothing else happens in a convolution.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NINE NUMBERS DO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the filter, ask a different question</a:t>
            </a:r>
            <a:endParaRPr lang="en-US" sz="3400" dirty="0"/>
          </a:p>
        </p:txBody>
      </p:sp>
      <p:pic>
        <p:nvPicPr>
          <p:cNvPr id="4" name="Image 0" descr="/tmp/figs/w4_convol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2011680"/>
            <a:ext cx="10515600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panel is the same painting under a different 3x3 grid. One finds vertical edges, one horizontal, one blurs.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CNN is not given these. It starts with random grids and learns which ones are worth having, by the same downhill roll as before.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CNN IS DEEP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Filters on top of filters</a:t>
            </a:r>
            <a:endParaRPr lang="en-US" sz="3400" dirty="0"/>
          </a:p>
        </p:txBody>
      </p:sp>
      <p:pic>
        <p:nvPicPr>
          <p:cNvPr id="4" name="Image 0" descr="/tmp/figs/w4_conv_stac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2011680"/>
            <a:ext cx="10515600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a filter over the output of the last filter, then shrink. Edges turn into corners, and corners into regions.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panel is real arithmetic on the painting to its left. Stacking them is all a CNN is.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IDEAS AT ONCE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rule, where a context is a picture</a:t>
            </a:r>
            <a:endParaRPr lang="en-US" sz="3400" dirty="0"/>
          </a:p>
        </p:txBody>
      </p:sp>
      <p:pic>
        <p:nvPicPr>
          <p:cNvPr id="4" name="Image 0" descr="/tmp/figs/w4_cli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783080"/>
            <a:ext cx="9966960" cy="3840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context: a painting and its own caption, pulled together. Different context: anyone else's caption, pushed away. Two kinds of thing in one space.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why "a painting of a woman in a red hat" can search a museum with no tags in it at all. The notebook trains a small one on 18 paintings.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minutes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where your corpus actually comes from.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routes, in the order you should try them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04288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3042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45920" y="217627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prepared file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0" y="219456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pd.read_csv(url) · gdown · load_dataset(). Most projects should stop here.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33756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3630168"/>
            <a:ext cx="548640" cy="54864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63016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645920" y="350215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API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0" y="352044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documented URL that returns JSON. Four words: endpoint, key, pagination, rate limit.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66344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4956048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9560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645920" y="48280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careful scrape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0" y="484632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there is no file and no API. Slowly, and never republished.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licensing line decides which routes are even open to you. That is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 at one reply before you write the loop</a:t>
            </a:r>
            <a:endParaRPr lang="en-US" sz="3400" dirty="0"/>
          </a:p>
        </p:txBody>
      </p:sp>
      <p:pic>
        <p:nvPicPr>
          <p:cNvPr id="4" name="Image 0" descr="/tmp/figs/w4_api_anatom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74520"/>
            <a:ext cx="1088136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for one item. The pagination block tells you how big the job is; the data block is your rows.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call made while this deck was built: 132,681 works match "landscape", handed over two at a time.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TWO, LIVE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URL, some JSON, and then a table</a:t>
            </a:r>
            <a:endParaRPr lang="en-US" sz="3400" dirty="0"/>
          </a:p>
        </p:txBody>
      </p:sp>
      <p:pic>
        <p:nvPicPr>
          <p:cNvPr id="4" name="Image 0" descr="/tmp/figs/w4_ap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920240"/>
            <a:ext cx="9966960" cy="3749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endpoint is a URL that answers with data. A key is a name badge. Pagination hands you a page at a time.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panel: a real response, live from api.artic.edu. The AI writes the three lines that make the table.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API IS SOMEBODY'S DESIGN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museums, two shapes</a:t>
            </a:r>
            <a:endParaRPr lang="en-US" sz="3400" dirty="0"/>
          </a:p>
        </p:txBody>
      </p:sp>
      <p:pic>
        <p:nvPicPr>
          <p:cNvPr id="4" name="Image 0" descr="/tmp/figs/w4_api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05840" y="1828800"/>
            <a:ext cx="10149840" cy="3840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hands you rows. The other hands you a phone book, and every row after that is another request.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queried live for this slide. Work out which kind you have before you estimate how long anything will take.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THREE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Scraping, and the four things that come with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103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robots.txt and the terms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120640" y="210312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first request, not after the complaint.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06324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1546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 slowly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120640" y="315468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every couple of seconds. You are a guest on someone's server.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11480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42062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 only what you need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120640" y="420624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fields your question uses, not the whole site.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16636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52578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republish the text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120640" y="525780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it, quote it, count it. Do not hand it on.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and public domain: go anywhere.   Academic sets and community text: analyse, don't redistribute.   Shadow libraries: never.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THREE, IN PRACTICE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data inside the markup</a:t>
            </a:r>
            <a:endParaRPr lang="en-US" sz="3400" dirty="0"/>
          </a:p>
        </p:txBody>
      </p:sp>
      <p:pic>
        <p:nvPicPr>
          <p:cNvPr id="4" name="Image 0" descr="/tmp/figs/w4_scrape_anatom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74520"/>
            <a:ext cx="1088136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Fetch one page, look at one block, and read the selectors off it. Right-click, Inspect, and the tag names are right there.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HTML from quotes.toscrape.com. A selector that matches nothing returns None and raises no error, which is the bug you will actually hit.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START IT RUNNING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long will this take?</a:t>
            </a:r>
            <a:endParaRPr lang="en-US" sz="3400" dirty="0"/>
          </a:p>
        </p:txBody>
      </p:sp>
      <p:pic>
        <p:nvPicPr>
          <p:cNvPr id="4" name="Image 0" descr="/tmp/figs/w4_scrape_co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03120" y="1783080"/>
            <a:ext cx="795528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one-second pause on 5,000 pages is an hour and a half. That number decides your sample size, so work it out first.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site notices the difference. One page a second is a reader; fifty a second is an outage.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· 20 MINUTES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 it, save it, start the repo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2402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file in your Drive folder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94960" y="224028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starts from it. Colab forgets everything else.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5204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repo with Pages switched 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394960" y="352044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 live URL exists today, not in Week 9 under deadline.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66344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48006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minutes of pitch, to a partner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394960" y="480060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corpus, two methods, what would count as a finding.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project. The pivot kit is insurance, not a demotion.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WEEK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Homework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1920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Biography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228600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~400 words: where it came from, who is in it, who is missing, what it cannot tell you.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it for real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51560" y="361188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cookbook notebook, and leave the file in Drive. Week 5 begins there.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709160"/>
            <a:ext cx="219456" cy="219456"/>
          </a:xfrm>
          <a:prstGeom prst="ellipse">
            <a:avLst/>
          </a:prstGeom>
          <a:solidFill>
            <a:srgbClr val="E8DCD6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4572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with the map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51560" y="493776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Projector: a word from your corpus, one neighbour that makes sense and one that does not.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embeddings on YOUR corpus, all session. Bring the file.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2026-08-08T17:44:41Z</dcterms:created>
  <dcterms:modified xsi:type="dcterms:W3CDTF">2026-08-08T17:44:41Z</dcterms:modified>
</cp:coreProperties>
</file>