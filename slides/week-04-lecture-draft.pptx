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Machines Learn to Read: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 and Word Embeddings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 3 classifier is one neuron. Today it grows, learns a map of meaning,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you go and fetch the data you will use it 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ideas, then the practical half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century,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et al.: stereotype change read off an embedding space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neuron, then many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classifier, stacked - and what stacking buys and costs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downhill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training actually is, without the calculus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as vectors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come from, and what the geometry can do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corpus comes from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file, an API, or a careful scrape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and commit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in Drive, your repo born, your project pitched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· THIS WEEK'S READING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century, measured as distance</a:t>
            </a:r>
            <a:endParaRPr lang="en-US" sz="3400" dirty="0"/>
          </a:p>
        </p:txBody>
      </p:sp>
      <p:pic>
        <p:nvPicPr>
          <p:cNvPr id="4" name="Image 0" descr="/tmp/figs/w4_paper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Blue: how far occupation words sit from she-words versus he-words, decade by decade. Green: the share of women actually in those jobs.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1b,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EVIDENCE AND NOT A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vectors agree with the census</a:t>
            </a:r>
            <a:endParaRPr lang="en-US" sz="3400" dirty="0"/>
          </a:p>
        </p:txBody>
      </p:sp>
      <p:pic>
        <p:nvPicPr>
          <p:cNvPr id="4" name="Image 0" descr="/tmp/figs/w4_paper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20240" y="1737360"/>
            <a:ext cx="841248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dot per occupation. Right on the x-axis: the word sits closer to she-words. Up on the y-axis: more women in the job.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METHOD, POINTED AT ADJECTIVES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words associated with women, by decade</a:t>
            </a:r>
            <a:endParaRPr lang="en-US" sz="3400" dirty="0"/>
          </a:p>
        </p:txBody>
      </p:sp>
      <p:pic>
        <p:nvPicPr>
          <p:cNvPr id="4" name="Image 0" descr="/tmp/figs/w4_paper_adjec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691640"/>
            <a:ext cx="55778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 to 1990, from the same embeddings. Read the columns down, then argue about the last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believe the curve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century is it? Google Books and COHA are what got printed and digitised. Is the shift in the country, or in publishing?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chose the words? Someone decided which words count as female and which jobs count as occupations. Where in the paper is that list?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it detects is the bias in the text - the same geometry that makes king - man + woman work. Can you keep one and refuse the other?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convince you? Name the check you would want run before repeating this finding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already built a neuron</a:t>
            </a:r>
            <a:endParaRPr lang="en-US" sz="3400" dirty="0"/>
          </a:p>
        </p:txBody>
      </p:sp>
      <p:pic>
        <p:nvPicPr>
          <p:cNvPr id="4" name="Image 0" descr="/tmp/figs/w4_neur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Counts in, one weight each, add them up, squash. Week 3's classifier is one neuron.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them and something changes</a:t>
            </a:r>
            <a:endParaRPr lang="en-US" sz="3400" dirty="0"/>
          </a:p>
        </p:txBody>
      </p:sp>
      <p:pic>
        <p:nvPicPr>
          <p:cNvPr id="4" name="Image 0" descr="/tmp/figs/w4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neurons in between, each adding up every word in its own way. Nobody wrote those combinations down.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being able to read it</a:t>
            </a:r>
            <a:endParaRPr lang="en-US" sz="3400" dirty="0"/>
          </a:p>
        </p:txBody>
      </p:sp>
      <p:pic>
        <p:nvPicPr>
          <p:cNvPr id="4" name="Image 0" descr="/tmp/figs/w4_read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1783080"/>
            <a:ext cx="96012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passages, same job: 100% against 99%. The left panel is an explanation. The right one is not.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fitted for this slide on 563 passages of Frankenstein and Dracula.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questions a straight line cannot answer</a:t>
            </a:r>
            <a:endParaRPr lang="en-US" sz="3400" dirty="0"/>
          </a:p>
        </p:txBody>
      </p:sp>
      <p:pic>
        <p:nvPicPr>
          <p:cNvPr id="4" name="Image 0" descr="/tmp/figs/w4_spi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37360"/>
            <a:ext cx="99669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points, same training. One neuron: 70%. Two hidden layers: 99%.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fitted for this slide. Next: the same thing live in TensorFlow Playground.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downhill in fog</a:t>
            </a:r>
            <a:endParaRPr lang="en-US" sz="3400" dirty="0"/>
          </a:p>
        </p:txBody>
      </p:sp>
      <p:pic>
        <p:nvPicPr>
          <p:cNvPr id="4" name="Image 0" descr="/tmp/figs/w4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737360"/>
            <a:ext cx="7772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loss says how wrong you are. Step downhill, repeat, thousands of weights at once. No calculus today.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counting cannot do</a:t>
            </a:r>
            <a:endParaRPr lang="en-US" sz="3400" dirty="0"/>
          </a:p>
        </p:txBody>
      </p:sp>
      <p:pic>
        <p:nvPicPr>
          <p:cNvPr id="4" name="Image 0" descr="/tmp/figs/w4_onehot_vs_d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says night and morning have nothing in common. The trained vectors put them at 0.32, against 0.08 for night and ship.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context, pull together. Different, push apart</a:t>
            </a:r>
            <a:endParaRPr lang="en-US" sz="3400" dirty="0"/>
          </a:p>
        </p:txBody>
      </p:sp>
      <p:pic>
        <p:nvPicPr>
          <p:cNvPr id="4" name="Image 0" descr="/tmp/figs/w4_contrastive_id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word, a context is a few words of text. That is the whole rule, it is called contrastive learning, and it is how most modern embeddings are made.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Anchor, neighbour and the three random words all taken from this week's corpus. 849,738 pairs in one pass.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VECTORS, BEFORE AND AFTER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the blocks</a:t>
            </a:r>
            <a:endParaRPr lang="en-US" sz="3400" dirty="0"/>
          </a:p>
        </p:txBody>
      </p:sp>
      <p:pic>
        <p:nvPicPr>
          <p:cNvPr id="4" name="Image 0" descr="/tmp/figs/w4_contrastive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737360"/>
            <a:ext cx="941832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words, every pair compared. On the left they start as noise; on the right, times of day, family and rooms have found each other.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SMALL CORPUS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two novels, an hour ago</a:t>
            </a:r>
            <a:endParaRPr lang="en-US" sz="3400" dirty="0"/>
          </a:p>
        </p:txBody>
      </p:sp>
      <p:pic>
        <p:nvPicPr>
          <p:cNvPr id="4" name="Image 0" descr="/tmp/figs/w4_neighbo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828800"/>
            <a:ext cx="90525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225,355 words of Frankenstein and Dracula, and no labels anywhere. Nobody told it what a door is.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becomes geometry</a:t>
            </a:r>
            <a:endParaRPr lang="en-US" sz="3400" dirty="0"/>
          </a:p>
        </p:txBody>
      </p:sp>
      <p:pic>
        <p:nvPicPr>
          <p:cNvPr id="4" name="Image 0" descr="/tmp/figs/w4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37360"/>
            <a:ext cx="81381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words on one side. Door, room and window on the other. Night and morning at the bottom. Nothing was labelled.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dimensions of sixty; the picture always loses something. Next: the Embedding Projector, live.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GEOMETRY, THE OTHER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Occupations closest to each group's words</a:t>
            </a:r>
            <a:endParaRPr lang="en-US" sz="3400" dirty="0"/>
          </a:p>
        </p:txBody>
      </p:sp>
      <p:pic>
        <p:nvPicPr>
          <p:cNvPr id="4" name="Image 0" descr="/tmp/figs/w4_paper_ethn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691640"/>
            <a:ext cx="51206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any of this. It is what a century of printed English put near what.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1c,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TRICK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− man + woman ≈ queen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1488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− man + woman → queen        paris − france + japan → tokyo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carry relationships nobody labelled.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is nudged, and most analogies fail. The famous four are the ones that worked.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geometry, other result: doctor − man + woman → nurse.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92240" y="3657600"/>
            <a:ext cx="5029200" cy="2194560"/>
          </a:xfrm>
          <a:prstGeom prst="roundRect">
            <a:avLst>
              <a:gd name="adj" fmla="val 416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word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66560" y="4498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4498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occurrence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66560" y="51572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0" y="51572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document — Week 5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TRICK, ON PIXELS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convolution, all of it</a:t>
            </a:r>
            <a:endParaRPr lang="en-US" sz="3400" dirty="0"/>
          </a:p>
        </p:txBody>
      </p:sp>
      <p:pic>
        <p:nvPicPr>
          <p:cNvPr id="4" name="Image 0" descr="/tmp/figs/w4_conv_ari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110642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picture is a grid of numbers. Take nine of them, multiply by nine other numbers, add: -162. Slide one step and do it again.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read off a Met painting from the Week 1 data. Nothing else happens in a convolution.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NINE NUMBERS 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filter, ask a different question</a:t>
            </a:r>
            <a:endParaRPr lang="en-US" sz="3400" dirty="0"/>
          </a:p>
        </p:txBody>
      </p:sp>
      <p:pic>
        <p:nvPicPr>
          <p:cNvPr id="4" name="Image 0" descr="/tmp/figs/w4_convol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panel is the same painting under a different 3x3 grid. One finds vertical edges, one horizontal, one blurs.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is not given these. It starts with random grids and learns which ones are worth having — same downhill roll as before.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CNN IS DEEP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Filters on top of filters</a:t>
            </a:r>
            <a:endParaRPr lang="en-US" sz="3400" dirty="0"/>
          </a:p>
        </p:txBody>
      </p:sp>
      <p:pic>
        <p:nvPicPr>
          <p:cNvPr id="4" name="Image 0" descr="/tmp/figs/w4_conv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 filter on the answers of the last filter, and shrink. Edges become corners; corners become regions; regions become faces.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panel here is real arithmetic on the painting to its left. That stack is the whole architecture.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IDEAS AT ONCE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rule, where a context is a picture</a:t>
            </a:r>
            <a:endParaRPr lang="en-US" sz="3400" dirty="0"/>
          </a:p>
        </p:txBody>
      </p:sp>
      <p:pic>
        <p:nvPicPr>
          <p:cNvPr id="4" name="Image 0" descr="/tmp/figs/w4_c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83080"/>
            <a:ext cx="996696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context: a painting and its own caption, pulled together. Different context: anyone else's caption, pushed away. Two kinds of thing, one space.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"a painting of a woman in a red hat" can search a museum with no tags in it at all. The notebook trains a small one on 18 paintings.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minutes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where your corpus actually comes from.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in the order you should try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prepared file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94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pd.read_csv(url) · gdown · load_dataset(). Most projects should stop here.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630168"/>
            <a:ext cx="548640" cy="5486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URL that returns JSON. Four words: endpoint, key, pagination, rate limit.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56048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56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45920" y="4828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careful scrape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8463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there is no file and no API. Slowly, and never republished.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line decides which routes are even open to you. That is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URL, some JSON, and then a table</a:t>
            </a:r>
            <a:endParaRPr lang="en-US" sz="3400" dirty="0"/>
          </a:p>
        </p:txBody>
      </p:sp>
      <p:pic>
        <p:nvPicPr>
          <p:cNvPr id="4" name="Image 0" descr="/tmp/figs/w4_a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endpoint is a URL that answers with data. A key is a name badge. Pagination hands you a page at a time.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panel: a real response, live from api.artic.edu. The AI writes the three lines that make the table.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Scraping, and the four things that come with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robots.txt and the terms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120640" y="21031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first request, not after the complaint.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54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slowly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1546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every couple of seconds. You are a guest on someone's server.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06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only what you need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20640" y="4206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your question uses, not the whole 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republish the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20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it, quote it, count it. Do not hand it 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and public domain: go anywhere.   Academic sets and community text: analyse, don't redistribute.   Shadow libraries: never.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20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it, save it, start the repo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40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file in your Drive folder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94960" y="22402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starts from it. Colab forgets everything else.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520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repo with Pages switched 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394960" y="35204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live URL exists today, not in Week 9 under deadline.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800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of pitch, to a partner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394960" y="48006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two methods, what would count as a finding.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project. The pivot kit is insurance, not a demotion.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Biography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words: where it came from, who is in it, who is missing, what it cannot tell you.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it for real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notebook, and leave the file in Drive. Week 5 begins there.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map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Projector: a word from your corpus, one neighbour that makes sense and one that does not.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embeddings on YOUR corpus, all session. Bring the file.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2026-08-08T14:32:48Z</dcterms:created>
  <dcterms:modified xsi:type="dcterms:W3CDTF">2026-08-08T14:32:48Z</dcterms:modified>
</cp:coreProperties>
</file>