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· WEEK 4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82880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Machines Learn to Read: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640080" y="269748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8DC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Neural Networks and Word Embeddings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96012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7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Week 3 classifier is one neuron. Today it grows, learns a map of meaning,</a:t>
            </a:r>
            <a:endParaRPr lang="en-US" sz="17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7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then you go and fetch the data you will use it on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10332720" y="566928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7" name="Shape 5"/>
          <p:cNvSpPr/>
          <p:nvPr/>
        </p:nvSpPr>
        <p:spPr>
          <a:xfrm>
            <a:off x="10716768" y="566928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Shape 6"/>
          <p:cNvSpPr/>
          <p:nvPr/>
        </p:nvSpPr>
        <p:spPr>
          <a:xfrm>
            <a:off x="11100816" y="566928"/>
            <a:ext cx="201168" cy="201168"/>
          </a:xfrm>
          <a:prstGeom prst="ellipse">
            <a:avLst/>
          </a:prstGeom>
          <a:solidFill>
            <a:srgbClr val="E8DCD6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ideas, then the practical half hour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5394960" cy="1188720"/>
          </a:xfrm>
          <a:prstGeom prst="roundRect">
            <a:avLst>
              <a:gd name="adj" fmla="val 7692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868680" y="2267712"/>
            <a:ext cx="566928" cy="56692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2267712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600200" y="2112264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century, measured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600200" y="251460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Garg et al.: stereotype change read off an embedding space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309360" y="1965960"/>
            <a:ext cx="5394960" cy="1188720"/>
          </a:xfrm>
          <a:prstGeom prst="roundRect">
            <a:avLst>
              <a:gd name="adj" fmla="val 7692"/>
            </a:avLst>
          </a:prstGeom>
          <a:solidFill>
            <a:srgbClr val="F4EEE8"/>
          </a:solidFill>
          <a:ln/>
        </p:spPr>
      </p:sp>
      <p:sp>
        <p:nvSpPr>
          <p:cNvPr id="10" name="Shape 8"/>
          <p:cNvSpPr/>
          <p:nvPr/>
        </p:nvSpPr>
        <p:spPr>
          <a:xfrm>
            <a:off x="6537960" y="2267712"/>
            <a:ext cx="566928" cy="56692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1" name="Text 9"/>
          <p:cNvSpPr/>
          <p:nvPr/>
        </p:nvSpPr>
        <p:spPr>
          <a:xfrm>
            <a:off x="6537960" y="2267712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7269480" y="2112264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neuron, then many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7269480" y="251460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classifier, stacked - and what stacking buys and costs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40080" y="3383280"/>
            <a:ext cx="5394960" cy="1188720"/>
          </a:xfrm>
          <a:prstGeom prst="roundRect">
            <a:avLst>
              <a:gd name="adj" fmla="val 7692"/>
            </a:avLst>
          </a:prstGeom>
          <a:solidFill>
            <a:srgbClr val="F4EEE8"/>
          </a:solidFill>
          <a:ln/>
        </p:spPr>
      </p:sp>
      <p:sp>
        <p:nvSpPr>
          <p:cNvPr id="15" name="Shape 13"/>
          <p:cNvSpPr/>
          <p:nvPr/>
        </p:nvSpPr>
        <p:spPr>
          <a:xfrm>
            <a:off x="868680" y="3685032"/>
            <a:ext cx="566928" cy="566928"/>
          </a:xfrm>
          <a:prstGeom prst="ellipse">
            <a:avLst/>
          </a:prstGeom>
          <a:solidFill>
            <a:srgbClr val="2E5F8A"/>
          </a:solidFill>
          <a:ln/>
        </p:spPr>
      </p:sp>
      <p:sp>
        <p:nvSpPr>
          <p:cNvPr id="16" name="Text 14"/>
          <p:cNvSpPr/>
          <p:nvPr/>
        </p:nvSpPr>
        <p:spPr>
          <a:xfrm>
            <a:off x="868680" y="3685032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1600200" y="3529584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Rolling downhill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600200" y="393192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training actually is, without the calculus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309360" y="3383280"/>
            <a:ext cx="5394960" cy="1188720"/>
          </a:xfrm>
          <a:prstGeom prst="roundRect">
            <a:avLst>
              <a:gd name="adj" fmla="val 7692"/>
            </a:avLst>
          </a:prstGeom>
          <a:solidFill>
            <a:srgbClr val="F4EEE8"/>
          </a:solidFill>
          <a:ln/>
        </p:spPr>
      </p:sp>
      <p:sp>
        <p:nvSpPr>
          <p:cNvPr id="20" name="Shape 18"/>
          <p:cNvSpPr/>
          <p:nvPr/>
        </p:nvSpPr>
        <p:spPr>
          <a:xfrm>
            <a:off x="6537960" y="3685032"/>
            <a:ext cx="566928" cy="56692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1" name="Text 19"/>
          <p:cNvSpPr/>
          <p:nvPr/>
        </p:nvSpPr>
        <p:spPr>
          <a:xfrm>
            <a:off x="6537960" y="3685032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7269480" y="3529584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Words as vectors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7269480" y="393192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they come from, and what the geometry can do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40080" y="4800600"/>
            <a:ext cx="5394960" cy="1188720"/>
          </a:xfrm>
          <a:prstGeom prst="roundRect">
            <a:avLst>
              <a:gd name="adj" fmla="val 7692"/>
            </a:avLst>
          </a:prstGeom>
          <a:solidFill>
            <a:srgbClr val="F4EEE8"/>
          </a:solidFill>
          <a:ln/>
        </p:spPr>
      </p:sp>
      <p:sp>
        <p:nvSpPr>
          <p:cNvPr id="25" name="Shape 23"/>
          <p:cNvSpPr/>
          <p:nvPr/>
        </p:nvSpPr>
        <p:spPr>
          <a:xfrm>
            <a:off x="868680" y="5102352"/>
            <a:ext cx="566928" cy="56692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6" name="Text 24"/>
          <p:cNvSpPr/>
          <p:nvPr/>
        </p:nvSpPr>
        <p:spPr>
          <a:xfrm>
            <a:off x="868680" y="5102352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1600200" y="4946904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a corpus comes from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1600200" y="534924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file, an API, or a careful scrape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6309360" y="4800600"/>
            <a:ext cx="5394960" cy="1188720"/>
          </a:xfrm>
          <a:prstGeom prst="roundRect">
            <a:avLst>
              <a:gd name="adj" fmla="val 7692"/>
            </a:avLst>
          </a:prstGeom>
          <a:solidFill>
            <a:srgbClr val="F4EEE8"/>
          </a:solidFill>
          <a:ln/>
        </p:spPr>
      </p:sp>
      <p:sp>
        <p:nvSpPr>
          <p:cNvPr id="30" name="Shape 28"/>
          <p:cNvSpPr/>
          <p:nvPr/>
        </p:nvSpPr>
        <p:spPr>
          <a:xfrm>
            <a:off x="6537960" y="5102352"/>
            <a:ext cx="566928" cy="56692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31" name="Text 29"/>
          <p:cNvSpPr/>
          <p:nvPr/>
        </p:nvSpPr>
        <p:spPr>
          <a:xfrm>
            <a:off x="6537960" y="5102352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2000" dirty="0"/>
          </a:p>
        </p:txBody>
      </p:sp>
      <p:sp>
        <p:nvSpPr>
          <p:cNvPr id="32" name="Text 30"/>
          <p:cNvSpPr/>
          <p:nvPr/>
        </p:nvSpPr>
        <p:spPr>
          <a:xfrm>
            <a:off x="7269480" y="4946904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 and commit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7269480" y="534924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data in Drive, your repo born, your project pitched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 · THIS WEEK'S READING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century, measured as distance</a:t>
            </a:r>
            <a:endParaRPr lang="en-US" sz="3400" dirty="0"/>
          </a:p>
        </p:txBody>
      </p:sp>
      <p:pic>
        <p:nvPicPr>
          <p:cNvPr id="4" name="Image 0" descr="/tmp/figs/w4_paper_tim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737360" y="1737360"/>
            <a:ext cx="8778240" cy="40233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Blue: how far occupation words sit from she-words versus he-words, decade by decade. Green: the share of women actually in those jobs.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Fig. 1b, Garg, Schiebinger, Jurafsky &amp; Zou, PNAS 2018 (arXiv:1711.08412) · shown for teaching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IS EVIDENCE AND NOT A DEMO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vectors agree with the census</a:t>
            </a:r>
            <a:endParaRPr lang="en-US" sz="3400" dirty="0"/>
          </a:p>
        </p:txBody>
      </p:sp>
      <p:pic>
        <p:nvPicPr>
          <p:cNvPr id="4" name="Image 0" descr="/tmp/figs/w4_paper_validatio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920240" y="1737360"/>
            <a:ext cx="8412480" cy="40233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dot per occupation. Right on the x-axis: the word sits closer to she-words. Up on the y-axis: more women in the job.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Fig. 1a, Garg, Schiebinger, Jurafsky &amp; Zou, PNAS 2018 (arXiv:1711.08412) · shown for teaching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METHOD, POINTED AT ADJECTIVES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 words associated with women, by decade</a:t>
            </a:r>
            <a:endParaRPr lang="en-US" sz="3400" dirty="0"/>
          </a:p>
        </p:txBody>
      </p:sp>
      <p:pic>
        <p:nvPicPr>
          <p:cNvPr id="4" name="Image 0" descr="/tmp/figs/w4_paper_adjectiv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291840" y="1691640"/>
            <a:ext cx="5577840" cy="41148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1910 to 1990, from the same embeddings. Read the columns down, then argue about the last one.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Fig. 2a, Garg, Schiebinger, Jurafsky &amp; Zou, PNAS 2018 (arXiv:1711.08412) · shown for teaching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Before you believe the curve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10881360" cy="987552"/>
          </a:xfrm>
          <a:prstGeom prst="roundRect">
            <a:avLst>
              <a:gd name="adj" fmla="val 9259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2194560"/>
            <a:ext cx="320040" cy="3200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463040" y="2011680"/>
            <a:ext cx="978408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Whose century is it? Google Books and COHA are what got printed and digitised. Is the shift in the country, or in publishing?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40080" y="3090672"/>
            <a:ext cx="10881360" cy="987552"/>
          </a:xfrm>
          <a:prstGeom prst="roundRect">
            <a:avLst>
              <a:gd name="adj" fmla="val 9259"/>
            </a:avLst>
          </a:prstGeom>
          <a:solidFill>
            <a:srgbClr val="F4EEE8"/>
          </a:solidFill>
          <a:ln/>
        </p:spPr>
      </p:sp>
      <p:sp>
        <p:nvSpPr>
          <p:cNvPr id="8" name="Shape 6"/>
          <p:cNvSpPr/>
          <p:nvPr/>
        </p:nvSpPr>
        <p:spPr>
          <a:xfrm>
            <a:off x="914400" y="3364992"/>
            <a:ext cx="320040" cy="3200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9" name="Text 7"/>
          <p:cNvSpPr/>
          <p:nvPr/>
        </p:nvSpPr>
        <p:spPr>
          <a:xfrm>
            <a:off x="1463040" y="3182112"/>
            <a:ext cx="978408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 chose the words? Someone decided which words count as female and which jobs count as occupations. Where in the paper is that list?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40080" y="4261104"/>
            <a:ext cx="10881360" cy="987552"/>
          </a:xfrm>
          <a:prstGeom prst="roundRect">
            <a:avLst>
              <a:gd name="adj" fmla="val 9259"/>
            </a:avLst>
          </a:prstGeom>
          <a:solidFill>
            <a:srgbClr val="F4EEE8"/>
          </a:solidFill>
          <a:ln/>
        </p:spPr>
      </p:sp>
      <p:sp>
        <p:nvSpPr>
          <p:cNvPr id="11" name="Shape 9"/>
          <p:cNvSpPr/>
          <p:nvPr/>
        </p:nvSpPr>
        <p:spPr>
          <a:xfrm>
            <a:off x="914400" y="4535424"/>
            <a:ext cx="320040" cy="3200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Text 10"/>
          <p:cNvSpPr/>
          <p:nvPr/>
        </p:nvSpPr>
        <p:spPr>
          <a:xfrm>
            <a:off x="1463040" y="4352544"/>
            <a:ext cx="978408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bias it detects is the bias in the text - the same geometry that makes king - man + woman work. Can you keep one and refuse the other?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40080" y="5431536"/>
            <a:ext cx="10881360" cy="987552"/>
          </a:xfrm>
          <a:prstGeom prst="roundRect">
            <a:avLst>
              <a:gd name="adj" fmla="val 9259"/>
            </a:avLst>
          </a:prstGeom>
          <a:solidFill>
            <a:srgbClr val="F4EEE8"/>
          </a:solidFill>
          <a:ln/>
        </p:spPr>
      </p:sp>
      <p:sp>
        <p:nvSpPr>
          <p:cNvPr id="14" name="Shape 12"/>
          <p:cNvSpPr/>
          <p:nvPr/>
        </p:nvSpPr>
        <p:spPr>
          <a:xfrm>
            <a:off x="914400" y="5705856"/>
            <a:ext cx="320040" cy="320040"/>
          </a:xfrm>
          <a:prstGeom prst="ellipse">
            <a:avLst/>
          </a:prstGeom>
          <a:solidFill>
            <a:srgbClr val="2E5F8A"/>
          </a:solidFill>
          <a:ln/>
        </p:spPr>
      </p:sp>
      <p:sp>
        <p:nvSpPr>
          <p:cNvPr id="15" name="Text 13"/>
          <p:cNvSpPr/>
          <p:nvPr/>
        </p:nvSpPr>
        <p:spPr>
          <a:xfrm>
            <a:off x="1463040" y="5522976"/>
            <a:ext cx="978408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would convince you? Name the check you would want run before repeating this finding out loud.</a:t>
            </a:r>
            <a:endParaRPr lang="en-US" sz="13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 ONE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 already built a neuron</a:t>
            </a:r>
            <a:endParaRPr lang="en-US" sz="3400" dirty="0"/>
          </a:p>
        </p:txBody>
      </p:sp>
      <p:pic>
        <p:nvPicPr>
          <p:cNvPr id="4" name="Image 0" descr="/tmp/figs/w4_neuro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463040" y="1737360"/>
            <a:ext cx="9235440" cy="41148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Counts in, one weight each, add them up, squash. Week 3's classifier is one neuron.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 ONE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Stack them and something changes</a:t>
            </a:r>
            <a:endParaRPr lang="en-US" sz="3400" dirty="0"/>
          </a:p>
        </p:txBody>
      </p:sp>
      <p:pic>
        <p:nvPicPr>
          <p:cNvPr id="4" name="Image 0" descr="/tmp/figs/w4_netwo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463040" y="1737360"/>
            <a:ext cx="9235440" cy="41148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neurons in between, each adding up every word in its own way. Nobody chose those combinations.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COSTS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 stop being able to read it</a:t>
            </a:r>
            <a:endParaRPr lang="en-US" sz="3400" dirty="0"/>
          </a:p>
        </p:txBody>
      </p:sp>
      <p:pic>
        <p:nvPicPr>
          <p:cNvPr id="4" name="Image 0" descr="/tmp/figs/w4_readability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280160" y="1783080"/>
            <a:ext cx="9601200" cy="39319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Same passages, same job: 100% against 99%. You can read the left panel and say why. You cannot do that with the right one.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fitted for this slide on 563 passages of Frankenstein and Dracula.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2E5F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Some questions a straight line cannot answer</a:t>
            </a:r>
            <a:endParaRPr lang="en-US" sz="3400" dirty="0"/>
          </a:p>
        </p:txBody>
      </p:sp>
      <p:pic>
        <p:nvPicPr>
          <p:cNvPr id="4" name="Image 0" descr="/tmp/figs/w4_spiral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097280" y="1737360"/>
            <a:ext cx="9966960" cy="41148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Same points, same training. One neuron: 70%. Two hidden layers: 99%.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models fitted for this slide. Next: the same thing live in TensorFlow Playground.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LEARNS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Rolling downhill in fog</a:t>
            </a:r>
            <a:endParaRPr lang="en-US" sz="3400" dirty="0"/>
          </a:p>
        </p:txBody>
      </p:sp>
      <p:pic>
        <p:nvPicPr>
          <p:cNvPr id="4" name="Image 0" descr="/tmp/figs/w4_gradien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194560" y="1737360"/>
            <a:ext cx="7772400" cy="41148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loss says how wrong you are. Step downhill, repeat, thousands of weights at once. No calculus today.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 TWO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counting cannot do</a:t>
            </a:r>
            <a:endParaRPr lang="en-US" sz="3400" dirty="0"/>
          </a:p>
        </p:txBody>
      </p:sp>
      <p:pic>
        <p:nvPicPr>
          <p:cNvPr id="4" name="Image 0" descr="/tmp/figs/w4_onehot_vs_dens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097280" y="1920240"/>
            <a:ext cx="9966960" cy="36576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Week 2 gave every word its own column, so night and morning have nothing in common. Nor do night and ship.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Week 3 puts one weight on each column, so what it learns about one word tells it nothing about the next. Trained vectors: night and morning 0.32, night and ship 0.08.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 TWO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Same context, pull together. Different, push apart</a:t>
            </a:r>
            <a:endParaRPr lang="en-US" sz="3400" dirty="0"/>
          </a:p>
        </p:txBody>
      </p:sp>
      <p:pic>
        <p:nvPicPr>
          <p:cNvPr id="4" name="Image 0" descr="/tmp/figs/w4_contrastive_idea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737360" y="1737360"/>
            <a:ext cx="8778240" cy="40233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 a word, a context is a few words of text. That is the whole rule. It is called contrastive learning, and most modern embeddings are trained this way.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Underneath it, Week 3's four moves: multiply, add, squash, nudge. The difference is that the prediction is thrown away and the weights are what you keep. 849,738 pairs in one pass.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VECTORS, BEFORE AND AFTER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Nobody labelled the blocks</a:t>
            </a:r>
            <a:endParaRPr lang="en-US" sz="3400" dirty="0"/>
          </a:p>
        </p:txBody>
      </p:sp>
      <p:pic>
        <p:nvPicPr>
          <p:cNvPr id="4" name="Image 0" descr="/tmp/figs/w4_contrastive_resul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371600" y="1737360"/>
            <a:ext cx="9418320" cy="40233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Twelve words, every pair compared. On the left they start as noise. On the right, times of day, family and rooms have found each other.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WORKS ON A SMALL CORPUS TOO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Trained on two novels, an hour ago</a:t>
            </a:r>
            <a:endParaRPr lang="en-US" sz="3400" dirty="0"/>
          </a:p>
        </p:txBody>
      </p:sp>
      <p:pic>
        <p:nvPicPr>
          <p:cNvPr id="4" name="Image 0" descr="/tmp/figs/w4_neighbour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554480" y="1828800"/>
            <a:ext cx="9052560" cy="39319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225,355 words of Frankenstein and Dracula, and no labels anywhere. Nobody told it what a door is.</a:t>
            </a:r>
            <a:endParaRPr lang="en-US" sz="1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2E5F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MAP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Meaning becomes geometry</a:t>
            </a:r>
            <a:endParaRPr lang="en-US" sz="3400" dirty="0"/>
          </a:p>
        </p:txBody>
      </p:sp>
      <p:pic>
        <p:nvPicPr>
          <p:cNvPr id="4" name="Image 0" descr="/tmp/figs/w4_map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011680" y="1737360"/>
            <a:ext cx="8138160" cy="41148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Family words on one side. Door, room and window on the other. Night and morning at the bottom. Nothing was labelled.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dimensions of sixty; the picture always loses something. Next: the Embedding Projector, live.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GEOMETRY, THE OTHER RESULT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Occupations closest to each group's words</a:t>
            </a:r>
            <a:endParaRPr lang="en-US" sz="3400" dirty="0"/>
          </a:p>
        </p:txBody>
      </p:sp>
      <p:pic>
        <p:nvPicPr>
          <p:cNvPr id="4" name="Image 0" descr="/tmp/figs/w4_paper_ethnic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566160" y="1691640"/>
            <a:ext cx="5120640" cy="41148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Nobody labelled any of this. It is what a century of printed English put near what.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Fig. 1c, Garg, Schiebinger, Jurafsky &amp; Zou, PNAS 2018 (arXiv:1711.08412) · shown for teaching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FAMOUS TRICK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king − man + woman ≈ queen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10881360" cy="1463040"/>
          </a:xfrm>
          <a:prstGeom prst="roundRect">
            <a:avLst>
              <a:gd name="adj" fmla="val 6250"/>
            </a:avLst>
          </a:prstGeom>
          <a:solidFill>
            <a:srgbClr val="F4EEE8"/>
          </a:solidFill>
          <a:ln/>
        </p:spPr>
      </p:sp>
      <p:sp>
        <p:nvSpPr>
          <p:cNvPr id="5" name="Text 3"/>
          <p:cNvSpPr/>
          <p:nvPr/>
        </p:nvSpPr>
        <p:spPr>
          <a:xfrm>
            <a:off x="1005840" y="2148840"/>
            <a:ext cx="10149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7A3B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king − man + woman → queen        paris − france + japan → tokyo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640080" y="3657600"/>
            <a:ext cx="557784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Directions carry relationships nobody labelled.</a:t>
            </a:r>
            <a:endParaRPr lang="en-US" sz="1600" dirty="0"/>
          </a:p>
          <a:p>
            <a:pPr marL="152400" indent="-1524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arithmetic is nudged, and most analogies fail. The famous four are the ones that worked.</a:t>
            </a:r>
            <a:endParaRPr lang="en-US" sz="1600" dirty="0"/>
          </a:p>
          <a:p>
            <a:pPr marL="152400" indent="-1524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geometry, other result: doctor − man + woman → nurse.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492240" y="3657600"/>
            <a:ext cx="5029200" cy="2194560"/>
          </a:xfrm>
          <a:prstGeom prst="roundRect">
            <a:avLst>
              <a:gd name="adj" fmla="val 4167"/>
            </a:avLst>
          </a:prstGeom>
          <a:solidFill>
            <a:srgbClr val="F4EEE8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static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686800" y="38404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vector per word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6766560" y="449884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5F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contextual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686800" y="449884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per occurrence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6766560" y="515721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sentence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8686800" y="5157216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per document — Week 5</a:t>
            </a:r>
            <a:endParaRPr lang="en-US" sz="13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2E5F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TRICK, ON PIXELS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convolution, all of it</a:t>
            </a:r>
            <a:endParaRPr lang="en-US" sz="3400" dirty="0"/>
          </a:p>
        </p:txBody>
      </p:sp>
      <p:pic>
        <p:nvPicPr>
          <p:cNvPr id="4" name="Image 0" descr="/tmp/figs/w4_conv_arith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965960"/>
            <a:ext cx="11064240" cy="32918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picture is a grid of numbers. Take nine of them, multiply by nine other numbers, add them up: -162. Move one pixel across and repeat.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Numbers read off a Met painting from the Week 1 data. Nothing else happens in a convolution.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2E5F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NINE NUMBERS DO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Change the filter, ask a different question</a:t>
            </a:r>
            <a:endParaRPr lang="en-US" sz="3400" dirty="0"/>
          </a:p>
        </p:txBody>
      </p:sp>
      <p:pic>
        <p:nvPicPr>
          <p:cNvPr id="4" name="Image 0" descr="/tmp/figs/w4_convolutio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22960" y="2011680"/>
            <a:ext cx="10515600" cy="32004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Each panel is the same painting under a different 3x3 grid. One finds vertical edges, one horizontal, one blurs.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CNN is not given these. It starts with random grids and learns which ones are worth having, by the same downhill roll as before.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2E5F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A CNN IS DEEP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Filters on top of filters</a:t>
            </a:r>
            <a:endParaRPr lang="en-US" sz="3400" dirty="0"/>
          </a:p>
        </p:txBody>
      </p:sp>
      <p:pic>
        <p:nvPicPr>
          <p:cNvPr id="4" name="Image 0" descr="/tmp/figs/w4_conv_stac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22960" y="2011680"/>
            <a:ext cx="10515600" cy="32004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 a filter over the output of the last filter, then shrink. Edges turn into corners, and corners into regions.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panel is real arithmetic on the painting to its left. Stacking them is all a CNN is.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IDEAS AT ONCE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same rule, where a context is a picture</a:t>
            </a:r>
            <a:endParaRPr lang="en-US" sz="3400" dirty="0"/>
          </a:p>
        </p:txBody>
      </p:sp>
      <p:pic>
        <p:nvPicPr>
          <p:cNvPr id="4" name="Image 0" descr="/tmp/figs/w4_clip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097280" y="1783080"/>
            <a:ext cx="9966960" cy="38404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Same context: a painting and its own caption, pulled together. Different context: anyone else's caption, pushed away. Two kinds of thing in one space.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is why "a painting of a woman in a red hat" can search a museum with no tags in it at all. The notebook trains a small one on 18 paintings.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2377440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Ten minutes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640080" y="338328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Then: where your corpus actually comes from.</a:t>
            </a:r>
            <a:endParaRPr lang="en-US" sz="1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 THE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routes, in the order you should try them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011680"/>
            <a:ext cx="10881360" cy="1143000"/>
          </a:xfrm>
          <a:prstGeom prst="roundRect">
            <a:avLst>
              <a:gd name="adj" fmla="val 8000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2304288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30428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645920" y="2176272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prepared file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572000" y="2194560"/>
            <a:ext cx="6675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pd.read_csv(url) · gdown · load_dataset(). Most projects should stop here.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40080" y="3337560"/>
            <a:ext cx="10881360" cy="1143000"/>
          </a:xfrm>
          <a:prstGeom prst="roundRect">
            <a:avLst>
              <a:gd name="adj" fmla="val 8000"/>
            </a:avLst>
          </a:prstGeom>
          <a:solidFill>
            <a:srgbClr val="F4EEE8"/>
          </a:solidFill>
          <a:ln/>
        </p:spPr>
      </p:sp>
      <p:sp>
        <p:nvSpPr>
          <p:cNvPr id="10" name="Shape 8"/>
          <p:cNvSpPr/>
          <p:nvPr/>
        </p:nvSpPr>
        <p:spPr>
          <a:xfrm>
            <a:off x="914400" y="3630168"/>
            <a:ext cx="548640" cy="548640"/>
          </a:xfrm>
          <a:prstGeom prst="ellipse">
            <a:avLst/>
          </a:prstGeom>
          <a:solidFill>
            <a:srgbClr val="2E5F8A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363016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1645920" y="3502152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 API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572000" y="3520440"/>
            <a:ext cx="6675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documented URL that returns JSON. Four words: endpoint, key, pagination, rate limit.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640080" y="4663440"/>
            <a:ext cx="10881360" cy="1143000"/>
          </a:xfrm>
          <a:prstGeom prst="roundRect">
            <a:avLst>
              <a:gd name="adj" fmla="val 8000"/>
            </a:avLst>
          </a:prstGeom>
          <a:solidFill>
            <a:srgbClr val="F4EEE8"/>
          </a:solidFill>
          <a:ln/>
        </p:spPr>
      </p:sp>
      <p:sp>
        <p:nvSpPr>
          <p:cNvPr id="15" name="Shape 13"/>
          <p:cNvSpPr/>
          <p:nvPr/>
        </p:nvSpPr>
        <p:spPr>
          <a:xfrm>
            <a:off x="914400" y="4956048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495604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1645920" y="4828032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careful scrape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572000" y="4846320"/>
            <a:ext cx="6675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when there is no file and no API. Slowly, and never republished.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640080" y="626364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licensing line decides which routes are even open to you. That is the next slide.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2E5F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TWO, LIVE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URL, some JSON, and then a table</a:t>
            </a:r>
            <a:endParaRPr lang="en-US" sz="3400" dirty="0"/>
          </a:p>
        </p:txBody>
      </p:sp>
      <p:pic>
        <p:nvPicPr>
          <p:cNvPr id="4" name="Image 0" descr="/tmp/figs/w4_api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097280" y="1920240"/>
            <a:ext cx="9966960" cy="37490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 endpoint is a URL that answers with data. A key is a name badge. Pagination hands you a page at a time.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 panel: a real response, live from api.artic.edu. The AI writes the three lines that make the table.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THREE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Scraping, and the four things that come with it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011680"/>
            <a:ext cx="10881360" cy="914400"/>
          </a:xfrm>
          <a:prstGeom prst="roundRect">
            <a:avLst>
              <a:gd name="adj" fmla="val 10000"/>
            </a:avLst>
          </a:prstGeom>
          <a:solidFill>
            <a:srgbClr val="F4EEE8"/>
          </a:solidFill>
          <a:ln/>
        </p:spPr>
      </p:sp>
      <p:sp>
        <p:nvSpPr>
          <p:cNvPr id="5" name="Text 3"/>
          <p:cNvSpPr/>
          <p:nvPr/>
        </p:nvSpPr>
        <p:spPr>
          <a:xfrm>
            <a:off x="960120" y="210312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 robots.txt and the terms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5120640" y="2103120"/>
            <a:ext cx="6126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the first request, not after the complaint.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40080" y="3063240"/>
            <a:ext cx="10881360" cy="914400"/>
          </a:xfrm>
          <a:prstGeom prst="roundRect">
            <a:avLst>
              <a:gd name="adj" fmla="val 10000"/>
            </a:avLst>
          </a:prstGeom>
          <a:solidFill>
            <a:srgbClr val="F4EEE8"/>
          </a:solidFill>
          <a:ln/>
        </p:spPr>
      </p:sp>
      <p:sp>
        <p:nvSpPr>
          <p:cNvPr id="8" name="Text 6"/>
          <p:cNvSpPr/>
          <p:nvPr/>
        </p:nvSpPr>
        <p:spPr>
          <a:xfrm>
            <a:off x="960120" y="315468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Request slowly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5120640" y="3154680"/>
            <a:ext cx="6126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page every couple of seconds. You are a guest on someone's server.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40080" y="4114800"/>
            <a:ext cx="10881360" cy="914400"/>
          </a:xfrm>
          <a:prstGeom prst="roundRect">
            <a:avLst>
              <a:gd name="adj" fmla="val 10000"/>
            </a:avLst>
          </a:prstGeom>
          <a:solidFill>
            <a:srgbClr val="F4EEE8"/>
          </a:solidFill>
          <a:ln/>
        </p:spPr>
      </p:sp>
      <p:sp>
        <p:nvSpPr>
          <p:cNvPr id="11" name="Text 9"/>
          <p:cNvSpPr/>
          <p:nvPr/>
        </p:nvSpPr>
        <p:spPr>
          <a:xfrm>
            <a:off x="960120" y="420624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Take only what you need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5120640" y="4206240"/>
            <a:ext cx="6126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fields your question uses, not the whole site.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40080" y="5166360"/>
            <a:ext cx="10881360" cy="914400"/>
          </a:xfrm>
          <a:prstGeom prst="roundRect">
            <a:avLst>
              <a:gd name="adj" fmla="val 10000"/>
            </a:avLst>
          </a:prstGeom>
          <a:solidFill>
            <a:srgbClr val="F4EEE8"/>
          </a:solidFill>
          <a:ln/>
        </p:spPr>
      </p:sp>
      <p:sp>
        <p:nvSpPr>
          <p:cNvPr id="14" name="Text 12"/>
          <p:cNvSpPr/>
          <p:nvPr/>
        </p:nvSpPr>
        <p:spPr>
          <a:xfrm>
            <a:off x="960120" y="525780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E5F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Never republish the text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5120640" y="5257800"/>
            <a:ext cx="6126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 it, quote it, count it. Do not hand it on.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640080" y="630936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CC0 and public domain: go anywhere.   Academic sets and community text: analyse, don't redistribute.   Shadow libraries: never.</a:t>
            </a:r>
            <a:endParaRPr lang="en-US" sz="12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TURN · 20 MINUTES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Collect it, save it, start the repo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10881360" cy="1097280"/>
          </a:xfrm>
          <a:prstGeom prst="roundRect">
            <a:avLst>
              <a:gd name="adj" fmla="val 8333"/>
            </a:avLst>
          </a:prstGeom>
          <a:solidFill>
            <a:srgbClr val="F4EEE8"/>
          </a:solidFill>
          <a:ln/>
        </p:spPr>
      </p:sp>
      <p:sp>
        <p:nvSpPr>
          <p:cNvPr id="5" name="Text 3"/>
          <p:cNvSpPr/>
          <p:nvPr/>
        </p:nvSpPr>
        <p:spPr>
          <a:xfrm>
            <a:off x="1005840" y="2240280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file in your Drive folder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5394960" y="2240280"/>
            <a:ext cx="5760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5 starts from it. Colab forgets everything else.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10881360" cy="1097280"/>
          </a:xfrm>
          <a:prstGeom prst="roundRect">
            <a:avLst>
              <a:gd name="adj" fmla="val 8333"/>
            </a:avLst>
          </a:prstGeom>
          <a:solidFill>
            <a:srgbClr val="F4EEE8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520440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E5F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repo with Pages switched on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5394960" y="3520440"/>
            <a:ext cx="5760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a live URL exists today, not in Week 9 under deadline.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40080" y="4663440"/>
            <a:ext cx="10881360" cy="1097280"/>
          </a:xfrm>
          <a:prstGeom prst="roundRect">
            <a:avLst>
              <a:gd name="adj" fmla="val 8333"/>
            </a:avLst>
          </a:prstGeom>
          <a:solidFill>
            <a:srgbClr val="F4EEE8"/>
          </a:solidFill>
          <a:ln/>
        </p:spPr>
      </p:sp>
      <p:sp>
        <p:nvSpPr>
          <p:cNvPr id="11" name="Text 9"/>
          <p:cNvSpPr/>
          <p:nvPr/>
        </p:nvSpPr>
        <p:spPr>
          <a:xfrm>
            <a:off x="1005840" y="4800600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minutes of pitch, to a partner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5394960" y="4800600"/>
            <a:ext cx="5760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corpus, two methods, what would count as a finding.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40080" y="626364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null result, honestly shown, is a complete project. The pivot kit is insurance, not a demotion.</a:t>
            </a:r>
            <a:endParaRPr lang="en-US" sz="11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WEEK 5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Homework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51560" y="19202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Biography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051560" y="2286000"/>
            <a:ext cx="9875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~400 words: where it came from, who is in it, who is missing, what it cannot tell you.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51560" y="3246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 it for real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051560" y="3611880"/>
            <a:ext cx="9875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cookbook notebook, and leave the file in Drive. Week 5 begins there.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40080" y="4709160"/>
            <a:ext cx="219456" cy="219456"/>
          </a:xfrm>
          <a:prstGeom prst="ellipse">
            <a:avLst/>
          </a:prstGeom>
          <a:solidFill>
            <a:srgbClr val="E8DCD6"/>
          </a:solidFill>
          <a:ln/>
        </p:spPr>
      </p:sp>
      <p:sp>
        <p:nvSpPr>
          <p:cNvPr id="11" name="Text 9"/>
          <p:cNvSpPr/>
          <p:nvPr/>
        </p:nvSpPr>
        <p:spPr>
          <a:xfrm>
            <a:off x="1051560" y="45720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 with the map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051560" y="4937760"/>
            <a:ext cx="9875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 Projector: a word from your corpus, one neighbour that makes sense and one that does not.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40080" y="603504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week: embeddings on YOUR corpus, all session. Bring the file.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2026-08-08T15:12:24Z</dcterms:created>
  <dcterms:modified xsi:type="dcterms:W3CDTF">2026-08-08T15:12:24Z</dcterms:modified>
</cp:coreProperties>
</file>