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· WEEK 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8288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Machines Learn to Read: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269748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DC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Neural Networks and Word Embeddings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9601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Week 3 classifier is one neuron. Today it grows, learns to place words by the</a:t>
            </a:r>
            <a:endParaRPr lang="en-US" sz="17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7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they keep, and then you go and collect the data you will use it on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10332720" y="566928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7" name="Shape 5"/>
          <p:cNvSpPr/>
          <p:nvPr/>
        </p:nvSpPr>
        <p:spPr>
          <a:xfrm>
            <a:off x="10716768" y="566928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Shape 6"/>
          <p:cNvSpPr/>
          <p:nvPr/>
        </p:nvSpPr>
        <p:spPr>
          <a:xfrm>
            <a:off x="11100816" y="566928"/>
            <a:ext cx="201168" cy="201168"/>
          </a:xfrm>
          <a:prstGeom prst="ellipse">
            <a:avLst/>
          </a:prstGeom>
          <a:solidFill>
            <a:srgbClr val="E8DCD6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ideas, then the practical half hour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267712"/>
            <a:ext cx="566928" cy="56692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2677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00200" y="211226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century, measured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00200" y="251460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Garg et al.: stereotype change read off an embedding space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09360" y="196596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10" name="Shape 8"/>
          <p:cNvSpPr/>
          <p:nvPr/>
        </p:nvSpPr>
        <p:spPr>
          <a:xfrm>
            <a:off x="6537960" y="2267712"/>
            <a:ext cx="566928" cy="5669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22677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269480" y="211226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neuron, then many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269480" y="251460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classifier, stacked, and what that gains and costs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38328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15" name="Shape 13"/>
          <p:cNvSpPr/>
          <p:nvPr/>
        </p:nvSpPr>
        <p:spPr>
          <a:xfrm>
            <a:off x="868680" y="3685032"/>
            <a:ext cx="566928" cy="56692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368503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600200" y="352958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 as vectors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600200" y="393192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context pull together, different context push apart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309360" y="338328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20" name="Shape 18"/>
          <p:cNvSpPr/>
          <p:nvPr/>
        </p:nvSpPr>
        <p:spPr>
          <a:xfrm>
            <a:off x="6537960" y="3685032"/>
            <a:ext cx="566928" cy="566928"/>
          </a:xfrm>
          <a:prstGeom prst="ellipse">
            <a:avLst/>
          </a:prstGeom>
          <a:solidFill>
            <a:srgbClr val="2E5F8A"/>
          </a:solidFill>
          <a:ln/>
        </p:spPr>
      </p:sp>
      <p:sp>
        <p:nvSpPr>
          <p:cNvPr id="21" name="Text 19"/>
          <p:cNvSpPr/>
          <p:nvPr/>
        </p:nvSpPr>
        <p:spPr>
          <a:xfrm>
            <a:off x="6537960" y="368503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269480" y="352958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rule on pixels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269480" y="393192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Convolutions, and how CLIP searches a museum by typing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480060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25" name="Shape 23"/>
          <p:cNvSpPr/>
          <p:nvPr/>
        </p:nvSpPr>
        <p:spPr>
          <a:xfrm>
            <a:off x="868680" y="5102352"/>
            <a:ext cx="566928" cy="56692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6" name="Text 24"/>
          <p:cNvSpPr/>
          <p:nvPr/>
        </p:nvSpPr>
        <p:spPr>
          <a:xfrm>
            <a:off x="868680" y="510235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1600200" y="494690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an API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600200" y="534924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look at before you write the loop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309360" y="480060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30" name="Shape 28"/>
          <p:cNvSpPr/>
          <p:nvPr/>
        </p:nvSpPr>
        <p:spPr>
          <a:xfrm>
            <a:off x="6537960" y="5102352"/>
            <a:ext cx="566928" cy="5669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31" name="Text 29"/>
          <p:cNvSpPr/>
          <p:nvPr/>
        </p:nvSpPr>
        <p:spPr>
          <a:xfrm>
            <a:off x="6537960" y="510235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7269480" y="494690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careful scrape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7269480" y="534924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the data in a page, and the four rules attached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 · THIS WEEK'S READING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century, measured as distance</a:t>
            </a:r>
            <a:endParaRPr lang="en-US" sz="3400" dirty="0"/>
          </a:p>
        </p:txBody>
      </p:sp>
      <p:pic>
        <p:nvPicPr>
          <p:cNvPr id="4" name="Image 0" descr="/tmp/figs/w4_paper_tim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737360" y="1737360"/>
            <a:ext cx="8778240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Blue: how far occupation words sit from she-words versus he-words, decade by decade. Green: the share of women actually in those jobs.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1b, Garg, Schiebinger, Jurafsky &amp; Zou, PNAS 2018 (arXiv:1711.08412) · shown for teaching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IS EVIDENCE AND NOT A DEMO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vectors agree with the census</a:t>
            </a:r>
            <a:endParaRPr lang="en-US" sz="3400" dirty="0"/>
          </a:p>
        </p:txBody>
      </p:sp>
      <p:pic>
        <p:nvPicPr>
          <p:cNvPr id="4" name="Image 0" descr="/tmp/figs/w4_paper_valida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920240" y="1737360"/>
            <a:ext cx="8412480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dot per occupation. Right on the x-axis: the word sits closer to she-words. Up on the y-axis: more women in the job.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1a, Garg, Schiebinger, Jurafsky &amp; Zou, PNAS 2018 (arXiv:1711.08412) · shown for teaching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METHOD, POINTED AT ADJECTIVES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words associated with women, by decade</a:t>
            </a:r>
            <a:endParaRPr lang="en-US" sz="3400" dirty="0"/>
          </a:p>
        </p:txBody>
      </p:sp>
      <p:pic>
        <p:nvPicPr>
          <p:cNvPr id="4" name="Image 0" descr="/tmp/figs/w4_paper_adjecti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91840" y="1691640"/>
            <a:ext cx="557784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1910 to 1990, from the same embeddings. Read the columns down, then argue about the last one.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2a, Garg, Schiebinger, Jurafsky &amp; Zou, PNAS 2018 (arXiv:1711.08412) · shown for teaching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you believe the curve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194560"/>
            <a:ext cx="320040" cy="3200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463040" y="2011680"/>
            <a:ext cx="9784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century is it? Google Books and COHA are what got printed and digitised. Is the shift in the country, or in publishing?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3090672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4EEE8"/>
          </a:solidFill>
          <a:ln/>
        </p:spPr>
      </p:sp>
      <p:sp>
        <p:nvSpPr>
          <p:cNvPr id="8" name="Shape 6"/>
          <p:cNvSpPr/>
          <p:nvPr/>
        </p:nvSpPr>
        <p:spPr>
          <a:xfrm>
            <a:off x="914400" y="3364992"/>
            <a:ext cx="320040" cy="3200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9" name="Text 7"/>
          <p:cNvSpPr/>
          <p:nvPr/>
        </p:nvSpPr>
        <p:spPr>
          <a:xfrm>
            <a:off x="1463040" y="3182112"/>
            <a:ext cx="9784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chose the words? Someone decided which words count as female and which jobs count as occupations. Where in the paper is that list?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4261104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4EEE8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4535424"/>
            <a:ext cx="320040" cy="3200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Text 10"/>
          <p:cNvSpPr/>
          <p:nvPr/>
        </p:nvSpPr>
        <p:spPr>
          <a:xfrm>
            <a:off x="1463040" y="4352544"/>
            <a:ext cx="9784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bias it detects is the bias in the text - the same geometry that makes king - man + woman work. Can you keep one and refuse the other?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5431536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4EEE8"/>
          </a:solidFill>
          <a:ln/>
        </p:spPr>
      </p:sp>
      <p:sp>
        <p:nvSpPr>
          <p:cNvPr id="14" name="Shape 12"/>
          <p:cNvSpPr/>
          <p:nvPr/>
        </p:nvSpPr>
        <p:spPr>
          <a:xfrm>
            <a:off x="914400" y="5705856"/>
            <a:ext cx="320040" cy="320040"/>
          </a:xfrm>
          <a:prstGeom prst="ellipse">
            <a:avLst/>
          </a:prstGeom>
          <a:solidFill>
            <a:srgbClr val="2E5F8A"/>
          </a:solidFill>
          <a:ln/>
        </p:spPr>
      </p:sp>
      <p:sp>
        <p:nvSpPr>
          <p:cNvPr id="15" name="Text 13"/>
          <p:cNvSpPr/>
          <p:nvPr/>
        </p:nvSpPr>
        <p:spPr>
          <a:xfrm>
            <a:off x="1463040" y="5522976"/>
            <a:ext cx="9784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would convince you? Name the check you would want run before repeating this finding out loud.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ONE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already built a neuron</a:t>
            </a:r>
            <a:endParaRPr lang="en-US" sz="3400" dirty="0"/>
          </a:p>
        </p:txBody>
      </p:sp>
      <p:pic>
        <p:nvPicPr>
          <p:cNvPr id="4" name="Image 0" descr="/tmp/figs/w4_neur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463040" y="1737360"/>
            <a:ext cx="923544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Counts in, one weight each, add them up, squash. Week 3's classifier is one neuron.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ONE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Stack them and they learn combinations</a:t>
            </a:r>
            <a:endParaRPr lang="en-US" sz="3400" dirty="0"/>
          </a:p>
        </p:txBody>
      </p:sp>
      <p:pic>
        <p:nvPicPr>
          <p:cNvPr id="4" name="Image 0" descr="/tmp/figs/w4_netwo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463040" y="1737360"/>
            <a:ext cx="923544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neurons in between, each adding up every word in its own way. Nobody chose those combinations.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COSTS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stop being able to read it</a:t>
            </a:r>
            <a:endParaRPr lang="en-US" sz="3400" dirty="0"/>
          </a:p>
        </p:txBody>
      </p:sp>
      <p:pic>
        <p:nvPicPr>
          <p:cNvPr id="4" name="Image 0" descr="/tmp/figs/w4_readabil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280160" y="1783080"/>
            <a:ext cx="9601200" cy="3931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passages, same job: 100% against 99%. You can read the left panel. You cannot read the right one.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fitted for this slide on 563 passages of Frankenstein and Dracula.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BELIEVE THE NUMBER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a harder question and watch it drop</a:t>
            </a:r>
            <a:endParaRPr lang="en-US" sz="3400" dirty="0"/>
          </a:p>
        </p:txBody>
      </p:sp>
      <p:pic>
        <p:nvPicPr>
          <p:cNvPr id="4" name="Image 0" descr="/tmp/figs/w4_h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011680" y="1783080"/>
            <a:ext cx="8138160" cy="3931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authors with different casts: anything gets that right. Three narrators inside one book is a real question, and the models drop to 71% and 77%.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left-hand 100% is a fact about the question, not proof the method works. Journals parsed from the chapter headings: 427 passages, Jonathan, Mina and Seward.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NEED THE EXTRA LAYER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question a line can answer, one it cannot</a:t>
            </a:r>
            <a:endParaRPr lang="en-US" sz="3400" dirty="0"/>
          </a:p>
        </p:txBody>
      </p:sp>
      <p:pic>
        <p:nvPicPr>
          <p:cNvPr id="4" name="Image 0" descr="/tmp/figs/w4_mean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828800"/>
            <a:ext cx="11064240" cy="3657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"Which side?" is a direction: a line gets 100%. "How far from the middle?" is a distance: 68% for the line, 100% for the network.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Valence and arousal for 13,915 words, Warriner, Kuperman &amp; Brysbaert (2013), fetched at build time. Osgood's dimensions, measured again. Next: Playground on the XOR set.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LEARNS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Rolling downhill in fog</a:t>
            </a:r>
            <a:endParaRPr lang="en-US" sz="3400" dirty="0"/>
          </a:p>
        </p:txBody>
      </p:sp>
      <p:pic>
        <p:nvPicPr>
          <p:cNvPr id="4" name="Image 0" descr="/tmp/figs/w4_gradien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94560" y="1737360"/>
            <a:ext cx="777240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loss is one number saying how wrong you are. Step downhill, repeat, for thousands of weights at once. No calculus today.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TWO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counting cannot do</a:t>
            </a:r>
            <a:endParaRPr lang="en-US" sz="3400" dirty="0"/>
          </a:p>
        </p:txBody>
      </p:sp>
      <p:pic>
        <p:nvPicPr>
          <p:cNvPr id="4" name="Image 0" descr="/tmp/figs/w4_onehot_vs_dens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97280" y="1920240"/>
            <a:ext cx="9966960" cy="3657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 2 gave every word its own column, so night and morning have nothing in common. Nor do night and ship.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Week 3 puts one weight on each column, so what it learns about one word tells it nothing about the next. Trained vectors: night and morning 0.32, night and ship 0.08.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 UNDERNEATH ALL OF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“You shall know a word by the company it keeps”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“The meaning of a word is its use in the language.”</a:t>
            </a:r>
            <a:pPr indent="0" marL="0">
              <a:buNone/>
            </a:pPr>
            <a:r>
              <a:rPr lang="en-US" sz="1300" dirty="0">
                <a:solidFill>
                  <a:srgbClr val="6B6B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Wittgenstein, Philosophical Investigations §43 (1953)</a:t>
            </a:r>
            <a:endParaRPr lang="en-US" sz="1700" dirty="0"/>
          </a:p>
        </p:txBody>
      </p:sp>
      <p:pic>
        <p:nvPicPr>
          <p:cNvPr id="5" name="Image 0" descr="/tmp/figs/w4_distribution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0" y="2148840"/>
            <a:ext cx="10332720" cy="3291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the room before you show the answer. Nobody needs a definition. The contexts are enough.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Frege 1884, never ask for the meaning of a word in isolation · Harris 1954, the distributional hypothesis · Firth 1957, the title. Lines drawn live from this week's corpus.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TWO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context, pull together. Different, push apart</a:t>
            </a:r>
            <a:endParaRPr lang="en-US" sz="3400" dirty="0"/>
          </a:p>
        </p:txBody>
      </p:sp>
      <p:pic>
        <p:nvPicPr>
          <p:cNvPr id="4" name="Image 0" descr="/tmp/figs/w4_contrastive_ide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737360" y="1737360"/>
            <a:ext cx="8778240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a word, a context is a few words of text. That is the whole rule, and it is how most modern embeddings are trained.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Underneath it, Week 3's four moves: multiply, add, squash, nudge. The prediction gets thrown away; the weights are what you keep. 849,738 pairs in one pass.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VECTORS, BEFORE AND AFTER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Nobody labelled the blocks</a:t>
            </a:r>
            <a:endParaRPr lang="en-US" sz="3400" dirty="0"/>
          </a:p>
        </p:txBody>
      </p:sp>
      <p:pic>
        <p:nvPicPr>
          <p:cNvPr id="4" name="Image 0" descr="/tmp/figs/w4_contrastive_resul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371600" y="1737360"/>
            <a:ext cx="9418320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Twelve words, every pair compared. On the left they start as noise. On the right, times of day, family and rooms have found each other.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WORKS ON A SMALL CORPUS TOO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Trained on two novels, an hour ago</a:t>
            </a:r>
            <a:endParaRPr lang="en-US" sz="3400" dirty="0"/>
          </a:p>
        </p:txBody>
      </p:sp>
      <p:pic>
        <p:nvPicPr>
          <p:cNvPr id="4" name="Image 0" descr="/tmp/figs/w4_neighbour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554480" y="1828800"/>
            <a:ext cx="9052560" cy="3931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225,355 words of Frankenstein and Dracula. Nobody told it what a door is.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Meaning becomes geometry</a:t>
            </a:r>
            <a:endParaRPr lang="en-US" sz="3400" dirty="0"/>
          </a:p>
        </p:txBody>
      </p:sp>
      <p:pic>
        <p:nvPicPr>
          <p:cNvPr id="4" name="Image 0" descr="/tmp/figs/w4_ma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011680" y="1737360"/>
            <a:ext cx="813816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Family words on one side. Door, room and window on the other. Night and morning at the bottom. Nothing was labelled.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dimensions out of sixty, so the picture loses a lot. Next: the Embedding Projector, live.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GEOMETRY, THE OTHER RESULT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Occupations closest to each group's words</a:t>
            </a:r>
            <a:endParaRPr lang="en-US" sz="3400" dirty="0"/>
          </a:p>
        </p:txBody>
      </p:sp>
      <p:pic>
        <p:nvPicPr>
          <p:cNvPr id="4" name="Image 0" descr="/tmp/figs/w4_paper_ethni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566160" y="1691640"/>
            <a:ext cx="512064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Nobody labelled any of this. It is what a century of printed English put side by side.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1c, Garg, Schiebinger, Jurafsky &amp; Zou, PNAS 2018 (arXiv:1711.08412) · shown for teaching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FAMOUS TRICK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king − man + woman ≈ queen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881360" cy="1463040"/>
          </a:xfrm>
          <a:prstGeom prst="roundRect">
            <a:avLst>
              <a:gd name="adj" fmla="val 6250"/>
            </a:avLst>
          </a:prstGeom>
          <a:solidFill>
            <a:srgbClr val="F4EEE8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2148840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7A3B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king − man + woman → queen        paris − france + japan → tokyo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640080" y="3657600"/>
            <a:ext cx="557784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Directions carry relationships nobody labelled.</a:t>
            </a:r>
            <a:endParaRPr lang="en-US" sz="16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arithmetic is nudged, and most analogies fail. The famous four are the ones that worked.</a:t>
            </a:r>
            <a:endParaRPr lang="en-US" sz="16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geometry, other result: doctor − man + woman → nurse.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92240" y="3657600"/>
            <a:ext cx="5029200" cy="2194560"/>
          </a:xfrm>
          <a:prstGeom prst="roundRect">
            <a:avLst>
              <a:gd name="adj" fmla="val 4167"/>
            </a:avLst>
          </a:prstGeom>
          <a:solidFill>
            <a:srgbClr val="F4EEE8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static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0" y="38404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vector per word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766560" y="449884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5F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contextual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686800" y="449884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 occurrence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766560" y="515721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sentence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686800" y="515721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 document — Week 5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TRICK, ON PIXELS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convolution, all of it</a:t>
            </a:r>
            <a:endParaRPr lang="en-US" sz="3400" dirty="0"/>
          </a:p>
        </p:txBody>
      </p:sp>
      <p:pic>
        <p:nvPicPr>
          <p:cNvPr id="4" name="Image 0" descr="/tmp/figs/w4_conv_arith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965960"/>
            <a:ext cx="11064240" cy="32918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picture is a grid of numbers. Take nine of them, multiply by nine other numbers, add them up: -162. Move one pixel across and repeat.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read off a Met painting from the Week 1 data. Nothing else happens in a convolution.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NINE NUMBERS DO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the filter, ask a different question</a:t>
            </a:r>
            <a:endParaRPr lang="en-US" sz="3400" dirty="0"/>
          </a:p>
        </p:txBody>
      </p:sp>
      <p:pic>
        <p:nvPicPr>
          <p:cNvPr id="4" name="Image 0" descr="/tmp/figs/w4_convolu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2011680"/>
            <a:ext cx="10515600" cy="3200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panel is the same painting under a different 3x3 grid. One finds vertical edges, one horizontal, one blurs.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CNN is not given these. It starts with random grids and learns which ones are worth having, by the same downhill roll as before.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CNN IS DEEP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Filters on top of filters</a:t>
            </a:r>
            <a:endParaRPr lang="en-US" sz="3400" dirty="0"/>
          </a:p>
        </p:txBody>
      </p:sp>
      <p:pic>
        <p:nvPicPr>
          <p:cNvPr id="4" name="Image 0" descr="/tmp/figs/w4_conv_stac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2011680"/>
            <a:ext cx="10515600" cy="3200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a filter over the output of the last filter, then shrink. Edges turn into corners, and corners into regions.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panel is real arithmetic on the painting to its left. Stacking them is what a CNN does.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IDEAS AT ONCE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rule, where a context is a picture</a:t>
            </a:r>
            <a:endParaRPr lang="en-US" sz="3400" dirty="0"/>
          </a:p>
        </p:txBody>
      </p:sp>
      <p:pic>
        <p:nvPicPr>
          <p:cNvPr id="4" name="Image 0" descr="/tmp/figs/w4_cli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97280" y="1783080"/>
            <a:ext cx="9966960" cy="3840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context: a painting and its own caption, pulled together. Different context: anyone else's caption, pushed away. Two kinds of thing in one space.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why you can search an untagged museum by typing "a woman in a red hat". The notebook trains a small one on 18 paintings.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minutes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where your corpus actually comes from.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routes, in the order you should try them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10881360" cy="1143000"/>
          </a:xfrm>
          <a:prstGeom prst="roundRect">
            <a:avLst>
              <a:gd name="adj" fmla="val 8000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304288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3042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645920" y="217627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prepared file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0" y="219456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pd.read_csv(url) · gdown · load_dataset(). Most projects should stop here.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3337560"/>
            <a:ext cx="10881360" cy="1143000"/>
          </a:xfrm>
          <a:prstGeom prst="roundRect">
            <a:avLst>
              <a:gd name="adj" fmla="val 8000"/>
            </a:avLst>
          </a:prstGeom>
          <a:solidFill>
            <a:srgbClr val="F4EEE8"/>
          </a:solidFill>
          <a:ln/>
        </p:spPr>
      </p:sp>
      <p:sp>
        <p:nvSpPr>
          <p:cNvPr id="10" name="Shape 8"/>
          <p:cNvSpPr/>
          <p:nvPr/>
        </p:nvSpPr>
        <p:spPr>
          <a:xfrm>
            <a:off x="914400" y="3630168"/>
            <a:ext cx="548640" cy="548640"/>
          </a:xfrm>
          <a:prstGeom prst="ellipse">
            <a:avLst/>
          </a:prstGeom>
          <a:solidFill>
            <a:srgbClr val="2E5F8A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63016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1645920" y="350215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API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0" y="352044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documented URL that returns JSON. Four words: endpoint, key, pagination, rate limit.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4663440"/>
            <a:ext cx="10881360" cy="1143000"/>
          </a:xfrm>
          <a:prstGeom prst="roundRect">
            <a:avLst>
              <a:gd name="adj" fmla="val 8000"/>
            </a:avLst>
          </a:prstGeom>
          <a:solidFill>
            <a:srgbClr val="F4EEE8"/>
          </a:solidFill>
          <a:ln/>
        </p:spPr>
      </p:sp>
      <p:sp>
        <p:nvSpPr>
          <p:cNvPr id="15" name="Shape 13"/>
          <p:cNvSpPr/>
          <p:nvPr/>
        </p:nvSpPr>
        <p:spPr>
          <a:xfrm>
            <a:off x="914400" y="4956048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95604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1645920" y="482803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careful scrape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572000" y="484632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when there is no file and no API. Slowly, and never republished.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licensing line decides which routes are even open to you. That is the next slide.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TWO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Look at one reply before you write the loop</a:t>
            </a:r>
            <a:endParaRPr lang="en-US" sz="3400" dirty="0"/>
          </a:p>
        </p:txBody>
      </p:sp>
      <p:pic>
        <p:nvPicPr>
          <p:cNvPr id="4" name="Image 0" descr="/tmp/figs/w4_api_anatom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874520"/>
            <a:ext cx="10881360" cy="3566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for one item. The pagination block tells you how big the job is. The data block is your rows.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call made while this deck was built: 132,681 works match "landscape", handed over two at a time.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TWO, LIVE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URL, some JSON, and then a table</a:t>
            </a:r>
            <a:endParaRPr lang="en-US" sz="3400" dirty="0"/>
          </a:p>
        </p:txBody>
      </p:sp>
      <p:pic>
        <p:nvPicPr>
          <p:cNvPr id="4" name="Image 0" descr="/tmp/figs/w4_ap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97280" y="1920240"/>
            <a:ext cx="9966960" cy="3749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endpoint is a URL that answers with data. A key is a name badge. Pagination hands you a page at a time.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panel: a real response, live from api.artic.edu. The AI writes the three lines that make the table.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API IS SOMEBODY'S DESIGN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museums, two shapes</a:t>
            </a:r>
            <a:endParaRPr lang="en-US" sz="3400" dirty="0"/>
          </a:p>
        </p:txBody>
      </p:sp>
      <p:pic>
        <p:nvPicPr>
          <p:cNvPr id="4" name="Image 0" descr="/tmp/figs/w4_api_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05840" y="1828800"/>
            <a:ext cx="10149840" cy="3840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returns rows. The other returns ID numbers, and every row after that is another request.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queried live for this slide. Work out which kind you have before you estimate how long it takes.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THREE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Scraping, and the four things that come with 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F4EEE8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210312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robots.txt and the terms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120640" y="210312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first request, not after the complaint.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306324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F4EEE8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315468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Request slowly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120640" y="315468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page every couple of seconds. You are a guest on someone's server.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411480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F4EEE8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42062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 only what you need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120640" y="420624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fields your question uses, not the whole site.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516636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F4EEE8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" y="525780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5F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 republish the text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120640" y="525780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it, quote it, count it. Do not hand it on.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630936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 and public domain: go anywhere.   Academic sets and community text: analyse, don't redistribute.   Shadow libraries: never.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THREE, IN PRACTICE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the data inside the markup</a:t>
            </a:r>
            <a:endParaRPr lang="en-US" sz="3400" dirty="0"/>
          </a:p>
        </p:txBody>
      </p:sp>
      <p:pic>
        <p:nvPicPr>
          <p:cNvPr id="4" name="Image 0" descr="/tmp/figs/w4_scrape_anatom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874520"/>
            <a:ext cx="10881360" cy="3566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Fetch one page, look at one block, and read the selectors off it. In a browser: right-click, Inspect, and the tag names are there.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HTML from quotes.toscrape.com. A selector that matches nothing returns None and raises no error. That is the bug you will hit.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START IT RUNNING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long will this take?</a:t>
            </a:r>
            <a:endParaRPr lang="en-US" sz="3400" dirty="0"/>
          </a:p>
        </p:txBody>
      </p:sp>
      <p:pic>
        <p:nvPicPr>
          <p:cNvPr id="4" name="Image 0" descr="/tmp/figs/w4_scrape_cos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03120" y="1783080"/>
            <a:ext cx="7955280" cy="3931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one-second pause on 5,000 pages is an hour and a half. That number decides your sample size, so work it out first.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page a second is a reader. Fifty a second is an outage.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 · 20 MINUTES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Collect it, save it, start the repo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10881360" cy="1097280"/>
          </a:xfrm>
          <a:prstGeom prst="roundRect">
            <a:avLst>
              <a:gd name="adj" fmla="val 8333"/>
            </a:avLst>
          </a:prstGeom>
          <a:solidFill>
            <a:srgbClr val="F4EEE8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224028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file in your Drive folder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394960" y="224028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starts from it. Colab forgets everything else.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10881360" cy="1097280"/>
          </a:xfrm>
          <a:prstGeom prst="roundRect">
            <a:avLst>
              <a:gd name="adj" fmla="val 8333"/>
            </a:avLst>
          </a:prstGeom>
          <a:solidFill>
            <a:srgbClr val="F4EEE8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52044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5F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repo with Pages switched on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5394960" y="352044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a live URL exists today, not in Week 9 under deadline.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4663440"/>
            <a:ext cx="10881360" cy="1097280"/>
          </a:xfrm>
          <a:prstGeom prst="roundRect">
            <a:avLst>
              <a:gd name="adj" fmla="val 8333"/>
            </a:avLst>
          </a:prstGeom>
          <a:solidFill>
            <a:srgbClr val="F4EEE8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480060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minutes of pitch, to a partner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5394960" y="480060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corpus, two methods, what would count as a finding.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null result, honestly shown, is a complete project. The pivot kit is insurance, not a demotion.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WEEK 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Homework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51560" y="19202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Biography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51560" y="228600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~400 words: where it came from, who is in it, who is missing, what it cannot tell you.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it for real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51560" y="361188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cookbook notebook, and leave the file in Drive. Week 5 begins there.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4709160"/>
            <a:ext cx="219456" cy="219456"/>
          </a:xfrm>
          <a:prstGeom prst="ellipse">
            <a:avLst/>
          </a:prstGeom>
          <a:solidFill>
            <a:srgbClr val="E8DCD6"/>
          </a:solidFill>
          <a:ln/>
        </p:spPr>
      </p:sp>
      <p:sp>
        <p:nvSpPr>
          <p:cNvPr id="11" name="Text 9"/>
          <p:cNvSpPr/>
          <p:nvPr/>
        </p:nvSpPr>
        <p:spPr>
          <a:xfrm>
            <a:off x="1051560" y="45720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with the map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51560" y="493776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Projector: a word from your corpus, one neighbour that makes sense and one that does not.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60350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embeddings on YOUR corpus, all session. Bring the file.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2026-08-08T20:20:00Z</dcterms:created>
  <dcterms:modified xsi:type="dcterms:W3CDTF">2026-08-08T20:20:00Z</dcterms:modified>
</cp:coreProperties>
</file>